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71" r:id="rId3"/>
    <p:sldId id="277" r:id="rId4"/>
    <p:sldId id="278" r:id="rId5"/>
    <p:sldId id="257" r:id="rId6"/>
    <p:sldId id="279" r:id="rId7"/>
    <p:sldId id="280" r:id="rId8"/>
    <p:sldId id="282" r:id="rId9"/>
    <p:sldId id="281" r:id="rId10"/>
    <p:sldId id="283" r:id="rId11"/>
    <p:sldId id="284" r:id="rId12"/>
    <p:sldId id="259" r:id="rId13"/>
    <p:sldId id="285" r:id="rId14"/>
    <p:sldId id="260" r:id="rId15"/>
    <p:sldId id="286" r:id="rId16"/>
    <p:sldId id="287" r:id="rId17"/>
    <p:sldId id="288" r:id="rId18"/>
    <p:sldId id="289" r:id="rId19"/>
    <p:sldId id="290" r:id="rId20"/>
    <p:sldId id="302" r:id="rId21"/>
    <p:sldId id="291" r:id="rId22"/>
    <p:sldId id="292" r:id="rId23"/>
    <p:sldId id="293" r:id="rId24"/>
    <p:sldId id="294" r:id="rId25"/>
    <p:sldId id="295" r:id="rId26"/>
    <p:sldId id="261" r:id="rId27"/>
    <p:sldId id="296" r:id="rId28"/>
    <p:sldId id="297" r:id="rId29"/>
    <p:sldId id="299" r:id="rId30"/>
    <p:sldId id="298" r:id="rId31"/>
    <p:sldId id="262" r:id="rId32"/>
    <p:sldId id="300" r:id="rId33"/>
    <p:sldId id="301" r:id="rId34"/>
    <p:sldId id="263" r:id="rId35"/>
    <p:sldId id="303" r:id="rId36"/>
    <p:sldId id="304" r:id="rId37"/>
    <p:sldId id="305" r:id="rId38"/>
    <p:sldId id="306" r:id="rId39"/>
    <p:sldId id="307" r:id="rId40"/>
    <p:sldId id="308" r:id="rId41"/>
    <p:sldId id="264" r:id="rId42"/>
    <p:sldId id="265" r:id="rId43"/>
    <p:sldId id="266" r:id="rId44"/>
    <p:sldId id="268" r:id="rId45"/>
    <p:sldId id="267" r:id="rId46"/>
    <p:sldId id="269" r:id="rId47"/>
    <p:sldId id="270" r:id="rId48"/>
    <p:sldId id="258" r:id="rId49"/>
    <p:sldId id="272" r:id="rId50"/>
    <p:sldId id="273" r:id="rId51"/>
    <p:sldId id="274" r:id="rId52"/>
    <p:sldId id="275" r:id="rId53"/>
    <p:sldId id="276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3"/>
  </p:normalViewPr>
  <p:slideViewPr>
    <p:cSldViewPr>
      <p:cViewPr varScale="1">
        <p:scale>
          <a:sx n="113" d="100"/>
          <a:sy n="113" d="100"/>
        </p:scale>
        <p:origin x="1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9/26/18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1138-F5ED-4B65-805D-9D26723A2651}" type="datetime1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8EA3-6586-4BB2-BD17-6E68BB6E73B6}" type="datetime1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3B30-9018-4221-88B3-AF4322A747E3}" type="datetime1">
              <a:rPr lang="en-US" smtClean="0"/>
              <a:t>9/26/18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CD5DB-F4A5-470D-920C-5561E4E59823}" type="datetime1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7BEB-811D-4255-B443-2631B145CDD6}" type="datetime1">
              <a:rPr lang="en-US" smtClean="0"/>
              <a:t>9/26/18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2471-31CA-48B3-A6DD-66288981FEB8}" type="datetime1">
              <a:rPr lang="en-US" smtClean="0"/>
              <a:t>9/26/18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6965-3621-4C61-9C19-C2156C1E87DC}" type="datetime1">
              <a:rPr lang="en-US" smtClean="0"/>
              <a:t>9/26/18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EFA-9959-40B2-8578-8AB18C0124A3}" type="datetime1">
              <a:rPr lang="en-US" smtClean="0"/>
              <a:t>9/26/18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8A630-9D89-4CBC-AE22-6745257BB2ED}" type="datetime1">
              <a:rPr lang="en-US" smtClean="0"/>
              <a:t>9/26/18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EA66-4B28-41E1-9D61-C1EAF50ACC9A}" type="datetime1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5332B-2316-4AF9-B73E-1E450CBFAC8C}" type="datetime1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A1794-0E01-4235-990C-473FDD3C7966}" type="datetime1">
              <a:rPr lang="en-US" smtClean="0"/>
              <a:t>9/26/18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11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oleObject" Target="../embeddings/oleObject4.bin"/><Relationship Id="rId5" Type="http://schemas.openxmlformats.org/officeDocument/2006/relationships/image" Target="../media/image14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4" Type="http://schemas.openxmlformats.org/officeDocument/2006/relationships/oleObject" Target="../embeddings/oleObject5.bin"/><Relationship Id="rId5" Type="http://schemas.openxmlformats.org/officeDocument/2006/relationships/image" Target="../media/image19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4" Type="http://schemas.openxmlformats.org/officeDocument/2006/relationships/oleObject" Target="../embeddings/oleObject6.bin"/><Relationship Id="rId5" Type="http://schemas.openxmlformats.org/officeDocument/2006/relationships/image" Target="../media/image27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7700" y="304800"/>
            <a:ext cx="7848600" cy="1524000"/>
          </a:xfrm>
        </p:spPr>
        <p:txBody>
          <a:bodyPr>
            <a:normAutofit fontScale="90000"/>
          </a:bodyPr>
          <a:lstStyle/>
          <a:p>
            <a:r>
              <a:rPr lang="pt-BR" sz="4400" dirty="0" smtClean="0"/>
              <a:t>Capítulo 4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pt-BR" dirty="0" smtClean="0">
                <a:solidFill>
                  <a:schemeClr val="tx1"/>
                </a:solidFill>
              </a:rPr>
              <a:t>Diagrama de Propriedades dos Materiais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934" y="2181224"/>
            <a:ext cx="3685168" cy="400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4936401" cy="400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de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Propriedades dos materiais</a:t>
            </a:r>
            <a:r>
              <a:rPr lang="pt-BR" sz="2800" dirty="0" smtClean="0"/>
              <a:t> </a:t>
            </a:r>
            <a:r>
              <a:rPr lang="pt-BR" sz="2800" dirty="0" smtClean="0">
                <a:solidFill>
                  <a:srgbClr val="FFFF00"/>
                </a:solidFill>
              </a:rPr>
              <a:t>limitam</a:t>
            </a:r>
            <a:r>
              <a:rPr lang="pt-BR" sz="2800" dirty="0" smtClean="0"/>
              <a:t> o desempenho;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Forma de </a:t>
            </a:r>
            <a:r>
              <a:rPr lang="pt-BR" sz="2800" dirty="0" smtClean="0">
                <a:solidFill>
                  <a:srgbClr val="FFFF00"/>
                </a:solidFill>
              </a:rPr>
              <a:t>quantificar</a:t>
            </a:r>
            <a:r>
              <a:rPr lang="pt-BR" sz="2800" dirty="0" smtClean="0"/>
              <a:t> as propriedades que </a:t>
            </a:r>
            <a:r>
              <a:rPr lang="pt-BR" sz="2800" dirty="0" smtClean="0">
                <a:solidFill>
                  <a:srgbClr val="FFFF00"/>
                </a:solidFill>
              </a:rPr>
              <a:t>limitam o projeto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Podem ser apresentadas </a:t>
            </a:r>
            <a:r>
              <a:rPr lang="pt-BR" sz="2800" dirty="0" smtClean="0">
                <a:solidFill>
                  <a:srgbClr val="FFFF00"/>
                </a:solidFill>
              </a:rPr>
              <a:t>lista classificada</a:t>
            </a:r>
            <a:r>
              <a:rPr lang="pt-BR" sz="2800" dirty="0" smtClean="0"/>
              <a:t> ou </a:t>
            </a:r>
            <a:r>
              <a:rPr lang="pt-BR" sz="2800" dirty="0" smtClean="0">
                <a:solidFill>
                  <a:srgbClr val="FFFF00"/>
                </a:solidFill>
              </a:rPr>
              <a:t>diagrama de barras</a:t>
            </a:r>
            <a:r>
              <a:rPr lang="pt-BR" sz="2800" dirty="0" smtClean="0"/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Todavia, é raro que o </a:t>
            </a:r>
            <a:r>
              <a:rPr lang="pt-BR" sz="2800" dirty="0" smtClean="0">
                <a:solidFill>
                  <a:srgbClr val="FFFF00"/>
                </a:solidFill>
              </a:rPr>
              <a:t>desempenho</a:t>
            </a:r>
            <a:r>
              <a:rPr lang="pt-BR" sz="2800" dirty="0" smtClean="0"/>
              <a:t> dependa </a:t>
            </a:r>
            <a:r>
              <a:rPr lang="pt-BR" sz="2800" dirty="0" smtClean="0">
                <a:solidFill>
                  <a:srgbClr val="FFFF00"/>
                </a:solidFill>
              </a:rPr>
              <a:t>apenas de uma propriedade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81319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Gráficos de Barras – Propriedades Únicas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609600" y="5029200"/>
            <a:ext cx="7924800" cy="163017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800" dirty="0" smtClean="0"/>
              <a:t>Cada propriedade de um material de engenharia apresenta uma faixa de valores característicos; O gráfico de barra mostra o módulo para uma família de sólidos;</a:t>
            </a:r>
            <a:endParaRPr lang="pt-BR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192730" y="4876800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</a:t>
            </a:r>
            <a:endParaRPr 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7" y="1217013"/>
            <a:ext cx="5916613" cy="365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168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de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O que ocorre </a:t>
            </a:r>
            <a:r>
              <a:rPr lang="pt-BR" sz="2800" dirty="0" smtClean="0">
                <a:solidFill>
                  <a:srgbClr val="FFFF00"/>
                </a:solidFill>
              </a:rPr>
              <a:t>na prática</a:t>
            </a:r>
            <a:r>
              <a:rPr lang="pt-BR" sz="2800" dirty="0" smtClean="0"/>
              <a:t> é uma </a:t>
            </a:r>
            <a:r>
              <a:rPr lang="pt-BR" sz="2800" dirty="0" smtClean="0">
                <a:solidFill>
                  <a:srgbClr val="FFFF00"/>
                </a:solidFill>
              </a:rPr>
              <a:t>combinação de propriedades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FF00"/>
                </a:solidFill>
              </a:rPr>
              <a:t>Rigidez</a:t>
            </a:r>
            <a:r>
              <a:rPr lang="pt-BR" sz="2800" dirty="0" smtClean="0"/>
              <a:t> com </a:t>
            </a:r>
            <a:r>
              <a:rPr lang="pt-BR" sz="2800" dirty="0" smtClean="0">
                <a:solidFill>
                  <a:srgbClr val="FFFF00"/>
                </a:solidFill>
              </a:rPr>
              <a:t>baixo peso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condução térmica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resistência à corrosão, resistência à corrosão </a:t>
            </a:r>
            <a:r>
              <a:rPr lang="pt-BR" sz="2800" dirty="0" smtClean="0"/>
              <a:t>e</a:t>
            </a:r>
            <a:r>
              <a:rPr lang="pt-BR" sz="2800" dirty="0" smtClean="0">
                <a:solidFill>
                  <a:srgbClr val="FFFF00"/>
                </a:solidFill>
              </a:rPr>
              <a:t> tenacidade, condutividade elétrica </a:t>
            </a:r>
            <a:r>
              <a:rPr lang="pt-BR" sz="2800" dirty="0" smtClean="0"/>
              <a:t>e</a:t>
            </a:r>
            <a:r>
              <a:rPr lang="pt-BR" sz="2800" dirty="0" smtClean="0">
                <a:solidFill>
                  <a:srgbClr val="FFFF00"/>
                </a:solidFill>
              </a:rPr>
              <a:t> resistência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Então, deve-se </a:t>
            </a:r>
            <a:r>
              <a:rPr lang="pt-BR" sz="2800" dirty="0" smtClean="0">
                <a:solidFill>
                  <a:srgbClr val="FFFF00"/>
                </a:solidFill>
              </a:rPr>
              <a:t>construir gráficos</a:t>
            </a:r>
            <a:r>
              <a:rPr lang="pt-BR" sz="2800" dirty="0" smtClean="0"/>
              <a:t> de uma </a:t>
            </a:r>
            <a:r>
              <a:rPr lang="pt-BR" sz="2800" dirty="0" smtClean="0">
                <a:solidFill>
                  <a:srgbClr val="FFFF00"/>
                </a:solidFill>
              </a:rPr>
              <a:t>propriedade</a:t>
            </a:r>
            <a:r>
              <a:rPr lang="pt-BR" sz="2800" dirty="0" smtClean="0"/>
              <a:t> em </a:t>
            </a:r>
            <a:r>
              <a:rPr lang="pt-BR" sz="2800" dirty="0" smtClean="0">
                <a:solidFill>
                  <a:srgbClr val="FFFF00"/>
                </a:solidFill>
              </a:rPr>
              <a:t>relação a outra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Mapeando as </a:t>
            </a:r>
            <a:r>
              <a:rPr lang="pt-BR" sz="2800" dirty="0" smtClean="0">
                <a:solidFill>
                  <a:srgbClr val="FFFF00"/>
                </a:solidFill>
              </a:rPr>
              <a:t>áreas</a:t>
            </a:r>
            <a:r>
              <a:rPr lang="pt-BR" sz="2800" dirty="0" smtClean="0"/>
              <a:t> ocupadas por </a:t>
            </a:r>
            <a:r>
              <a:rPr lang="pt-BR" sz="2800" dirty="0" smtClean="0">
                <a:solidFill>
                  <a:srgbClr val="FFFF00"/>
                </a:solidFill>
              </a:rPr>
              <a:t>classe de material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subáreas</a:t>
            </a:r>
            <a:r>
              <a:rPr lang="pt-BR" sz="2800" dirty="0" smtClean="0"/>
              <a:t> ocupadas por </a:t>
            </a:r>
            <a:r>
              <a:rPr lang="pt-BR" sz="2800" dirty="0" smtClean="0">
                <a:solidFill>
                  <a:srgbClr val="FFFF00"/>
                </a:solidFill>
              </a:rPr>
              <a:t>materiais individuais</a:t>
            </a:r>
            <a:r>
              <a:rPr lang="pt-BR" sz="2800" dirty="0" smtClean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50562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2" y="1123950"/>
            <a:ext cx="5057775" cy="383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6201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pt-BR" sz="3600" dirty="0" smtClean="0"/>
              <a:t>Diagrama de Propriedades Múltiplas</a:t>
            </a:r>
            <a:endParaRPr lang="pt-BR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36512"/>
            <a:ext cx="7391400" cy="1316687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Modulo de Elasticidade de Young </a:t>
            </a:r>
            <a:r>
              <a:rPr lang="pt-BR" i="1" dirty="0" smtClean="0">
                <a:solidFill>
                  <a:srgbClr val="FFFF00"/>
                </a:solidFill>
              </a:rPr>
              <a:t>E</a:t>
            </a:r>
            <a:r>
              <a:rPr lang="pt-BR" dirty="0" smtClean="0"/>
              <a:t> impresso contra a massa específica  em escala log; cada classe de material ocupa o campo de característica</a:t>
            </a:r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2729" y="4985212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Explorando as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Cada </a:t>
            </a:r>
            <a:r>
              <a:rPr lang="pt-BR" sz="2800" dirty="0" smtClean="0">
                <a:solidFill>
                  <a:srgbClr val="FFFF00"/>
                </a:solidFill>
              </a:rPr>
              <a:t>material</a:t>
            </a:r>
            <a:r>
              <a:rPr lang="pt-BR" sz="2800" dirty="0" smtClean="0"/>
              <a:t> apresenta uma </a:t>
            </a:r>
            <a:r>
              <a:rPr lang="pt-BR" sz="2800" dirty="0" smtClean="0">
                <a:solidFill>
                  <a:srgbClr val="FFFF00"/>
                </a:solidFill>
              </a:rPr>
              <a:t>faixa de valores</a:t>
            </a:r>
            <a:r>
              <a:rPr lang="pt-BR" sz="2800" dirty="0" smtClean="0"/>
              <a:t> </a:t>
            </a:r>
            <a:r>
              <a:rPr lang="pt-BR" sz="2800" dirty="0" smtClean="0">
                <a:solidFill>
                  <a:srgbClr val="FFFF00"/>
                </a:solidFill>
              </a:rPr>
              <a:t>característica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Amplitude de valores muito grande</a:t>
            </a:r>
            <a:r>
              <a:rPr lang="pt-BR" sz="2800" dirty="0" smtClean="0"/>
              <a:t> de </a:t>
            </a:r>
            <a:r>
              <a:rPr lang="pt-BR" sz="2800" dirty="0" smtClean="0">
                <a:solidFill>
                  <a:srgbClr val="FFFF00"/>
                </a:solidFill>
              </a:rPr>
              <a:t>cinco</a:t>
            </a:r>
            <a:r>
              <a:rPr lang="pt-BR" sz="2800" dirty="0" smtClean="0"/>
              <a:t> a mais </a:t>
            </a:r>
            <a:r>
              <a:rPr lang="pt-BR" sz="2800" dirty="0" smtClean="0">
                <a:solidFill>
                  <a:srgbClr val="FFFF00"/>
                </a:solidFill>
              </a:rPr>
              <a:t>potências de dez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Cada barra</a:t>
            </a:r>
            <a:r>
              <a:rPr lang="pt-BR" sz="2800" dirty="0" smtClean="0"/>
              <a:t> descreve </a:t>
            </a:r>
            <a:r>
              <a:rPr lang="pt-BR" sz="2800" dirty="0" smtClean="0">
                <a:solidFill>
                  <a:srgbClr val="FFFF00"/>
                </a:solidFill>
              </a:rPr>
              <a:t>o material</a:t>
            </a:r>
            <a:r>
              <a:rPr lang="pt-BR" sz="2800" dirty="0" smtClean="0"/>
              <a:t> e o </a:t>
            </a:r>
            <a:r>
              <a:rPr lang="pt-BR" sz="2800" dirty="0" smtClean="0">
                <a:solidFill>
                  <a:srgbClr val="FFFF00"/>
                </a:solidFill>
              </a:rPr>
              <a:t>comprimento</a:t>
            </a:r>
            <a:r>
              <a:rPr lang="pt-BR" sz="2800" dirty="0" smtClean="0"/>
              <a:t> exibe a </a:t>
            </a:r>
            <a:r>
              <a:rPr lang="pt-BR" sz="2800" dirty="0" smtClean="0">
                <a:solidFill>
                  <a:srgbClr val="FFFF00"/>
                </a:solidFill>
              </a:rPr>
              <a:t>faixa de propriedade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Metais e cerâmicas</a:t>
            </a:r>
            <a:r>
              <a:rPr lang="pt-BR" sz="2800" dirty="0" smtClean="0"/>
              <a:t> tem </a:t>
            </a:r>
            <a:r>
              <a:rPr lang="pt-BR" sz="2800" dirty="0" smtClean="0">
                <a:solidFill>
                  <a:srgbClr val="FFFF00"/>
                </a:solidFill>
              </a:rPr>
              <a:t>módulos elevados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polímeros baixos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híbridos</a:t>
            </a:r>
            <a:r>
              <a:rPr lang="pt-BR" sz="2800" dirty="0" smtClean="0"/>
              <a:t> de </a:t>
            </a:r>
            <a:r>
              <a:rPr lang="pt-BR" sz="2800" dirty="0" smtClean="0">
                <a:solidFill>
                  <a:srgbClr val="FFFF00"/>
                </a:solidFill>
              </a:rPr>
              <a:t>baixa</a:t>
            </a:r>
            <a:r>
              <a:rPr lang="pt-BR" sz="2800" dirty="0" smtClean="0"/>
              <a:t> a </a:t>
            </a:r>
            <a:r>
              <a:rPr lang="pt-BR" sz="2800" dirty="0" smtClean="0">
                <a:solidFill>
                  <a:srgbClr val="FFFF00"/>
                </a:solidFill>
              </a:rPr>
              <a:t>alta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faixa total é ampla da </a:t>
            </a:r>
            <a:r>
              <a:rPr lang="pt-BR" sz="2800" dirty="0" smtClean="0">
                <a:solidFill>
                  <a:srgbClr val="FFFF00"/>
                </a:solidFill>
              </a:rPr>
              <a:t>ordem de 10</a:t>
            </a:r>
            <a:r>
              <a:rPr lang="pt-BR" sz="2800" baseline="30000" dirty="0" smtClean="0">
                <a:solidFill>
                  <a:srgbClr val="FFFF00"/>
                </a:solidFill>
              </a:rPr>
              <a:t>6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47357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Gráficos de Barras – Propriedades Únicas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609600" y="5029200"/>
            <a:ext cx="7924800" cy="163017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800" dirty="0" smtClean="0"/>
              <a:t>Cada propriedade de um material de engenharia apresenta uma faixa de valores característicos; O gráfico de barra mostra o módulo para uma família de sólidos;</a:t>
            </a:r>
            <a:endParaRPr lang="pt-BR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192730" y="4876800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</a:t>
            </a:r>
            <a:endParaRPr 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93" y="1217012"/>
            <a:ext cx="5916613" cy="365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5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Explorando as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</a:t>
            </a:r>
            <a:r>
              <a:rPr lang="pt-BR" sz="2800" dirty="0" smtClean="0">
                <a:solidFill>
                  <a:srgbClr val="FFFF00"/>
                </a:solidFill>
              </a:rPr>
              <a:t>Mais informações</a:t>
            </a:r>
            <a:r>
              <a:rPr lang="pt-BR" sz="2800" dirty="0" smtClean="0"/>
              <a:t> podem ser apresentadas num </a:t>
            </a:r>
            <a:r>
              <a:rPr lang="pt-BR" sz="2800" dirty="0" smtClean="0">
                <a:solidFill>
                  <a:srgbClr val="FFFF00"/>
                </a:solidFill>
              </a:rPr>
              <a:t>gráfico alternativo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Módulo de elasticidade,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/>
              <a:t>, é representando em relação a massa específica,</a:t>
            </a:r>
            <a:r>
              <a:rPr lang="pt-BR" sz="2800" b="1" dirty="0" smtClean="0"/>
              <a:t> </a:t>
            </a:r>
            <a:r>
              <a:rPr lang="el-GR" sz="2800" dirty="0" smtClean="0">
                <a:solidFill>
                  <a:srgbClr val="FFFF00"/>
                </a:solidFill>
              </a:rPr>
              <a:t>ρ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faixa dos eixos</a:t>
            </a:r>
            <a:r>
              <a:rPr lang="pt-BR" sz="2800" dirty="0" smtClean="0"/>
              <a:t> é escolhida de forma </a:t>
            </a:r>
            <a:r>
              <a:rPr lang="pt-BR" sz="2800" dirty="0" smtClean="0">
                <a:solidFill>
                  <a:srgbClr val="FFFF00"/>
                </a:solidFill>
              </a:rPr>
              <a:t>incluir todos os materiais</a:t>
            </a:r>
            <a:r>
              <a:rPr lang="pt-BR" sz="2800" dirty="0" smtClean="0"/>
              <a:t>, por isso </a:t>
            </a:r>
            <a:r>
              <a:rPr lang="pt-BR" sz="2800" dirty="0" smtClean="0">
                <a:solidFill>
                  <a:srgbClr val="FFFF00"/>
                </a:solidFill>
              </a:rPr>
              <a:t>exige escala logarítmica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Constata-se que dados para uma dada família se aglomeram;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err="1" smtClean="0">
                <a:solidFill>
                  <a:srgbClr val="FFFF00"/>
                </a:solidFill>
              </a:rPr>
              <a:t>subfaixa</a:t>
            </a:r>
            <a:r>
              <a:rPr lang="pt-BR" sz="2800" dirty="0" smtClean="0"/>
              <a:t> é menor que a </a:t>
            </a:r>
            <a:r>
              <a:rPr lang="pt-BR" sz="2800" dirty="0" smtClean="0">
                <a:solidFill>
                  <a:srgbClr val="FFFF00"/>
                </a:solidFill>
              </a:rPr>
              <a:t>faixa total</a:t>
            </a:r>
            <a:r>
              <a:rPr lang="pt-BR" sz="2800" dirty="0" smtClean="0"/>
              <a:t> desta propriedade;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46252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2" y="1123950"/>
            <a:ext cx="5057775" cy="383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6201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pt-BR" sz="3600" dirty="0" smtClean="0"/>
              <a:t>Diagrama de Propriedades Múltiplas</a:t>
            </a:r>
            <a:endParaRPr lang="pt-BR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36512"/>
            <a:ext cx="7391400" cy="1316687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Modulo de Elasticidade de Young </a:t>
            </a:r>
            <a:r>
              <a:rPr lang="pt-BR" i="1" dirty="0" smtClean="0">
                <a:solidFill>
                  <a:srgbClr val="FFFF00"/>
                </a:solidFill>
              </a:rPr>
              <a:t>E</a:t>
            </a:r>
            <a:r>
              <a:rPr lang="pt-BR" dirty="0" smtClean="0"/>
              <a:t> impresso contra a massa específica  em escala log; cada classe de material ocupa o campo de característica</a:t>
            </a:r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2729" y="4985212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7198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Explorando as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Um</a:t>
            </a:r>
            <a:r>
              <a:rPr lang="pt-BR" sz="2800" dirty="0" smtClean="0">
                <a:solidFill>
                  <a:srgbClr val="FFFF00"/>
                </a:solidFill>
              </a:rPr>
              <a:t> diagrama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>
                <a:solidFill>
                  <a:srgbClr val="FFFF00"/>
                </a:solidFill>
              </a:rPr>
              <a:t>-</a:t>
            </a:r>
            <a:r>
              <a:rPr lang="el-GR" sz="2800" dirty="0" smtClean="0">
                <a:solidFill>
                  <a:srgbClr val="FFFF00"/>
                </a:solidFill>
              </a:rPr>
              <a:t>ρ</a:t>
            </a:r>
            <a:r>
              <a:rPr lang="pt-BR" sz="2800" dirty="0" smtClean="0">
                <a:solidFill>
                  <a:srgbClr val="FFFF00"/>
                </a:solidFill>
              </a:rPr>
              <a:t> </a:t>
            </a:r>
            <a:r>
              <a:rPr lang="pt-BR" sz="2800" dirty="0" smtClean="0"/>
              <a:t>real com os envelopes de famílias ilustrado no </a:t>
            </a:r>
            <a:r>
              <a:rPr lang="pt-BR" sz="2800" dirty="0" smtClean="0">
                <a:solidFill>
                  <a:srgbClr val="FFFF00"/>
                </a:solidFill>
              </a:rPr>
              <a:t>desenho esquemático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/>
              <a:t>D</a:t>
            </a:r>
            <a:r>
              <a:rPr lang="pt-BR" sz="2800" dirty="0" smtClean="0"/>
              <a:t>entro de cada envelope, encontram-se </a:t>
            </a:r>
            <a:r>
              <a:rPr lang="pt-BR" sz="2800" dirty="0" smtClean="0">
                <a:solidFill>
                  <a:srgbClr val="FFFF00"/>
                </a:solidFill>
              </a:rPr>
              <a:t>bolhas brancas</a:t>
            </a:r>
            <a:r>
              <a:rPr lang="pt-BR" sz="2800" dirty="0" smtClean="0"/>
              <a:t> que contém </a:t>
            </a:r>
            <a:r>
              <a:rPr lang="pt-BR" sz="2800" dirty="0" smtClean="0">
                <a:solidFill>
                  <a:srgbClr val="FFFF00"/>
                </a:solidFill>
              </a:rPr>
              <a:t>classes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subclasses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velocidade num sólido depende de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/>
              <a:t> </a:t>
            </a:r>
            <a:r>
              <a:rPr lang="pt-BR" sz="2800" dirty="0" err="1" smtClean="0"/>
              <a:t>e</a:t>
            </a:r>
            <a:r>
              <a:rPr lang="pt-BR" sz="2800" dirty="0" smtClean="0"/>
              <a:t> </a:t>
            </a:r>
            <a:r>
              <a:rPr lang="el-GR" sz="2800" dirty="0" smtClean="0">
                <a:solidFill>
                  <a:srgbClr val="FFFF00"/>
                </a:solidFill>
              </a:rPr>
              <a:t>ρ</a:t>
            </a:r>
            <a:r>
              <a:rPr lang="pt-BR" sz="2800" dirty="0" smtClean="0"/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velocidade da onda longitudinal </a:t>
            </a:r>
            <a:r>
              <a:rPr lang="pt-BR" sz="2800" i="1" dirty="0" smtClean="0">
                <a:solidFill>
                  <a:srgbClr val="FFFF00"/>
                </a:solidFill>
              </a:rPr>
              <a:t>v</a:t>
            </a:r>
            <a:r>
              <a:rPr lang="pt-BR" sz="2800" dirty="0" smtClean="0"/>
              <a:t> é</a:t>
            </a:r>
            <a:endParaRPr lang="pt-BR" sz="2800" dirty="0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499525"/>
              </p:ext>
            </p:extLst>
          </p:nvPr>
        </p:nvGraphicFramePr>
        <p:xfrm>
          <a:off x="2057400" y="5029200"/>
          <a:ext cx="450723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Equação" r:id="rId3" imgW="2311200" imgH="507960" progId="Equation.3">
                  <p:embed/>
                </p:oleObj>
              </mc:Choice>
              <mc:Fallback>
                <p:oleObj name="Equação" r:id="rId3" imgW="2311200" imgH="507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7400" y="5029200"/>
                        <a:ext cx="4507230" cy="990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173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Explorando as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Para um </a:t>
            </a:r>
            <a:r>
              <a:rPr lang="pt-BR" sz="2800" dirty="0" smtClean="0">
                <a:solidFill>
                  <a:srgbClr val="FFFF00"/>
                </a:solidFill>
              </a:rPr>
              <a:t>valor fixo de </a:t>
            </a:r>
            <a:r>
              <a:rPr lang="pt-BR" sz="2800" i="1" dirty="0" smtClean="0">
                <a:solidFill>
                  <a:srgbClr val="FFFF00"/>
                </a:solidFill>
              </a:rPr>
              <a:t>v</a:t>
            </a:r>
            <a:r>
              <a:rPr lang="pt-BR" sz="2800" dirty="0" smtClean="0"/>
              <a:t>, o gráfico desta equação é uma linha </a:t>
            </a:r>
            <a:r>
              <a:rPr lang="pt-BR" sz="2800" dirty="0" smtClean="0">
                <a:solidFill>
                  <a:srgbClr val="FFFF00"/>
                </a:solidFill>
              </a:rPr>
              <a:t>reta de inclinação 1</a:t>
            </a:r>
            <a:r>
              <a:rPr lang="pt-BR" sz="2800" dirty="0" smtClean="0"/>
              <a:t>;</a:t>
            </a:r>
            <a:endParaRPr lang="pt-BR" sz="28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Permite </a:t>
            </a:r>
            <a:r>
              <a:rPr lang="pt-BR" sz="2800" dirty="0" smtClean="0">
                <a:solidFill>
                  <a:srgbClr val="FFFF00"/>
                </a:solidFill>
              </a:rPr>
              <a:t>acrescentar contornos de velocidade de onda constante</a:t>
            </a:r>
            <a:r>
              <a:rPr lang="pt-BR" sz="2800" dirty="0" smtClean="0"/>
              <a:t> ao diagrama;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Todos </a:t>
            </a:r>
            <a:r>
              <a:rPr lang="pt-BR" sz="2800" dirty="0" smtClean="0">
                <a:solidFill>
                  <a:srgbClr val="FFFF00"/>
                </a:solidFill>
              </a:rPr>
              <a:t>os diagramas permitem</a:t>
            </a:r>
            <a:r>
              <a:rPr lang="pt-BR" sz="2800" dirty="0" smtClean="0"/>
              <a:t> a apresentação de </a:t>
            </a:r>
            <a:r>
              <a:rPr lang="pt-BR" sz="2800" i="1" dirty="0" smtClean="0">
                <a:solidFill>
                  <a:srgbClr val="FFFF00"/>
                </a:solidFill>
              </a:rPr>
              <a:t>parâmetros de otimização de projeto</a:t>
            </a:r>
            <a:r>
              <a:rPr lang="pt-BR" sz="2800" dirty="0" smtClean="0"/>
              <a:t> ou denominados </a:t>
            </a:r>
            <a:r>
              <a:rPr lang="pt-BR" sz="2800" i="1" dirty="0" smtClean="0"/>
              <a:t>índices de materiais</a:t>
            </a:r>
            <a:r>
              <a:rPr lang="pt-BR" sz="2800" dirty="0" smtClean="0"/>
              <a:t>;</a:t>
            </a:r>
          </a:p>
          <a:p>
            <a:pPr marL="0" indent="0" algn="just">
              <a:buNone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21292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19142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Modulo de Young – Massa Específica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399" y="5334000"/>
            <a:ext cx="73152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As </a:t>
            </a:r>
            <a:r>
              <a:rPr lang="pt-BR" dirty="0" smtClean="0"/>
              <a:t>linhas guias (diretrizes) de constantes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FFFF00"/>
                </a:solidFill>
              </a:rPr>
              <a:t>E/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E</a:t>
            </a:r>
            <a:r>
              <a:rPr lang="en-US" i="1" baseline="30000" dirty="0" smtClean="0">
                <a:solidFill>
                  <a:srgbClr val="FFFF00"/>
                </a:solidFill>
              </a:rPr>
              <a:t>1/2</a:t>
            </a:r>
            <a:r>
              <a:rPr lang="en-US" i="1" dirty="0" smtClean="0">
                <a:solidFill>
                  <a:srgbClr val="FFFF00"/>
                </a:solidFill>
              </a:rPr>
              <a:t>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, and </a:t>
            </a:r>
            <a:r>
              <a:rPr lang="en-US" i="1" dirty="0" smtClean="0">
                <a:solidFill>
                  <a:srgbClr val="FFFF00"/>
                </a:solidFill>
              </a:rPr>
              <a:t>E</a:t>
            </a:r>
            <a:r>
              <a:rPr lang="en-US" i="1" baseline="30000" dirty="0" smtClean="0">
                <a:solidFill>
                  <a:srgbClr val="FFFF00"/>
                </a:solidFill>
              </a:rPr>
              <a:t>1/3</a:t>
            </a:r>
            <a:r>
              <a:rPr lang="en-US" i="1" dirty="0" smtClean="0">
                <a:solidFill>
                  <a:srgbClr val="FFFF00"/>
                </a:solidFill>
              </a:rPr>
              <a:t>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 </a:t>
            </a:r>
            <a:r>
              <a:rPr lang="pt-BR" dirty="0" smtClean="0"/>
              <a:t>permite seleção de materiais para peso mínimo, projeto por </a:t>
            </a:r>
            <a:r>
              <a:rPr lang="pt-BR" dirty="0" smtClean="0">
                <a:solidFill>
                  <a:srgbClr val="FFFF00"/>
                </a:solidFill>
              </a:rPr>
              <a:t>deflexão-limitada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2729" y="5181600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4.3</a:t>
            </a:r>
            <a:endParaRPr lang="en-US" sz="10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32798"/>
            <a:ext cx="5337765" cy="4048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90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Explorando as Propriedades de Materiais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447800"/>
            <a:ext cx="7924800" cy="473392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Entre as </a:t>
            </a:r>
            <a:r>
              <a:rPr lang="pt-BR" sz="2800" dirty="0" smtClean="0">
                <a:solidFill>
                  <a:srgbClr val="FFFF00"/>
                </a:solidFill>
              </a:rPr>
              <a:t>propriedades mecânicas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térmicas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há 30</a:t>
            </a:r>
            <a:r>
              <a:rPr lang="pt-BR" sz="2800" dirty="0" smtClean="0"/>
              <a:t>, que são de </a:t>
            </a:r>
            <a:r>
              <a:rPr lang="pt-BR" sz="2800" dirty="0" smtClean="0">
                <a:solidFill>
                  <a:srgbClr val="FFFF00"/>
                </a:solidFill>
              </a:rPr>
              <a:t>importância primordial</a:t>
            </a:r>
            <a:r>
              <a:rPr lang="pt-BR" sz="2800" dirty="0" smtClean="0"/>
              <a:t> para caracterização do material </a:t>
            </a:r>
            <a:r>
              <a:rPr lang="pt-BR" sz="2800" dirty="0" smtClean="0">
                <a:solidFill>
                  <a:srgbClr val="FFFF00"/>
                </a:solidFill>
              </a:rPr>
              <a:t>para projeto de engenharia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As </a:t>
            </a:r>
            <a:r>
              <a:rPr lang="pt-BR" sz="2800" dirty="0" smtClean="0">
                <a:solidFill>
                  <a:srgbClr val="FFFF00"/>
                </a:solidFill>
              </a:rPr>
              <a:t>propriedades mais importantes</a:t>
            </a:r>
            <a:r>
              <a:rPr lang="pt-BR" sz="2800" dirty="0" smtClean="0"/>
              <a:t> são: </a:t>
            </a:r>
            <a:r>
              <a:rPr lang="pt-BR" sz="2800" dirty="0" smtClean="0">
                <a:solidFill>
                  <a:srgbClr val="FFFF00"/>
                </a:solidFill>
              </a:rPr>
              <a:t>massa específica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módulos, resistência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dureza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tenacidade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condutividade térmica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condutividade elétrica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coeficiente de expansão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calor específico</a:t>
            </a:r>
            <a:r>
              <a:rPr lang="pt-BR" sz="2800" dirty="0" smtClean="0"/>
              <a:t>;</a:t>
            </a:r>
            <a:endParaRPr lang="pt-BR" sz="2800" dirty="0"/>
          </a:p>
          <a:p>
            <a:pPr marL="0" indent="0" algn="just">
              <a:buNone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313499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4299056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"/>
            <a:ext cx="4223149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113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Módulo-Massa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25780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Módulo e massa específica: Aço é </a:t>
            </a:r>
            <a:r>
              <a:rPr lang="pt-BR" sz="2800" dirty="0" err="1" smtClean="0"/>
              <a:t>rigido</a:t>
            </a:r>
            <a:r>
              <a:rPr lang="pt-BR" sz="2800" dirty="0" smtClean="0"/>
              <a:t>, borracha é flexível, chumbo é pesado;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i="1" dirty="0" smtClean="0">
                <a:solidFill>
                  <a:srgbClr val="FFFF00"/>
                </a:solidFill>
              </a:rPr>
              <a:t>massa específica</a:t>
            </a:r>
            <a:r>
              <a:rPr lang="pt-BR" sz="2800" dirty="0" smtClean="0"/>
              <a:t> depende do </a:t>
            </a:r>
            <a:r>
              <a:rPr lang="pt-BR" sz="2800" i="1" dirty="0" smtClean="0">
                <a:solidFill>
                  <a:srgbClr val="FFFF00"/>
                </a:solidFill>
              </a:rPr>
              <a:t>peso atômico</a:t>
            </a:r>
            <a:r>
              <a:rPr lang="pt-BR" sz="2800" dirty="0" smtClean="0">
                <a:solidFill>
                  <a:srgbClr val="FFFF00"/>
                </a:solidFill>
              </a:rPr>
              <a:t> ou </a:t>
            </a:r>
            <a:r>
              <a:rPr lang="pt-BR" sz="2800" dirty="0" err="1" smtClean="0">
                <a:solidFill>
                  <a:srgbClr val="FFFF00"/>
                </a:solidFill>
              </a:rPr>
              <a:t>íônico</a:t>
            </a:r>
            <a:r>
              <a:rPr lang="pt-BR" sz="2800" dirty="0" smtClean="0"/>
              <a:t>, de seus </a:t>
            </a:r>
            <a:r>
              <a:rPr lang="pt-BR" sz="2800" dirty="0" smtClean="0">
                <a:solidFill>
                  <a:srgbClr val="FFFF00"/>
                </a:solidFill>
              </a:rPr>
              <a:t>tamanhos</a:t>
            </a:r>
            <a:r>
              <a:rPr lang="pt-BR" sz="2800" dirty="0" smtClean="0"/>
              <a:t> e do modo que são </a:t>
            </a:r>
            <a:r>
              <a:rPr lang="pt-BR" sz="2800" i="1" dirty="0" smtClean="0">
                <a:solidFill>
                  <a:srgbClr val="FFFF00"/>
                </a:solidFill>
              </a:rPr>
              <a:t>empacotados</a:t>
            </a:r>
            <a:r>
              <a:rPr lang="pt-BR" sz="2800" dirty="0" smtClean="0"/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O volume varia de um fator de 2 de </a:t>
            </a:r>
            <a:r>
              <a:rPr lang="pt-BR" sz="2800" dirty="0" smtClean="0">
                <a:solidFill>
                  <a:srgbClr val="FFFF00"/>
                </a:solidFill>
              </a:rPr>
              <a:t>2 x 10</a:t>
            </a:r>
            <a:r>
              <a:rPr lang="pt-BR" sz="2800" baseline="30000" dirty="0" smtClean="0">
                <a:solidFill>
                  <a:srgbClr val="FFFF00"/>
                </a:solidFill>
              </a:rPr>
              <a:t>-29</a:t>
            </a:r>
            <a:r>
              <a:rPr lang="pt-BR" sz="2800" dirty="0" smtClean="0">
                <a:solidFill>
                  <a:srgbClr val="FFFF00"/>
                </a:solidFill>
              </a:rPr>
              <a:t> m</a:t>
            </a:r>
            <a:r>
              <a:rPr lang="pt-BR" sz="2800" baseline="30000" dirty="0" smtClean="0">
                <a:solidFill>
                  <a:srgbClr val="FFFF00"/>
                </a:solidFill>
              </a:rPr>
              <a:t>3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O </a:t>
            </a:r>
            <a:r>
              <a:rPr lang="pt-BR" sz="2800" dirty="0" smtClean="0">
                <a:solidFill>
                  <a:srgbClr val="FFFF00"/>
                </a:solidFill>
              </a:rPr>
              <a:t>fator de empacotamento</a:t>
            </a:r>
            <a:r>
              <a:rPr lang="pt-BR" sz="2800" dirty="0" smtClean="0"/>
              <a:t> de um fator de 2 de </a:t>
            </a:r>
            <a:r>
              <a:rPr lang="pt-BR" sz="2800" dirty="0" smtClean="0">
                <a:solidFill>
                  <a:srgbClr val="FFFF00"/>
                </a:solidFill>
              </a:rPr>
              <a:t>0,74</a:t>
            </a:r>
            <a:r>
              <a:rPr lang="pt-BR" sz="2800" dirty="0" smtClean="0"/>
              <a:t> para </a:t>
            </a:r>
            <a:r>
              <a:rPr lang="pt-BR" sz="2800" dirty="0" smtClean="0">
                <a:solidFill>
                  <a:srgbClr val="FFFF00"/>
                </a:solidFill>
              </a:rPr>
              <a:t>empacotamento compacto</a:t>
            </a:r>
            <a:r>
              <a:rPr lang="pt-BR" sz="2800" dirty="0" smtClean="0"/>
              <a:t> para </a:t>
            </a:r>
            <a:r>
              <a:rPr lang="pt-BR" sz="2800" dirty="0" smtClean="0">
                <a:solidFill>
                  <a:srgbClr val="FFFF00"/>
                </a:solidFill>
              </a:rPr>
              <a:t>0,34</a:t>
            </a:r>
            <a:r>
              <a:rPr lang="pt-BR" sz="2800" dirty="0" smtClean="0"/>
              <a:t> redes </a:t>
            </a:r>
            <a:r>
              <a:rPr lang="pt-BR" sz="2800" dirty="0" smtClean="0">
                <a:solidFill>
                  <a:srgbClr val="FFFF00"/>
                </a:solidFill>
              </a:rPr>
              <a:t>abertas como a estrutura cúbica do diamante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dispersão do peso atômico</a:t>
            </a:r>
            <a:r>
              <a:rPr lang="pt-BR" sz="2800" dirty="0" smtClean="0"/>
              <a:t> varia de </a:t>
            </a:r>
            <a:r>
              <a:rPr lang="pt-BR" sz="2800" dirty="0" smtClean="0">
                <a:solidFill>
                  <a:srgbClr val="FFFF00"/>
                </a:solidFill>
              </a:rPr>
              <a:t>1 H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238 U</a:t>
            </a:r>
            <a:r>
              <a:rPr lang="pt-BR" sz="2800" dirty="0" smtClean="0"/>
              <a:t>.</a:t>
            </a:r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322201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Módulo-Massa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módulo</a:t>
                </a:r>
                <a:r>
                  <a:rPr lang="pt-BR" sz="2800" dirty="0" smtClean="0"/>
                  <a:t> da maioria dos materiais dependem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dois fatores</a:t>
                </a:r>
                <a:r>
                  <a:rPr lang="pt-BR" sz="2800" dirty="0" smtClean="0"/>
                  <a:t>: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Rigidez da ligação</a:t>
                </a:r>
                <a:r>
                  <a:rPr lang="pt-BR" sz="2800" dirty="0" smtClean="0"/>
                  <a:t> 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número de ligações</a:t>
                </a:r>
                <a:r>
                  <a:rPr lang="pt-BR" sz="2800" dirty="0" smtClean="0"/>
                  <a:t> por unidade de volume;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Se a ligação é como uma mola, apresenta uma constante </a:t>
                </a:r>
                <a:r>
                  <a:rPr lang="pt-BR" sz="2800" i="1" dirty="0" smtClean="0">
                    <a:solidFill>
                      <a:srgbClr val="FFFF00"/>
                    </a:solidFill>
                  </a:rPr>
                  <a:t>S</a:t>
                </a:r>
                <a:r>
                  <a:rPr lang="pt-BR" sz="2800" dirty="0" smtClean="0"/>
                  <a:t> (N/m), o módulo é definido como: </a:t>
                </a:r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r>
                  <a:rPr lang="pt-BR" sz="2800" dirty="0" smtClean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pt-BR" sz="28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 smtClean="0"/>
                  <a:t> é o “tamanho do átomo”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pt-BR" sz="2800" b="0" i="1" smtClean="0"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pt-BR" sz="2800" b="0" i="1" smtClean="0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pt-BR" sz="2800" b="0" i="1" smtClean="0">
                            <a:latin typeface="Cambria Math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pt-BR" sz="2800" dirty="0" smtClean="0"/>
                  <a:t> </a:t>
                </a:r>
                <a:r>
                  <a:rPr lang="pt-BR" sz="2800" dirty="0" smtClean="0"/>
                  <a:t>(</a:t>
                </a:r>
                <a:r>
                  <a:rPr lang="pt-BR" sz="2800" dirty="0" smtClean="0"/>
                  <a:t>volume atômico médio ou iônico médio.</a:t>
                </a:r>
              </a:p>
            </p:txBody>
          </p:sp>
        </mc:Choice>
        <mc:Fallback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0">
                <a:blip r:embed="rId3"/>
                <a:stretch>
                  <a:fillRect l="-1615" t="-1257" r="-15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821550"/>
              </p:ext>
            </p:extLst>
          </p:nvPr>
        </p:nvGraphicFramePr>
        <p:xfrm>
          <a:off x="4243388" y="3810000"/>
          <a:ext cx="8413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Equação" r:id="rId4" imgW="431640" imgH="431640" progId="Equation.3">
                  <p:embed/>
                </p:oleObj>
              </mc:Choice>
              <mc:Fallback>
                <p:oleObj name="Equação" r:id="rId4" imgW="431640" imgH="431640" progId="Equation.3">
                  <p:embed/>
                  <p:pic>
                    <p:nvPicPr>
                      <p:cNvPr id="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3810000"/>
                        <a:ext cx="841375" cy="841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03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Módulo-Massa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A </a:t>
            </a:r>
            <a:r>
              <a:rPr lang="pt-BR" sz="2800" dirty="0" smtClean="0">
                <a:solidFill>
                  <a:srgbClr val="FFFF00"/>
                </a:solidFill>
              </a:rPr>
              <a:t>ligação covalente</a:t>
            </a:r>
            <a:r>
              <a:rPr lang="pt-BR" sz="2800" dirty="0" smtClean="0"/>
              <a:t> é rígida (</a:t>
            </a:r>
            <a:r>
              <a:rPr lang="pt-BR" sz="2800" dirty="0" smtClean="0">
                <a:solidFill>
                  <a:srgbClr val="FFFF00"/>
                </a:solidFill>
              </a:rPr>
              <a:t>S = 20-200 N/m</a:t>
            </a:r>
            <a:r>
              <a:rPr lang="pt-BR" sz="2800" dirty="0" smtClean="0"/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ligação </a:t>
            </a:r>
            <a:r>
              <a:rPr lang="pt-BR" sz="2800" dirty="0" smtClean="0">
                <a:solidFill>
                  <a:srgbClr val="FFFF00"/>
                </a:solidFill>
              </a:rPr>
              <a:t>metálica</a:t>
            </a:r>
            <a:r>
              <a:rPr lang="pt-BR" sz="2800" dirty="0" smtClean="0"/>
              <a:t> e a </a:t>
            </a:r>
            <a:r>
              <a:rPr lang="pt-BR" sz="2800" dirty="0" smtClean="0">
                <a:solidFill>
                  <a:srgbClr val="FFFF00"/>
                </a:solidFill>
              </a:rPr>
              <a:t>iônica</a:t>
            </a:r>
            <a:r>
              <a:rPr lang="pt-BR" sz="2800" dirty="0" smtClean="0"/>
              <a:t> (</a:t>
            </a:r>
            <a:r>
              <a:rPr lang="pt-BR" sz="2800" dirty="0" smtClean="0">
                <a:solidFill>
                  <a:srgbClr val="FFFF00"/>
                </a:solidFill>
              </a:rPr>
              <a:t>S=15-100 N/m</a:t>
            </a:r>
            <a:r>
              <a:rPr lang="pt-BR" sz="2800" dirty="0" smtClean="0"/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O diamante tem módulo  muito alto,  átomo de carbono é pequeno e seus átomos estão unidos por fortes molas covalentes (</a:t>
            </a:r>
            <a:r>
              <a:rPr lang="pt-BR" sz="2800" dirty="0">
                <a:solidFill>
                  <a:srgbClr val="FFFF00"/>
                </a:solidFill>
              </a:rPr>
              <a:t>S = </a:t>
            </a:r>
            <a:r>
              <a:rPr lang="pt-BR" sz="2800" dirty="0" smtClean="0">
                <a:solidFill>
                  <a:srgbClr val="FFFF00"/>
                </a:solidFill>
              </a:rPr>
              <a:t>200 </a:t>
            </a:r>
            <a:r>
              <a:rPr lang="pt-BR" sz="2800" dirty="0">
                <a:solidFill>
                  <a:srgbClr val="FFFF00"/>
                </a:solidFill>
              </a:rPr>
              <a:t>N/m</a:t>
            </a:r>
            <a:r>
              <a:rPr lang="pt-BR" sz="2800" dirty="0" smtClean="0"/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Metais tem módulos elevados por causa do empacotamento compacto;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Polímeros tem </a:t>
            </a:r>
            <a:r>
              <a:rPr lang="pt-BR" sz="2800" dirty="0" smtClean="0">
                <a:solidFill>
                  <a:srgbClr val="FFFF00"/>
                </a:solidFill>
              </a:rPr>
              <a:t>ligações covalentes fortes</a:t>
            </a:r>
            <a:r>
              <a:rPr lang="pt-BR" sz="2800" dirty="0" smtClean="0"/>
              <a:t> e fracas de </a:t>
            </a:r>
            <a:r>
              <a:rPr lang="pt-BR" sz="2800" dirty="0" smtClean="0">
                <a:solidFill>
                  <a:srgbClr val="FFFF00"/>
                </a:solidFill>
              </a:rPr>
              <a:t>hidrogênio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Van der </a:t>
            </a:r>
            <a:r>
              <a:rPr lang="pt-BR" sz="2800" dirty="0" err="1" smtClean="0">
                <a:solidFill>
                  <a:srgbClr val="FFFF00"/>
                </a:solidFill>
              </a:rPr>
              <a:t>Waals</a:t>
            </a:r>
            <a:r>
              <a:rPr lang="pt-BR" sz="2800" dirty="0" smtClean="0"/>
              <a:t> (</a:t>
            </a:r>
            <a:r>
              <a:rPr lang="pt-BR" sz="2800" dirty="0" smtClean="0">
                <a:solidFill>
                  <a:srgbClr val="FFFF00"/>
                </a:solidFill>
              </a:rPr>
              <a:t>S=0,5-2 N/m</a:t>
            </a:r>
            <a:r>
              <a:rPr lang="pt-BR" sz="2800" dirty="0" smtClean="0"/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405355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Módulo-Massa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Mesmo </a:t>
            </a:r>
            <a:r>
              <a:rPr lang="pt-BR" sz="2800" dirty="0" smtClean="0">
                <a:solidFill>
                  <a:srgbClr val="FFFF00"/>
                </a:solidFill>
              </a:rPr>
              <a:t>átomos grandes </a:t>
            </a:r>
            <a:r>
              <a:rPr lang="pt-BR" sz="2800" dirty="0" smtClean="0"/>
              <a:t>() unidos por </a:t>
            </a:r>
            <a:r>
              <a:rPr lang="pt-BR" sz="2800" dirty="0" smtClean="0">
                <a:solidFill>
                  <a:srgbClr val="FFFF00"/>
                </a:solidFill>
              </a:rPr>
              <a:t>ligações fracas</a:t>
            </a:r>
            <a:r>
              <a:rPr lang="pt-BR" sz="2800" dirty="0" smtClean="0"/>
              <a:t> (</a:t>
            </a:r>
            <a:r>
              <a:rPr lang="pt-BR" sz="2800" dirty="0" smtClean="0">
                <a:solidFill>
                  <a:srgbClr val="FFFF00"/>
                </a:solidFill>
              </a:rPr>
              <a:t>S = 0,5 N/m</a:t>
            </a:r>
            <a:r>
              <a:rPr lang="pt-BR" sz="2800" dirty="0" smtClean="0"/>
              <a:t>) tem módulo de aproximadamente: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 smtClean="0"/>
              <a:t>Esse é o limite inferior para sólidos verdadeiros;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Elastômeros tem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/>
              <a:t> baixo porque as ligações secundárias derreteram, </a:t>
            </a:r>
            <a:r>
              <a:rPr lang="pt-BR" sz="2800" dirty="0" smtClean="0">
                <a:solidFill>
                  <a:srgbClr val="FFFF00"/>
                </a:solidFill>
              </a:rPr>
              <a:t>temperatura vítrea</a:t>
            </a:r>
            <a:r>
              <a:rPr lang="pt-BR" sz="2800" dirty="0" smtClean="0"/>
              <a:t>, , está abaixo da temperatura ambiente, apenas forças de restauração entrópicas estão presentes;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892415"/>
              </p:ext>
            </p:extLst>
          </p:nvPr>
        </p:nvGraphicFramePr>
        <p:xfrm>
          <a:off x="2925763" y="2667000"/>
          <a:ext cx="30670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Equação" r:id="rId3" imgW="1574640" imgH="431640" progId="Equation.3">
                  <p:embed/>
                </p:oleObj>
              </mc:Choice>
              <mc:Fallback>
                <p:oleObj name="Equação" r:id="rId3" imgW="1574640" imgH="431640" progId="Equation.3">
                  <p:embed/>
                  <p:pic>
                    <p:nvPicPr>
                      <p:cNvPr id="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2667000"/>
                        <a:ext cx="3067050" cy="841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213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Módulo-Massa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O </a:t>
            </a:r>
            <a:r>
              <a:rPr lang="pt-BR" sz="2800" dirty="0" smtClean="0">
                <a:solidFill>
                  <a:srgbClr val="FFFF00"/>
                </a:solidFill>
              </a:rPr>
              <a:t>diagrama mostra</a:t>
            </a:r>
            <a:r>
              <a:rPr lang="pt-BR" sz="2800" dirty="0" smtClean="0"/>
              <a:t> que o </a:t>
            </a:r>
            <a:r>
              <a:rPr lang="pt-BR" sz="2800" dirty="0" smtClean="0">
                <a:solidFill>
                  <a:srgbClr val="FFFF00"/>
                </a:solidFill>
              </a:rPr>
              <a:t>módulo de materiais de engenharia</a:t>
            </a:r>
            <a:r>
              <a:rPr lang="pt-BR" sz="2800" dirty="0" smtClean="0"/>
              <a:t> abrange sete potências de 10, de </a:t>
            </a:r>
            <a:r>
              <a:rPr lang="pt-BR" sz="2800" dirty="0" smtClean="0">
                <a:solidFill>
                  <a:srgbClr val="FFFF00"/>
                </a:solidFill>
              </a:rPr>
              <a:t>0,0001 </a:t>
            </a:r>
            <a:r>
              <a:rPr lang="pt-BR" sz="2800" dirty="0" err="1" smtClean="0">
                <a:solidFill>
                  <a:srgbClr val="FFFF00"/>
                </a:solidFill>
              </a:rPr>
              <a:t>GPa</a:t>
            </a:r>
            <a:r>
              <a:rPr lang="pt-BR" sz="2800" dirty="0" smtClean="0"/>
              <a:t> (espumas de baixa densidade) a </a:t>
            </a:r>
            <a:r>
              <a:rPr lang="pt-BR" sz="2800" dirty="0" smtClean="0">
                <a:solidFill>
                  <a:srgbClr val="FFFF00"/>
                </a:solidFill>
              </a:rPr>
              <a:t>1000 </a:t>
            </a:r>
            <a:r>
              <a:rPr lang="pt-BR" sz="2800" dirty="0" err="1" smtClean="0">
                <a:solidFill>
                  <a:srgbClr val="FFFF00"/>
                </a:solidFill>
              </a:rPr>
              <a:t>GPa</a:t>
            </a:r>
            <a:r>
              <a:rPr lang="pt-BR" sz="2800" dirty="0" smtClean="0"/>
              <a:t> (diamante);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massa específica abrange um fator de </a:t>
            </a:r>
            <a:r>
              <a:rPr lang="pt-BR" sz="2800" dirty="0" smtClean="0">
                <a:solidFill>
                  <a:srgbClr val="FFFF00"/>
                </a:solidFill>
              </a:rPr>
              <a:t>2000</a:t>
            </a:r>
            <a:r>
              <a:rPr lang="pt-BR" sz="2800" dirty="0" smtClean="0"/>
              <a:t> de menos de </a:t>
            </a:r>
            <a:r>
              <a:rPr lang="pt-BR" sz="2800" dirty="0" smtClean="0">
                <a:solidFill>
                  <a:srgbClr val="FFFF00"/>
                </a:solidFill>
              </a:rPr>
              <a:t>0,01 a 20 Mg/m</a:t>
            </a:r>
            <a:r>
              <a:rPr lang="pt-BR" sz="2800" baseline="30000" dirty="0" smtClean="0">
                <a:solidFill>
                  <a:srgbClr val="FFFF00"/>
                </a:solidFill>
              </a:rPr>
              <a:t>3</a:t>
            </a:r>
            <a:r>
              <a:rPr lang="pt-BR" sz="2800" dirty="0" smtClean="0"/>
              <a:t>. Cerâmicas são muito rígidas, metais um pouco menos, nenhum tem módulo menor de </a:t>
            </a:r>
            <a:r>
              <a:rPr lang="pt-BR" sz="2800" dirty="0" smtClean="0">
                <a:solidFill>
                  <a:srgbClr val="FFFF00"/>
                </a:solidFill>
              </a:rPr>
              <a:t>10 </a:t>
            </a:r>
            <a:r>
              <a:rPr lang="pt-BR" sz="2800" dirty="0" err="1" smtClean="0">
                <a:solidFill>
                  <a:srgbClr val="FFFF00"/>
                </a:solidFill>
              </a:rPr>
              <a:t>GPa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Polímeros</a:t>
            </a:r>
            <a:r>
              <a:rPr lang="pt-BR" sz="2800" dirty="0" smtClean="0"/>
              <a:t> variam de </a:t>
            </a:r>
            <a:r>
              <a:rPr lang="pt-BR" sz="2800" dirty="0" smtClean="0">
                <a:solidFill>
                  <a:srgbClr val="FFFF00"/>
                </a:solidFill>
              </a:rPr>
              <a:t>0,8 a 8 </a:t>
            </a:r>
            <a:r>
              <a:rPr lang="pt-BR" sz="2800" dirty="0" err="1" smtClean="0">
                <a:solidFill>
                  <a:srgbClr val="FFFF00"/>
                </a:solidFill>
              </a:rPr>
              <a:t>GPa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5808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19142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Modulo de Young – Massa Específica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399" y="5334000"/>
            <a:ext cx="73152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As </a:t>
            </a:r>
            <a:r>
              <a:rPr lang="pt-BR" dirty="0" smtClean="0"/>
              <a:t>linhas guias (diretrizes) de constantes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FFFF00"/>
                </a:solidFill>
              </a:rPr>
              <a:t>E/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E</a:t>
            </a:r>
            <a:r>
              <a:rPr lang="en-US" i="1" baseline="30000" dirty="0" smtClean="0">
                <a:solidFill>
                  <a:srgbClr val="FFFF00"/>
                </a:solidFill>
              </a:rPr>
              <a:t>1/2</a:t>
            </a:r>
            <a:r>
              <a:rPr lang="en-US" i="1" dirty="0" smtClean="0">
                <a:solidFill>
                  <a:srgbClr val="FFFF00"/>
                </a:solidFill>
              </a:rPr>
              <a:t>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, and </a:t>
            </a:r>
            <a:r>
              <a:rPr lang="en-US" i="1" dirty="0" smtClean="0">
                <a:solidFill>
                  <a:srgbClr val="FFFF00"/>
                </a:solidFill>
              </a:rPr>
              <a:t>E</a:t>
            </a:r>
            <a:r>
              <a:rPr lang="en-US" i="1" baseline="30000" dirty="0" smtClean="0">
                <a:solidFill>
                  <a:srgbClr val="FFFF00"/>
                </a:solidFill>
              </a:rPr>
              <a:t>1/3</a:t>
            </a:r>
            <a:r>
              <a:rPr lang="en-US" i="1" dirty="0" smtClean="0">
                <a:solidFill>
                  <a:srgbClr val="FFFF00"/>
                </a:solidFill>
              </a:rPr>
              <a:t>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 </a:t>
            </a:r>
            <a:r>
              <a:rPr lang="pt-BR" dirty="0" smtClean="0"/>
              <a:t>permite seleção de materiais para peso mínimo, projeto por </a:t>
            </a:r>
            <a:r>
              <a:rPr lang="pt-BR" dirty="0" smtClean="0">
                <a:solidFill>
                  <a:srgbClr val="FFFF00"/>
                </a:solidFill>
              </a:rPr>
              <a:t>deflexão-limitada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1905000" y="1132798"/>
            <a:ext cx="5337765" cy="4295023"/>
            <a:chOff x="1905000" y="1132798"/>
            <a:chExt cx="5337765" cy="429502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1132798"/>
              <a:ext cx="5337765" cy="4048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92729" y="5181600"/>
              <a:ext cx="7585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4.3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879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Resistência-Massa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módulo de um sólido</a:t>
                </a:r>
                <a:r>
                  <a:rPr lang="pt-BR" sz="2800" dirty="0" smtClean="0"/>
                  <a:t> é uma quantidade bem definida, com valor definido,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resistência não</a:t>
                </a:r>
                <a:r>
                  <a:rPr lang="pt-BR" sz="2800" dirty="0" smtClean="0"/>
                  <a:t>; 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resistência</a:t>
                </a:r>
                <a:r>
                  <a:rPr lang="pt-BR" sz="2800" dirty="0" smtClean="0"/>
                  <a:t> precisa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definição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/>
                  <a:t> </a:t>
                </a:r>
                <a:r>
                  <a:rPr lang="pt-BR" sz="2800" dirty="0" smtClean="0"/>
                  <a:t>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metais</a:t>
                </a:r>
                <a:r>
                  <a:rPr lang="pt-BR" sz="2800" dirty="0" smtClean="0"/>
                  <a:t> 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polímeros</a:t>
                </a:r>
                <a:r>
                  <a:rPr lang="pt-BR" sz="2800" dirty="0" smtClean="0"/>
                  <a:t> é a resistência ao escoamento;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cerâmicas</a:t>
                </a:r>
                <a:r>
                  <a:rPr lang="pt-BR" sz="2800" dirty="0" smtClean="0"/>
                  <a:t> frágeis é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módulo de ruptura</a:t>
                </a:r>
                <a:r>
                  <a:rPr lang="pt-BR" sz="2800" dirty="0" smtClean="0"/>
                  <a:t>: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resistência à flexão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elastômeros</a:t>
                </a:r>
                <a:r>
                  <a:rPr lang="pt-BR" sz="2800" dirty="0" smtClean="0"/>
                  <a:t>,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resistência ao rasgamento</a:t>
                </a:r>
                <a:r>
                  <a:rPr lang="pt-BR" sz="2800" dirty="0" smtClean="0"/>
                  <a:t> por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tração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compósitos</a:t>
                </a:r>
                <a:r>
                  <a:rPr lang="pt-BR" sz="2800" dirty="0" smtClean="0"/>
                  <a:t>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resistência a falha por tração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/>
                  <a:t>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símbolo,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>
                            <a:solidFill>
                              <a:srgbClr val="FFFF00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pt-BR" sz="2800">
                            <a:solidFill>
                              <a:srgbClr val="FFFF00"/>
                            </a:solidFill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pt-BR" sz="2800" dirty="0"/>
                  <a:t>, será empregado para todas apesar de </a:t>
                </a:r>
                <a:r>
                  <a:rPr lang="pt-BR" sz="2800" dirty="0">
                    <a:solidFill>
                      <a:srgbClr val="FFFF00"/>
                    </a:solidFill>
                  </a:rPr>
                  <a:t>diferentes mecanismos de falha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envolvidos</a:t>
                </a:r>
                <a:r>
                  <a:rPr lang="pt-BR" sz="2800" dirty="0" smtClean="0"/>
                  <a:t>;</a:t>
                </a:r>
                <a:endParaRPr lang="pt-BR" sz="2800" dirty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231" t="-1829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97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Resistência-Massa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A faixa abrange muitas potências de dez, de </a:t>
            </a:r>
            <a:r>
              <a:rPr lang="pt-BR" sz="2800" dirty="0" smtClean="0">
                <a:solidFill>
                  <a:srgbClr val="FFFF00"/>
                </a:solidFill>
              </a:rPr>
              <a:t>0,01 MPa </a:t>
            </a:r>
            <a:r>
              <a:rPr lang="pt-BR" sz="2800" dirty="0" smtClean="0"/>
              <a:t>para</a:t>
            </a:r>
            <a:r>
              <a:rPr lang="pt-BR" sz="2800" dirty="0" smtClean="0">
                <a:solidFill>
                  <a:srgbClr val="FFFF00"/>
                </a:solidFill>
              </a:rPr>
              <a:t> espumas</a:t>
            </a:r>
            <a:r>
              <a:rPr lang="pt-BR" sz="2800" dirty="0" smtClean="0"/>
              <a:t> a </a:t>
            </a:r>
            <a:r>
              <a:rPr lang="pt-BR" sz="2800" dirty="0" smtClean="0">
                <a:solidFill>
                  <a:srgbClr val="FFFF00"/>
                </a:solidFill>
              </a:rPr>
              <a:t>10</a:t>
            </a:r>
            <a:r>
              <a:rPr lang="pt-BR" sz="2800" baseline="30000" dirty="0" smtClean="0">
                <a:solidFill>
                  <a:srgbClr val="FFFF00"/>
                </a:solidFill>
              </a:rPr>
              <a:t>4</a:t>
            </a:r>
            <a:r>
              <a:rPr lang="pt-BR" sz="2800" dirty="0" smtClean="0">
                <a:solidFill>
                  <a:srgbClr val="FFFF00"/>
                </a:solidFill>
              </a:rPr>
              <a:t> MPa </a:t>
            </a:r>
            <a:r>
              <a:rPr lang="pt-BR" sz="2800" dirty="0" smtClean="0"/>
              <a:t>para o</a:t>
            </a:r>
            <a:r>
              <a:rPr lang="pt-BR" sz="2800" dirty="0" smtClean="0">
                <a:solidFill>
                  <a:srgbClr val="FFFF00"/>
                </a:solidFill>
              </a:rPr>
              <a:t> diamante</a:t>
            </a:r>
            <a:r>
              <a:rPr lang="pt-BR" sz="2800" dirty="0" smtClean="0"/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Essa </a:t>
            </a:r>
            <a:r>
              <a:rPr lang="pt-BR" sz="2800" dirty="0" smtClean="0">
                <a:solidFill>
                  <a:srgbClr val="FFFF00"/>
                </a:solidFill>
              </a:rPr>
              <a:t>ampla faixa</a:t>
            </a:r>
            <a:r>
              <a:rPr lang="pt-BR" sz="2800" dirty="0" smtClean="0"/>
              <a:t> é a resistência do reticulado ou </a:t>
            </a:r>
            <a:r>
              <a:rPr lang="pt-BR" sz="2800" dirty="0" smtClean="0">
                <a:solidFill>
                  <a:srgbClr val="FFFF00"/>
                </a:solidFill>
              </a:rPr>
              <a:t>tensão de </a:t>
            </a:r>
            <a:r>
              <a:rPr lang="pt-BR" sz="2800" dirty="0" err="1" smtClean="0">
                <a:solidFill>
                  <a:srgbClr val="FFFF00"/>
                </a:solidFill>
              </a:rPr>
              <a:t>Peiels</a:t>
            </a:r>
            <a:r>
              <a:rPr lang="pt-BR" sz="2800" dirty="0" smtClean="0">
                <a:solidFill>
                  <a:srgbClr val="FFFF00"/>
                </a:solidFill>
              </a:rPr>
              <a:t> </a:t>
            </a:r>
            <a:r>
              <a:rPr lang="pt-BR" sz="2800" dirty="0" smtClean="0"/>
              <a:t>– Resistência intrínseca da estrutura ao cisalhamento plástico;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Metais puros</a:t>
            </a:r>
            <a:r>
              <a:rPr lang="pt-BR" sz="2800" dirty="0" smtClean="0"/>
              <a:t> são </a:t>
            </a:r>
            <a:r>
              <a:rPr lang="pt-BR" sz="2800" dirty="0" smtClean="0">
                <a:solidFill>
                  <a:srgbClr val="FFFF00"/>
                </a:solidFill>
              </a:rPr>
              <a:t>moles</a:t>
            </a:r>
            <a:r>
              <a:rPr lang="pt-BR" sz="2800" dirty="0" smtClean="0"/>
              <a:t> por causa da ligação metálica, não impedem as discordâncias;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Cerâmicas</a:t>
            </a:r>
            <a:r>
              <a:rPr lang="pt-BR" sz="2800" dirty="0" smtClean="0"/>
              <a:t> são </a:t>
            </a:r>
            <a:r>
              <a:rPr lang="pt-BR" sz="2800" dirty="0" smtClean="0">
                <a:solidFill>
                  <a:srgbClr val="FFFF00"/>
                </a:solidFill>
              </a:rPr>
              <a:t>duras</a:t>
            </a:r>
            <a:r>
              <a:rPr lang="pt-BR" sz="2800" dirty="0" smtClean="0"/>
              <a:t> por causa da ligação iônica ou covalente prendem as discordâncias no lugar;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Em sólidos </a:t>
            </a:r>
            <a:r>
              <a:rPr lang="pt-BR" sz="2800" dirty="0" smtClean="0">
                <a:solidFill>
                  <a:srgbClr val="FFFF00"/>
                </a:solidFill>
              </a:rPr>
              <a:t>não-</a:t>
            </a:r>
            <a:r>
              <a:rPr lang="pt-BR" sz="2800" dirty="0" err="1" smtClean="0">
                <a:solidFill>
                  <a:srgbClr val="FFFF00"/>
                </a:solidFill>
              </a:rPr>
              <a:t>cristilinos</a:t>
            </a:r>
            <a:r>
              <a:rPr lang="pt-BR" sz="2800" dirty="0" smtClean="0"/>
              <a:t> etapa </a:t>
            </a:r>
            <a:r>
              <a:rPr lang="pt-BR" sz="2800" dirty="0" smtClean="0">
                <a:solidFill>
                  <a:srgbClr val="FFFF00"/>
                </a:solidFill>
              </a:rPr>
              <a:t>unitária do processo de escoamento, deslizamento</a:t>
            </a:r>
            <a:r>
              <a:rPr lang="pt-BR" sz="2800" dirty="0" smtClean="0"/>
              <a:t> relativo molecular, </a:t>
            </a:r>
            <a:r>
              <a:rPr lang="pt-BR" sz="2800" dirty="0" smtClean="0">
                <a:solidFill>
                  <a:srgbClr val="FFFF00"/>
                </a:solidFill>
              </a:rPr>
              <a:t>cisalhamento</a:t>
            </a:r>
            <a:r>
              <a:rPr lang="pt-BR" sz="2800" dirty="0" smtClean="0"/>
              <a:t> de pequeno aglomerado molecular </a:t>
            </a:r>
            <a:r>
              <a:rPr lang="pt-BR" sz="2800" dirty="0" smtClean="0">
                <a:solidFill>
                  <a:srgbClr val="FFFF00"/>
                </a:solidFill>
              </a:rPr>
              <a:t>numa rede vítrea</a:t>
            </a:r>
            <a:r>
              <a:rPr lang="pt-BR" sz="2800" dirty="0" smtClean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821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Resistência-Massa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Se na etapa envolver rompimento de </a:t>
            </a:r>
            <a:r>
              <a:rPr lang="pt-BR" sz="2800" dirty="0" smtClean="0">
                <a:solidFill>
                  <a:srgbClr val="FFFF00"/>
                </a:solidFill>
              </a:rPr>
              <a:t>ligações fortes</a:t>
            </a:r>
            <a:r>
              <a:rPr lang="pt-BR" sz="2800" dirty="0" smtClean="0"/>
              <a:t> (vidros inorgânicos), os materiais </a:t>
            </a:r>
            <a:r>
              <a:rPr lang="pt-BR" sz="2800" dirty="0" smtClean="0">
                <a:solidFill>
                  <a:srgbClr val="FFFF00"/>
                </a:solidFill>
              </a:rPr>
              <a:t>serão fortes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Se envolver somente </a:t>
            </a:r>
            <a:r>
              <a:rPr lang="pt-BR" sz="2800" dirty="0" smtClean="0">
                <a:solidFill>
                  <a:srgbClr val="FFFF00"/>
                </a:solidFill>
              </a:rPr>
              <a:t>ligações fracas</a:t>
            </a:r>
            <a:r>
              <a:rPr lang="pt-BR" sz="2800" dirty="0" smtClean="0"/>
              <a:t> como </a:t>
            </a:r>
            <a:r>
              <a:rPr lang="pt-BR" sz="2800" dirty="0" smtClean="0">
                <a:solidFill>
                  <a:srgbClr val="FFFF00"/>
                </a:solidFill>
              </a:rPr>
              <a:t>Van der </a:t>
            </a:r>
            <a:r>
              <a:rPr lang="pt-BR" sz="2800" dirty="0" err="1" smtClean="0">
                <a:solidFill>
                  <a:srgbClr val="FFFF00"/>
                </a:solidFill>
              </a:rPr>
              <a:t>Waals</a:t>
            </a:r>
            <a:r>
              <a:rPr lang="pt-BR" sz="2800" dirty="0" smtClean="0">
                <a:solidFill>
                  <a:srgbClr val="FFFF00"/>
                </a:solidFill>
              </a:rPr>
              <a:t> e hidrogênio</a:t>
            </a:r>
            <a:r>
              <a:rPr lang="pt-BR" sz="2800" dirty="0" smtClean="0"/>
              <a:t>, os materiais serão </a:t>
            </a:r>
            <a:r>
              <a:rPr lang="pt-BR" sz="2800" dirty="0" smtClean="0">
                <a:solidFill>
                  <a:srgbClr val="FFFF00"/>
                </a:solidFill>
              </a:rPr>
              <a:t>fracos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Materiais</a:t>
            </a:r>
            <a:r>
              <a:rPr lang="pt-BR" sz="2800" dirty="0" smtClean="0"/>
              <a:t> que </a:t>
            </a:r>
            <a:r>
              <a:rPr lang="pt-BR" sz="2800" dirty="0" smtClean="0">
                <a:solidFill>
                  <a:srgbClr val="FFFF00"/>
                </a:solidFill>
              </a:rPr>
              <a:t>falham por fratura</a:t>
            </a:r>
            <a:r>
              <a:rPr lang="pt-BR" sz="2800" dirty="0" smtClean="0"/>
              <a:t>, porque a resistência do </a:t>
            </a:r>
            <a:r>
              <a:rPr lang="pt-BR" sz="2800" dirty="0" smtClean="0">
                <a:solidFill>
                  <a:srgbClr val="FFFF00"/>
                </a:solidFill>
              </a:rPr>
              <a:t>reticulado</a:t>
            </a:r>
            <a:r>
              <a:rPr lang="pt-BR" sz="2800" dirty="0" smtClean="0"/>
              <a:t> ou do </a:t>
            </a:r>
            <a:r>
              <a:rPr lang="pt-BR" sz="2800" dirty="0" smtClean="0">
                <a:solidFill>
                  <a:srgbClr val="FFFF00"/>
                </a:solidFill>
              </a:rPr>
              <a:t>equivalente amorfo</a:t>
            </a:r>
            <a:r>
              <a:rPr lang="pt-BR" sz="2800" dirty="0" smtClean="0"/>
              <a:t> é tão grande que a </a:t>
            </a:r>
            <a:r>
              <a:rPr lang="pt-BR" sz="2800" dirty="0" smtClean="0">
                <a:solidFill>
                  <a:srgbClr val="FFFF00"/>
                </a:solidFill>
              </a:rPr>
              <a:t>separação atômica ocorre antes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resistência do reticulado</a:t>
            </a:r>
            <a:r>
              <a:rPr lang="pt-BR" sz="2800" dirty="0" smtClean="0"/>
              <a:t> é </a:t>
            </a:r>
            <a:r>
              <a:rPr lang="pt-BR" sz="2800" dirty="0" smtClean="0">
                <a:solidFill>
                  <a:srgbClr val="FFFF00"/>
                </a:solidFill>
              </a:rPr>
              <a:t>baixa</a:t>
            </a:r>
            <a:r>
              <a:rPr lang="pt-BR" sz="2800" dirty="0" smtClean="0"/>
              <a:t> mas pode ser </a:t>
            </a:r>
            <a:r>
              <a:rPr lang="pt-BR" sz="2800" dirty="0" smtClean="0">
                <a:solidFill>
                  <a:srgbClr val="FFFF00"/>
                </a:solidFill>
              </a:rPr>
              <a:t>melhorada</a:t>
            </a:r>
            <a:r>
              <a:rPr lang="pt-BR" sz="2800" dirty="0" smtClean="0"/>
              <a:t> pela introdução de </a:t>
            </a:r>
            <a:r>
              <a:rPr lang="pt-BR" sz="2800" dirty="0" smtClean="0">
                <a:solidFill>
                  <a:srgbClr val="FFFF00"/>
                </a:solidFill>
              </a:rPr>
              <a:t>obstáculos ao deslizamento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48743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Resistência-Massa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Em metais, a </a:t>
            </a:r>
            <a:r>
              <a:rPr lang="pt-BR" sz="2800" dirty="0" smtClean="0">
                <a:solidFill>
                  <a:srgbClr val="FFFF00"/>
                </a:solidFill>
              </a:rPr>
              <a:t>adição de elementos</a:t>
            </a:r>
            <a:r>
              <a:rPr lang="pt-BR" sz="2800" dirty="0" smtClean="0"/>
              <a:t> de ligas, </a:t>
            </a:r>
            <a:r>
              <a:rPr lang="pt-BR" sz="2800" dirty="0" smtClean="0">
                <a:solidFill>
                  <a:srgbClr val="FFFF00"/>
                </a:solidFill>
              </a:rPr>
              <a:t>contornos de grãos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encruamento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Em </a:t>
            </a:r>
            <a:r>
              <a:rPr lang="pt-BR" sz="2800" dirty="0" smtClean="0">
                <a:solidFill>
                  <a:srgbClr val="FFFF00"/>
                </a:solidFill>
              </a:rPr>
              <a:t>polímeros</a:t>
            </a:r>
            <a:r>
              <a:rPr lang="pt-BR" sz="2800" dirty="0" smtClean="0"/>
              <a:t>, por </a:t>
            </a:r>
            <a:r>
              <a:rPr lang="pt-BR" sz="2800" dirty="0" smtClean="0">
                <a:solidFill>
                  <a:srgbClr val="FFFF00"/>
                </a:solidFill>
              </a:rPr>
              <a:t>reticulação</a:t>
            </a:r>
            <a:r>
              <a:rPr lang="pt-BR" sz="2800" dirty="0" smtClean="0"/>
              <a:t> ou por </a:t>
            </a:r>
            <a:r>
              <a:rPr lang="pt-BR" sz="2800" dirty="0" smtClean="0">
                <a:solidFill>
                  <a:srgbClr val="FFFF00"/>
                </a:solidFill>
              </a:rPr>
              <a:t>orientação</a:t>
            </a:r>
            <a:r>
              <a:rPr lang="pt-BR" sz="2800" dirty="0" smtClean="0"/>
              <a:t> das cadeias de modo que as ligações </a:t>
            </a:r>
            <a:r>
              <a:rPr lang="pt-BR" sz="2800" dirty="0" smtClean="0">
                <a:solidFill>
                  <a:srgbClr val="FFFF00"/>
                </a:solidFill>
              </a:rPr>
              <a:t>fortes covalentes</a:t>
            </a:r>
            <a:r>
              <a:rPr lang="pt-BR" sz="2800" dirty="0" smtClean="0"/>
              <a:t> e as </a:t>
            </a:r>
            <a:r>
              <a:rPr lang="pt-BR" sz="2800" dirty="0" smtClean="0">
                <a:solidFill>
                  <a:srgbClr val="FFFF00"/>
                </a:solidFill>
              </a:rPr>
              <a:t>fracas de Van der </a:t>
            </a:r>
            <a:r>
              <a:rPr lang="pt-BR" sz="2800" dirty="0" err="1" smtClean="0">
                <a:solidFill>
                  <a:srgbClr val="FFFF00"/>
                </a:solidFill>
              </a:rPr>
              <a:t>Waals</a:t>
            </a:r>
            <a:r>
              <a:rPr lang="pt-BR" sz="2800" dirty="0" smtClean="0"/>
              <a:t> devem ser rompidas quando </a:t>
            </a:r>
            <a:r>
              <a:rPr lang="pt-BR" sz="2800" dirty="0" smtClean="0">
                <a:solidFill>
                  <a:srgbClr val="FFFF00"/>
                </a:solidFill>
              </a:rPr>
              <a:t>deformado o material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Quando a </a:t>
            </a:r>
            <a:r>
              <a:rPr lang="pt-BR" sz="2800" dirty="0" smtClean="0">
                <a:solidFill>
                  <a:srgbClr val="FFFF00"/>
                </a:solidFill>
              </a:rPr>
              <a:t>resistência do reticulado</a:t>
            </a:r>
            <a:r>
              <a:rPr lang="pt-BR" sz="2800" dirty="0" smtClean="0"/>
              <a:t> é </a:t>
            </a:r>
            <a:r>
              <a:rPr lang="pt-BR" sz="2800" dirty="0" smtClean="0">
                <a:solidFill>
                  <a:srgbClr val="FFFF00"/>
                </a:solidFill>
              </a:rPr>
              <a:t>elevada</a:t>
            </a:r>
            <a:r>
              <a:rPr lang="pt-BR" sz="2800" dirty="0" smtClean="0"/>
              <a:t>, o problema passa a ser a </a:t>
            </a:r>
            <a:r>
              <a:rPr lang="pt-BR" sz="2800" dirty="0" smtClean="0">
                <a:solidFill>
                  <a:srgbClr val="FFFF00"/>
                </a:solidFill>
              </a:rPr>
              <a:t>supressão da fratura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No </a:t>
            </a:r>
            <a:r>
              <a:rPr lang="pt-BR" sz="2800" dirty="0" smtClean="0">
                <a:solidFill>
                  <a:srgbClr val="FFFF00"/>
                </a:solidFill>
              </a:rPr>
              <a:t>gráfico</a:t>
            </a:r>
            <a:r>
              <a:rPr lang="pt-BR" sz="2800" dirty="0" smtClean="0"/>
              <a:t> são apresentadas </a:t>
            </a:r>
            <a:r>
              <a:rPr lang="pt-BR" sz="2800" dirty="0" smtClean="0">
                <a:solidFill>
                  <a:srgbClr val="FFFF00"/>
                </a:solidFill>
              </a:rPr>
              <a:t>as diretrizes </a:t>
            </a:r>
            <a:r>
              <a:rPr lang="pt-BR" sz="2800" dirty="0" smtClean="0"/>
              <a:t>para </a:t>
            </a:r>
            <a:r>
              <a:rPr lang="pt-BR" sz="2800" dirty="0" smtClean="0">
                <a:solidFill>
                  <a:srgbClr val="FFFF00"/>
                </a:solidFill>
              </a:rPr>
              <a:t>seleção de materiais</a:t>
            </a:r>
            <a:r>
              <a:rPr lang="pt-BR" sz="2800" dirty="0" smtClean="0"/>
              <a:t> em projeto de </a:t>
            </a:r>
            <a:r>
              <a:rPr lang="pt-BR" sz="2800" dirty="0" smtClean="0">
                <a:solidFill>
                  <a:srgbClr val="FFFF00"/>
                </a:solidFill>
              </a:rPr>
              <a:t>peso mínimo</a:t>
            </a:r>
            <a:r>
              <a:rPr lang="pt-BR" sz="2800" dirty="0" smtClean="0"/>
              <a:t> de </a:t>
            </a:r>
            <a:r>
              <a:rPr lang="pt-BR" sz="2800" dirty="0" smtClean="0">
                <a:solidFill>
                  <a:srgbClr val="FFFF00"/>
                </a:solidFill>
              </a:rPr>
              <a:t>tirantes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colunas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vigas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placas</a:t>
            </a:r>
            <a:r>
              <a:rPr lang="pt-BR" sz="2800" dirty="0" smtClean="0"/>
              <a:t> para </a:t>
            </a:r>
            <a:r>
              <a:rPr lang="pt-BR" sz="2800" dirty="0" smtClean="0">
                <a:solidFill>
                  <a:srgbClr val="FFFF00"/>
                </a:solidFill>
              </a:rPr>
              <a:t>projetos limitado por escoamento de componentes móveis </a:t>
            </a:r>
            <a:r>
              <a:rPr lang="pt-BR" sz="2800" dirty="0" smtClean="0"/>
              <a:t>onde as </a:t>
            </a:r>
            <a:r>
              <a:rPr lang="pt-BR" sz="2800" dirty="0" smtClean="0">
                <a:solidFill>
                  <a:srgbClr val="FFFF00"/>
                </a:solidFill>
              </a:rPr>
              <a:t>forças inerciais</a:t>
            </a:r>
            <a:r>
              <a:rPr lang="pt-BR" sz="2800" dirty="0" smtClean="0"/>
              <a:t> são importantes;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2868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Resistência-Massa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3733800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Forças inerciais</a:t>
                </a:r>
                <a:r>
                  <a:rPr lang="pt-BR" sz="2800" dirty="0" smtClean="0"/>
                  <a:t>:</a:t>
                </a:r>
              </a:p>
              <a:p>
                <a:pPr marL="0" indent="0" algn="just">
                  <a:buNone/>
                </a:pPr>
                <a:r>
                  <a:rPr lang="pt-BR" sz="2800" dirty="0" smtClean="0"/>
                  <a:t>Princípio da Conservação da quantidade de Movimento Linear para aceleração arbitrária não-inercial</a:t>
                </a:r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/>
                            </a:rPr>
                            <m:t>𝑟𝑓</m:t>
                          </m:r>
                        </m:sub>
                      </m:sSub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r>
                        <a:rPr lang="pt-BR" sz="2800" b="0" i="1" smtClean="0">
                          <a:latin typeface="Cambria Math"/>
                        </a:rPr>
                        <m:t>𝑚</m:t>
                      </m:r>
                      <m:r>
                        <a:rPr lang="pt-BR" sz="28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800" i="1">
                              <a:latin typeface="Cambria Math"/>
                            </a:rPr>
                            <m:t>𝑟𝑓</m:t>
                          </m:r>
                        </m:sub>
                      </m:sSub>
                    </m:oMath>
                  </m:oMathPara>
                </a14:m>
                <a:endParaRPr lang="pt-BR" sz="280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>
                                  <a:latin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2800" b="0" i="1">
                              <a:latin typeface="Cambria Math"/>
                            </a:rPr>
                            <m:t>𝑐𝑢𝑟𝑖𝑜𝑙𝑖𝑠</m:t>
                          </m:r>
                        </m:sub>
                      </m:sSub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r>
                        <a:rPr lang="pt-BR" sz="2800" b="0" i="1" smtClean="0">
                          <a:latin typeface="Cambria Math"/>
                        </a:rPr>
                        <m:t>𝑚</m:t>
                      </m:r>
                      <m:r>
                        <a:rPr lang="pt-BR" sz="28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pt-BR" sz="2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pt-BR" sz="28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dirty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</m:acc>
                          <m:r>
                            <a:rPr lang="pt-BR" sz="2800" b="0" i="1" dirty="0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pt-BR" sz="2800" i="1" dirty="0" smtClean="0">
                                  <a:latin typeface="Cambria Math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pt-BR" sz="2800" b="0" i="1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/>
                            </a:rPr>
                            <m:t>𝑥𝑦𝑧</m:t>
                          </m:r>
                        </m:sub>
                      </m:sSub>
                    </m:oMath>
                  </m:oMathPara>
                </a14:m>
                <a:endParaRPr lang="pt-BR" sz="2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/>
                            </a:rPr>
                            <m:t>𝑐𝑒𝑛𝑡𝑟𝑖𝑝𝑒𝑡𝑎</m:t>
                          </m:r>
                        </m:sub>
                      </m:sSub>
                      <m:r>
                        <a:rPr lang="pt-BR" sz="2800" i="1">
                          <a:latin typeface="Cambria Math"/>
                        </a:rPr>
                        <m:t>=</m:t>
                      </m:r>
                      <m:r>
                        <a:rPr lang="pt-BR" sz="2800" i="1">
                          <a:latin typeface="Cambria Math"/>
                        </a:rPr>
                        <m:t>𝑚</m:t>
                      </m:r>
                      <m:r>
                        <a:rPr lang="pt-BR" sz="2800" b="0" i="1" smtClean="0">
                          <a:latin typeface="Cambria Math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pt-BR" sz="280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acc>
                      <m:r>
                        <a:rPr lang="pt-BR" sz="2800" i="1">
                          <a:latin typeface="Cambria Math"/>
                          <a:ea typeface="Cambria Math"/>
                        </a:rPr>
                        <m:t>×</m:t>
                      </m:r>
                      <m:d>
                        <m:dPr>
                          <m:ctrlPr>
                            <a:rPr lang="pt-BR" sz="2800" i="1"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</m:acc>
                          <m:r>
                            <a:rPr lang="pt-BR" sz="2800" i="1">
                              <a:latin typeface="Cambria Math"/>
                              <a:ea typeface="Cambria Math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pt-BR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/>
                            </a:rPr>
                            <m:t>𝑡𝑎𝑛𝑔𝑒𝑛𝑐𝑖𝑎𝑙</m:t>
                          </m:r>
                        </m:sub>
                      </m:sSub>
                      <m:r>
                        <a:rPr lang="pt-BR" sz="2800" i="1">
                          <a:latin typeface="Cambria Math"/>
                        </a:rPr>
                        <m:t>=</m:t>
                      </m:r>
                      <m:r>
                        <a:rPr lang="pt-BR" sz="2800" i="1">
                          <a:latin typeface="Cambria Math"/>
                        </a:rPr>
                        <m:t>𝑚</m:t>
                      </m:r>
                      <m:r>
                        <a:rPr lang="pt-BR" sz="2800" b="0" i="1" smtClean="0">
                          <a:latin typeface="Cambria Math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accPr>
                        <m:e>
                          <m:acc>
                            <m:accPr>
                              <m:chr m:val="̇"/>
                              <m:ctrlPr>
                                <a:rPr lang="pt-BR" sz="28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pt-BR" sz="2800" i="1" dirty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pt-BR" sz="2800" i="1" dirty="0">
                          <a:latin typeface="Cambria Math"/>
                          <a:ea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pt-BR" sz="2800" b="0" i="1" dirty="0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pt-BR" sz="2800" dirty="0" smtClean="0"/>
              </a:p>
              <a:p>
                <a:pPr marL="0" indent="0" algn="ctr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3733800"/>
              </a:xfrm>
              <a:blipFill rotWithShape="1">
                <a:blip r:embed="rId2"/>
                <a:stretch>
                  <a:fillRect l="-1231" t="-2124" r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43400"/>
            <a:ext cx="2792852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300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725" y="1061569"/>
            <a:ext cx="6118684" cy="394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315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Resistencia – Massa Específica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5186608"/>
            <a:ext cx="7315200" cy="1480457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As </a:t>
            </a:r>
            <a:r>
              <a:rPr lang="en-US" sz="2800" dirty="0" err="1" smtClean="0"/>
              <a:t>linhas</a:t>
            </a:r>
            <a:r>
              <a:rPr lang="en-US" sz="2800" dirty="0" smtClean="0"/>
              <a:t> </a:t>
            </a:r>
            <a:r>
              <a:rPr lang="pt-BR" sz="2800" dirty="0" smtClean="0"/>
              <a:t>guias (diretrizes)</a:t>
            </a:r>
            <a:r>
              <a:rPr lang="en-US" sz="2800" dirty="0" smtClean="0"/>
              <a:t> para valores constante de </a:t>
            </a:r>
            <a:r>
              <a:rPr lang="el-GR" sz="2800" i="1" dirty="0" smtClean="0">
                <a:solidFill>
                  <a:srgbClr val="FFFF00"/>
                </a:solidFill>
              </a:rPr>
              <a:t>σ</a:t>
            </a:r>
            <a:r>
              <a:rPr lang="en-US" sz="2800" i="1" baseline="-25000" dirty="0" smtClean="0">
                <a:solidFill>
                  <a:srgbClr val="FFFF00"/>
                </a:solidFill>
              </a:rPr>
              <a:t>f</a:t>
            </a:r>
            <a:r>
              <a:rPr lang="en-US" sz="2800" i="1" dirty="0" smtClean="0">
                <a:solidFill>
                  <a:srgbClr val="FFFF00"/>
                </a:solidFill>
              </a:rPr>
              <a:t>/</a:t>
            </a:r>
            <a:r>
              <a:rPr lang="el-GR" sz="2800" i="1" dirty="0" smtClean="0">
                <a:solidFill>
                  <a:srgbClr val="FFFF00"/>
                </a:solidFill>
              </a:rPr>
              <a:t>ρ</a:t>
            </a:r>
            <a:r>
              <a:rPr lang="en-US" sz="2800" dirty="0" smtClean="0"/>
              <a:t>, </a:t>
            </a:r>
            <a:r>
              <a:rPr lang="el-GR" sz="2800" i="1" dirty="0" smtClean="0">
                <a:solidFill>
                  <a:srgbClr val="FFFF00"/>
                </a:solidFill>
              </a:rPr>
              <a:t>σ</a:t>
            </a:r>
            <a:r>
              <a:rPr lang="en-US" sz="2800" i="1" baseline="-25000" dirty="0" smtClean="0">
                <a:solidFill>
                  <a:srgbClr val="FFFF00"/>
                </a:solidFill>
              </a:rPr>
              <a:t>f</a:t>
            </a:r>
            <a:r>
              <a:rPr lang="en-US" sz="2800" i="1" baseline="30000" dirty="0" smtClean="0">
                <a:solidFill>
                  <a:srgbClr val="FFFF00"/>
                </a:solidFill>
              </a:rPr>
              <a:t>2/3</a:t>
            </a:r>
            <a:r>
              <a:rPr lang="en-US" sz="2800" i="1" dirty="0" smtClean="0">
                <a:solidFill>
                  <a:srgbClr val="FFFF00"/>
                </a:solidFill>
              </a:rPr>
              <a:t>/</a:t>
            </a:r>
            <a:r>
              <a:rPr lang="el-GR" sz="2800" i="1" dirty="0" smtClean="0">
                <a:solidFill>
                  <a:srgbClr val="FFFF00"/>
                </a:solidFill>
              </a:rPr>
              <a:t>ρ</a:t>
            </a:r>
            <a:r>
              <a:rPr lang="en-US" sz="2800" dirty="0" smtClean="0"/>
              <a:t>, and </a:t>
            </a:r>
            <a:r>
              <a:rPr lang="el-GR" sz="2800" i="1" dirty="0" smtClean="0">
                <a:solidFill>
                  <a:srgbClr val="FFFF00"/>
                </a:solidFill>
              </a:rPr>
              <a:t>σ</a:t>
            </a:r>
            <a:r>
              <a:rPr lang="en-US" sz="2800" i="1" baseline="-25000" dirty="0" smtClean="0">
                <a:solidFill>
                  <a:srgbClr val="FFFF00"/>
                </a:solidFill>
              </a:rPr>
              <a:t>f</a:t>
            </a:r>
            <a:r>
              <a:rPr lang="en-US" sz="2800" i="1" baseline="30000" dirty="0" smtClean="0">
                <a:solidFill>
                  <a:srgbClr val="FFFF00"/>
                </a:solidFill>
              </a:rPr>
              <a:t>1/2</a:t>
            </a:r>
            <a:r>
              <a:rPr lang="en-US" sz="2800" i="1" dirty="0" smtClean="0">
                <a:solidFill>
                  <a:srgbClr val="FFFF00"/>
                </a:solidFill>
              </a:rPr>
              <a:t>/</a:t>
            </a:r>
            <a:r>
              <a:rPr lang="el-GR" sz="2800" i="1" dirty="0" smtClean="0">
                <a:solidFill>
                  <a:srgbClr val="FFFF00"/>
                </a:solidFill>
              </a:rPr>
              <a:t>ρ</a:t>
            </a:r>
            <a:r>
              <a:rPr lang="en-US" sz="2800" dirty="0"/>
              <a:t> </a:t>
            </a:r>
            <a:r>
              <a:rPr lang="pt-BR" sz="2800" dirty="0" smtClean="0"/>
              <a:t>são utilizados em projetos com peso mínimo, limitados pela tensão de escoamento</a:t>
            </a:r>
            <a:endParaRPr lang="pt-BR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</p:spTree>
    <p:extLst>
      <p:ext uri="{BB962C8B-B14F-4D97-AF65-F5344CB8AC3E}">
        <p14:creationId xmlns:p14="http://schemas.microsoft.com/office/powerpoint/2010/main" val="55466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/>
          </a:bodyPr>
          <a:lstStyle/>
          <a:p>
            <a:r>
              <a:rPr lang="pt-BR" dirty="0" smtClean="0"/>
              <a:t>Diagrama Módulo-Resistência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Aços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de alta resistência produzem</a:t>
                </a:r>
                <a:r>
                  <a:rPr lang="pt-BR" sz="2800" dirty="0" smtClean="0"/>
                  <a:t> boas molas;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/>
                            </a:rPr>
                            <m:t>𝑟</m:t>
                          </m:r>
                        </m:sub>
                      </m:sSub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pt-BR" sz="280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pt-BR" sz="2800" i="1" smtClean="0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/>
                                </a:rPr>
                                <m:t>𝑃</m:t>
                              </m:r>
                            </m:sub>
                          </m:sSub>
                        </m:sup>
                        <m:e>
                          <m:r>
                            <a:rPr lang="pt-BR" sz="280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𝜀</m:t>
                          </m:r>
                        </m:e>
                      </m:nary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pt-BR" sz="2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/>
                                </a:rPr>
                                <m:t>𝑃</m:t>
                              </m:r>
                            </m:sub>
                          </m:sSub>
                        </m:sup>
                        <m:e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𝐸</m:t>
                          </m:r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pt-BR" sz="2800" i="1"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pt-BR" sz="2800" i="1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pt-BR" sz="2800" i="1">
                              <a:latin typeface="Cambria Math"/>
                              <a:ea typeface="Cambria Math"/>
                            </a:rPr>
                            <m:t>𝜀</m:t>
                          </m:r>
                        </m:e>
                      </m:nary>
                      <m:r>
                        <a:rPr lang="pt-BR" sz="28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charset="0"/>
                              <a:ea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charset="0"/>
                                  <a:ea typeface="Cambria Math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charset="0"/>
                                  <a:ea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pt-BR" sz="2800" dirty="0" smtClean="0"/>
              </a:p>
              <a:p>
                <a:pPr algn="just">
                  <a:buFont typeface="Wingdings" panose="05000000000000000000" pitchFamily="2" charset="2"/>
                  <a:buChar char="ü"/>
                </a:pPr>
                <a:endParaRPr lang="pt-BR" sz="2800" dirty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borracha também</a:t>
                </a:r>
                <a:r>
                  <a:rPr lang="pt-BR" sz="2800" dirty="0" smtClean="0"/>
                  <a:t>. Como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dois materiais</a:t>
                </a:r>
                <a:r>
                  <a:rPr lang="pt-BR" sz="2800" dirty="0" smtClean="0"/>
                  <a:t> bem diferentes são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adequados</a:t>
                </a:r>
                <a:r>
                  <a:rPr lang="pt-BR" sz="2800" dirty="0" smtClean="0"/>
                  <a:t> 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a mesma tarefa</a:t>
                </a:r>
                <a:r>
                  <a:rPr lang="pt-BR" sz="2800" dirty="0" smtClean="0"/>
                  <a:t>?;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definição de resistência</a:t>
                </a:r>
                <a:r>
                  <a:rPr lang="pt-BR" sz="2800" dirty="0" smtClean="0"/>
                  <a:t> é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mesma anteriormente adotada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Contornos de deformação por escoamento</a:t>
                </a:r>
                <a:r>
                  <a:rPr lang="pt-BR" sz="2800" dirty="0" smtClean="0"/>
                  <a:t> ou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deformação por fratura</a:t>
                </a:r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pt-BR" sz="280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 smtClean="0">
                                <a:solidFill>
                                  <a:srgbClr val="FFFF00"/>
                                </a:solidFill>
                                <a:latin typeface="Cambria Math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solidFill>
                                  <a:srgbClr val="FFFF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𝐸</m:t>
                        </m:r>
                      </m:den>
                    </m:f>
                  </m:oMath>
                </a14:m>
                <a:r>
                  <a:rPr lang="pt-BR" sz="2800" dirty="0" smtClean="0"/>
                  <a:t>, aparecem como uma família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linhas retas paralelas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0">
                <a:blip r:embed="rId3"/>
                <a:stretch>
                  <a:fillRect l="-1231" t="-2629" r="-1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91517"/>
              </p:ext>
            </p:extLst>
          </p:nvPr>
        </p:nvGraphicFramePr>
        <p:xfrm>
          <a:off x="3124200" y="2514600"/>
          <a:ext cx="26304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Equação" r:id="rId4" imgW="1790640" imgH="393480" progId="Equation.3">
                  <p:embed/>
                </p:oleObj>
              </mc:Choice>
              <mc:Fallback>
                <p:oleObj name="Equação" r:id="rId4" imgW="1790640" imgH="39348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514600"/>
                        <a:ext cx="2630487" cy="5762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145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/>
          </a:bodyPr>
          <a:lstStyle/>
          <a:p>
            <a:r>
              <a:rPr lang="pt-BR" dirty="0" smtClean="0"/>
              <a:t>Diagrama Módulo-Resistência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Polímeros de Engenharia</a:t>
                </a:r>
                <a:r>
                  <a:rPr lang="pt-BR" sz="2800" dirty="0" smtClean="0"/>
                  <a:t> apresentam grandes deformações entre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0,01 a 0,1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Valores 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metais são menores</a:t>
                </a:r>
                <a:r>
                  <a:rPr lang="pt-BR" sz="2800" dirty="0" smtClean="0"/>
                  <a:t> de um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fator</a:t>
                </a:r>
                <a:r>
                  <a:rPr lang="pt-BR" sz="2800" dirty="0" smtClean="0"/>
                  <a:t> de no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mínimo 10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Compósitos e madeiras</a:t>
                </a:r>
                <a:r>
                  <a:rPr lang="pt-BR" sz="2800" dirty="0" smtClean="0"/>
                  <a:t> encontram-se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em torno de 0,01</a:t>
                </a:r>
                <a:r>
                  <a:rPr lang="pt-BR" sz="2800" dirty="0" smtClean="0"/>
                  <a:t>. São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tão bons quantos os melhores metais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>
                    <a:solidFill>
                      <a:srgbClr val="FFFF00"/>
                    </a:solidFill>
                  </a:rPr>
                  <a:t>Elastômeros</a:t>
                </a:r>
                <a:r>
                  <a:rPr lang="pt-BR" sz="2800" dirty="0"/>
                  <a:t>, por razões dos </a:t>
                </a:r>
                <a:r>
                  <a:rPr lang="pt-BR" sz="2800" dirty="0">
                    <a:solidFill>
                      <a:srgbClr val="FFFF00"/>
                    </a:solidFill>
                  </a:rPr>
                  <a:t>módulos baixos</a:t>
                </a:r>
                <a:r>
                  <a:rPr lang="pt-BR" sz="2800" dirty="0"/>
                  <a:t>, apresentam valores </a:t>
                </a:r>
                <a:r>
                  <a:rPr lang="pt-BR" sz="2800" dirty="0" smtClean="0"/>
                  <a:t>de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pt-BR" sz="2800" i="1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>
                                <a:solidFill>
                                  <a:srgbClr val="FFFF00"/>
                                </a:solidFill>
                                <a:latin typeface="Cambria Math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solidFill>
                                  <a:srgbClr val="FFFF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pt-BR" sz="2800" i="1">
                                <a:solidFill>
                                  <a:srgbClr val="FFFF00"/>
                                </a:solidFill>
                                <a:latin typeface="Cambria Math"/>
                                <a:ea typeface="Cambria Math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𝐸</m:t>
                        </m:r>
                      </m:den>
                    </m:f>
                  </m:oMath>
                </a14:m>
                <a:r>
                  <a:rPr lang="pt-BR" sz="2800" dirty="0" smtClean="0"/>
                  <a:t> maiores de que qualquer classe de material,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1 a 10</a:t>
                </a:r>
                <a:r>
                  <a:rPr lang="pt-BR" sz="2800" dirty="0" smtClean="0"/>
                  <a:t>; </a:t>
                </a:r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385" t="-1143" r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38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/>
          </a:bodyPr>
          <a:lstStyle/>
          <a:p>
            <a:r>
              <a:rPr lang="pt-BR" dirty="0" smtClean="0"/>
              <a:t>Diagrama Módulo-Resistência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primeira é que ligações </a:t>
            </a:r>
            <a:r>
              <a:rPr lang="pt-BR" sz="2800" dirty="0" smtClean="0">
                <a:solidFill>
                  <a:srgbClr val="FFFF00"/>
                </a:solidFill>
              </a:rPr>
              <a:t>não localizadas</a:t>
            </a:r>
            <a:r>
              <a:rPr lang="pt-BR" sz="2800" dirty="0" smtClean="0"/>
              <a:t> </a:t>
            </a:r>
            <a:r>
              <a:rPr lang="pt-BR" sz="2800" u="sng" dirty="0" smtClean="0">
                <a:solidFill>
                  <a:srgbClr val="FFFF00"/>
                </a:solidFill>
              </a:rPr>
              <a:t>não são rompidas</a:t>
            </a:r>
            <a:r>
              <a:rPr lang="pt-BR" sz="2800" u="sng" dirty="0" smtClean="0"/>
              <a:t> quando a estrutura é cisalhada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ligação metálica e a ligação iônica para certas direções de cisalhamento agem desse modo;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Metais puros</a:t>
            </a:r>
            <a:r>
              <a:rPr lang="pt-BR" sz="2800" dirty="0" smtClean="0"/>
              <a:t> sofrem </a:t>
            </a:r>
            <a:r>
              <a:rPr lang="pt-BR" sz="2800" dirty="0" smtClean="0">
                <a:solidFill>
                  <a:srgbClr val="FFFF00"/>
                </a:solidFill>
              </a:rPr>
              <a:t>escoamento</a:t>
            </a:r>
            <a:r>
              <a:rPr lang="pt-BR" sz="2800" dirty="0" smtClean="0"/>
              <a:t> </a:t>
            </a:r>
            <a:r>
              <a:rPr lang="pt-BR" sz="2800" dirty="0" smtClean="0">
                <a:solidFill>
                  <a:srgbClr val="FFFF00"/>
                </a:solidFill>
              </a:rPr>
              <a:t>a baixas tensões</a:t>
            </a:r>
            <a:r>
              <a:rPr lang="pt-BR" sz="2800" dirty="0" smtClean="0"/>
              <a:t> de até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>
                <a:solidFill>
                  <a:srgbClr val="FFFF00"/>
                </a:solidFill>
              </a:rPr>
              <a:t>/10.000</a:t>
            </a:r>
            <a:r>
              <a:rPr lang="pt-BR" sz="2800" dirty="0" smtClean="0"/>
              <a:t> e mecanismos de </a:t>
            </a:r>
            <a:r>
              <a:rPr lang="pt-BR" sz="2800" dirty="0" smtClean="0">
                <a:solidFill>
                  <a:srgbClr val="FFFF00"/>
                </a:solidFill>
              </a:rPr>
              <a:t>fortalecimento</a:t>
            </a:r>
            <a:r>
              <a:rPr lang="pt-BR" sz="2800" dirty="0" smtClean="0"/>
              <a:t> são necessários para torná-los </a:t>
            </a:r>
            <a:r>
              <a:rPr lang="pt-BR" sz="2800" dirty="0" smtClean="0">
                <a:solidFill>
                  <a:srgbClr val="FFFF00"/>
                </a:solidFill>
              </a:rPr>
              <a:t>úteis para engenharia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ligação covalente é localizada</a:t>
            </a:r>
            <a:r>
              <a:rPr lang="pt-BR" sz="2800" dirty="0" smtClean="0"/>
              <a:t>, tem resistência a escoamento, </a:t>
            </a:r>
            <a:r>
              <a:rPr lang="pt-BR" sz="2800" dirty="0" smtClean="0">
                <a:solidFill>
                  <a:srgbClr val="FFFF00"/>
                </a:solidFill>
              </a:rPr>
              <a:t>sólidos covalentes</a:t>
            </a:r>
            <a:r>
              <a:rPr lang="pt-BR" sz="2800" dirty="0" smtClean="0"/>
              <a:t> apresentam </a:t>
            </a:r>
            <a:r>
              <a:rPr lang="pt-BR" sz="2800" dirty="0" smtClean="0">
                <a:solidFill>
                  <a:srgbClr val="FFFF00"/>
                </a:solidFill>
              </a:rPr>
              <a:t>resistência ao escoamento</a:t>
            </a:r>
            <a:r>
              <a:rPr lang="pt-BR" sz="2800" dirty="0" smtClean="0"/>
              <a:t>, em baixas temperaturas, até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>
                <a:solidFill>
                  <a:srgbClr val="FFFF00"/>
                </a:solidFill>
              </a:rPr>
              <a:t>/10</a:t>
            </a:r>
            <a:r>
              <a:rPr lang="pt-BR" sz="2800" dirty="0" smtClean="0"/>
              <a:t>.</a:t>
            </a:r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22240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/>
          </a:bodyPr>
          <a:lstStyle/>
          <a:p>
            <a:r>
              <a:rPr lang="pt-BR" dirty="0" smtClean="0"/>
              <a:t>Diagrama Módulo-Resistência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 </a:t>
            </a:r>
            <a:r>
              <a:rPr lang="pt-BR" sz="2800" dirty="0" smtClean="0">
                <a:solidFill>
                  <a:srgbClr val="FFFF00"/>
                </a:solidFill>
              </a:rPr>
              <a:t>Medi-las</a:t>
            </a:r>
            <a:r>
              <a:rPr lang="pt-BR" sz="2800" dirty="0" smtClean="0"/>
              <a:t> é </a:t>
            </a:r>
            <a:r>
              <a:rPr lang="pt-BR" sz="2800" dirty="0" smtClean="0">
                <a:solidFill>
                  <a:srgbClr val="FFFF00"/>
                </a:solidFill>
              </a:rPr>
              <a:t>bem difícil</a:t>
            </a:r>
            <a:r>
              <a:rPr lang="pt-BR" sz="2800" dirty="0" smtClean="0"/>
              <a:t> em razão dos </a:t>
            </a:r>
            <a:r>
              <a:rPr lang="pt-BR" sz="2800" dirty="0" smtClean="0">
                <a:solidFill>
                  <a:srgbClr val="FFFF00"/>
                </a:solidFill>
              </a:rPr>
              <a:t>defeitos concentradores de tensão</a:t>
            </a:r>
            <a:r>
              <a:rPr lang="pt-BR" sz="2800" dirty="0" smtClean="0"/>
              <a:t>, os quais podem se </a:t>
            </a:r>
            <a:r>
              <a:rPr lang="pt-BR" sz="2800" dirty="0" smtClean="0">
                <a:solidFill>
                  <a:srgbClr val="FFFF00"/>
                </a:solidFill>
              </a:rPr>
              <a:t>propagar a tensões bem abaixo do ideal </a:t>
            </a:r>
            <a:r>
              <a:rPr lang="pt-BR" sz="2800" i="1" dirty="0" smtClean="0">
                <a:solidFill>
                  <a:srgbClr val="FFFF00"/>
                </a:solidFill>
              </a:rPr>
              <a:t>E</a:t>
            </a:r>
            <a:r>
              <a:rPr lang="pt-BR" sz="2800" dirty="0" smtClean="0">
                <a:solidFill>
                  <a:srgbClr val="FFFF00"/>
                </a:solidFill>
              </a:rPr>
              <a:t>/10</a:t>
            </a:r>
            <a:r>
              <a:rPr lang="pt-BR" sz="2800" dirty="0" smtClean="0"/>
              <a:t>.;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razão</a:t>
            </a:r>
            <a:r>
              <a:rPr lang="pt-BR" sz="2800" dirty="0" smtClean="0"/>
              <a:t> é que o </a:t>
            </a:r>
            <a:r>
              <a:rPr lang="pt-BR" sz="2800" dirty="0" smtClean="0">
                <a:solidFill>
                  <a:srgbClr val="FFFF00"/>
                </a:solidFill>
              </a:rPr>
              <a:t>módulo não deriva do estiramento da ligação</a:t>
            </a:r>
            <a:r>
              <a:rPr lang="pt-BR" sz="2800" dirty="0" smtClean="0"/>
              <a:t>, mas da </a:t>
            </a:r>
            <a:r>
              <a:rPr lang="pt-BR" sz="2800" dirty="0" smtClean="0">
                <a:solidFill>
                  <a:srgbClr val="FFFF00"/>
                </a:solidFill>
              </a:rPr>
              <a:t>mudança de entropia das cadeias moleculares emaranhadas</a:t>
            </a:r>
            <a:r>
              <a:rPr lang="pt-BR" sz="2800" dirty="0" smtClean="0"/>
              <a:t> quando o material é solicitado;</a:t>
            </a:r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59148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1" y="1981200"/>
            <a:ext cx="6665755" cy="427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71500" y="152400"/>
            <a:ext cx="8001000" cy="1752600"/>
          </a:xfrm>
        </p:spPr>
        <p:txBody>
          <a:bodyPr>
            <a:noAutofit/>
          </a:bodyPr>
          <a:lstStyle/>
          <a:p>
            <a:r>
              <a:rPr lang="pt-BR" sz="2800" dirty="0" smtClean="0">
                <a:solidFill>
                  <a:srgbClr val="FFFF00"/>
                </a:solidFill>
              </a:rPr>
              <a:t>Resistência – Modulo de Young</a:t>
            </a:r>
            <a:r>
              <a:rPr lang="pt-BR" sz="2800" dirty="0" smtClean="0"/>
              <a:t>: As diretrizes de projeto auxiliam a seleção de materiais para materiais para </a:t>
            </a:r>
            <a:r>
              <a:rPr lang="pt-BR" sz="2800" dirty="0" smtClean="0">
                <a:solidFill>
                  <a:srgbClr val="FFFF00"/>
                </a:solidFill>
              </a:rPr>
              <a:t>molas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pivôs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fios de facas</a:t>
            </a:r>
            <a:r>
              <a:rPr lang="pt-BR" sz="2800" dirty="0" smtClean="0"/>
              <a:t>, </a:t>
            </a:r>
            <a:r>
              <a:rPr lang="pt-BR" sz="2800" dirty="0" smtClean="0">
                <a:solidFill>
                  <a:srgbClr val="FFFF00"/>
                </a:solidFill>
              </a:rPr>
              <a:t>diafragmas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dobradiças</a:t>
            </a:r>
            <a:r>
              <a:rPr lang="pt-BR" sz="2800" dirty="0" smtClean="0"/>
              <a:t>. </a:t>
            </a:r>
            <a:endParaRPr lang="pt-BR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143168" y="6346880"/>
            <a:ext cx="685715" cy="215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210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Rigidez Específica-Resistência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Em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projetos envolvendo mobilidade, </a:t>
                </a:r>
                <a:r>
                  <a:rPr lang="pt-BR" sz="2800" dirty="0" smtClean="0"/>
                  <a:t>exigem rigidez e resistência com peso mínimo;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São usados dados dos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diagramas anteriores </a:t>
                </a:r>
                <a:r>
                  <a:rPr lang="pt-BR" sz="2800" dirty="0" smtClean="0"/>
                  <a:t>para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construir o gráfico</a:t>
                </a:r>
                <a:r>
                  <a:rPr lang="pt-BR" sz="2800" dirty="0" smtClean="0"/>
                  <a:t> e após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dividir cada um, para cada material, pela massa específica</a:t>
                </a:r>
                <a:r>
                  <a:rPr lang="pt-BR" sz="2800" dirty="0" smtClean="0"/>
                  <a:t>, resulta no gráfico  em relação 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Essas medições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eficiência mecânica</a:t>
                </a:r>
                <a:r>
                  <a:rPr lang="pt-BR" sz="2800" dirty="0" smtClean="0"/>
                  <a:t> com 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mínimo de massa</a:t>
                </a:r>
                <a:r>
                  <a:rPr lang="pt-BR" sz="2800" dirty="0" smtClean="0"/>
                  <a:t> de material para realizar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maior parte do trabalho estrutural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Compósitos como 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CFRP</a:t>
                </a:r>
                <a:r>
                  <a:rPr lang="pt-BR" sz="2800" dirty="0" smtClean="0"/>
                  <a:t> encontra-se na parte superior direita;</a:t>
                </a:r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385" t="-1943" r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41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Rigidez Específica-Resistência Específica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São </a:t>
            </a:r>
            <a:r>
              <a:rPr lang="pt-BR" sz="2800" dirty="0" smtClean="0">
                <a:solidFill>
                  <a:srgbClr val="FFFF00"/>
                </a:solidFill>
              </a:rPr>
              <a:t>materiais </a:t>
            </a:r>
            <a:r>
              <a:rPr lang="pt-BR" sz="2800" dirty="0" smtClean="0"/>
              <a:t>com </a:t>
            </a:r>
            <a:r>
              <a:rPr lang="pt-BR" sz="2800" dirty="0" smtClean="0">
                <a:solidFill>
                  <a:srgbClr val="FFFF00"/>
                </a:solidFill>
              </a:rPr>
              <a:t>propriedades específicas atraentes</a:t>
            </a:r>
            <a:r>
              <a:rPr lang="pt-BR" sz="2800" dirty="0" smtClean="0"/>
              <a:t>, razões do uso crescente na </a:t>
            </a:r>
            <a:r>
              <a:rPr lang="pt-BR" sz="2800" dirty="0" smtClean="0">
                <a:solidFill>
                  <a:srgbClr val="FFFF00"/>
                </a:solidFill>
              </a:rPr>
              <a:t>indústria aeroespacial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>
                <a:solidFill>
                  <a:srgbClr val="FFFF00"/>
                </a:solidFill>
              </a:rPr>
              <a:t>Cerâmicas</a:t>
            </a:r>
            <a:r>
              <a:rPr lang="pt-BR" sz="2800" dirty="0" smtClean="0"/>
              <a:t> apresentam </a:t>
            </a:r>
            <a:r>
              <a:rPr lang="pt-BR" sz="2800" dirty="0" smtClean="0">
                <a:solidFill>
                  <a:srgbClr val="FFFF00"/>
                </a:solidFill>
              </a:rPr>
              <a:t>rigidez por unidade de peso elevadas</a:t>
            </a:r>
            <a:r>
              <a:rPr lang="pt-BR" sz="2800" dirty="0" smtClean="0"/>
              <a:t> e tão </a:t>
            </a:r>
            <a:r>
              <a:rPr lang="pt-BR" sz="2800" dirty="0" smtClean="0">
                <a:solidFill>
                  <a:srgbClr val="FFFF00"/>
                </a:solidFill>
              </a:rPr>
              <a:t>boa quanto os metais, </a:t>
            </a:r>
            <a:r>
              <a:rPr lang="pt-BR" sz="2800" dirty="0" smtClean="0"/>
              <a:t>todavia são frágeis;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Os </a:t>
            </a:r>
            <a:r>
              <a:rPr lang="pt-BR" sz="2800" dirty="0" smtClean="0">
                <a:solidFill>
                  <a:srgbClr val="FFFF00"/>
                </a:solidFill>
              </a:rPr>
              <a:t>metais são penalizados</a:t>
            </a:r>
            <a:r>
              <a:rPr lang="pt-BR" sz="2800" dirty="0" smtClean="0"/>
              <a:t> por causa das </a:t>
            </a:r>
            <a:r>
              <a:rPr lang="pt-BR" sz="2800" dirty="0" smtClean="0">
                <a:solidFill>
                  <a:srgbClr val="FFFF00"/>
                </a:solidFill>
              </a:rPr>
              <a:t>massas específicas relativamente elevadas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Polímeros, </a:t>
            </a:r>
            <a:r>
              <a:rPr lang="pt-BR" sz="2800" dirty="0" smtClean="0">
                <a:solidFill>
                  <a:srgbClr val="FFFF00"/>
                </a:solidFill>
              </a:rPr>
              <a:t>cujas baixas densidades</a:t>
            </a:r>
            <a:r>
              <a:rPr lang="pt-BR" sz="2800" dirty="0" smtClean="0"/>
              <a:t>, os </a:t>
            </a:r>
            <a:r>
              <a:rPr lang="pt-BR" sz="2800" dirty="0" smtClean="0">
                <a:solidFill>
                  <a:srgbClr val="FFFF00"/>
                </a:solidFill>
              </a:rPr>
              <a:t>favorecem neste diagrama</a:t>
            </a:r>
            <a:r>
              <a:rPr lang="pt-BR" sz="2800" dirty="0" smtClean="0"/>
              <a:t> em relação ao </a:t>
            </a:r>
            <a:r>
              <a:rPr lang="pt-BR" sz="2800" dirty="0" smtClean="0">
                <a:solidFill>
                  <a:srgbClr val="FFFF00"/>
                </a:solidFill>
              </a:rPr>
              <a:t>diagrama módulo-resistência</a:t>
            </a:r>
            <a:r>
              <a:rPr lang="pt-BR" sz="2800" dirty="0" smtClean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58378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28600" y="76200"/>
            <a:ext cx="8534400" cy="1981200"/>
          </a:xfrm>
        </p:spPr>
        <p:txBody>
          <a:bodyPr>
            <a:normAutofit lnSpcReduction="10000"/>
          </a:bodyPr>
          <a:lstStyle/>
          <a:p>
            <a:r>
              <a:rPr lang="pt-BR" sz="2700" dirty="0" smtClean="0"/>
              <a:t>Módulo específico </a:t>
            </a:r>
            <a:r>
              <a:rPr lang="en-US" sz="2700" i="1" dirty="0">
                <a:solidFill>
                  <a:srgbClr val="FFFF00"/>
                </a:solidFill>
              </a:rPr>
              <a:t>E/</a:t>
            </a:r>
            <a:r>
              <a:rPr lang="el-GR" sz="2700" i="1" dirty="0" smtClean="0">
                <a:solidFill>
                  <a:srgbClr val="FFFF00"/>
                </a:solidFill>
              </a:rPr>
              <a:t>ρ</a:t>
            </a:r>
            <a:r>
              <a:rPr lang="pt-BR" sz="2700" i="1" dirty="0" smtClean="0"/>
              <a:t> </a:t>
            </a:r>
            <a:r>
              <a:rPr lang="pt-BR" sz="2700" dirty="0" smtClean="0"/>
              <a:t>em relação da resistência específica </a:t>
            </a:r>
            <a:r>
              <a:rPr lang="el-GR" sz="2700" i="1" dirty="0">
                <a:solidFill>
                  <a:srgbClr val="FFFF00"/>
                </a:solidFill>
              </a:rPr>
              <a:t>σ</a:t>
            </a:r>
            <a:r>
              <a:rPr lang="en-US" sz="2700" i="1" baseline="-25000" dirty="0">
                <a:solidFill>
                  <a:srgbClr val="FFFF00"/>
                </a:solidFill>
              </a:rPr>
              <a:t>f</a:t>
            </a:r>
            <a:r>
              <a:rPr lang="en-US" sz="2700" i="1" dirty="0">
                <a:solidFill>
                  <a:srgbClr val="FFFF00"/>
                </a:solidFill>
              </a:rPr>
              <a:t>/</a:t>
            </a:r>
            <a:r>
              <a:rPr lang="el-GR" sz="2700" i="1" dirty="0">
                <a:solidFill>
                  <a:srgbClr val="FFFF00"/>
                </a:solidFill>
              </a:rPr>
              <a:t>ρ</a:t>
            </a:r>
            <a:r>
              <a:rPr lang="pt-BR" sz="2700" dirty="0" smtClean="0"/>
              <a:t>;  </a:t>
            </a:r>
            <a:r>
              <a:rPr lang="en-US" sz="2700" dirty="0" smtClean="0">
                <a:solidFill>
                  <a:srgbClr val="FFFF00"/>
                </a:solidFill>
              </a:rPr>
              <a:t>As </a:t>
            </a:r>
            <a:r>
              <a:rPr lang="pt-BR" sz="2700" dirty="0" smtClean="0">
                <a:solidFill>
                  <a:srgbClr val="FFFF00"/>
                </a:solidFill>
              </a:rPr>
              <a:t>diretrizes</a:t>
            </a:r>
            <a:r>
              <a:rPr lang="en-US" sz="2700" dirty="0" smtClean="0">
                <a:solidFill>
                  <a:srgbClr val="FFFF00"/>
                </a:solidFill>
              </a:rPr>
              <a:t> </a:t>
            </a:r>
            <a:r>
              <a:rPr lang="el-GR" sz="2700" i="1" dirty="0">
                <a:solidFill>
                  <a:srgbClr val="FFFF00"/>
                </a:solidFill>
              </a:rPr>
              <a:t>σ</a:t>
            </a:r>
            <a:r>
              <a:rPr lang="en-US" sz="2700" i="1" baseline="-25000" dirty="0" smtClean="0">
                <a:solidFill>
                  <a:srgbClr val="FFFF00"/>
                </a:solidFill>
              </a:rPr>
              <a:t>f</a:t>
            </a:r>
            <a:r>
              <a:rPr lang="en-US" sz="2700" i="1" dirty="0" smtClean="0">
                <a:solidFill>
                  <a:srgbClr val="FFFF00"/>
                </a:solidFill>
              </a:rPr>
              <a:t>/</a:t>
            </a:r>
            <a:r>
              <a:rPr lang="el-GR" sz="2700" i="1" dirty="0" smtClean="0">
                <a:solidFill>
                  <a:srgbClr val="FFFF00"/>
                </a:solidFill>
              </a:rPr>
              <a:t>ρ</a:t>
            </a:r>
            <a:r>
              <a:rPr lang="pt-BR" sz="2700" i="1" dirty="0" smtClean="0">
                <a:solidFill>
                  <a:srgbClr val="FFFF00"/>
                </a:solidFill>
              </a:rPr>
              <a:t>, </a:t>
            </a:r>
            <a:r>
              <a:rPr lang="el-GR" sz="2700" i="1" dirty="0">
                <a:solidFill>
                  <a:srgbClr val="FFFF00"/>
                </a:solidFill>
              </a:rPr>
              <a:t>σ</a:t>
            </a:r>
            <a:r>
              <a:rPr lang="en-US" sz="2700" i="1" baseline="-25000" dirty="0" smtClean="0">
                <a:solidFill>
                  <a:srgbClr val="FFFF00"/>
                </a:solidFill>
              </a:rPr>
              <a:t>f</a:t>
            </a:r>
            <a:r>
              <a:rPr lang="pt-BR" sz="2700" i="1" baseline="30000" dirty="0">
                <a:solidFill>
                  <a:srgbClr val="FFFF00"/>
                </a:solidFill>
              </a:rPr>
              <a:t> 2/3 </a:t>
            </a:r>
            <a:r>
              <a:rPr lang="en-US" sz="2700" i="1" dirty="0" smtClean="0">
                <a:solidFill>
                  <a:srgbClr val="FFFF00"/>
                </a:solidFill>
              </a:rPr>
              <a:t>/</a:t>
            </a:r>
            <a:r>
              <a:rPr lang="el-GR" sz="2700" i="1" dirty="0">
                <a:solidFill>
                  <a:srgbClr val="FFFF00"/>
                </a:solidFill>
              </a:rPr>
              <a:t>ρ </a:t>
            </a:r>
            <a:r>
              <a:rPr lang="pt-BR" sz="2700" i="1" dirty="0">
                <a:solidFill>
                  <a:srgbClr val="FFFF00"/>
                </a:solidFill>
              </a:rPr>
              <a:t>e</a:t>
            </a:r>
            <a:r>
              <a:rPr lang="el-GR" sz="2700" i="1" dirty="0" smtClean="0">
                <a:solidFill>
                  <a:srgbClr val="FFFF00"/>
                </a:solidFill>
              </a:rPr>
              <a:t> </a:t>
            </a:r>
            <a:r>
              <a:rPr lang="el-GR" sz="2700" i="1" dirty="0">
                <a:solidFill>
                  <a:srgbClr val="FFFF00"/>
                </a:solidFill>
              </a:rPr>
              <a:t>σ</a:t>
            </a:r>
            <a:r>
              <a:rPr lang="en-US" sz="2700" i="1" baseline="-25000" dirty="0" smtClean="0">
                <a:solidFill>
                  <a:srgbClr val="FFFF00"/>
                </a:solidFill>
              </a:rPr>
              <a:t>f</a:t>
            </a:r>
            <a:r>
              <a:rPr lang="pt-BR" sz="2700" i="1" baseline="30000" dirty="0">
                <a:solidFill>
                  <a:srgbClr val="FFFF00"/>
                </a:solidFill>
              </a:rPr>
              <a:t> </a:t>
            </a:r>
            <a:r>
              <a:rPr lang="pt-BR" sz="2700" i="1" baseline="30000" dirty="0" smtClean="0">
                <a:solidFill>
                  <a:srgbClr val="FFFF00"/>
                </a:solidFill>
              </a:rPr>
              <a:t>1/2 </a:t>
            </a:r>
            <a:r>
              <a:rPr lang="en-US" sz="2700" i="1" dirty="0" smtClean="0">
                <a:solidFill>
                  <a:srgbClr val="FFFF00"/>
                </a:solidFill>
              </a:rPr>
              <a:t>/</a:t>
            </a:r>
            <a:r>
              <a:rPr lang="el-GR" sz="2700" i="1" dirty="0">
                <a:solidFill>
                  <a:srgbClr val="FFFF00"/>
                </a:solidFill>
              </a:rPr>
              <a:t>ρ </a:t>
            </a:r>
            <a:r>
              <a:rPr lang="pt-BR" sz="2700" dirty="0" smtClean="0">
                <a:solidFill>
                  <a:srgbClr val="FFFF00"/>
                </a:solidFill>
              </a:rPr>
              <a:t>constantes</a:t>
            </a:r>
            <a:r>
              <a:rPr lang="pt-BR" sz="2700" dirty="0" smtClean="0"/>
              <a:t> são usadas em projetos de </a:t>
            </a:r>
            <a:r>
              <a:rPr lang="pt-BR" sz="2700" dirty="0" smtClean="0">
                <a:solidFill>
                  <a:srgbClr val="FFFF00"/>
                </a:solidFill>
              </a:rPr>
              <a:t>peso mínimo</a:t>
            </a:r>
            <a:r>
              <a:rPr lang="pt-BR" sz="2700" dirty="0" smtClean="0"/>
              <a:t>, limitado pela </a:t>
            </a:r>
            <a:r>
              <a:rPr lang="pt-BR" sz="2700" dirty="0" smtClean="0">
                <a:solidFill>
                  <a:srgbClr val="FFFF00"/>
                </a:solidFill>
              </a:rPr>
              <a:t>tensão escoamento</a:t>
            </a:r>
            <a:r>
              <a:rPr lang="pt-BR" sz="2700" dirty="0" smtClean="0"/>
              <a:t> (</a:t>
            </a:r>
            <a:r>
              <a:rPr lang="pt-BR" sz="2700" dirty="0" smtClean="0">
                <a:solidFill>
                  <a:srgbClr val="FFFF00"/>
                </a:solidFill>
              </a:rPr>
              <a:t>metais</a:t>
            </a:r>
            <a:r>
              <a:rPr lang="pt-BR" sz="2700" dirty="0" smtClean="0"/>
              <a:t>) como</a:t>
            </a:r>
            <a:r>
              <a:rPr lang="en-US" sz="2700" dirty="0" smtClean="0"/>
              <a:t> </a:t>
            </a:r>
            <a:r>
              <a:rPr lang="pt-BR" sz="2700" dirty="0" smtClean="0"/>
              <a:t>molas</a:t>
            </a:r>
            <a:r>
              <a:rPr lang="en-US" sz="2700" dirty="0" smtClean="0"/>
              <a:t> e </a:t>
            </a:r>
            <a:r>
              <a:rPr lang="pt-BR" sz="2700" dirty="0" smtClean="0"/>
              <a:t>sistema</a:t>
            </a:r>
            <a:r>
              <a:rPr lang="en-US" sz="2700" dirty="0" smtClean="0"/>
              <a:t> de </a:t>
            </a:r>
            <a:r>
              <a:rPr lang="pt-BR" sz="2700" dirty="0" smtClean="0"/>
              <a:t>armazenamento</a:t>
            </a:r>
            <a:r>
              <a:rPr lang="en-US" sz="2700" dirty="0" smtClean="0"/>
              <a:t> de energia</a:t>
            </a:r>
            <a:endParaRPr lang="en-US" sz="27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59342"/>
            <a:ext cx="5562600" cy="427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90729" y="6248400"/>
            <a:ext cx="7585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5602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Tenacidade à Fratura - Módulo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 fontScale="925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Aumentar a resistência</a:t>
                </a:r>
                <a:r>
                  <a:rPr lang="pt-BR" sz="2800" dirty="0" smtClean="0"/>
                  <a:t> de uma material somente é útil enquanto 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material</a:t>
                </a:r>
                <a:r>
                  <a:rPr lang="pt-BR" sz="2800" dirty="0" smtClean="0"/>
                  <a:t>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permanecer</a:t>
                </a:r>
                <a:r>
                  <a:rPr lang="pt-BR" sz="2800" dirty="0" smtClean="0"/>
                  <a:t>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plástico</a:t>
                </a:r>
                <a:r>
                  <a:rPr lang="pt-BR" sz="2800" dirty="0" smtClean="0"/>
                  <a:t>, pois além desse limite torna-se frágil;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resistência a propagação da trinca</a:t>
                </a:r>
                <a:r>
                  <a:rPr lang="pt-BR" sz="2800" dirty="0" smtClean="0"/>
                  <a:t> é quantificada pela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tenacidade à fratura</a:t>
                </a:r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 smtClean="0"/>
                  <a:t> [MPa.m</a:t>
                </a:r>
                <a:r>
                  <a:rPr lang="pt-BR" sz="2800" baseline="30000" dirty="0" smtClean="0"/>
                  <a:t>1/2</a:t>
                </a:r>
                <a:r>
                  <a:rPr lang="pt-BR" sz="2800" dirty="0" smtClean="0"/>
                  <a:t>].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Os valores abrangem menos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0,01</a:t>
                </a:r>
                <a:r>
                  <a:rPr lang="pt-BR" sz="2800" dirty="0" smtClean="0"/>
                  <a:t> a mais </a:t>
                </a:r>
                <a:r>
                  <a:rPr lang="pt-BR" sz="2800" dirty="0">
                    <a:solidFill>
                      <a:srgbClr val="FFFF00"/>
                    </a:solidFill>
                  </a:rPr>
                  <a:t>100 MPa.m</a:t>
                </a:r>
                <a:r>
                  <a:rPr lang="pt-BR" sz="2800" baseline="30000" dirty="0">
                    <a:solidFill>
                      <a:srgbClr val="FFFF00"/>
                    </a:solidFill>
                  </a:rPr>
                  <a:t>1/2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Na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extremidade inferior dessa faixa</a:t>
                </a:r>
                <a:r>
                  <a:rPr lang="pt-BR" sz="2800" dirty="0" smtClean="0"/>
                  <a:t>, encontram-se os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materiais frágeis</a:t>
                </a:r>
                <a:r>
                  <a:rPr lang="pt-BR" sz="2800" dirty="0" smtClean="0"/>
                  <a:t> que, carregados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permanecem elásticos</a:t>
                </a:r>
                <a:r>
                  <a:rPr lang="pt-BR" sz="2800" dirty="0" smtClean="0"/>
                  <a:t> até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sofrerem fratura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231" t="-1029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78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Tenacidade à Fratura - Módulo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 fontScale="925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 </a:t>
                </a:r>
                <a:r>
                  <a:rPr lang="pt-BR" sz="2800" dirty="0" smtClean="0"/>
                  <a:t>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mecânica da fratura elástica linear</a:t>
                </a:r>
                <a:r>
                  <a:rPr lang="pt-BR" sz="2800" dirty="0" smtClean="0"/>
                  <a:t> funciona bem e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tenacidade à fratura</a:t>
                </a:r>
                <a:r>
                  <a:rPr lang="pt-BR" sz="2800" dirty="0" smtClean="0"/>
                  <a:t> é uma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propriedade bem definida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Na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extremidade superior</a:t>
                </a:r>
                <a:r>
                  <a:rPr lang="pt-BR" sz="2800" dirty="0" smtClean="0"/>
                  <a:t> encontram-se os materiais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supertenazes</a:t>
                </a:r>
                <a:r>
                  <a:rPr lang="pt-BR" sz="2800" dirty="0" smtClean="0"/>
                  <a:t>, mostrando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substancial plasticidade</a:t>
                </a:r>
                <a:r>
                  <a:rPr lang="pt-BR" sz="2800" dirty="0" smtClean="0"/>
                  <a:t> antes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se romperem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Os valores de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são aproximados, derivados da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integral J crítica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 smtClean="0">
                    <a:solidFill>
                      <a:srgbClr val="FFFF00"/>
                    </a:solidFill>
                  </a:rPr>
                  <a:t>)</a:t>
                </a:r>
                <a:r>
                  <a:rPr lang="pt-BR" sz="2800" dirty="0" smtClean="0"/>
                  <a:t> e do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deslocamento crítico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</m:e>
                      <m:sub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 smtClean="0">
                    <a:solidFill>
                      <a:srgbClr val="FFFF00"/>
                    </a:solidFill>
                  </a:rPr>
                  <a:t>)</a:t>
                </a:r>
                <a:r>
                  <a:rPr lang="pt-BR" sz="2800" dirty="0" smtClean="0"/>
                  <a:t>, pela expressão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rgbClr val="FFFF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pt-BR" sz="2800" b="0" i="1" smtClean="0">
                        <a:solidFill>
                          <a:srgbClr val="FFFF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i="1">
                                <a:solidFill>
                                  <a:srgbClr val="FFFF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pt-BR" sz="2800" b="0" i="1" smtClean="0">
                                    <a:solidFill>
                                      <a:srgbClr val="FFFF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solidFill>
                                      <a:srgbClr val="FFFF00"/>
                                    </a:solidFill>
                                    <a:latin typeface="Cambria Math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solidFill>
                                      <a:srgbClr val="FFFF00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  <m:sup>
                        <m:box>
                          <m:boxPr>
                            <m:ctrlP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pt-BR" sz="2800" b="0" i="1" smtClean="0">
                                    <a:solidFill>
                                      <a:srgbClr val="FFFF00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b="0" i="1" smtClean="0">
                                    <a:solidFill>
                                      <a:srgbClr val="FFFF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2800" b="0" i="1" smtClean="0">
                                    <a:solidFill>
                                      <a:srgbClr val="FFFF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pt-BR" sz="2800" dirty="0" smtClean="0">
                    <a:solidFill>
                      <a:srgbClr val="FFFF00"/>
                    </a:solidFill>
                  </a:rPr>
                  <a:t> </a:t>
                </a:r>
                <a:r>
                  <a:rPr lang="pt-BR" sz="2800" dirty="0" smtClean="0"/>
                  <a:t>. São úteis na classificação dos materiais, sendo um valor citado como mínimo;</a:t>
                </a:r>
                <a:endParaRPr lang="pt-BR" sz="2800" dirty="0"/>
              </a:p>
              <a:p>
                <a:pPr algn="just">
                  <a:buFont typeface="Wingdings" panose="05000000000000000000" pitchFamily="2" charset="2"/>
                  <a:buChar char="ü"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231" t="-1029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24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Tenacidade à Fratura - Módulo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 </a:t>
                </a:r>
                <a:r>
                  <a:rPr lang="pt-BR" sz="2800" dirty="0" smtClean="0"/>
                  <a:t>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tenacidade à fratura</a:t>
                </a:r>
                <a:r>
                  <a:rPr lang="pt-BR" sz="2800" dirty="0" smtClean="0"/>
                  <a:t>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polímeros</a:t>
                </a:r>
                <a:r>
                  <a:rPr lang="pt-BR" sz="2800" dirty="0" smtClean="0"/>
                  <a:t>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é aproximadamente a mesma de cerâmicas e vidros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Polímeros</a:t>
                </a:r>
                <a:r>
                  <a:rPr lang="pt-BR" sz="2800" dirty="0" smtClean="0"/>
                  <a:t> são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amplamente utilizados em estruturas de engenharia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Cerâmicas</a:t>
                </a:r>
                <a:r>
                  <a:rPr lang="pt-BR" sz="2800" dirty="0" smtClean="0"/>
                  <a:t>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pela fragilidade</a:t>
                </a:r>
                <a:r>
                  <a:rPr lang="pt-BR" sz="2800" dirty="0" smtClean="0"/>
                  <a:t> são tratadas com maior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cautela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>
                    <a:solidFill>
                      <a:srgbClr val="FFFF00"/>
                    </a:solidFill>
                  </a:rPr>
                  <a:t>Condição necessária para fratura, trabalho externo suficiente, energia liberada elasticamente suficiente para fornecer a superfície</a:t>
                </a:r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/>
                        <a:ea typeface="Cambria Math"/>
                      </a:rPr>
                      <m:t>𝛾</m:t>
                    </m:r>
                  </m:oMath>
                </a14:m>
                <a:r>
                  <a:rPr lang="pt-BR" sz="2800" dirty="0" smtClean="0"/>
                  <a:t>,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por unidade de área</a:t>
                </a:r>
                <a:r>
                  <a:rPr lang="pt-BR" sz="2800" dirty="0" smtClean="0"/>
                  <a:t>, de duas novas superfícies que são criadas,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𝐺</m:t>
                      </m:r>
                      <m:r>
                        <a:rPr lang="pt-BR" sz="2800" b="0" i="1" smtClean="0">
                          <a:latin typeface="Cambria Math"/>
                          <a:ea typeface="Cambria Math"/>
                        </a:rPr>
                        <m:t>≥2</m:t>
                      </m:r>
                      <m:r>
                        <a:rPr lang="pt-BR" sz="2800" b="0" i="1" smtClean="0">
                          <a:latin typeface="Cambria Math"/>
                          <a:ea typeface="Cambria Math"/>
                        </a:rPr>
                        <m:t>𝛾</m:t>
                      </m:r>
                    </m:oMath>
                  </m:oMathPara>
                </a14:m>
                <a:endParaRPr lang="pt-BR" sz="2800" dirty="0" smtClean="0"/>
              </a:p>
              <a:p>
                <a:pPr marL="0" indent="0" algn="just">
                  <a:buNone/>
                </a:pPr>
                <a:r>
                  <a:rPr lang="pt-BR" sz="2800" dirty="0" smtClean="0"/>
                  <a:t>Onde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rgbClr val="FFFF00"/>
                        </a:solidFill>
                        <a:latin typeface="Cambria Math"/>
                      </a:rPr>
                      <m:t>𝐺</m:t>
                    </m:r>
                  </m:oMath>
                </a14:m>
                <a:r>
                  <a:rPr lang="pt-BR" sz="2800" dirty="0" smtClean="0"/>
                  <a:t> é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taxa de liberação de energia</a:t>
                </a:r>
                <a:r>
                  <a:rPr lang="pt-BR" sz="2800" dirty="0" smtClean="0"/>
                  <a:t>. </a:t>
                </a:r>
              </a:p>
              <a:p>
                <a:pPr marL="0" indent="0" algn="just">
                  <a:buNone/>
                </a:pPr>
                <a:endParaRPr lang="pt-BR" sz="2800" dirty="0" smtClean="0"/>
              </a:p>
              <a:p>
                <a:pPr marL="0" indent="0" algn="just">
                  <a:buNone/>
                </a:pP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385" t="-2514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21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Tenacidade à Fratura - Módulo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 fontScale="92500"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Usando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relação padrão</a:t>
                </a:r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𝐾</m:t>
                    </m:r>
                    <m:r>
                      <a:rPr lang="pt-BR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BR" sz="2800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/>
                              </a:rPr>
                              <m:t>𝐸𝐺</m:t>
                            </m:r>
                          </m:e>
                        </m:d>
                      </m:e>
                      <m:sup>
                        <m:box>
                          <m:boxPr>
                            <m:ctrlPr>
                              <a:rPr lang="pt-BR" sz="2800" b="0" i="1" smtClean="0">
                                <a:latin typeface="Cambria Math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pt-BR" sz="2800" b="0" i="1" smtClean="0"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b="0" i="1" smtClean="0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2800" b="0" i="1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pt-BR" sz="2800" dirty="0" smtClean="0"/>
                  <a:t> entre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800" dirty="0" smtClean="0"/>
                  <a:t> 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intensidade de tensão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rgbClr val="FFFF00"/>
                        </a:solidFill>
                        <a:latin typeface="Cambria Math"/>
                      </a:rPr>
                      <m:t>𝐾</m:t>
                    </m:r>
                  </m:oMath>
                </a14:m>
                <a:r>
                  <a:rPr lang="pt-BR" sz="2800" dirty="0" smtClean="0"/>
                  <a:t>, obtém-se: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𝐾</m:t>
                      </m:r>
                      <m:r>
                        <a:rPr lang="pt-BR" sz="2800" b="0" i="1" smtClean="0">
                          <a:latin typeface="Cambria Math"/>
                          <a:ea typeface="Cambria Math"/>
                        </a:rPr>
                        <m:t>≥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/>
                                  <a:ea typeface="Cambria Math"/>
                                </a:rPr>
                                <m:t>2 </m:t>
                              </m:r>
                              <m:r>
                                <a:rPr lang="pt-BR" sz="2800" b="0" i="1" smtClean="0"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  <m:r>
                                <a:rPr lang="pt-BR" sz="28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pt-BR" sz="2800" b="0" i="1" smtClean="0"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</m:e>
                          </m:d>
                        </m:e>
                        <m:sup>
                          <m:box>
                            <m:boxPr>
                              <m:ctrlPr>
                                <a:rPr lang="pt-BR" sz="2800" b="0" i="1" smtClean="0">
                                  <a:latin typeface="Cambria Math" charset="0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</m:oMath>
                  </m:oMathPara>
                </a14:m>
                <a:endParaRPr lang="pt-BR" sz="2800" dirty="0" smtClean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 Agora as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energias de superfície</a:t>
                </a:r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/>
                        <a:ea typeface="Cambria Math"/>
                      </a:rPr>
                      <m:t>𝛾</m:t>
                    </m:r>
                  </m:oMath>
                </a14:m>
                <a:r>
                  <a:rPr lang="pt-BR" sz="2800" dirty="0" smtClean="0"/>
                  <a:t>,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materiais sólidos aumentam conforme</a:t>
                </a:r>
                <a:r>
                  <a:rPr lang="pt-BR" sz="2800" dirty="0" smtClean="0"/>
                  <a:t> os módulos; uma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aproximação adequada</a:t>
                </a:r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  <a:ea typeface="Cambria Math"/>
                      </a:rPr>
                      <m:t>𝛾</m:t>
                    </m:r>
                    <m:r>
                      <a:rPr lang="pt-BR" sz="2800" b="0" i="1" smtClean="0">
                        <a:latin typeface="Cambria Math"/>
                        <a:ea typeface="Cambria Math"/>
                      </a:rPr>
                      <m:t>≈</m:t>
                    </m:r>
                    <m:f>
                      <m:fPr>
                        <m:type m:val="lin"/>
                        <m:ctrlPr>
                          <a:rPr lang="pt-BR" sz="2800" b="0" i="1" smtClean="0">
                            <a:latin typeface="Cambria Math" charset="0"/>
                            <a:ea typeface="Cambria Math"/>
                          </a:rPr>
                        </m:ctrlPr>
                      </m:fPr>
                      <m:num>
                        <m:r>
                          <a:rPr lang="pt-BR" sz="2800" i="1">
                            <a:latin typeface="Cambria Math"/>
                            <a:ea typeface="Cambria Math"/>
                          </a:rPr>
                          <m:t>𝐸</m:t>
                        </m:r>
                        <m:sSub>
                          <m:sSubPr>
                            <m:ctrlPr>
                              <a:rPr lang="pt-BR" sz="2800" i="1">
                                <a:latin typeface="Cambria Math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/>
                                <a:ea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800" i="1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20</m:t>
                        </m:r>
                      </m:den>
                    </m:f>
                  </m:oMath>
                </a14:m>
                <a:r>
                  <a:rPr lang="pt-BR" sz="2800" dirty="0" smtClean="0"/>
                  <a:t>,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 smtClean="0">
                    <a:solidFill>
                      <a:srgbClr val="FFFF00"/>
                    </a:solidFill>
                  </a:rPr>
                  <a:t> é o tamanho do átomo</a:t>
                </a:r>
                <a:r>
                  <a:rPr lang="pt-BR" sz="2800" dirty="0" smtClean="0"/>
                  <a:t>,	 fornecendo,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/>
                        </a:rPr>
                        <m:t>𝐾</m:t>
                      </m:r>
                      <m:r>
                        <a:rPr lang="pt-BR" sz="2800" i="1">
                          <a:latin typeface="Cambria Math"/>
                          <a:ea typeface="Cambria Math"/>
                        </a:rPr>
                        <m:t>≥</m:t>
                      </m:r>
                      <m:sSup>
                        <m:sSupPr>
                          <m:ctrlPr>
                            <a:rPr lang="pt-BR" sz="2800" i="1">
                              <a:latin typeface="Cambria Math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/>
                              <a:ea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pt-BR" sz="2800" i="1">
                                  <a:latin typeface="Cambria Math" charset="0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 smtClean="0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2800" i="1" smtClean="0">
                                          <a:latin typeface="Cambria Math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/>
                                      <a:ea typeface="Cambria Math"/>
                                    </a:rPr>
                                    <m:t>20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box>
                            <m:boxPr>
                              <m:ctrlPr>
                                <a:rPr lang="pt-BR" sz="2800" i="1">
                                  <a:latin typeface="Cambria Math" charset="0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pt-BR" sz="2800" i="1"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i="1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8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</m:oMath>
                  </m:oMathPara>
                </a14:m>
                <a:endParaRPr lang="pt-BR" sz="2800" dirty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Identificamos 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lado direito dessa equação</a:t>
                </a:r>
                <a:r>
                  <a:rPr lang="pt-BR" sz="2800" dirty="0" smtClean="0"/>
                  <a:t> como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valor inferior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 smtClean="0"/>
                  <a:t>,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pt-BR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pt-BR" sz="2800">
                        <a:latin typeface="Cambria Math"/>
                        <a:ea typeface="Cambria Math"/>
                      </a:rPr>
                      <m:t>≅</m:t>
                    </m:r>
                    <m:r>
                      <a:rPr lang="pt-BR" sz="2800" b="0" i="0" smtClean="0">
                        <a:latin typeface="Cambria Math"/>
                      </a:rPr>
                      <m:t>2</m:t>
                    </m:r>
                    <m:r>
                      <a:rPr lang="pt-BR" sz="2800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pt-BR" sz="2800" b="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−10</m:t>
                        </m:r>
                      </m:sup>
                    </m:sSup>
                  </m:oMath>
                </a14:m>
                <a:r>
                  <a:rPr lang="pt-BR" sz="2800" dirty="0" smtClean="0"/>
                  <a:t> m;</a:t>
                </a:r>
                <a:endParaRPr lang="pt-BR" sz="2800" dirty="0"/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231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82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Tenacidade à Fratura - Módulo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533400" y="1143000"/>
            <a:ext cx="7924800" cy="53340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pt-BR" sz="28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Esse </a:t>
            </a:r>
            <a:r>
              <a:rPr lang="pt-BR" sz="2800" dirty="0" smtClean="0">
                <a:solidFill>
                  <a:srgbClr val="FFFF00"/>
                </a:solidFill>
              </a:rPr>
              <a:t>critério</a:t>
            </a:r>
            <a:r>
              <a:rPr lang="pt-BR" sz="2800" dirty="0" smtClean="0"/>
              <a:t> é representado no </a:t>
            </a:r>
            <a:r>
              <a:rPr lang="pt-BR" sz="2800" dirty="0" smtClean="0">
                <a:solidFill>
                  <a:srgbClr val="FFFF00"/>
                </a:solidFill>
              </a:rPr>
              <a:t>diagrama como uma tira diagonal sombreada</a:t>
            </a:r>
            <a:r>
              <a:rPr lang="pt-BR" sz="2800" dirty="0" smtClean="0"/>
              <a:t> e define um </a:t>
            </a:r>
            <a:r>
              <a:rPr lang="pt-BR" sz="2800" dirty="0" smtClean="0">
                <a:solidFill>
                  <a:srgbClr val="FFFF00"/>
                </a:solidFill>
              </a:rPr>
              <a:t>limite inferior</a:t>
            </a:r>
            <a:r>
              <a:rPr lang="pt-BR" sz="2800" dirty="0" smtClean="0"/>
              <a:t> para 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tenacidade a fratura</a:t>
            </a:r>
            <a:r>
              <a:rPr lang="pt-BR" sz="2800" dirty="0" smtClean="0"/>
              <a:t> </a:t>
            </a:r>
            <a:r>
              <a:rPr lang="pt-BR" sz="2800" dirty="0" smtClean="0">
                <a:solidFill>
                  <a:srgbClr val="FFFF00"/>
                </a:solidFill>
              </a:rPr>
              <a:t>não pode assumir valor menor do que este </a:t>
            </a:r>
            <a:r>
              <a:rPr lang="pt-BR" sz="2800" dirty="0" smtClean="0"/>
              <a:t>a não ser que </a:t>
            </a:r>
            <a:r>
              <a:rPr lang="pt-BR" sz="2800" dirty="0" smtClean="0">
                <a:solidFill>
                  <a:srgbClr val="FFFF00"/>
                </a:solidFill>
              </a:rPr>
              <a:t>outra fonte de energia como uma reação química ou liberação de energia elástica armazenada nas estruturas de discordâncias</a:t>
            </a:r>
            <a:r>
              <a:rPr lang="pt-BR" sz="2800" dirty="0" smtClean="0"/>
              <a:t>, causadas por carregamento de fadiga, esteja disponível, quando recebe um símbolo </a:t>
            </a:r>
            <a:r>
              <a:rPr lang="pt-BR" sz="2800" dirty="0" smtClean="0">
                <a:solidFill>
                  <a:srgbClr val="FFFF00"/>
                </a:solidFill>
              </a:rPr>
              <a:t> </a:t>
            </a:r>
            <a:r>
              <a:rPr lang="pt-BR" sz="2800" dirty="0" smtClean="0"/>
              <a:t>valor crítico de  para </a:t>
            </a:r>
            <a:r>
              <a:rPr lang="pt-BR" sz="2800" dirty="0" smtClean="0">
                <a:solidFill>
                  <a:srgbClr val="FFFF00"/>
                </a:solidFill>
              </a:rPr>
              <a:t>trinca de corrosão sob tensão</a:t>
            </a:r>
            <a:r>
              <a:rPr lang="pt-BR" sz="2800" dirty="0" smtClean="0"/>
              <a:t> ou , faixa mínima de  para </a:t>
            </a:r>
            <a:r>
              <a:rPr lang="pt-BR" sz="2800" dirty="0" smtClean="0">
                <a:solidFill>
                  <a:srgbClr val="FFFF00"/>
                </a:solidFill>
              </a:rPr>
              <a:t>propagação de trinca sob fadiga</a:t>
            </a:r>
            <a:r>
              <a:rPr lang="pt-BR" sz="2800" dirty="0" smtClean="0"/>
              <a:t>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0864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3885"/>
            <a:ext cx="8229600" cy="109911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Diagrama Tenacidade à Fratura - Módulo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O gráfico mostra contornos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rgbClr val="FFFF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 smtClean="0"/>
                  <a:t>,uma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medida da energia de superfície de fratura aparente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solidFill>
                                  <a:srgbClr val="FFFF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r>
                          <a:rPr lang="pt-BR" sz="28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type m:val="lin"/>
                            <m:ctrlP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800" i="1">
                                    <a:solidFill>
                                      <a:srgbClr val="FFFF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solidFill>
                                          <a:srgbClr val="FFFF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solidFill>
                                          <a:srgbClr val="FFFF00"/>
                                        </a:solidFill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solidFill>
                                          <a:srgbClr val="FFFF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pt-BR" sz="2800" i="1">
                                        <a:solidFill>
                                          <a:srgbClr val="FFFF00"/>
                                        </a:solidFill>
                                        <a:latin typeface="Cambria Math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800" i="1">
                                    <a:solidFill>
                                      <a:srgbClr val="FFFF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800" b="0" i="1" smtClean="0">
                                <a:solidFill>
                                  <a:srgbClr val="FFFF00"/>
                                </a:solidFill>
                                <a:latin typeface="Cambria Math"/>
                              </a:rPr>
                              <m:t>𝐸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As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verdadeiras energias</a:t>
                </a:r>
                <a:r>
                  <a:rPr lang="pt-BR" sz="2800" dirty="0" smtClean="0"/>
                  <a:t>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superfície encontra-se na faixa de 10</a:t>
                </a:r>
                <a:r>
                  <a:rPr lang="pt-BR" sz="2800" baseline="30000" dirty="0" smtClean="0">
                    <a:solidFill>
                      <a:srgbClr val="FFFF00"/>
                    </a:solidFill>
                  </a:rPr>
                  <a:t>-4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 a 10</a:t>
                </a:r>
                <a:r>
                  <a:rPr lang="pt-BR" sz="2800" baseline="30000" dirty="0" smtClean="0">
                    <a:solidFill>
                      <a:srgbClr val="FFFF00"/>
                    </a:solidFill>
                  </a:rPr>
                  <a:t>-3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 </a:t>
                </a:r>
                <a:r>
                  <a:rPr lang="pt-BR" sz="2800" dirty="0" err="1" smtClean="0">
                    <a:solidFill>
                      <a:srgbClr val="FFFF00"/>
                    </a:solidFill>
                  </a:rPr>
                  <a:t>kJ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/m</a:t>
                </a:r>
                <a:r>
                  <a:rPr lang="pt-BR" sz="2800" baseline="30000" dirty="0" smtClean="0">
                    <a:solidFill>
                      <a:srgbClr val="FFFF00"/>
                    </a:solidFill>
                  </a:rPr>
                  <a:t>2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O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diagrama mostra que os valores</a:t>
                </a:r>
                <a:r>
                  <a:rPr lang="pt-BR" sz="2800" dirty="0" smtClean="0"/>
                  <a:t> de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tenacidade começam</a:t>
                </a:r>
                <a:r>
                  <a:rPr lang="pt-BR" sz="2800" dirty="0" smtClean="0"/>
                  <a:t> em </a:t>
                </a:r>
                <a:r>
                  <a:rPr lang="pt-BR" sz="2800" dirty="0">
                    <a:solidFill>
                      <a:srgbClr val="FFFF00"/>
                    </a:solidFill>
                  </a:rPr>
                  <a:t>10</a:t>
                </a:r>
                <a:r>
                  <a:rPr lang="pt-BR" sz="2800" baseline="30000" dirty="0">
                    <a:solidFill>
                      <a:srgbClr val="FFFF00"/>
                    </a:solidFill>
                  </a:rPr>
                  <a:t>-3</a:t>
                </a:r>
                <a:r>
                  <a:rPr lang="pt-BR" sz="2800" dirty="0">
                    <a:solidFill>
                      <a:srgbClr val="FFFF00"/>
                    </a:solidFill>
                  </a:rPr>
                  <a:t> </a:t>
                </a:r>
                <a:r>
                  <a:rPr lang="pt-BR" sz="2800" dirty="0" err="1">
                    <a:solidFill>
                      <a:srgbClr val="FFFF00"/>
                    </a:solidFill>
                  </a:rPr>
                  <a:t>kJ</a:t>
                </a:r>
                <a:r>
                  <a:rPr lang="pt-BR" sz="2800" dirty="0">
                    <a:solidFill>
                      <a:srgbClr val="FFFF00"/>
                    </a:solidFill>
                  </a:rPr>
                  <a:t>/m</a:t>
                </a:r>
                <a:r>
                  <a:rPr lang="pt-BR" sz="2800" baseline="30000" dirty="0">
                    <a:solidFill>
                      <a:srgbClr val="FFFF00"/>
                    </a:solidFill>
                  </a:rPr>
                  <a:t>2</a:t>
                </a:r>
                <a:r>
                  <a:rPr lang="pt-BR" sz="2800" dirty="0" smtClean="0"/>
                  <a:t> e abrangem cinco séries de dez até </a:t>
                </a:r>
                <a:r>
                  <a:rPr lang="pt-BR" sz="2800" dirty="0">
                    <a:solidFill>
                      <a:srgbClr val="FFFF00"/>
                    </a:solidFill>
                  </a:rPr>
                  <a:t>100 </a:t>
                </a:r>
                <a:r>
                  <a:rPr lang="pt-BR" sz="2800" dirty="0" err="1">
                    <a:solidFill>
                      <a:srgbClr val="FFFF00"/>
                    </a:solidFill>
                  </a:rPr>
                  <a:t>kJ</a:t>
                </a:r>
                <a:r>
                  <a:rPr lang="pt-BR" sz="2800" dirty="0">
                    <a:solidFill>
                      <a:srgbClr val="FFFF00"/>
                    </a:solidFill>
                  </a:rPr>
                  <a:t>/m</a:t>
                </a:r>
                <a:r>
                  <a:rPr lang="pt-BR" sz="2800" baseline="30000" dirty="0">
                    <a:solidFill>
                      <a:srgbClr val="FFFF00"/>
                    </a:solidFill>
                  </a:rPr>
                  <a:t>2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 </a:t>
                </a:r>
                <a:r>
                  <a:rPr lang="pt-BR" sz="2800" dirty="0" smtClean="0"/>
                  <a:t>;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pt-BR" sz="2800" dirty="0" smtClean="0"/>
                  <a:t>Parte da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razão</a:t>
                </a:r>
                <a:r>
                  <a:rPr lang="pt-BR" sz="2800" dirty="0" smtClean="0"/>
                  <a:t> porque os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polímeros são amplamente utilizados em engenharia</a:t>
                </a:r>
                <a:r>
                  <a:rPr lang="pt-BR" sz="2800" dirty="0" smtClean="0"/>
                  <a:t> e os </a:t>
                </a:r>
                <a:r>
                  <a:rPr lang="pt-BR" sz="2800" dirty="0" smtClean="0">
                    <a:solidFill>
                      <a:srgbClr val="FFFF00"/>
                    </a:solidFill>
                  </a:rPr>
                  <a:t>cerâmicos não</a:t>
                </a:r>
                <a:r>
                  <a:rPr lang="pt-BR" sz="2800" dirty="0" smtClean="0"/>
                  <a:t>;</a:t>
                </a:r>
              </a:p>
            </p:txBody>
          </p:sp>
        </mc:Choice>
        <mc:Fallback xmlns="">
          <p:sp>
            <p:nvSpPr>
              <p:cNvPr id="5" name="Sub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533400" y="1143000"/>
                <a:ext cx="7924800" cy="5334000"/>
              </a:xfrm>
              <a:blipFill rotWithShape="1">
                <a:blip r:embed="rId2"/>
                <a:stretch>
                  <a:fillRect l="-1385" t="-1143" r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38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"/>
            <a:ext cx="6195060" cy="45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43198" y="4839042"/>
            <a:ext cx="7585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4.7</a:t>
            </a:r>
            <a:endParaRPr lang="en-US" sz="10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5181600"/>
            <a:ext cx="7315200" cy="1371600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Gráfico da </a:t>
            </a:r>
            <a:r>
              <a:rPr lang="pt-BR" dirty="0" smtClean="0">
                <a:solidFill>
                  <a:srgbClr val="FFFF00"/>
                </a:solidFill>
              </a:rPr>
              <a:t>tenacidade a fratura</a:t>
            </a:r>
            <a:r>
              <a:rPr lang="pt-BR" dirty="0" smtClean="0"/>
              <a:t> em relação </a:t>
            </a:r>
            <a:r>
              <a:rPr lang="pt-BR" dirty="0" err="1" smtClean="0"/>
              <a:t>co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FF00"/>
                </a:solidFill>
              </a:rPr>
              <a:t>módulo de Young</a:t>
            </a:r>
            <a:r>
              <a:rPr lang="pt-BR" dirty="0" smtClean="0"/>
              <a:t> auxilia a desenvolver projetos contra </a:t>
            </a:r>
            <a:r>
              <a:rPr lang="pt-BR" dirty="0" smtClean="0">
                <a:solidFill>
                  <a:srgbClr val="FFFF00"/>
                </a:solidFill>
              </a:rPr>
              <a:t>fratura</a:t>
            </a:r>
            <a:r>
              <a:rPr lang="pt-BR" dirty="0" smtClean="0"/>
              <a:t>. A faixa sombreada mostra o </a:t>
            </a:r>
            <a:r>
              <a:rPr lang="pt-BR" dirty="0" smtClean="0">
                <a:solidFill>
                  <a:srgbClr val="FFFF00"/>
                </a:solidFill>
              </a:rPr>
              <a:t>limite inferior de </a:t>
            </a:r>
            <a:r>
              <a:rPr lang="pt-BR" i="1" dirty="0" smtClean="0">
                <a:solidFill>
                  <a:srgbClr val="FFFF00"/>
                </a:solidFill>
              </a:rPr>
              <a:t>K</a:t>
            </a:r>
            <a:r>
              <a:rPr lang="pt-BR" baseline="-25000" dirty="0" smtClean="0">
                <a:solidFill>
                  <a:srgbClr val="FFFF00"/>
                </a:solidFill>
              </a:rPr>
              <a:t>1c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57200" y="152400"/>
            <a:ext cx="8153400" cy="1752600"/>
          </a:xfrm>
        </p:spPr>
        <p:txBody>
          <a:bodyPr>
            <a:normAutofit/>
          </a:bodyPr>
          <a:lstStyle/>
          <a:p>
            <a:r>
              <a:rPr lang="pt-BR" sz="2800" dirty="0" smtClean="0"/>
              <a:t>Seleção de Materiais para projeto tolerante ao dano utiliza-se </a:t>
            </a:r>
            <a:r>
              <a:rPr lang="pt-BR" sz="2800" dirty="0" smtClean="0">
                <a:solidFill>
                  <a:srgbClr val="FFFF00"/>
                </a:solidFill>
              </a:rPr>
              <a:t>tenacidade a fratura</a:t>
            </a:r>
            <a:r>
              <a:rPr lang="pt-BR" sz="2800" dirty="0" smtClean="0"/>
              <a:t> em relação a </a:t>
            </a:r>
            <a:r>
              <a:rPr lang="pt-BR" sz="2800" dirty="0" smtClean="0">
                <a:solidFill>
                  <a:srgbClr val="FFFF00"/>
                </a:solidFill>
              </a:rPr>
              <a:t>resistência</a:t>
            </a:r>
            <a:r>
              <a:rPr lang="pt-BR" sz="2800" dirty="0" smtClean="0"/>
              <a:t> </a:t>
            </a:r>
            <a:endParaRPr lang="pt-BR" sz="28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49" y="1525016"/>
            <a:ext cx="6618051" cy="4592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99177" y="6154685"/>
            <a:ext cx="7585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4.8</a:t>
            </a:r>
            <a:endParaRPr lang="en-US" sz="1000" dirty="0"/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397996"/>
              </p:ext>
            </p:extLst>
          </p:nvPr>
        </p:nvGraphicFramePr>
        <p:xfrm>
          <a:off x="6934200" y="3429000"/>
          <a:ext cx="1942094" cy="93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Equação" r:id="rId4" imgW="672840" imgH="469800" progId="Equation.3">
                  <p:embed/>
                </p:oleObj>
              </mc:Choice>
              <mc:Fallback>
                <p:oleObj name="Equação" r:id="rId4" imgW="672840" imgH="46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34200" y="3429000"/>
                        <a:ext cx="1942094" cy="93142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157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Coeficiente de Perda – Módulo de Young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82" y="1133259"/>
            <a:ext cx="6980464" cy="5161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81843" y="6310896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632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1143000"/>
          </a:xfrm>
        </p:spPr>
        <p:txBody>
          <a:bodyPr>
            <a:noAutofit/>
          </a:bodyPr>
          <a:lstStyle/>
          <a:p>
            <a:r>
              <a:rPr lang="pt-BR" sz="3200" dirty="0" smtClean="0"/>
              <a:t>Condutividade Térmica – </a:t>
            </a:r>
            <a:br>
              <a:rPr lang="pt-BR" sz="3200" dirty="0" smtClean="0"/>
            </a:br>
            <a:r>
              <a:rPr lang="pt-BR" sz="3200" dirty="0" smtClean="0"/>
              <a:t>Resistividade Elétrica</a:t>
            </a:r>
            <a:endParaRPr lang="pt-BR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3" y="1114425"/>
            <a:ext cx="6667497" cy="5186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09359" y="6324600"/>
            <a:ext cx="858683" cy="253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Figure 4.10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03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157" y="1295400"/>
            <a:ext cx="6643686" cy="504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pt-BR" sz="3600" dirty="0" smtClean="0"/>
              <a:t>Condutividade Térmica – </a:t>
            </a:r>
            <a:br>
              <a:rPr lang="pt-BR" sz="3600" dirty="0" smtClean="0"/>
            </a:br>
            <a:r>
              <a:rPr lang="pt-BR" sz="3600" dirty="0" smtClean="0"/>
              <a:t>Difusividade Térmica</a:t>
            </a:r>
            <a:endParaRPr lang="pt-BR" sz="3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156562" y="6374856"/>
            <a:ext cx="860533" cy="254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176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354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Expansão Térmica – </a:t>
            </a:r>
            <a:br>
              <a:rPr lang="pt-BR" dirty="0" smtClean="0"/>
            </a:br>
            <a:r>
              <a:rPr lang="pt-BR" dirty="0" smtClean="0"/>
              <a:t>Condutividade Térmica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6" name="Grupo 5"/>
          <p:cNvGrpSpPr/>
          <p:nvPr/>
        </p:nvGrpSpPr>
        <p:grpSpPr>
          <a:xfrm>
            <a:off x="1257300" y="1214027"/>
            <a:ext cx="6629400" cy="5307053"/>
            <a:chOff x="1257300" y="1214027"/>
            <a:chExt cx="6629400" cy="5307053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300" y="1214027"/>
              <a:ext cx="6629400" cy="506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57463" y="6274859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4.12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463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Expansão</a:t>
            </a:r>
            <a:r>
              <a:rPr lang="en-US" dirty="0" smtClean="0"/>
              <a:t> </a:t>
            </a:r>
            <a:r>
              <a:rPr lang="en-US" dirty="0" err="1" smtClean="0"/>
              <a:t>Térmica</a:t>
            </a:r>
            <a:r>
              <a:rPr lang="en-US" dirty="0" smtClean="0"/>
              <a:t> – </a:t>
            </a:r>
            <a:br>
              <a:rPr lang="en-US" dirty="0" smtClean="0"/>
            </a:br>
            <a:r>
              <a:rPr lang="en-US" dirty="0" err="1" smtClean="0"/>
              <a:t>Módulo</a:t>
            </a:r>
            <a:r>
              <a:rPr lang="en-US" dirty="0" smtClean="0"/>
              <a:t> de Young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6" y="1471035"/>
            <a:ext cx="6715125" cy="484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43213" y="630697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293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152400"/>
            <a:ext cx="7772400" cy="1470025"/>
          </a:xfrm>
        </p:spPr>
        <p:txBody>
          <a:bodyPr>
            <a:normAutofit/>
          </a:bodyPr>
          <a:lstStyle/>
          <a:p>
            <a:r>
              <a:rPr lang="pt-BR" sz="3600" dirty="0" smtClean="0"/>
              <a:t>Máxima Temperatura de Serviço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295399" y="838200"/>
            <a:ext cx="6400800" cy="1752600"/>
          </a:xfrm>
        </p:spPr>
        <p:txBody>
          <a:bodyPr/>
          <a:lstStyle/>
          <a:p>
            <a:r>
              <a:rPr lang="pt-BR" dirty="0" smtClean="0">
                <a:solidFill>
                  <a:srgbClr val="FFFF00"/>
                </a:solidFill>
              </a:rPr>
              <a:t>Temperatura acima</a:t>
            </a:r>
            <a:r>
              <a:rPr lang="pt-BR" dirty="0" smtClean="0"/>
              <a:t> da qual o material se torna </a:t>
            </a:r>
            <a:r>
              <a:rPr lang="pt-BR" dirty="0" smtClean="0">
                <a:solidFill>
                  <a:srgbClr val="FFFF00"/>
                </a:solidFill>
              </a:rPr>
              <a:t>inutilizável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223" y="1908244"/>
            <a:ext cx="6611550" cy="4395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57462" y="6300945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747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90650" y="4757057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Gráfico</a:t>
            </a:r>
            <a:r>
              <a:rPr lang="en-US" dirty="0" smtClean="0"/>
              <a:t> de </a:t>
            </a:r>
            <a:r>
              <a:rPr lang="en-US" dirty="0" err="1" smtClean="0"/>
              <a:t>barras</a:t>
            </a:r>
            <a:r>
              <a:rPr lang="en-US" dirty="0" smtClean="0"/>
              <a:t> do </a:t>
            </a:r>
            <a:r>
              <a:rPr lang="en-US" dirty="0" err="1" smtClean="0"/>
              <a:t>coeficiente</a:t>
            </a:r>
            <a:r>
              <a:rPr lang="en-US" dirty="0" smtClean="0"/>
              <a:t> de </a:t>
            </a:r>
            <a:r>
              <a:rPr lang="en-US" dirty="0" err="1" smtClean="0"/>
              <a:t>atrito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FF00"/>
                </a:solidFill>
              </a:rPr>
              <a:t>µ</a:t>
            </a:r>
            <a:r>
              <a:rPr lang="en-US" dirty="0" smtClean="0"/>
              <a:t>, que </a:t>
            </a:r>
            <a:r>
              <a:rPr lang="en-US" dirty="0" err="1" smtClean="0"/>
              <a:t>desliza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contraface</a:t>
            </a:r>
            <a:r>
              <a:rPr lang="en-US" dirty="0" smtClean="0"/>
              <a:t> de </a:t>
            </a:r>
            <a:r>
              <a:rPr lang="en-US" dirty="0" err="1" smtClean="0"/>
              <a:t>aço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</a:rPr>
              <a:t>não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lubrificada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6362700" cy="4316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19184" y="4468532"/>
            <a:ext cx="824138" cy="25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4.15</a:t>
            </a:r>
            <a:endParaRPr lang="en-US" sz="1000" dirty="0"/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694055"/>
              </p:ext>
            </p:extLst>
          </p:nvPr>
        </p:nvGraphicFramePr>
        <p:xfrm>
          <a:off x="7056438" y="1560513"/>
          <a:ext cx="13922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Equação" r:id="rId4" imgW="482400" imgH="431640" progId="Equation.3">
                  <p:embed/>
                </p:oleObj>
              </mc:Choice>
              <mc:Fallback>
                <p:oleObj name="Equação" r:id="rId4" imgW="482400" imgH="431640" progId="Equation.3">
                  <p:embed/>
                  <p:pic>
                    <p:nvPicPr>
                      <p:cNvPr id="0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560513"/>
                        <a:ext cx="1392237" cy="8572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822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14400" y="4813993"/>
            <a:ext cx="7315200" cy="1752600"/>
          </a:xfrm>
        </p:spPr>
        <p:txBody>
          <a:bodyPr>
            <a:noAutofit/>
          </a:bodyPr>
          <a:lstStyle/>
          <a:p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taxa de desgaste normalizada</a:t>
            </a:r>
            <a:r>
              <a:rPr lang="pt-BR" sz="2800" dirty="0" smtClean="0"/>
              <a:t> versus a </a:t>
            </a:r>
            <a:r>
              <a:rPr lang="pt-BR" sz="2800" dirty="0" smtClean="0">
                <a:solidFill>
                  <a:srgbClr val="FFFF00"/>
                </a:solidFill>
              </a:rPr>
              <a:t>dureza</a:t>
            </a:r>
            <a:r>
              <a:rPr lang="pt-BR" sz="2800" dirty="0" smtClean="0"/>
              <a:t>; O diagrama da uma visão geral do modo como os materiais de engenharia comuns se comportam</a:t>
            </a:r>
            <a:endParaRPr lang="pt-BR" sz="2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152400"/>
            <a:ext cx="6086474" cy="442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01003" y="4580125"/>
            <a:ext cx="789593" cy="233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Figure 4.16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410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867400" y="318406"/>
            <a:ext cx="3050645" cy="440599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O </a:t>
            </a:r>
            <a:r>
              <a:rPr lang="en-US" dirty="0" err="1" smtClean="0">
                <a:solidFill>
                  <a:srgbClr val="FFFF00"/>
                </a:solidFill>
              </a:rPr>
              <a:t>custo</a:t>
            </a:r>
            <a:r>
              <a:rPr lang="en-US" dirty="0" smtClean="0"/>
              <a:t> de um material </a:t>
            </a:r>
            <a:r>
              <a:rPr lang="en-US" dirty="0" err="1" smtClean="0"/>
              <a:t>pode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expresso de </a:t>
            </a:r>
            <a:r>
              <a:rPr lang="en-US" dirty="0" err="1" smtClean="0">
                <a:solidFill>
                  <a:srgbClr val="FFFF00"/>
                </a:solidFill>
              </a:rPr>
              <a:t>duas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formas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u="sng" dirty="0" smtClean="0">
                <a:solidFill>
                  <a:srgbClr val="FFFF00"/>
                </a:solidFill>
              </a:rPr>
              <a:t>$/kg</a:t>
            </a:r>
          </a:p>
          <a:p>
            <a:endParaRPr lang="en-US" dirty="0" smtClean="0"/>
          </a:p>
          <a:p>
            <a:r>
              <a:rPr lang="en-US" dirty="0" smtClean="0"/>
              <a:t>or</a:t>
            </a:r>
          </a:p>
          <a:p>
            <a:endParaRPr lang="en-US" dirty="0"/>
          </a:p>
          <a:p>
            <a:r>
              <a:rPr lang="en-US" u="sng" dirty="0" smtClean="0">
                <a:solidFill>
                  <a:srgbClr val="FFFF00"/>
                </a:solidFill>
              </a:rPr>
              <a:t>$/m</a:t>
            </a:r>
            <a:r>
              <a:rPr lang="en-US" u="sng" baseline="30000" dirty="0" smtClean="0">
                <a:solidFill>
                  <a:srgbClr val="FFFF00"/>
                </a:solidFill>
              </a:rPr>
              <a:t>3</a:t>
            </a:r>
            <a:endParaRPr lang="en-US" u="sng" baseline="30000" dirty="0">
              <a:solidFill>
                <a:srgbClr val="FFFF00"/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8406"/>
            <a:ext cx="5356106" cy="5998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15916" y="6316665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6601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21771"/>
            <a:ext cx="7772400" cy="1349829"/>
          </a:xfrm>
        </p:spPr>
        <p:txBody>
          <a:bodyPr>
            <a:normAutofit/>
          </a:bodyPr>
          <a:lstStyle/>
          <a:p>
            <a:r>
              <a:rPr lang="en-US" dirty="0" err="1" smtClean="0"/>
              <a:t>Módulo</a:t>
            </a:r>
            <a:r>
              <a:rPr lang="en-US" dirty="0" smtClean="0"/>
              <a:t> de Young – </a:t>
            </a:r>
            <a:br>
              <a:rPr lang="en-US" dirty="0" smtClean="0"/>
            </a:br>
            <a:r>
              <a:rPr lang="en-US" dirty="0" err="1" smtClean="0"/>
              <a:t>Custo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Unidade</a:t>
            </a:r>
            <a:r>
              <a:rPr lang="en-US" dirty="0" smtClean="0"/>
              <a:t> de Volume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19800" y="1905000"/>
            <a:ext cx="2895600" cy="3651964"/>
          </a:xfrm>
        </p:spPr>
        <p:txBody>
          <a:bodyPr>
            <a:noAutofit/>
          </a:bodyPr>
          <a:lstStyle/>
          <a:p>
            <a:r>
              <a:rPr lang="pt-BR" dirty="0" smtClean="0"/>
              <a:t>Gráfico auxilia a seleção de materiais </a:t>
            </a:r>
            <a:r>
              <a:rPr lang="pt-BR" dirty="0" smtClean="0">
                <a:solidFill>
                  <a:srgbClr val="FFFF00"/>
                </a:solidFill>
              </a:rPr>
              <a:t>maximizar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FF00"/>
                </a:solidFill>
              </a:rPr>
              <a:t>rigidez</a:t>
            </a:r>
            <a:r>
              <a:rPr lang="pt-BR" dirty="0" smtClean="0"/>
              <a:t> em relação ao </a:t>
            </a:r>
            <a:r>
              <a:rPr lang="pt-BR" dirty="0" smtClean="0">
                <a:solidFill>
                  <a:srgbClr val="FFFF00"/>
                </a:solidFill>
              </a:rPr>
              <a:t>custo unitário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228600" y="1752600"/>
            <a:ext cx="5676900" cy="4404302"/>
            <a:chOff x="228600" y="1752600"/>
            <a:chExt cx="5676900" cy="4404302"/>
          </a:xfrm>
        </p:grpSpPr>
        <p:pic>
          <p:nvPicPr>
            <p:cNvPr id="1741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752600"/>
              <a:ext cx="5676900" cy="4160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652513" y="5910681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4.18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486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1"/>
            <a:ext cx="8763000" cy="1143000"/>
          </a:xfrm>
        </p:spPr>
        <p:txBody>
          <a:bodyPr>
            <a:normAutofit/>
          </a:bodyPr>
          <a:lstStyle/>
          <a:p>
            <a:r>
              <a:rPr lang="pt-BR" sz="3200" dirty="0" smtClean="0"/>
              <a:t>Resistência – Custo Por Unidade de Volume</a:t>
            </a:r>
            <a:endParaRPr lang="pt-BR" sz="32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8458200" cy="1752600"/>
          </a:xfrm>
        </p:spPr>
        <p:txBody>
          <a:bodyPr/>
          <a:lstStyle/>
          <a:p>
            <a:r>
              <a:rPr lang="pt-BR" dirty="0" smtClean="0"/>
              <a:t>Diretrizes de Projeto auxiliam na seleção para </a:t>
            </a:r>
            <a:r>
              <a:rPr lang="pt-BR" dirty="0" smtClean="0">
                <a:solidFill>
                  <a:srgbClr val="FFFF00"/>
                </a:solidFill>
              </a:rPr>
              <a:t>maximizar resistência</a:t>
            </a:r>
            <a:r>
              <a:rPr lang="pt-BR" dirty="0" smtClean="0"/>
              <a:t> por </a:t>
            </a:r>
            <a:r>
              <a:rPr lang="pt-BR" dirty="0" smtClean="0">
                <a:solidFill>
                  <a:srgbClr val="FFFF00"/>
                </a:solidFill>
              </a:rPr>
              <a:t>custo unitário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09800"/>
            <a:ext cx="5791200" cy="414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57464" y="635269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4.19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469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2619</TotalTime>
  <Words>3465</Words>
  <Application>Microsoft Macintosh PowerPoint</Application>
  <PresentationFormat>Apresentação na tela (4:3)</PresentationFormat>
  <Paragraphs>276</Paragraphs>
  <Slides>53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9" baseType="lpstr">
      <vt:lpstr>Calibri</vt:lpstr>
      <vt:lpstr>Cambria Math</vt:lpstr>
      <vt:lpstr>Wingdings</vt:lpstr>
      <vt:lpstr>Arial</vt:lpstr>
      <vt:lpstr>MaterialsSelection</vt:lpstr>
      <vt:lpstr>Equação</vt:lpstr>
      <vt:lpstr>Capítulo 4 Diagrama de Propriedades dos Materiais</vt:lpstr>
      <vt:lpstr>Diagrama de Propriedades de Materiais</vt:lpstr>
      <vt:lpstr>Gráficos de Barras – Propriedades Únicas</vt:lpstr>
      <vt:lpstr>Diagrama de Propriedades de Materiais</vt:lpstr>
      <vt:lpstr>Diagrama de Propriedades Múltiplas</vt:lpstr>
      <vt:lpstr>Explorando as Propriedades de Materiais</vt:lpstr>
      <vt:lpstr>Gráficos de Barras – Propriedades Únicas</vt:lpstr>
      <vt:lpstr>Explorando as Propriedades de Materiais</vt:lpstr>
      <vt:lpstr>Diagrama de Propriedades Múltiplas</vt:lpstr>
      <vt:lpstr>Explorando as Propriedades de Materiais</vt:lpstr>
      <vt:lpstr>Explorando as Propriedades de Materiais</vt:lpstr>
      <vt:lpstr>Modulo de Young – Massa Específica</vt:lpstr>
      <vt:lpstr>Explorando as Propriedades de Materiais</vt:lpstr>
      <vt:lpstr>Apresentação do PowerPoint</vt:lpstr>
      <vt:lpstr>Diagrama Módulo-Massa Específica</vt:lpstr>
      <vt:lpstr>Diagrama Módulo-Massa Específica</vt:lpstr>
      <vt:lpstr>Diagrama Módulo-Massa Específica</vt:lpstr>
      <vt:lpstr>Diagrama Módulo-Massa Específica</vt:lpstr>
      <vt:lpstr>Diagrama Módulo-Massa Específica</vt:lpstr>
      <vt:lpstr>Modulo de Young – Massa Específica</vt:lpstr>
      <vt:lpstr>Diagrama Resistência-Massa Específica</vt:lpstr>
      <vt:lpstr>Diagrama Resistência-Massa Específica</vt:lpstr>
      <vt:lpstr>Diagrama Resistência-Massa Específica</vt:lpstr>
      <vt:lpstr>Diagrama Resistência-Massa Específica</vt:lpstr>
      <vt:lpstr>Diagrama Resistência-Massa Específica</vt:lpstr>
      <vt:lpstr>Resistencia – Massa Específica</vt:lpstr>
      <vt:lpstr>Diagrama Módulo-Resistência</vt:lpstr>
      <vt:lpstr>Diagrama Módulo-Resistência</vt:lpstr>
      <vt:lpstr>Diagrama Módulo-Resistência</vt:lpstr>
      <vt:lpstr>Diagrama Módulo-Resistência</vt:lpstr>
      <vt:lpstr>Apresentação do PowerPoint</vt:lpstr>
      <vt:lpstr>Diagrama Rigidez Específica-Resistência Específica</vt:lpstr>
      <vt:lpstr>Diagrama Rigidez Específica-Resistência Específica</vt:lpstr>
      <vt:lpstr>Apresentação do PowerPoint</vt:lpstr>
      <vt:lpstr>Diagrama Tenacidade à Fratura - Módulo</vt:lpstr>
      <vt:lpstr>Diagrama Tenacidade à Fratura - Módulo</vt:lpstr>
      <vt:lpstr>Diagrama Tenacidade à Fratura - Módulo</vt:lpstr>
      <vt:lpstr>Diagrama Tenacidade à Fratura - Módulo</vt:lpstr>
      <vt:lpstr>Diagrama Tenacidade à Fratura - Módulo</vt:lpstr>
      <vt:lpstr>Diagrama Tenacidade à Fratura - Módulo</vt:lpstr>
      <vt:lpstr>Apresentação do PowerPoint</vt:lpstr>
      <vt:lpstr>Apresentação do PowerPoint</vt:lpstr>
      <vt:lpstr>Coeficiente de Perda – Módulo de Young</vt:lpstr>
      <vt:lpstr>Condutividade Térmica –  Resistividade Elétrica</vt:lpstr>
      <vt:lpstr>Condutividade Térmica –  Difusividade Térmica</vt:lpstr>
      <vt:lpstr>Expansão Térmica –  Condutividade Térmica</vt:lpstr>
      <vt:lpstr>Expansão Térmica –  Módulo de Young</vt:lpstr>
      <vt:lpstr>Máxima Temperatura de Serviço</vt:lpstr>
      <vt:lpstr>Apresentação do PowerPoint</vt:lpstr>
      <vt:lpstr>Apresentação do PowerPoint</vt:lpstr>
      <vt:lpstr>Apresentação do PowerPoint</vt:lpstr>
      <vt:lpstr>Módulo de Young –  Custo por Unidade de Volume</vt:lpstr>
      <vt:lpstr>Resistência – Custo Por Unidade de Volume</vt:lpstr>
    </vt:vector>
  </TitlesOfParts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IVALDO L FERREIRA</cp:lastModifiedBy>
  <cp:revision>88</cp:revision>
  <dcterms:created xsi:type="dcterms:W3CDTF">2010-09-03T02:00:13Z</dcterms:created>
  <dcterms:modified xsi:type="dcterms:W3CDTF">2018-09-26T11:46:43Z</dcterms:modified>
</cp:coreProperties>
</file>