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97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761-10E8-4A4A-94AE-7AE1FE032137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37A0-B8D3-4E13-B2EF-72990CF13F0D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683A0-1D7A-4A63-8AED-0848D068EA2A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8AE0-3C51-4A2F-9A71-F96DC3C24516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708AA-BC0A-4AED-BE68-7315244BFEF1}" type="datetime1">
              <a:rPr lang="en-US" smtClean="0"/>
              <a:t>1/11/2016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E3538-E3D4-4801-B97C-6B5D0DBB127D}" type="datetime1">
              <a:rPr lang="en-US" smtClean="0"/>
              <a:t>1/11/2016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B8D6E-E1B0-42DE-A60A-897E221B74B1}" type="datetime1">
              <a:rPr lang="en-US" smtClean="0"/>
              <a:t>1/11/2016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F890-9EC2-4523-AC9C-4E7B6F3668D7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5F04-B330-4D72-92C0-2FDF500CA130}" type="datetime1">
              <a:rPr lang="en-US" smtClean="0"/>
              <a:t>1/11/2016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407-5DE1-4842-B3D3-7AFF98719758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F39C-A8B4-4E44-9DA7-39D981C08BE7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A5B50-41BF-4628-972E-A9801EACC03E}" type="datetime1">
              <a:rPr lang="en-US" smtClean="0"/>
              <a:t>1/11/2016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861" y="762000"/>
            <a:ext cx="4757057" cy="1470025"/>
          </a:xfrm>
        </p:spPr>
        <p:txBody>
          <a:bodyPr/>
          <a:lstStyle/>
          <a:p>
            <a:r>
              <a:rPr lang="pt-BR" sz="4400" dirty="0" smtClean="0"/>
              <a:t>Capítulo 1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>
                <a:solidFill>
                  <a:schemeClr val="tx1"/>
                </a:solidFill>
              </a:rPr>
              <a:t>Introdução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 © 2010 Michael Ashby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57200"/>
            <a:ext cx="420452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-762000" y="2209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 smtClean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7899"/>
              </p:ext>
            </p:extLst>
          </p:nvPr>
        </p:nvGraphicFramePr>
        <p:xfrm>
          <a:off x="914400" y="3352800"/>
          <a:ext cx="7391401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3789"/>
                <a:gridCol w="6021153"/>
                <a:gridCol w="616459"/>
              </a:tblGrid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pt-BR" b="1" noProof="0" dirty="0" smtClean="0">
                          <a:solidFill>
                            <a:schemeClr val="tx1"/>
                          </a:solidFill>
                        </a:rPr>
                        <a:t>SUMÁRIO</a:t>
                      </a:r>
                      <a:endParaRPr lang="pt-BR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1.1. 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Introdução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................……………………………..................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1.2.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Introdução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e Sinopse.........................................................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1.2.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Materiais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em Projeto..........................................................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1.3.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A Evolução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dos Materiais de Engenharia..........................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1.4.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A Evolução de Materiais em Produtos...............................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1.5.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Resumo</a:t>
                      </a:r>
                      <a:r>
                        <a:rPr lang="pt-BR" baseline="0" noProof="0" dirty="0" smtClean="0">
                          <a:solidFill>
                            <a:schemeClr val="bg1"/>
                          </a:solidFill>
                        </a:rPr>
                        <a:t> e Conclusões......................................................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1.6.</a:t>
                      </a:r>
                      <a:r>
                        <a:rPr lang="pt-BR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Leitura Complementar.......................................................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noProof="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pt-BR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Materiais em Projeto</a:t>
            </a:r>
            <a:endParaRPr lang="pt-B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19200" y="1828800"/>
            <a:ext cx="6705600" cy="3276600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Projeto é o </a:t>
            </a:r>
            <a:r>
              <a:rPr lang="pt-BR" dirty="0" smtClean="0">
                <a:solidFill>
                  <a:srgbClr val="FFFF00"/>
                </a:solidFill>
              </a:rPr>
              <a:t>processo de traduzir uma nova ideia</a:t>
            </a:r>
            <a:r>
              <a:rPr lang="pt-BR" dirty="0" smtClean="0"/>
              <a:t> ou uma </a:t>
            </a:r>
            <a:r>
              <a:rPr lang="pt-BR" dirty="0" smtClean="0">
                <a:solidFill>
                  <a:srgbClr val="FFFF00"/>
                </a:solidFill>
              </a:rPr>
              <a:t>necessidade de mercado</a:t>
            </a:r>
            <a:r>
              <a:rPr lang="pt-BR" dirty="0" smtClean="0"/>
              <a:t> em informações detalhadas  com as quais se pode fabricar um produto</a:t>
            </a:r>
          </a:p>
          <a:p>
            <a:endParaRPr lang="pt-BR" dirty="0" smtClean="0">
              <a:solidFill>
                <a:schemeClr val="bg1"/>
              </a:solidFill>
            </a:endParaRPr>
          </a:p>
          <a:p>
            <a:r>
              <a:rPr lang="pt-BR" dirty="0" smtClean="0"/>
              <a:t>Cada um desses estágios exige decisões sobre quais os materiais serão empregados e quais os processos de fabricação que serão utilizados na confecção deste produto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 © 2010 Michael Ashby</a:t>
            </a:r>
          </a:p>
        </p:txBody>
      </p:sp>
    </p:spTree>
    <p:extLst>
      <p:ext uri="{BB962C8B-B14F-4D97-AF65-F5344CB8AC3E}">
        <p14:creationId xmlns:p14="http://schemas.microsoft.com/office/powerpoint/2010/main" val="201684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228600"/>
            <a:ext cx="4876800" cy="5334000"/>
          </a:xfrm>
        </p:spPr>
        <p:txBody>
          <a:bodyPr>
            <a:normAutofit fontScale="92500"/>
          </a:bodyPr>
          <a:lstStyle/>
          <a:p>
            <a:r>
              <a:rPr lang="pt-BR" sz="3000" dirty="0" smtClean="0"/>
              <a:t>O desenvolvimento de novos materiais é, geralmente, impulsionado pela busca de aumento de performance relativa aos materiais já existentes e disponíveis </a:t>
            </a:r>
          </a:p>
          <a:p>
            <a:endParaRPr lang="pt-BR" sz="3000" dirty="0" smtClean="0"/>
          </a:p>
          <a:p>
            <a:r>
              <a:rPr lang="pt-BR" sz="3000" dirty="0" smtClean="0"/>
              <a:t>Atualmente, mais de 160.000 </a:t>
            </a:r>
          </a:p>
          <a:p>
            <a:r>
              <a:rPr lang="pt-BR" sz="3000" dirty="0" smtClean="0"/>
              <a:t>materiais encontram-se disponíveis para aplicação em engenharia</a:t>
            </a:r>
            <a:endParaRPr lang="pt-BR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 © 2010 Michael Ashby, translated to Brazilian Portuguese by </a:t>
            </a:r>
            <a:r>
              <a:rPr lang="en-US" dirty="0" err="1" smtClean="0"/>
              <a:t>ileao</a:t>
            </a:r>
            <a:r>
              <a:rPr lang="en-US" dirty="0" smtClean="0"/>
              <a:t> 2015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" y="76200"/>
            <a:ext cx="4036613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12" y="533400"/>
            <a:ext cx="3505200" cy="4495800"/>
          </a:xfrm>
        </p:spPr>
        <p:txBody>
          <a:bodyPr>
            <a:normAutofit fontScale="62500" lnSpcReduction="20000"/>
          </a:bodyPr>
          <a:lstStyle/>
          <a:p>
            <a:r>
              <a:rPr lang="pt-BR" dirty="0" smtClean="0"/>
              <a:t>O desenvolvimento de materiais deve atender a demandas de resistência e massa específica, conforme apresentado por estes diagramas de propriedades</a:t>
            </a:r>
          </a:p>
          <a:p>
            <a:r>
              <a:rPr lang="pt-BR" dirty="0" smtClean="0"/>
              <a:t> </a:t>
            </a:r>
            <a:endParaRPr lang="en-US" dirty="0" smtClean="0"/>
          </a:p>
          <a:p>
            <a:endParaRPr lang="pt-BR" dirty="0" smtClean="0"/>
          </a:p>
          <a:p>
            <a:endParaRPr lang="en-US" dirty="0"/>
          </a:p>
          <a:p>
            <a:r>
              <a:rPr lang="pt-BR" dirty="0" smtClean="0"/>
              <a:t>Gráficos diferentes eras humana apresentam preenchimento progressivo dos materiais disponíveis com relação as propriedades de resistência mecânica/</a:t>
            </a:r>
            <a:r>
              <a:rPr lang="pt-BR" b="1" dirty="0" smtClean="0">
                <a:solidFill>
                  <a:srgbClr val="FFFF00"/>
                </a:solidFill>
              </a:rPr>
              <a:t>massa especifica</a:t>
            </a:r>
            <a:r>
              <a:rPr lang="pt-BR" dirty="0" smtClean="0"/>
              <a:t> 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2" y="146050"/>
            <a:ext cx="5443538" cy="640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885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1" y="76201"/>
            <a:ext cx="8229600" cy="1143000"/>
          </a:xfrm>
        </p:spPr>
        <p:txBody>
          <a:bodyPr>
            <a:normAutofit/>
          </a:bodyPr>
          <a:lstStyle/>
          <a:p>
            <a:r>
              <a:rPr lang="pt-BR" sz="3600" dirty="0" smtClean="0"/>
              <a:t>Evolução de Materiais em Produtos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38200" y="3657600"/>
            <a:ext cx="7315200" cy="2819400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Chaleiras antigas eram aquecidas diretamente sobre o fogo, por esta razão, eram construídas de materiais podem conduzir o calor com exposição constante a uma chama. </a:t>
            </a:r>
          </a:p>
          <a:p>
            <a:endParaRPr lang="pt-BR" sz="1200" dirty="0" smtClean="0"/>
          </a:p>
          <a:p>
            <a:r>
              <a:rPr lang="pt-BR" dirty="0" smtClean="0"/>
              <a:t>Hoje em dia,  quase todas as chaleiras são fabricadas em plástico, permitindo fabricação mais econômica e com grande liberdade de escolha de cores e formas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2343150" y="1281497"/>
            <a:ext cx="4457699" cy="2130693"/>
            <a:chOff x="1200302" y="1752600"/>
            <a:chExt cx="6705601" cy="303375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302" y="1752600"/>
              <a:ext cx="6705600" cy="2672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200304" y="4435777"/>
              <a:ext cx="6705599" cy="350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/>
                <a:t>Figura</a:t>
              </a:r>
              <a:r>
                <a:rPr lang="en-US" sz="1000" b="1" dirty="0" smtClean="0"/>
                <a:t> 1.3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65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66800" y="381000"/>
            <a:ext cx="7162800" cy="27432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O desenvolvimento do aspirador de pó ocorreu de forma rápida e induzido pelo emprego de novos materiais.</a:t>
            </a:r>
          </a:p>
          <a:p>
            <a:endParaRPr lang="en-US" dirty="0" smtClean="0"/>
          </a:p>
          <a:p>
            <a:r>
              <a:rPr lang="pt-BR" dirty="0" smtClean="0"/>
              <a:t>Aspiradores movidos a energia humana (1900) eram fabricados em sua maioria com materiais naturais e foram gradativamente substituídos por outros movidos a motores elétricos (1908) e filtração centrífuga (1950). 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1735646" y="2792790"/>
            <a:ext cx="5672707" cy="3627168"/>
            <a:chOff x="1303784" y="914400"/>
            <a:chExt cx="6536431" cy="4455339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3784" y="914400"/>
              <a:ext cx="6536431" cy="4152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303785" y="5067300"/>
              <a:ext cx="6536430" cy="302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/>
                <a:t>Figura</a:t>
              </a:r>
              <a:r>
                <a:rPr lang="en-US" sz="1000" b="1" dirty="0" smtClean="0"/>
                <a:t> 1.4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19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33400" y="304800"/>
            <a:ext cx="8077200" cy="1752600"/>
          </a:xfrm>
        </p:spPr>
        <p:txBody>
          <a:bodyPr>
            <a:normAutofit fontScale="92500" lnSpcReduction="20000"/>
          </a:bodyPr>
          <a:lstStyle/>
          <a:p>
            <a:r>
              <a:rPr lang="pt-BR" sz="2700" dirty="0" smtClean="0"/>
              <a:t>Antigamente, as câmeras fotográficas eram construídas de madeira com o cuidado e acabamento de um marceneiro. Elas tinham lentes de vidro bem polidas fabricadas a partir de técnicas desenvolvidas para fabricação de relógios de pulso e de parede.  </a:t>
            </a:r>
            <a:endParaRPr lang="en-US" sz="27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 © 2010 Michael Ashby</a:t>
            </a:r>
            <a:endParaRPr lang="en-US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1485900" y="2358830"/>
            <a:ext cx="6172200" cy="2104178"/>
            <a:chOff x="361950" y="2057400"/>
            <a:chExt cx="8420100" cy="2992516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950" y="2057400"/>
              <a:ext cx="8420100" cy="2743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361950" y="4803695"/>
              <a:ext cx="8420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/>
                <a:t>Figure 1.5</a:t>
              </a:r>
            </a:p>
          </p:txBody>
        </p:sp>
      </p:grpSp>
      <p:sp>
        <p:nvSpPr>
          <p:cNvPr id="8" name="Subtitle 5"/>
          <p:cNvSpPr txBox="1">
            <a:spLocks/>
          </p:cNvSpPr>
          <p:nvPr/>
        </p:nvSpPr>
        <p:spPr>
          <a:xfrm>
            <a:off x="609600" y="4743773"/>
            <a:ext cx="80010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Câmeras mais sofisticadas são fabricadas com precisão e sofisticação eletrônica de instrumentos científicos. Modelos mais simples tem suas estruturas fabricadas por moldagem de polipropileno ou ABS.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98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304800"/>
            <a:ext cx="7315200" cy="1219200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Aviões antigos eram construídos com madeiras de baixa densidade, arames de aço e seda. 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Materials Selection in Mechanical Design, 4th Edition © 2010 Michael Ashby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77570" y="1752600"/>
            <a:ext cx="7955280" cy="1218664"/>
            <a:chOff x="594360" y="1523999"/>
            <a:chExt cx="7955280" cy="1218664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60" y="1523999"/>
              <a:ext cx="7955280" cy="97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594360" y="2496442"/>
              <a:ext cx="79552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err="1" smtClean="0"/>
                <a:t>Figura</a:t>
              </a:r>
              <a:r>
                <a:rPr lang="en-US" sz="1000" b="1" dirty="0" smtClean="0"/>
                <a:t> 1.6</a:t>
              </a:r>
            </a:p>
          </p:txBody>
        </p:sp>
      </p:grpSp>
      <p:sp>
        <p:nvSpPr>
          <p:cNvPr id="8" name="Subtitle 5"/>
          <p:cNvSpPr txBox="1">
            <a:spLocks/>
          </p:cNvSpPr>
          <p:nvPr/>
        </p:nvSpPr>
        <p:spPr>
          <a:xfrm>
            <a:off x="914400" y="3276600"/>
            <a:ext cx="73152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/>
              <a:t>A estrutura de alumínio fornecia elevada rigidez e resistência para permitir aeronaves maiores e voos mais longos.</a:t>
            </a:r>
          </a:p>
          <a:p>
            <a:endParaRPr lang="en-US" dirty="0"/>
          </a:p>
          <a:p>
            <a:r>
              <a:rPr lang="pt-BR" dirty="0" smtClean="0"/>
              <a:t>O futuro estrutural das aeronaves é exemplificado pelo </a:t>
            </a:r>
            <a:r>
              <a:rPr lang="pt-BR" dirty="0" err="1" smtClean="0"/>
              <a:t>Boeing’s</a:t>
            </a:r>
            <a:r>
              <a:rPr lang="pt-BR" dirty="0" smtClean="0"/>
              <a:t> 787 </a:t>
            </a:r>
            <a:r>
              <a:rPr lang="pt-BR" dirty="0" err="1" smtClean="0"/>
              <a:t>Dreamliner</a:t>
            </a:r>
            <a:r>
              <a:rPr lang="pt-BR" dirty="0" smtClean="0"/>
              <a:t> (80% plástico reforçado com fibra de carbono, acredita-se que  seja 30% mais leve por assento</a:t>
            </a:r>
            <a:r>
              <a:rPr lang="en-US" dirty="0" smtClean="0"/>
              <a:t>  que a </a:t>
            </a:r>
            <a:r>
              <a:rPr lang="pt-BR" dirty="0" smtClean="0"/>
              <a:t>aeronave</a:t>
            </a:r>
            <a:r>
              <a:rPr lang="en-US" dirty="0" smtClean="0"/>
              <a:t> da </a:t>
            </a:r>
            <a:r>
              <a:rPr lang="pt-BR" dirty="0" smtClean="0"/>
              <a:t>concorrência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31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377</TotalTime>
  <Words>547</Words>
  <Application>Microsoft Office PowerPoint</Application>
  <PresentationFormat>Apresentação na tela (4:3)</PresentationFormat>
  <Paragraphs>61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MaterialsSelection</vt:lpstr>
      <vt:lpstr>Capítulo 1 Introdução</vt:lpstr>
      <vt:lpstr>Materiais em Projeto</vt:lpstr>
      <vt:lpstr>Apresentação do PowerPoint</vt:lpstr>
      <vt:lpstr>Apresentação do PowerPoint</vt:lpstr>
      <vt:lpstr>Evolução de Materiais em Produtos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ileao</cp:lastModifiedBy>
  <cp:revision>37</cp:revision>
  <dcterms:created xsi:type="dcterms:W3CDTF">2010-09-03T02:00:13Z</dcterms:created>
  <dcterms:modified xsi:type="dcterms:W3CDTF">2016-01-11T22:51:42Z</dcterms:modified>
</cp:coreProperties>
</file>