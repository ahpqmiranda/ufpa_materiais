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605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2BF09-D8FD-4D41-82E2-799F1922EDBF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0B27-377E-42E2-BFD6-8D5DB5EE1318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E85A-4478-45C3-BEAF-0D9516F9D836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0D9A-3069-445D-A009-3BF7C53A668C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7F75-8FA6-4B54-B616-BAAA9F3C8DDC}" type="datetime1">
              <a:rPr lang="en-US" smtClean="0"/>
              <a:t>1/11/2016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F076-11BC-4013-9A51-ED88983AE8F4}" type="datetime1">
              <a:rPr lang="en-US" smtClean="0"/>
              <a:t>1/11/2016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CC5D-06E6-40D2-A32F-CB874BE2E1AB}" type="datetime1">
              <a:rPr lang="en-US" smtClean="0"/>
              <a:t>1/11/2016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2FE3B-7D38-4F60-8F7D-9263CC0C7198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187F-A587-4F97-BC26-D683658A1D32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631E-A0EF-40AD-9C07-E6040B4D2B37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6313A-9143-4EEC-AF86-38C481EEA05D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60398-41A0-4446-B1E7-CCB4CF7358BA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62000"/>
            <a:ext cx="4953000" cy="1470025"/>
          </a:xfrm>
        </p:spPr>
        <p:txBody>
          <a:bodyPr>
            <a:normAutofit fontScale="90000"/>
          </a:bodyPr>
          <a:lstStyle/>
          <a:p>
            <a:r>
              <a:rPr lang="en-US" sz="4400" dirty="0" err="1" smtClean="0"/>
              <a:t>Capítulo</a:t>
            </a:r>
            <a:r>
              <a:rPr lang="en-US" sz="4400" dirty="0" smtClean="0"/>
              <a:t> 2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>
                <a:solidFill>
                  <a:schemeClr val="tx1"/>
                </a:solidFill>
              </a:rPr>
              <a:t>O </a:t>
            </a:r>
            <a:r>
              <a:rPr lang="en-US" b="0" dirty="0" err="1" smtClean="0">
                <a:solidFill>
                  <a:schemeClr val="tx1"/>
                </a:solidFill>
              </a:rPr>
              <a:t>Processo</a:t>
            </a:r>
            <a:r>
              <a:rPr lang="en-US" b="0" dirty="0" smtClean="0">
                <a:solidFill>
                  <a:schemeClr val="tx1"/>
                </a:solidFill>
              </a:rPr>
              <a:t> de </a:t>
            </a:r>
            <a:r>
              <a:rPr lang="en-US" b="0" dirty="0" err="1" smtClean="0">
                <a:solidFill>
                  <a:schemeClr val="tx1"/>
                </a:solidFill>
              </a:rPr>
              <a:t>Projeto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6172200" y="152400"/>
            <a:ext cx="2186704" cy="2994660"/>
            <a:chOff x="2881488" y="1905000"/>
            <a:chExt cx="3381022" cy="4038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1489" y="1905000"/>
              <a:ext cx="3381021" cy="3840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1488" y="5745480"/>
              <a:ext cx="3381021" cy="198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71255"/>
              </p:ext>
            </p:extLst>
          </p:nvPr>
        </p:nvGraphicFramePr>
        <p:xfrm>
          <a:off x="761999" y="3215640"/>
          <a:ext cx="7391401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789"/>
                <a:gridCol w="6021153"/>
                <a:gridCol w="616459"/>
              </a:tblGrid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pt-BR" b="1" noProof="0" dirty="0" smtClean="0">
                          <a:solidFill>
                            <a:schemeClr val="tx1"/>
                          </a:solidFill>
                        </a:rPr>
                        <a:t>SUMÁRIO</a:t>
                      </a:r>
                      <a:endParaRPr lang="pt-BR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2.1. 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Introdução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 e Sinopse.......................................................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2.2.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O Processo de Projeto 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2.3.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Tipos de  Projeto...............................................................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2.4.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Ferramenta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de Projeto e Dados de Materiais...................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2.5.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Função,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Material, Forma e Processo................................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2.6.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Estudo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de Caso: Dispositivos para abrir Garrafas............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2.7.</a:t>
                      </a:r>
                      <a:r>
                        <a:rPr lang="pt-BR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Resumos e Conclusões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……………………………………..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2.8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Leitura Complementar.......................................................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 Abordagem Guiada pelo Projeto</a:t>
            </a:r>
            <a:endParaRPr lang="pt-B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2133600"/>
            <a:ext cx="6562725" cy="3219450"/>
          </a:xfrm>
          <a:noFill/>
        </p:spPr>
        <p:txBody>
          <a:bodyPr>
            <a:normAutofit lnSpcReduction="10000"/>
          </a:bodyPr>
          <a:lstStyle/>
          <a:p>
            <a:r>
              <a:rPr lang="pt-BR" dirty="0" smtClean="0"/>
              <a:t>Necessita-se desenvolver uma metodologia para a </a:t>
            </a:r>
            <a:r>
              <a:rPr lang="pt-BR" dirty="0" smtClean="0">
                <a:solidFill>
                  <a:srgbClr val="FFFF00"/>
                </a:solidFill>
              </a:rPr>
              <a:t>seleção de materiais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processos de fabricação</a:t>
            </a:r>
            <a:r>
              <a:rPr lang="pt-BR" dirty="0" smtClean="0"/>
              <a:t> que sejam </a:t>
            </a:r>
            <a:r>
              <a:rPr lang="pt-BR" dirty="0" smtClean="0">
                <a:solidFill>
                  <a:srgbClr val="FFFF00"/>
                </a:solidFill>
              </a:rPr>
              <a:t>orientados </a:t>
            </a:r>
            <a:r>
              <a:rPr lang="pt-BR" dirty="0" smtClean="0">
                <a:solidFill>
                  <a:srgbClr val="FFFF00"/>
                </a:solidFill>
              </a:rPr>
              <a:t>pelo projeto</a:t>
            </a:r>
            <a:r>
              <a:rPr lang="pt-BR" dirty="0" smtClean="0"/>
              <a:t>, isto é, que faça uso como entradas, os </a:t>
            </a:r>
            <a:r>
              <a:rPr lang="pt-BR" dirty="0" smtClean="0">
                <a:solidFill>
                  <a:srgbClr val="FFFF00"/>
                </a:solidFill>
              </a:rPr>
              <a:t>requisitos funcionais</a:t>
            </a:r>
            <a:r>
              <a:rPr lang="pt-BR" dirty="0" smtClean="0"/>
              <a:t> do projeto.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 © 2010 Michael Ashby</a:t>
            </a:r>
          </a:p>
        </p:txBody>
      </p:sp>
    </p:spTree>
    <p:extLst>
      <p:ext uri="{BB962C8B-B14F-4D97-AF65-F5344CB8AC3E}">
        <p14:creationId xmlns:p14="http://schemas.microsoft.com/office/powerpoint/2010/main" val="196008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914400" y="304800"/>
            <a:ext cx="7391400" cy="1752600"/>
          </a:xfrm>
          <a:noFill/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O </a:t>
            </a:r>
            <a:r>
              <a:rPr lang="pt-BR" dirty="0" smtClean="0">
                <a:solidFill>
                  <a:srgbClr val="FFFF00"/>
                </a:solidFill>
              </a:rPr>
              <a:t>ponto de partida</a:t>
            </a:r>
            <a:r>
              <a:rPr lang="pt-BR" dirty="0" smtClean="0"/>
              <a:t> de um projeto está relacionada a </a:t>
            </a:r>
            <a:r>
              <a:rPr lang="pt-BR" dirty="0" smtClean="0">
                <a:solidFill>
                  <a:srgbClr val="FFFF00"/>
                </a:solidFill>
              </a:rPr>
              <a:t>necessidade de mercado</a:t>
            </a:r>
            <a:r>
              <a:rPr lang="pt-BR" dirty="0" smtClean="0"/>
              <a:t> ou a uma </a:t>
            </a:r>
            <a:r>
              <a:rPr lang="pt-BR" dirty="0" smtClean="0">
                <a:solidFill>
                  <a:srgbClr val="FFFF00"/>
                </a:solidFill>
              </a:rPr>
              <a:t>nova ideia</a:t>
            </a:r>
            <a:r>
              <a:rPr lang="pt-BR" dirty="0" smtClean="0"/>
              <a:t> que pode ser expressa como um </a:t>
            </a:r>
            <a:r>
              <a:rPr lang="pt-BR" dirty="0" smtClean="0">
                <a:solidFill>
                  <a:srgbClr val="FFFF00"/>
                </a:solidFill>
              </a:rPr>
              <a:t>conjunto de requisitos de projeto</a:t>
            </a:r>
            <a:r>
              <a:rPr lang="pt-BR" dirty="0" smtClean="0"/>
              <a:t>. O </a:t>
            </a:r>
            <a:r>
              <a:rPr lang="pt-BR" dirty="0" smtClean="0">
                <a:solidFill>
                  <a:srgbClr val="FFFF00"/>
                </a:solidFill>
              </a:rPr>
              <a:t>ponto final</a:t>
            </a:r>
            <a:r>
              <a:rPr lang="pt-BR" dirty="0" smtClean="0"/>
              <a:t> deste é a especificação completa de um produto que </a:t>
            </a:r>
            <a:r>
              <a:rPr lang="pt-BR" dirty="0" smtClean="0">
                <a:solidFill>
                  <a:srgbClr val="FFFF00"/>
                </a:solidFill>
              </a:rPr>
              <a:t>atende a esta necessidade</a:t>
            </a:r>
            <a:r>
              <a:rPr lang="pt-BR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2" name="Grupo 1"/>
          <p:cNvGrpSpPr/>
          <p:nvPr/>
        </p:nvGrpSpPr>
        <p:grpSpPr>
          <a:xfrm>
            <a:off x="1600200" y="2133600"/>
            <a:ext cx="5953125" cy="4321171"/>
            <a:chOff x="1600200" y="2133600"/>
            <a:chExt cx="5953125" cy="4321171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2175" y="2139167"/>
              <a:ext cx="5911150" cy="4069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4" name="Group 13"/>
            <p:cNvGrpSpPr/>
            <p:nvPr/>
          </p:nvGrpSpPr>
          <p:grpSpPr>
            <a:xfrm>
              <a:off x="1600200" y="2133600"/>
              <a:ext cx="5943600" cy="4321171"/>
              <a:chOff x="1600200" y="2133600"/>
              <a:chExt cx="5943600" cy="4321171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600200" y="6208550"/>
                <a:ext cx="59436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 smtClean="0"/>
                  <a:t>Figura 2.1</a:t>
                </a:r>
                <a:endParaRPr lang="pt-BR" sz="1000" b="1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604075" y="2133600"/>
                <a:ext cx="29626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000" b="1" dirty="0" smtClean="0">
                    <a:solidFill>
                      <a:schemeClr val="bg1"/>
                    </a:solidFill>
                  </a:rPr>
                  <a:t>Fluxograma de Projeto</a:t>
                </a:r>
                <a:endParaRPr lang="pt-BR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029200" y="685800"/>
            <a:ext cx="3733800" cy="4860184"/>
          </a:xfrm>
        </p:spPr>
        <p:txBody>
          <a:bodyPr>
            <a:normAutofit lnSpcReduction="10000"/>
          </a:bodyPr>
          <a:lstStyle/>
          <a:p>
            <a:r>
              <a:rPr lang="pt-BR" sz="2800" dirty="0" smtClean="0"/>
              <a:t>O </a:t>
            </a:r>
            <a:r>
              <a:rPr lang="pt-BR" sz="2800" dirty="0" smtClean="0">
                <a:solidFill>
                  <a:srgbClr val="FFFF00"/>
                </a:solidFill>
              </a:rPr>
              <a:t>produto</a:t>
            </a:r>
            <a:r>
              <a:rPr lang="pt-BR" sz="2800" dirty="0" smtClean="0"/>
              <a:t> por si só é denominado de um </a:t>
            </a:r>
            <a:r>
              <a:rPr lang="pt-BR" sz="2800" dirty="0" smtClean="0">
                <a:solidFill>
                  <a:srgbClr val="FFFF00"/>
                </a:solidFill>
              </a:rPr>
              <a:t>sistema técnico</a:t>
            </a:r>
            <a:r>
              <a:rPr lang="pt-BR" sz="2800" dirty="0" smtClean="0"/>
              <a:t>, o qual consiste em </a:t>
            </a:r>
            <a:r>
              <a:rPr lang="pt-BR" sz="2800" dirty="0" smtClean="0">
                <a:solidFill>
                  <a:srgbClr val="FFFF00"/>
                </a:solidFill>
              </a:rPr>
              <a:t>subunidades</a:t>
            </a:r>
            <a:r>
              <a:rPr lang="pt-BR" sz="2800" dirty="0" smtClean="0"/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componentes</a:t>
            </a:r>
            <a:endParaRPr lang="en-US" sz="2800" dirty="0" smtClean="0">
              <a:solidFill>
                <a:srgbClr val="FFFF00"/>
              </a:solidFill>
            </a:endParaRPr>
          </a:p>
          <a:p>
            <a:endParaRPr lang="en-US" sz="2800" dirty="0"/>
          </a:p>
          <a:p>
            <a:r>
              <a:rPr lang="pt-BR" sz="2800" dirty="0" smtClean="0"/>
              <a:t>O </a:t>
            </a:r>
            <a:r>
              <a:rPr lang="pt-BR" sz="2800" dirty="0" smtClean="0">
                <a:solidFill>
                  <a:srgbClr val="FFFF00"/>
                </a:solidFill>
              </a:rPr>
              <a:t>Material</a:t>
            </a:r>
            <a:r>
              <a:rPr lang="pt-BR" sz="2800" dirty="0" smtClean="0"/>
              <a:t> e o </a:t>
            </a:r>
            <a:r>
              <a:rPr lang="pt-BR" sz="2800" dirty="0" smtClean="0">
                <a:solidFill>
                  <a:srgbClr val="FFFF00"/>
                </a:solidFill>
              </a:rPr>
              <a:t>processo de seleção</a:t>
            </a:r>
            <a:r>
              <a:rPr lang="pt-BR" sz="2800" dirty="0" smtClean="0"/>
              <a:t> encontra-se ao </a:t>
            </a:r>
            <a:r>
              <a:rPr lang="pt-BR" sz="2800" dirty="0" smtClean="0">
                <a:solidFill>
                  <a:srgbClr val="FFFF00"/>
                </a:solidFill>
              </a:rPr>
              <a:t>nível do componente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76" y="625594"/>
            <a:ext cx="5006324" cy="477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5425497"/>
            <a:ext cx="457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/>
              <a:t>Figura 2.2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13258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62000" y="0"/>
            <a:ext cx="7620000" cy="1082298"/>
          </a:xfrm>
        </p:spPr>
        <p:txBody>
          <a:bodyPr>
            <a:normAutofit/>
          </a:bodyPr>
          <a:lstStyle/>
          <a:p>
            <a:r>
              <a:rPr lang="pt-BR" sz="3600" dirty="0" smtClean="0"/>
              <a:t>Estrutura de Função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4668562"/>
            <a:ext cx="7315200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A abordagem de sistemas para a análise de um </a:t>
            </a:r>
            <a:r>
              <a:rPr lang="pt-BR" dirty="0" smtClean="0">
                <a:solidFill>
                  <a:srgbClr val="FFFF00"/>
                </a:solidFill>
              </a:rPr>
              <a:t>sistema técnico</a:t>
            </a:r>
            <a:r>
              <a:rPr lang="pt-BR" dirty="0" smtClean="0"/>
              <a:t>, considera as </a:t>
            </a:r>
            <a:r>
              <a:rPr lang="pt-BR" dirty="0" smtClean="0">
                <a:solidFill>
                  <a:srgbClr val="FFFF00"/>
                </a:solidFill>
              </a:rPr>
              <a:t>entradas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fluxos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saídas</a:t>
            </a:r>
            <a:r>
              <a:rPr lang="pt-BR" dirty="0" smtClean="0"/>
              <a:t> de informação, </a:t>
            </a:r>
            <a:r>
              <a:rPr lang="pt-BR" dirty="0" smtClean="0">
                <a:solidFill>
                  <a:srgbClr val="FFFF00"/>
                </a:solidFill>
              </a:rPr>
              <a:t>energia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materiais</a:t>
            </a:r>
            <a:r>
              <a:rPr lang="pt-BR" dirty="0" smtClean="0"/>
              <a:t>. 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1600200" y="1028821"/>
            <a:ext cx="6115657" cy="3482825"/>
            <a:chOff x="1600200" y="1028821"/>
            <a:chExt cx="6115657" cy="34828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028821"/>
              <a:ext cx="6115657" cy="32366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600201" y="4265425"/>
              <a:ext cx="6115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2.3</a:t>
              </a:r>
              <a:endParaRPr lang="pt-BR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2612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76200"/>
            <a:ext cx="7772400" cy="1470025"/>
          </a:xfrm>
        </p:spPr>
        <p:txBody>
          <a:bodyPr/>
          <a:lstStyle/>
          <a:p>
            <a:r>
              <a:rPr lang="pt-BR" dirty="0" smtClean="0"/>
              <a:t>O Caminho Convoluto do Projeto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810000" y="1676400"/>
            <a:ext cx="5158353" cy="37338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3000" dirty="0" err="1" smtClean="0"/>
              <a:t>C’s</a:t>
            </a:r>
            <a:r>
              <a:rPr lang="pt-BR" sz="3000" dirty="0" smtClean="0"/>
              <a:t>: </a:t>
            </a:r>
            <a:r>
              <a:rPr lang="pt-BR" sz="3000" dirty="0" smtClean="0">
                <a:solidFill>
                  <a:srgbClr val="FFFF00"/>
                </a:solidFill>
              </a:rPr>
              <a:t>Conceitos</a:t>
            </a:r>
          </a:p>
          <a:p>
            <a:pPr algn="l"/>
            <a:r>
              <a:rPr lang="pt-BR" sz="3000" dirty="0" err="1" smtClean="0"/>
              <a:t>E’s</a:t>
            </a:r>
            <a:r>
              <a:rPr lang="pt-BR" sz="3000" dirty="0" smtClean="0"/>
              <a:t>: </a:t>
            </a:r>
            <a:r>
              <a:rPr lang="pt-BR" sz="3000" dirty="0" smtClean="0">
                <a:solidFill>
                  <a:srgbClr val="FFFF00"/>
                </a:solidFill>
              </a:rPr>
              <a:t>Corporificação dos </a:t>
            </a:r>
            <a:r>
              <a:rPr lang="pt-BR" sz="3000" dirty="0" err="1" smtClean="0">
                <a:solidFill>
                  <a:srgbClr val="FFFF00"/>
                </a:solidFill>
              </a:rPr>
              <a:t>C’s</a:t>
            </a:r>
            <a:endParaRPr lang="pt-BR" sz="3000" dirty="0" smtClean="0">
              <a:solidFill>
                <a:srgbClr val="FFFF00"/>
              </a:solidFill>
            </a:endParaRPr>
          </a:p>
          <a:p>
            <a:pPr algn="l"/>
            <a:r>
              <a:rPr lang="pt-BR" sz="3000" dirty="0" smtClean="0"/>
              <a:t>D’s: </a:t>
            </a:r>
            <a:r>
              <a:rPr lang="pt-BR" sz="3000" dirty="0" smtClean="0">
                <a:solidFill>
                  <a:srgbClr val="FFFF00"/>
                </a:solidFill>
              </a:rPr>
              <a:t>Elaborações Detalhadas dos </a:t>
            </a:r>
            <a:r>
              <a:rPr lang="pt-BR" sz="3000" dirty="0" err="1" smtClean="0">
                <a:solidFill>
                  <a:srgbClr val="FFFF00"/>
                </a:solidFill>
              </a:rPr>
              <a:t>E’s</a:t>
            </a:r>
            <a:endParaRPr lang="pt-BR" sz="3000" dirty="0" smtClean="0">
              <a:solidFill>
                <a:srgbClr val="FFFF00"/>
              </a:solidFill>
            </a:endParaRPr>
          </a:p>
          <a:p>
            <a:pPr algn="l"/>
            <a:endParaRPr lang="pt-BR" dirty="0" smtClean="0"/>
          </a:p>
          <a:p>
            <a:pPr algn="l"/>
            <a:r>
              <a:rPr lang="pt-BR" dirty="0" smtClean="0"/>
              <a:t>O processo de projeto completa-se quando um </a:t>
            </a:r>
            <a:r>
              <a:rPr lang="pt-BR" dirty="0" smtClean="0">
                <a:solidFill>
                  <a:srgbClr val="FFFF00"/>
                </a:solidFill>
              </a:rPr>
              <a:t>caminho compatível</a:t>
            </a:r>
            <a:r>
              <a:rPr lang="pt-BR" dirty="0" smtClean="0"/>
              <a:t> com aquele da </a:t>
            </a:r>
            <a:r>
              <a:rPr lang="pt-BR" dirty="0" smtClean="0">
                <a:solidFill>
                  <a:srgbClr val="FFFF00"/>
                </a:solidFill>
              </a:rPr>
              <a:t>necessidade de especificação</a:t>
            </a:r>
            <a:r>
              <a:rPr lang="pt-BR" dirty="0" smtClean="0"/>
              <a:t> pode ser </a:t>
            </a:r>
            <a:r>
              <a:rPr lang="pt-BR" dirty="0" smtClean="0">
                <a:solidFill>
                  <a:srgbClr val="FFFF00"/>
                </a:solidFill>
              </a:rPr>
              <a:t>identificado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138194" y="1356609"/>
            <a:ext cx="3438525" cy="5206233"/>
            <a:chOff x="138194" y="1356609"/>
            <a:chExt cx="3438525" cy="5206233"/>
          </a:xfrm>
        </p:grpSpPr>
        <p:sp>
          <p:nvSpPr>
            <p:cNvPr id="4" name="TextBox 3"/>
            <p:cNvSpPr txBox="1"/>
            <p:nvPr/>
          </p:nvSpPr>
          <p:spPr>
            <a:xfrm>
              <a:off x="138194" y="6316621"/>
              <a:ext cx="3429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2.4</a:t>
              </a:r>
              <a:endParaRPr lang="pt-BR" sz="1000" b="1" dirty="0"/>
            </a:p>
          </p:txBody>
        </p:sp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94" y="1356609"/>
              <a:ext cx="3438525" cy="4960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9514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800100" y="0"/>
            <a:ext cx="7543800" cy="1219200"/>
          </a:xfrm>
        </p:spPr>
        <p:txBody>
          <a:bodyPr/>
          <a:lstStyle/>
          <a:p>
            <a:r>
              <a:rPr lang="pt-BR" dirty="0" smtClean="0"/>
              <a:t>Fluxograma de Projeto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6" name="Grupo 5"/>
          <p:cNvGrpSpPr/>
          <p:nvPr/>
        </p:nvGrpSpPr>
        <p:grpSpPr>
          <a:xfrm>
            <a:off x="1523999" y="1208314"/>
            <a:ext cx="6412417" cy="5029200"/>
            <a:chOff x="1523999" y="1208314"/>
            <a:chExt cx="6412417" cy="502920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3999" y="1208314"/>
              <a:ext cx="6412417" cy="4776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524000" y="5984513"/>
              <a:ext cx="6412416" cy="253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2.5</a:t>
              </a:r>
              <a:endParaRPr lang="pt-BR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1077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335" y="318613"/>
            <a:ext cx="4462236" cy="3762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28700" y="4572000"/>
            <a:ext cx="7086600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O problema central de </a:t>
            </a:r>
            <a:r>
              <a:rPr lang="pt-BR" dirty="0" smtClean="0">
                <a:solidFill>
                  <a:srgbClr val="FFFF00"/>
                </a:solidFill>
              </a:rPr>
              <a:t>seleção de materiais</a:t>
            </a:r>
            <a:r>
              <a:rPr lang="pt-BR" dirty="0" smtClean="0"/>
              <a:t> em </a:t>
            </a:r>
            <a:r>
              <a:rPr lang="pt-BR" dirty="0" smtClean="0">
                <a:solidFill>
                  <a:srgbClr val="FFFF00"/>
                </a:solidFill>
              </a:rPr>
              <a:t>projeto mecânico</a:t>
            </a:r>
            <a:r>
              <a:rPr lang="pt-BR" dirty="0" smtClean="0"/>
              <a:t>: A interação entre </a:t>
            </a:r>
            <a:r>
              <a:rPr lang="pt-BR" dirty="0" smtClean="0">
                <a:solidFill>
                  <a:srgbClr val="FFFF00"/>
                </a:solidFill>
              </a:rPr>
              <a:t>função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material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processo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forma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343335" y="4081040"/>
            <a:ext cx="4457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/>
              <a:t>Figura 2.6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13487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1470025"/>
          </a:xfrm>
        </p:spPr>
        <p:txBody>
          <a:bodyPr>
            <a:normAutofit/>
          </a:bodyPr>
          <a:lstStyle/>
          <a:p>
            <a:r>
              <a:rPr lang="pt-BR" sz="3600" dirty="0" smtClean="0"/>
              <a:t>Estudo de Caso: Dispositivo para abrir Rolhas de Cortiça</a:t>
            </a:r>
            <a:endParaRPr lang="pt-BR" sz="36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3579661" cy="1752600"/>
          </a:xfrm>
        </p:spPr>
        <p:txBody>
          <a:bodyPr>
            <a:normAutofit fontScale="62500" lnSpcReduction="20000"/>
          </a:bodyPr>
          <a:lstStyle/>
          <a:p>
            <a:r>
              <a:rPr lang="pt-BR" u="sng" dirty="0" smtClean="0"/>
              <a:t>Esquerda</a:t>
            </a:r>
          </a:p>
          <a:p>
            <a:r>
              <a:rPr lang="pt-BR" dirty="0" smtClean="0"/>
              <a:t>O </a:t>
            </a:r>
            <a:r>
              <a:rPr lang="pt-BR" dirty="0" smtClean="0">
                <a:solidFill>
                  <a:srgbClr val="FFFF00"/>
                </a:solidFill>
              </a:rPr>
              <a:t>mercado necessita</a:t>
            </a:r>
            <a:r>
              <a:rPr lang="pt-BR" dirty="0" smtClean="0"/>
              <a:t>, um dispositivo para permitir </a:t>
            </a:r>
            <a:r>
              <a:rPr lang="pt-BR" dirty="0" smtClean="0">
                <a:solidFill>
                  <a:srgbClr val="FFFF00"/>
                </a:solidFill>
              </a:rPr>
              <a:t>acesso ao vinho contido em garrafas </a:t>
            </a:r>
            <a:r>
              <a:rPr lang="pt-BR" dirty="0" smtClean="0"/>
              <a:t>com rolhas de cortiça.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68122" y="4467225"/>
            <a:ext cx="6407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Figure 2.7</a:t>
            </a:r>
            <a:endParaRPr lang="en-US" sz="10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1968576" y="3505200"/>
            <a:ext cx="5206849" cy="3078335"/>
            <a:chOff x="1346351" y="1719943"/>
            <a:chExt cx="6407758" cy="3966079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351" y="1719943"/>
              <a:ext cx="6407758" cy="3629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140502" y="5348968"/>
              <a:ext cx="1008454" cy="33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 smtClean="0"/>
                <a:t>Figura 2.7</a:t>
              </a:r>
              <a:endParaRPr lang="pt-BR" sz="1100" dirty="0"/>
            </a:p>
          </p:txBody>
        </p:sp>
      </p:grpSp>
      <p:sp>
        <p:nvSpPr>
          <p:cNvPr id="11" name="Subtitle 8"/>
          <p:cNvSpPr txBox="1">
            <a:spLocks/>
          </p:cNvSpPr>
          <p:nvPr/>
        </p:nvSpPr>
        <p:spPr>
          <a:xfrm>
            <a:off x="5050971" y="1545771"/>
            <a:ext cx="3579661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u="sng" dirty="0" smtClean="0"/>
              <a:t>Direita</a:t>
            </a:r>
          </a:p>
          <a:p>
            <a:r>
              <a:rPr lang="pt-BR" sz="2000" dirty="0" smtClean="0">
                <a:solidFill>
                  <a:srgbClr val="FFFF00"/>
                </a:solidFill>
              </a:rPr>
              <a:t>Cinco conceitos possíveis</a:t>
            </a:r>
            <a:r>
              <a:rPr lang="pt-BR" sz="2000" dirty="0" smtClean="0"/>
              <a:t>, ilustrando os </a:t>
            </a:r>
            <a:r>
              <a:rPr lang="pt-BR" sz="2000" dirty="0" smtClean="0">
                <a:solidFill>
                  <a:srgbClr val="FFFF00"/>
                </a:solidFill>
              </a:rPr>
              <a:t>princípios físicos </a:t>
            </a:r>
            <a:r>
              <a:rPr lang="pt-BR" sz="2000" dirty="0" smtClean="0"/>
              <a:t>para </a:t>
            </a:r>
            <a:r>
              <a:rPr lang="pt-BR" sz="2000" dirty="0" smtClean="0">
                <a:solidFill>
                  <a:srgbClr val="FFFF00"/>
                </a:solidFill>
              </a:rPr>
              <a:t>atender a necessidade</a:t>
            </a:r>
            <a:endParaRPr lang="pt-B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9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2286" y="76200"/>
            <a:ext cx="8510714" cy="1766572"/>
          </a:xfrm>
        </p:spPr>
        <p:txBody>
          <a:bodyPr>
            <a:noAutofit/>
          </a:bodyPr>
          <a:lstStyle/>
          <a:p>
            <a:r>
              <a:rPr lang="pt-BR" sz="4000" dirty="0" smtClean="0"/>
              <a:t>Princípios de Funcionamento para implementar </a:t>
            </a:r>
            <a:r>
              <a:rPr lang="pt-BR" sz="4000" dirty="0" smtClean="0">
                <a:solidFill>
                  <a:srgbClr val="FFFF00"/>
                </a:solidFill>
              </a:rPr>
              <a:t>três Conceitos de Projeto</a:t>
            </a:r>
            <a:endParaRPr lang="pt-BR" sz="4000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227310" y="3886200"/>
            <a:ext cx="4395788" cy="2585897"/>
            <a:chOff x="660572" y="304800"/>
            <a:chExt cx="4440066" cy="2831873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304800"/>
              <a:ext cx="4414838" cy="2562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660572" y="2867031"/>
              <a:ext cx="4414838" cy="269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2.8</a:t>
              </a:r>
              <a:endParaRPr lang="pt-BR" sz="1000" b="1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10" y="1981200"/>
            <a:ext cx="4377347" cy="1758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1981200"/>
            <a:ext cx="3691023" cy="4244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710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Dispositivo para abrir Garrafas com Rolhas de Cortiça</a:t>
            </a:r>
            <a:endParaRPr lang="pt-BR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533400" y="1665514"/>
            <a:ext cx="7848600" cy="1752600"/>
          </a:xfrm>
        </p:spPr>
        <p:txBody>
          <a:bodyPr>
            <a:normAutofit lnSpcReduction="10000"/>
          </a:bodyPr>
          <a:lstStyle/>
          <a:p>
            <a:r>
              <a:rPr lang="pt-BR" sz="2800" dirty="0" smtClean="0"/>
              <a:t>A </a:t>
            </a:r>
            <a:r>
              <a:rPr lang="pt-BR" sz="2800" dirty="0" smtClean="0">
                <a:solidFill>
                  <a:srgbClr val="FFFF00"/>
                </a:solidFill>
              </a:rPr>
              <a:t>corporificação</a:t>
            </a:r>
            <a:r>
              <a:rPr lang="pt-BR" sz="2800" dirty="0" smtClean="0"/>
              <a:t> identifica os </a:t>
            </a:r>
            <a:r>
              <a:rPr lang="pt-BR" sz="2800" dirty="0" smtClean="0">
                <a:solidFill>
                  <a:srgbClr val="FFFF00"/>
                </a:solidFill>
              </a:rPr>
              <a:t>requisitos funcionais</a:t>
            </a:r>
            <a:r>
              <a:rPr lang="pt-BR" sz="2800" dirty="0" smtClean="0"/>
              <a:t> de cada componente do dispositivo, os quais devem ser expressos na </a:t>
            </a:r>
            <a:r>
              <a:rPr lang="pt-BR" sz="2800" dirty="0" smtClean="0">
                <a:solidFill>
                  <a:srgbClr val="FFFF00"/>
                </a:solidFill>
              </a:rPr>
              <a:t>forma de enunciados</a:t>
            </a:r>
            <a:r>
              <a:rPr lang="pt-BR" sz="2800" dirty="0" smtClean="0"/>
              <a:t>, tais como</a:t>
            </a:r>
            <a:endParaRPr lang="pt-BR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636814" y="3581400"/>
            <a:ext cx="7848600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C000"/>
              </a:buClr>
              <a:buSzPct val="14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Um parafuso barato para transmitir um carregamento prescrito a rolha;</a:t>
            </a:r>
          </a:p>
          <a:p>
            <a:pPr marL="285750" indent="-285750">
              <a:buClr>
                <a:srgbClr val="FFC000"/>
              </a:buClr>
              <a:buSzPct val="14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Uma alavanca leve (isto é, um viga) para suportar um momento fletor prescrito;</a:t>
            </a:r>
          </a:p>
          <a:p>
            <a:pPr marL="285750" indent="-285750">
              <a:buClr>
                <a:srgbClr val="FFC000"/>
              </a:buClr>
              <a:buSzPct val="14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Uma lâmina elástica delgada que não se encurva quando conduzida entre a rolha e o pescoço da garrafa;</a:t>
            </a:r>
          </a:p>
          <a:p>
            <a:pPr marL="285750" indent="-285750">
              <a:buClr>
                <a:srgbClr val="FFC000"/>
              </a:buClr>
              <a:buSzPct val="14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Uma agulha fina, vazada, rígida e forte suficiente para penetrar a rolha;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9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52400" y="228600"/>
            <a:ext cx="4419600" cy="2286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pt-BR" sz="2400" u="sng" dirty="0" smtClean="0"/>
              <a:t>Corporificações</a:t>
            </a:r>
          </a:p>
          <a:p>
            <a:pPr marL="514350" indent="-514350" algn="l">
              <a:buAutoNum type="alphaLcParenR"/>
            </a:pPr>
            <a:r>
              <a:rPr lang="pt-BR" sz="2400" dirty="0" smtClean="0">
                <a:solidFill>
                  <a:srgbClr val="FFFF00"/>
                </a:solidFill>
              </a:rPr>
              <a:t>Tração Direta</a:t>
            </a:r>
            <a:r>
              <a:rPr lang="pt-BR" sz="2400" dirty="0" smtClean="0"/>
              <a:t>;</a:t>
            </a:r>
          </a:p>
          <a:p>
            <a:pPr algn="l"/>
            <a:r>
              <a:rPr lang="pt-BR" sz="2400" dirty="0" smtClean="0">
                <a:solidFill>
                  <a:srgbClr val="FFFF00"/>
                </a:solidFill>
              </a:rPr>
              <a:t>b)   Tração com alavanca;</a:t>
            </a:r>
          </a:p>
          <a:p>
            <a:pPr algn="l"/>
            <a:r>
              <a:rPr lang="pt-BR" sz="2400" dirty="0" smtClean="0">
                <a:solidFill>
                  <a:srgbClr val="FFFF00"/>
                </a:solidFill>
              </a:rPr>
              <a:t>c)   Tração </a:t>
            </a:r>
            <a:r>
              <a:rPr lang="pt-BR" sz="2400" dirty="0" smtClean="0">
                <a:solidFill>
                  <a:srgbClr val="FFFF00"/>
                </a:solidFill>
              </a:rPr>
              <a:t>com engrenagens</a:t>
            </a:r>
            <a:r>
              <a:rPr lang="pt-BR" sz="2400" dirty="0" smtClean="0"/>
              <a:t>;</a:t>
            </a:r>
          </a:p>
          <a:p>
            <a:pPr marL="514350" indent="-514350" algn="l">
              <a:buAutoNum type="alphaLcParenR" startAt="2"/>
            </a:pPr>
            <a:r>
              <a:rPr lang="pt-BR" sz="2400" dirty="0" smtClean="0">
                <a:solidFill>
                  <a:srgbClr val="FFFF00"/>
                </a:solidFill>
              </a:rPr>
              <a:t>Tração auxiliada por mola</a:t>
            </a:r>
            <a:r>
              <a:rPr lang="pt-BR" sz="2400" dirty="0" smtClean="0"/>
              <a:t>.</a:t>
            </a:r>
            <a:endParaRPr lang="pt-BR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325880" y="2757750"/>
            <a:ext cx="6695135" cy="3827703"/>
            <a:chOff x="1325880" y="2757750"/>
            <a:chExt cx="6695135" cy="3827703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880" y="2757750"/>
              <a:ext cx="6695135" cy="3566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344929" y="6339232"/>
              <a:ext cx="66760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2.9</a:t>
              </a:r>
              <a:endParaRPr lang="pt-BR" sz="1000" b="1" dirty="0"/>
            </a:p>
          </p:txBody>
        </p:sp>
      </p:grpSp>
      <p:sp>
        <p:nvSpPr>
          <p:cNvPr id="8" name="Subtitle 5"/>
          <p:cNvSpPr txBox="1">
            <a:spLocks/>
          </p:cNvSpPr>
          <p:nvPr/>
        </p:nvSpPr>
        <p:spPr>
          <a:xfrm>
            <a:off x="4876800" y="609600"/>
            <a:ext cx="4038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pt-BR" sz="2400" dirty="0" smtClean="0"/>
              <a:t>Projeto detalhado da alavanca de corporificação com escolha de material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493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52498" y="4913265"/>
            <a:ext cx="7239001" cy="1408614"/>
          </a:xfrm>
        </p:spPr>
        <p:txBody>
          <a:bodyPr>
            <a:noAutofit/>
          </a:bodyPr>
          <a:lstStyle/>
          <a:p>
            <a:r>
              <a:rPr lang="pt-BR" dirty="0" smtClean="0"/>
              <a:t>A </a:t>
            </a:r>
            <a:r>
              <a:rPr lang="pt-BR" dirty="0" smtClean="0">
                <a:solidFill>
                  <a:srgbClr val="FFFF00"/>
                </a:solidFill>
              </a:rPr>
              <a:t>função estrutural</a:t>
            </a:r>
            <a:r>
              <a:rPr lang="pt-BR" dirty="0" smtClean="0"/>
              <a:t> e os </a:t>
            </a:r>
            <a:r>
              <a:rPr lang="pt-BR" dirty="0" smtClean="0">
                <a:solidFill>
                  <a:srgbClr val="FFFF00"/>
                </a:solidFill>
              </a:rPr>
              <a:t>princípios de funcionamento</a:t>
            </a:r>
            <a:r>
              <a:rPr lang="pt-BR" dirty="0" smtClean="0"/>
              <a:t> dos </a:t>
            </a:r>
            <a:r>
              <a:rPr lang="pt-BR" dirty="0" smtClean="0">
                <a:solidFill>
                  <a:srgbClr val="FFFF00"/>
                </a:solidFill>
              </a:rPr>
              <a:t>removedores de rolha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795462" y="226802"/>
            <a:ext cx="5553075" cy="4667413"/>
            <a:chOff x="1795462" y="226802"/>
            <a:chExt cx="5553075" cy="4667413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4987" y="226802"/>
              <a:ext cx="5543550" cy="4421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795462" y="4647994"/>
              <a:ext cx="55530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/>
                <a:t>Figura 2.10</a:t>
              </a:r>
              <a:endParaRPr lang="pt-BR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950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Words>648</Words>
  <Application>Microsoft Office PowerPoint</Application>
  <PresentationFormat>Apresentação na tela (4:3)</PresentationFormat>
  <Paragraphs>86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MaterialsSelection</vt:lpstr>
      <vt:lpstr>Capítulo 2 O Processo de Projeto</vt:lpstr>
      <vt:lpstr> Abordagem Guiada pelo Projeto</vt:lpstr>
      <vt:lpstr>Apresentação do PowerPoint</vt:lpstr>
      <vt:lpstr>Apresentação do PowerPoint</vt:lpstr>
      <vt:lpstr>Estrutura de Função</vt:lpstr>
      <vt:lpstr>O Caminho Convoluto do Projeto</vt:lpstr>
      <vt:lpstr>Fluxograma de Projeto</vt:lpstr>
      <vt:lpstr>Apresentação do PowerPoint</vt:lpstr>
      <vt:lpstr>Estudo de Caso: Dispositivo para abrir Rolhas de Cortiça</vt:lpstr>
      <vt:lpstr>Apresentação do PowerPoint</vt:lpstr>
      <vt:lpstr>Dispositivo para abrir Garrafas com Rolhas de Cortiça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ileao</cp:lastModifiedBy>
  <cp:revision>48</cp:revision>
  <dcterms:created xsi:type="dcterms:W3CDTF">2010-09-03T02:00:13Z</dcterms:created>
  <dcterms:modified xsi:type="dcterms:W3CDTF">2016-01-11T22:51:36Z</dcterms:modified>
</cp:coreProperties>
</file>