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74" r:id="rId3"/>
    <p:sldId id="257" r:id="rId4"/>
    <p:sldId id="275" r:id="rId5"/>
    <p:sldId id="258" r:id="rId6"/>
    <p:sldId id="276" r:id="rId7"/>
    <p:sldId id="259" r:id="rId8"/>
    <p:sldId id="260" r:id="rId9"/>
    <p:sldId id="261" r:id="rId10"/>
    <p:sldId id="277" r:id="rId11"/>
    <p:sldId id="262" r:id="rId12"/>
    <p:sldId id="264" r:id="rId13"/>
    <p:sldId id="278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/>
    <p:restoredTop sz="93393"/>
  </p:normalViewPr>
  <p:slideViewPr>
    <p:cSldViewPr>
      <p:cViewPr varScale="1">
        <p:scale>
          <a:sx n="107" d="100"/>
          <a:sy n="107" d="100"/>
        </p:scale>
        <p:origin x="1944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3741E-2754-4470-B6A8-885ABCDA37E5}" type="datetimeFigureOut">
              <a:rPr lang="en-US" smtClean="0"/>
              <a:t>10/11/18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F259B-8D59-4545-ADDE-C43F261CB8AA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42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F259B-8D59-4545-ADDE-C43F261CB8A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57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21A75-4AB7-4E19-A786-7FBD9D9D750E}" type="datetime1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7B8A4-8A49-4F91-A8A7-FF509895B2C1}" type="datetime1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C7647-0BD1-45E9-9F81-0FA27BC327E8}" type="datetime1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25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6E64-9DC6-4162-A7C4-997ED7B5B63C}" type="datetime1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76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04FB1-E926-4676-B741-531CB8CEB7E3}" type="datetime1">
              <a:rPr lang="en-US" smtClean="0"/>
              <a:t>10/11/18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94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C1FD1-3FB5-4DB0-84A0-D964A01291AA}" type="datetime1">
              <a:rPr lang="en-US" smtClean="0"/>
              <a:t>10/11/18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3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E4BFF-31E3-4AA9-9282-29F21EA71C2D}" type="datetime1">
              <a:rPr lang="en-US" smtClean="0"/>
              <a:t>10/11/18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7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DBF1E-5F42-4E48-898E-06E1ECAD76F6}" type="datetime1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95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C3182-CA5B-4E9B-8DC0-1B08897E76DE}" type="datetime1">
              <a:rPr lang="en-US" smtClean="0"/>
              <a:t>10/11/18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8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511DF-1268-499D-A13F-21EFB7F9407B}" type="datetime1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6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FA080-8F3F-478A-979A-8D420F0D6ED5}" type="datetime1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09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44561-41F2-4C31-B19D-1D01512B6AC5}" type="datetime1">
              <a:rPr lang="en-US" smtClean="0"/>
              <a:t>10/11/18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53200"/>
            <a:ext cx="9144000" cy="2740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Materials Selection in Mechanical Design, 4th Edition, © 2010 Michael Ashby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AB3F7-43BF-4C6B-9CF4-E5AA57EDF464}" type="slidenum">
              <a:rPr lang="en-US" smtClean="0"/>
              <a:t>‹n.º›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315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1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3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52400" y="609600"/>
            <a:ext cx="4800600" cy="2133600"/>
          </a:xfrm>
        </p:spPr>
        <p:txBody>
          <a:bodyPr>
            <a:normAutofit fontScale="90000"/>
          </a:bodyPr>
          <a:lstStyle/>
          <a:p>
            <a:r>
              <a:rPr lang="pt-BR" sz="4400" dirty="0" smtClean="0"/>
              <a:t>Capítulo 7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b="0" dirty="0" smtClean="0">
                <a:solidFill>
                  <a:schemeClr val="tx1"/>
                </a:solidFill>
              </a:rPr>
              <a:t>Múltiplas Restrições e Objetivos Conflitantes</a:t>
            </a: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140" y="3422073"/>
            <a:ext cx="6361720" cy="26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57200"/>
            <a:ext cx="3803325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025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Restrições Múltiplas e Objetivos Conflitantes</a:t>
            </a:r>
            <a:endParaRPr lang="pt-BR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609600" y="2133600"/>
            <a:ext cx="8001000" cy="3124200"/>
          </a:xfrm>
        </p:spPr>
        <p:txBody>
          <a:bodyPr>
            <a:noAutofit/>
          </a:bodyPr>
          <a:lstStyle/>
          <a:p>
            <a:pPr algn="just"/>
            <a:r>
              <a:rPr lang="pt-BR" dirty="0" smtClean="0"/>
              <a:t>A seleção de um material ou processo deve satisfazer, frequentemente, a </a:t>
            </a:r>
            <a:r>
              <a:rPr lang="pt-BR" dirty="0" smtClean="0">
                <a:solidFill>
                  <a:srgbClr val="FFFF00"/>
                </a:solidFill>
              </a:rPr>
              <a:t>restrições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FF00"/>
                </a:solidFill>
              </a:rPr>
              <a:t>conflitantes</a:t>
            </a:r>
            <a:r>
              <a:rPr lang="pt-BR" dirty="0" smtClean="0"/>
              <a:t>;</a:t>
            </a:r>
          </a:p>
          <a:p>
            <a:pPr algn="just"/>
            <a:r>
              <a:rPr lang="pt-BR" dirty="0" smtClean="0"/>
              <a:t>Uma </a:t>
            </a:r>
            <a:r>
              <a:rPr lang="pt-BR" dirty="0" smtClean="0">
                <a:solidFill>
                  <a:srgbClr val="FFFF00"/>
                </a:solidFill>
              </a:rPr>
              <a:t>segunda classe</a:t>
            </a:r>
            <a:r>
              <a:rPr lang="pt-BR" dirty="0" smtClean="0"/>
              <a:t> de problemas envolve mais de um objetivo, e neste caso, o conflito é </a:t>
            </a:r>
            <a:r>
              <a:rPr lang="pt-BR" dirty="0" smtClean="0">
                <a:solidFill>
                  <a:srgbClr val="FFFF00"/>
                </a:solidFill>
              </a:rPr>
              <a:t>mais severo</a:t>
            </a:r>
            <a:r>
              <a:rPr lang="pt-BR" dirty="0" smtClean="0"/>
              <a:t>.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6524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7315200" cy="1600200"/>
          </a:xfrm>
        </p:spPr>
        <p:txBody>
          <a:bodyPr>
            <a:normAutofit/>
          </a:bodyPr>
          <a:lstStyle/>
          <a:p>
            <a:r>
              <a:rPr lang="pt-BR" dirty="0" smtClean="0">
                <a:solidFill>
                  <a:srgbClr val="FFFF00"/>
                </a:solidFill>
              </a:rPr>
              <a:t>Estratégias</a:t>
            </a:r>
            <a:r>
              <a:rPr lang="pt-BR" dirty="0" smtClean="0"/>
              <a:t> para lidar com seleção com </a:t>
            </a:r>
            <a:r>
              <a:rPr lang="pt-BR" dirty="0" smtClean="0">
                <a:solidFill>
                  <a:srgbClr val="FFFF00"/>
                </a:solidFill>
              </a:rPr>
              <a:t>múltiplas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FFFF00"/>
                </a:solidFill>
              </a:rPr>
              <a:t>restrições</a:t>
            </a:r>
            <a:r>
              <a:rPr lang="pt-BR" dirty="0" smtClean="0"/>
              <a:t> e </a:t>
            </a:r>
            <a:r>
              <a:rPr lang="pt-BR" dirty="0" smtClean="0">
                <a:solidFill>
                  <a:srgbClr val="FFFF00"/>
                </a:solidFill>
              </a:rPr>
              <a:t>objetivos conflitantes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2" name="Grupo 1"/>
          <p:cNvGrpSpPr/>
          <p:nvPr/>
        </p:nvGrpSpPr>
        <p:grpSpPr>
          <a:xfrm>
            <a:off x="973455" y="1988710"/>
            <a:ext cx="7197090" cy="4424962"/>
            <a:chOff x="973455" y="1988710"/>
            <a:chExt cx="7197090" cy="4424962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3455" y="1988710"/>
              <a:ext cx="7197090" cy="41834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4134219" y="6136673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7.1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1399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571500" y="-76200"/>
            <a:ext cx="8001000" cy="1470025"/>
          </a:xfrm>
        </p:spPr>
        <p:txBody>
          <a:bodyPr>
            <a:normAutofit/>
          </a:bodyPr>
          <a:lstStyle/>
          <a:p>
            <a:r>
              <a:rPr lang="pt-BR" sz="3600" dirty="0" smtClean="0"/>
              <a:t>Seleção com Múltiplas Restrições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85800" y="1295400"/>
            <a:ext cx="7772400" cy="29718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4100" dirty="0" smtClean="0"/>
              <a:t>Quase </a:t>
            </a:r>
            <a:r>
              <a:rPr lang="pt-BR" sz="4100" dirty="0" smtClean="0">
                <a:solidFill>
                  <a:srgbClr val="FFFF00"/>
                </a:solidFill>
              </a:rPr>
              <a:t>todos os problemas de seleção </a:t>
            </a:r>
            <a:r>
              <a:rPr lang="pt-BR" sz="4100" dirty="0" smtClean="0"/>
              <a:t>de materiais são </a:t>
            </a:r>
            <a:r>
              <a:rPr lang="pt-BR" sz="4100" dirty="0" smtClean="0">
                <a:solidFill>
                  <a:srgbClr val="FFFF00"/>
                </a:solidFill>
              </a:rPr>
              <a:t>superrestritos</a:t>
            </a:r>
            <a:r>
              <a:rPr lang="pt-BR" sz="4100" dirty="0" smtClean="0"/>
              <a:t>, significando que existem </a:t>
            </a:r>
            <a:r>
              <a:rPr lang="pt-BR" sz="4100" dirty="0" smtClean="0">
                <a:solidFill>
                  <a:srgbClr val="FFFF00"/>
                </a:solidFill>
              </a:rPr>
              <a:t>mais restrições que variáveis livres</a:t>
            </a:r>
            <a:r>
              <a:rPr lang="pt-BR" sz="4100" dirty="0" smtClean="0"/>
              <a:t>;</a:t>
            </a:r>
            <a:endParaRPr lang="en-US" sz="4100" dirty="0" smtClean="0"/>
          </a:p>
          <a:p>
            <a:pPr algn="l"/>
            <a:endParaRPr lang="en-US" sz="3600" dirty="0"/>
          </a:p>
          <a:p>
            <a:pPr algn="l"/>
            <a:r>
              <a:rPr lang="pt-BR" sz="4100" dirty="0" smtClean="0"/>
              <a:t>Seleção envolve a </a:t>
            </a:r>
            <a:r>
              <a:rPr lang="pt-BR" sz="4100" dirty="0" smtClean="0">
                <a:solidFill>
                  <a:srgbClr val="FFFF00"/>
                </a:solidFill>
              </a:rPr>
              <a:t>identificação da restrição</a:t>
            </a:r>
            <a:r>
              <a:rPr lang="pt-BR" sz="4100" dirty="0" smtClean="0"/>
              <a:t> e do </a:t>
            </a:r>
            <a:r>
              <a:rPr lang="pt-BR" sz="4100" dirty="0" smtClean="0">
                <a:solidFill>
                  <a:srgbClr val="FFFF00"/>
                </a:solidFill>
              </a:rPr>
              <a:t>objetivo</a:t>
            </a:r>
            <a:r>
              <a:rPr lang="pt-BR" sz="4100" dirty="0" smtClean="0"/>
              <a:t> e a aplicação dos seguintes passos;</a:t>
            </a:r>
            <a:endParaRPr lang="en-US" sz="4100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2" name="CaixaDeTexto 1"/>
          <p:cNvSpPr txBox="1"/>
          <p:nvPr/>
        </p:nvSpPr>
        <p:spPr>
          <a:xfrm>
            <a:off x="737050" y="4267200"/>
            <a:ext cx="7721150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Triar, usando cada restrição por vez;</a:t>
            </a: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Classificar, usando a métrica de desempenho que descreve o objetivo (com frequência massa, volume e custo) ou simplesmente pelo valor do índice do material que aparece na equação para a métrica;</a:t>
            </a: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chemeClr val="bg1"/>
                </a:solidFill>
              </a:rPr>
              <a:t>Procurar documentação para os candidatos mais bem-classificados e a usa para fazer a escolha final.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56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997744" y="304800"/>
            <a:ext cx="7148512" cy="3785731"/>
            <a:chOff x="997744" y="304800"/>
            <a:chExt cx="7148512" cy="3785731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744" y="304800"/>
              <a:ext cx="7148512" cy="35087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9" y="3813532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7.2</a:t>
              </a:r>
              <a:endParaRPr lang="en-US" sz="1200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52400" y="4267200"/>
            <a:ext cx="45548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 smtClean="0"/>
              <a:t>O estágio de triagem </a:t>
            </a:r>
            <a:r>
              <a:rPr lang="pt-BR" sz="2200" dirty="0" smtClean="0">
                <a:solidFill>
                  <a:srgbClr val="FFFF00"/>
                </a:solidFill>
              </a:rPr>
              <a:t>impõe restrições</a:t>
            </a:r>
            <a:r>
              <a:rPr lang="pt-BR" sz="2200" dirty="0" smtClean="0"/>
              <a:t> sobre </a:t>
            </a:r>
            <a:r>
              <a:rPr lang="pt-BR" sz="2200" dirty="0" smtClean="0">
                <a:solidFill>
                  <a:srgbClr val="FFFF00"/>
                </a:solidFill>
              </a:rPr>
              <a:t>propriedades</a:t>
            </a:r>
            <a:r>
              <a:rPr lang="pt-BR" sz="2200" dirty="0" smtClean="0"/>
              <a:t>, sobre </a:t>
            </a:r>
            <a:r>
              <a:rPr lang="pt-BR" sz="2200" dirty="0" smtClean="0">
                <a:solidFill>
                  <a:srgbClr val="FFFF00"/>
                </a:solidFill>
              </a:rPr>
              <a:t>requisitos</a:t>
            </a:r>
            <a:r>
              <a:rPr lang="pt-BR" sz="2200" dirty="0" smtClean="0"/>
              <a:t> tais como resistência a corrosão, ou sobre a capacidade de ser processados de determinada maneira</a:t>
            </a:r>
            <a:endParaRPr lang="en-US" sz="2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5105399" y="4267200"/>
            <a:ext cx="381000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200" dirty="0" smtClean="0"/>
              <a:t>Os </a:t>
            </a:r>
            <a:r>
              <a:rPr lang="pt-BR" sz="2200" dirty="0" smtClean="0">
                <a:solidFill>
                  <a:srgbClr val="FFFF00"/>
                </a:solidFill>
              </a:rPr>
              <a:t>materiais candidatos</a:t>
            </a:r>
            <a:r>
              <a:rPr lang="pt-BR" sz="2200" dirty="0" smtClean="0"/>
              <a:t> que </a:t>
            </a:r>
            <a:r>
              <a:rPr lang="pt-BR" sz="2200" dirty="0" smtClean="0">
                <a:solidFill>
                  <a:srgbClr val="FFFF00"/>
                </a:solidFill>
              </a:rPr>
              <a:t>sobreviveram ao estágio de triagem</a:t>
            </a:r>
            <a:r>
              <a:rPr lang="pt-BR" sz="2200" dirty="0" smtClean="0"/>
              <a:t>, são </a:t>
            </a:r>
            <a:r>
              <a:rPr lang="pt-BR" sz="2200" dirty="0" smtClean="0">
                <a:solidFill>
                  <a:srgbClr val="FFFF00"/>
                </a:solidFill>
              </a:rPr>
              <a:t>classificados</a:t>
            </a:r>
            <a:r>
              <a:rPr lang="pt-BR" sz="2200" dirty="0" smtClean="0"/>
              <a:t> utilizando </a:t>
            </a:r>
            <a:r>
              <a:rPr lang="pt-BR" sz="2200" dirty="0" smtClean="0">
                <a:solidFill>
                  <a:srgbClr val="FFFF00"/>
                </a:solidFill>
              </a:rPr>
              <a:t>diagramas de propriedades</a:t>
            </a:r>
            <a:endParaRPr lang="en-US" sz="2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010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1000" y="209550"/>
            <a:ext cx="8458200" cy="1924050"/>
          </a:xfrm>
          <a:solidFill>
            <a:schemeClr val="accent5">
              <a:lumMod val="75000"/>
            </a:schemeClr>
          </a:solidFill>
        </p:spPr>
        <p:txBody>
          <a:bodyPr>
            <a:noAutofit/>
          </a:bodyPr>
          <a:lstStyle/>
          <a:p>
            <a:pPr algn="just"/>
            <a:r>
              <a:rPr lang="pt-BR" sz="2800" dirty="0" smtClean="0">
                <a:solidFill>
                  <a:schemeClr val="tx1"/>
                </a:solidFill>
              </a:rPr>
              <a:t>O </a:t>
            </a:r>
            <a:r>
              <a:rPr lang="pt-BR" sz="2800" dirty="0" smtClean="0">
                <a:solidFill>
                  <a:srgbClr val="FFFF00"/>
                </a:solidFill>
              </a:rPr>
              <a:t>simples processo de triar</a:t>
            </a:r>
            <a:r>
              <a:rPr lang="pt-BR" sz="2800" dirty="0" smtClean="0">
                <a:solidFill>
                  <a:schemeClr val="tx1"/>
                </a:solidFill>
              </a:rPr>
              <a:t> e </a:t>
            </a:r>
            <a:r>
              <a:rPr lang="pt-BR" sz="2800" dirty="0" smtClean="0">
                <a:solidFill>
                  <a:srgbClr val="FFFF00"/>
                </a:solidFill>
              </a:rPr>
              <a:t>classificar</a:t>
            </a:r>
            <a:r>
              <a:rPr lang="pt-BR" sz="2800" dirty="0" smtClean="0">
                <a:solidFill>
                  <a:schemeClr val="tx1"/>
                </a:solidFill>
              </a:rPr>
              <a:t> se torna </a:t>
            </a:r>
            <a:r>
              <a:rPr lang="pt-BR" sz="2800" dirty="0" smtClean="0">
                <a:solidFill>
                  <a:srgbClr val="FFFF00"/>
                </a:solidFill>
              </a:rPr>
              <a:t>mais complexo</a:t>
            </a:r>
            <a:r>
              <a:rPr lang="pt-BR" sz="2800" dirty="0" smtClean="0">
                <a:solidFill>
                  <a:schemeClr val="tx1"/>
                </a:solidFill>
              </a:rPr>
              <a:t> para o caso especial de </a:t>
            </a:r>
            <a:r>
              <a:rPr lang="pt-BR" sz="2800" dirty="0" smtClean="0">
                <a:solidFill>
                  <a:srgbClr val="FFFF00"/>
                </a:solidFill>
              </a:rPr>
              <a:t>um único objetivo</a:t>
            </a:r>
            <a:r>
              <a:rPr lang="pt-BR" sz="2800" dirty="0" smtClean="0">
                <a:solidFill>
                  <a:schemeClr val="tx1"/>
                </a:solidFill>
              </a:rPr>
              <a:t> que pode ser </a:t>
            </a:r>
            <a:r>
              <a:rPr lang="pt-BR" sz="2800" dirty="0" smtClean="0">
                <a:solidFill>
                  <a:srgbClr val="FFFF00"/>
                </a:solidFill>
              </a:rPr>
              <a:t>limitado por mais de uma restrição</a:t>
            </a:r>
            <a:endParaRPr lang="en-US" sz="2800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ubtitle 3"/>
          <p:cNvSpPr txBox="1">
            <a:spLocks/>
          </p:cNvSpPr>
          <p:nvPr/>
        </p:nvSpPr>
        <p:spPr>
          <a:xfrm>
            <a:off x="381000" y="22860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b="1" dirty="0" smtClean="0"/>
              <a:t>Exemplo</a:t>
            </a:r>
            <a:r>
              <a:rPr lang="pt-BR" sz="2200" dirty="0" smtClean="0"/>
              <a:t>: Os requisitos de um tirante de massa mínima deve especificar ambas </a:t>
            </a:r>
            <a:r>
              <a:rPr lang="pt-BR" sz="2200" dirty="0" smtClean="0">
                <a:solidFill>
                  <a:srgbClr val="FFFF00"/>
                </a:solidFill>
              </a:rPr>
              <a:t>rigidez</a:t>
            </a:r>
            <a:r>
              <a:rPr lang="pt-BR" sz="2200" dirty="0" smtClean="0"/>
              <a:t> e </a:t>
            </a:r>
            <a:r>
              <a:rPr lang="pt-BR" sz="2200" dirty="0" smtClean="0">
                <a:solidFill>
                  <a:srgbClr val="FFFF00"/>
                </a:solidFill>
              </a:rPr>
              <a:t>resistência</a:t>
            </a:r>
            <a:r>
              <a:rPr lang="pt-BR" sz="2200" dirty="0" smtClean="0"/>
              <a:t>, conduzindo a </a:t>
            </a:r>
            <a:r>
              <a:rPr lang="pt-BR" sz="2200" dirty="0" smtClean="0">
                <a:solidFill>
                  <a:srgbClr val="FFFF00"/>
                </a:solidFill>
              </a:rPr>
              <a:t>duas equações independentes</a:t>
            </a:r>
            <a:r>
              <a:rPr lang="pt-BR" sz="2200" dirty="0" smtClean="0"/>
              <a:t> para a massa</a:t>
            </a:r>
          </a:p>
          <a:p>
            <a:pPr algn="l"/>
            <a:r>
              <a:rPr lang="pt-BR" sz="2200" dirty="0" smtClean="0"/>
              <a:t>Se a </a:t>
            </a:r>
            <a:r>
              <a:rPr lang="pt-BR" sz="2200" dirty="0" smtClean="0">
                <a:solidFill>
                  <a:srgbClr val="FFFF00"/>
                </a:solidFill>
              </a:rPr>
              <a:t>rigidez</a:t>
            </a:r>
            <a:r>
              <a:rPr lang="pt-BR" sz="2200" dirty="0" smtClean="0"/>
              <a:t> é a </a:t>
            </a:r>
            <a:r>
              <a:rPr lang="pt-BR" sz="2200" dirty="0" smtClean="0">
                <a:solidFill>
                  <a:srgbClr val="FFFF00"/>
                </a:solidFill>
              </a:rPr>
              <a:t>restrição dominante</a:t>
            </a:r>
            <a:r>
              <a:rPr lang="pt-BR" sz="2200" dirty="0" smtClean="0"/>
              <a:t>, a massa do tirante será </a:t>
            </a:r>
            <a:r>
              <a:rPr lang="pt-BR" sz="2200" i="1" dirty="0" smtClean="0">
                <a:solidFill>
                  <a:srgbClr val="FFFF00"/>
                </a:solidFill>
              </a:rPr>
              <a:t>m</a:t>
            </a:r>
            <a:r>
              <a:rPr lang="pt-BR" sz="2200" i="1" baseline="-25000" dirty="0" smtClean="0">
                <a:solidFill>
                  <a:srgbClr val="FFFF00"/>
                </a:solidFill>
              </a:rPr>
              <a:t>1</a:t>
            </a:r>
            <a:r>
              <a:rPr lang="pt-BR" sz="2200" dirty="0" smtClean="0"/>
              <a:t>; Se a </a:t>
            </a:r>
            <a:r>
              <a:rPr lang="pt-BR" sz="2200" dirty="0" smtClean="0">
                <a:solidFill>
                  <a:srgbClr val="FFFF00"/>
                </a:solidFill>
              </a:rPr>
              <a:t>resistência</a:t>
            </a:r>
            <a:r>
              <a:rPr lang="pt-BR" sz="2200" dirty="0" smtClean="0"/>
              <a:t> for </a:t>
            </a:r>
            <a:r>
              <a:rPr lang="pt-BR" sz="2200" dirty="0" smtClean="0">
                <a:solidFill>
                  <a:srgbClr val="FFFF00"/>
                </a:solidFill>
              </a:rPr>
              <a:t>dominante</a:t>
            </a:r>
            <a:r>
              <a:rPr lang="pt-BR" sz="2200" dirty="0" smtClean="0"/>
              <a:t>, a massa será </a:t>
            </a:r>
            <a:r>
              <a:rPr lang="pt-BR" sz="2200" i="1" dirty="0" smtClean="0">
                <a:solidFill>
                  <a:srgbClr val="FFFF00"/>
                </a:solidFill>
              </a:rPr>
              <a:t>m</a:t>
            </a:r>
            <a:r>
              <a:rPr lang="pt-BR" sz="2200" i="1" baseline="-25000" dirty="0" smtClean="0">
                <a:solidFill>
                  <a:srgbClr val="FFFF00"/>
                </a:solidFill>
              </a:rPr>
              <a:t>2</a:t>
            </a:r>
          </a:p>
          <a:p>
            <a:pPr algn="l"/>
            <a:endParaRPr lang="en-US" sz="2200" dirty="0"/>
          </a:p>
          <a:p>
            <a:pPr algn="l"/>
            <a:r>
              <a:rPr lang="pt-BR" sz="2200" dirty="0" smtClean="0"/>
              <a:t>Se o tirante tiver que cumprir </a:t>
            </a:r>
            <a:r>
              <a:rPr lang="pt-BR" sz="2200" dirty="0" smtClean="0">
                <a:solidFill>
                  <a:srgbClr val="FFFF00"/>
                </a:solidFill>
              </a:rPr>
              <a:t>ambos os requisitos</a:t>
            </a:r>
            <a:r>
              <a:rPr lang="pt-BR" sz="2200" dirty="0" smtClean="0"/>
              <a:t>, a massa terá que ser a maior de </a:t>
            </a:r>
            <a:r>
              <a:rPr lang="pt-BR" sz="2200" i="1" dirty="0" smtClean="0">
                <a:solidFill>
                  <a:srgbClr val="FFFF00"/>
                </a:solidFill>
              </a:rPr>
              <a:t>m</a:t>
            </a:r>
            <a:r>
              <a:rPr lang="pt-BR" sz="2200" i="1" baseline="-25000" dirty="0" smtClean="0">
                <a:solidFill>
                  <a:srgbClr val="FFFF00"/>
                </a:solidFill>
              </a:rPr>
              <a:t>1</a:t>
            </a:r>
            <a:r>
              <a:rPr lang="pt-BR" sz="2200" dirty="0" smtClean="0"/>
              <a:t> e </a:t>
            </a:r>
            <a:r>
              <a:rPr lang="pt-BR" sz="2200" i="1" dirty="0" smtClean="0">
                <a:solidFill>
                  <a:srgbClr val="FFFF00"/>
                </a:solidFill>
              </a:rPr>
              <a:t>m</a:t>
            </a:r>
            <a:r>
              <a:rPr lang="pt-BR" sz="2200" i="1" baseline="-25000" dirty="0" smtClean="0">
                <a:solidFill>
                  <a:srgbClr val="FFFF00"/>
                </a:solidFill>
              </a:rPr>
              <a:t>2</a:t>
            </a:r>
          </a:p>
          <a:p>
            <a:pPr algn="l"/>
            <a:endParaRPr lang="en-US" sz="2200" dirty="0"/>
          </a:p>
          <a:p>
            <a:pPr algn="l"/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5486400"/>
            <a:ext cx="2895600" cy="697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177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73617" y="5105400"/>
            <a:ext cx="8396762" cy="1447800"/>
          </a:xfrm>
        </p:spPr>
        <p:txBody>
          <a:bodyPr>
            <a:normAutofit fontScale="92500"/>
          </a:bodyPr>
          <a:lstStyle/>
          <a:p>
            <a:pPr algn="just"/>
            <a:r>
              <a:rPr lang="pt-BR" sz="2800" dirty="0" smtClean="0"/>
              <a:t>Um </a:t>
            </a:r>
            <a:r>
              <a:rPr lang="pt-BR" sz="2800" dirty="0" smtClean="0">
                <a:solidFill>
                  <a:srgbClr val="FFFF00"/>
                </a:solidFill>
              </a:rPr>
              <a:t>objetivo</a:t>
            </a:r>
            <a:r>
              <a:rPr lang="pt-BR" sz="2800" dirty="0" smtClean="0"/>
              <a:t> (aqui, minimizar a massa) com duas </a:t>
            </a:r>
            <a:r>
              <a:rPr lang="pt-BR" sz="2800" dirty="0" smtClean="0">
                <a:solidFill>
                  <a:srgbClr val="FFFF00"/>
                </a:solidFill>
              </a:rPr>
              <a:t>restrições conduz</a:t>
            </a:r>
            <a:r>
              <a:rPr lang="pt-BR" sz="2800" dirty="0" smtClean="0"/>
              <a:t> a </a:t>
            </a:r>
            <a:r>
              <a:rPr lang="pt-BR" sz="2800" dirty="0" smtClean="0">
                <a:solidFill>
                  <a:srgbClr val="FFFF00"/>
                </a:solidFill>
              </a:rPr>
              <a:t>duas equações</a:t>
            </a:r>
            <a:r>
              <a:rPr lang="pt-BR" sz="2800" dirty="0" smtClean="0"/>
              <a:t> de </a:t>
            </a:r>
            <a:r>
              <a:rPr lang="pt-BR" sz="2800" dirty="0" smtClean="0">
                <a:solidFill>
                  <a:srgbClr val="FFFF00"/>
                </a:solidFill>
              </a:rPr>
              <a:t>desempenho</a:t>
            </a:r>
            <a:r>
              <a:rPr lang="pt-BR" sz="2800" dirty="0" smtClean="0"/>
              <a:t>, cada uma com </a:t>
            </a:r>
            <a:r>
              <a:rPr lang="pt-BR" sz="2800" dirty="0" smtClean="0">
                <a:solidFill>
                  <a:srgbClr val="FFFF00"/>
                </a:solidFill>
              </a:rPr>
              <a:t>seu próprio valor de M</a:t>
            </a:r>
            <a:endParaRPr lang="pt-BR" sz="2800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644005" y="1790030"/>
            <a:ext cx="7855983" cy="3306873"/>
            <a:chOff x="644005" y="1790030"/>
            <a:chExt cx="7855983" cy="3306873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005" y="1790030"/>
              <a:ext cx="7855983" cy="30298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8" y="4819904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7.3</a:t>
              </a:r>
              <a:endParaRPr lang="en-US" sz="1200" dirty="0"/>
            </a:p>
          </p:txBody>
        </p:sp>
      </p:grpSp>
      <p:sp>
        <p:nvSpPr>
          <p:cNvPr id="8" name="Subtitle 5"/>
          <p:cNvSpPr txBox="1">
            <a:spLocks/>
          </p:cNvSpPr>
          <p:nvPr/>
        </p:nvSpPr>
        <p:spPr>
          <a:xfrm>
            <a:off x="373618" y="152399"/>
            <a:ext cx="8396762" cy="1288623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800" dirty="0" smtClean="0"/>
              <a:t>Procura-se pelo menor valor de uma métrica que é a maior de duas ou mais alternativas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263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r>
              <a:rPr lang="pt-BR" dirty="0" smtClean="0"/>
              <a:t>Método Analítico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609" y="1219200"/>
            <a:ext cx="6316781" cy="50719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upo 10"/>
          <p:cNvGrpSpPr/>
          <p:nvPr/>
        </p:nvGrpSpPr>
        <p:grpSpPr>
          <a:xfrm>
            <a:off x="1019174" y="1066800"/>
            <a:ext cx="7362826" cy="5416868"/>
            <a:chOff x="1019174" y="1066800"/>
            <a:chExt cx="7362826" cy="54168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CaixaDeTexto 3"/>
                <p:cNvSpPr txBox="1"/>
                <p:nvPr/>
              </p:nvSpPr>
              <p:spPr>
                <a:xfrm>
                  <a:off x="1019174" y="1066800"/>
                  <a:ext cx="7362826" cy="541686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pt-BR" dirty="0" smtClean="0">
                      <a:solidFill>
                        <a:schemeClr val="bg1"/>
                      </a:solidFill>
                    </a:rPr>
                    <a:t>Um exemplo de múltiplas restrições</a:t>
                  </a:r>
                </a:p>
                <a:p>
                  <a:endParaRPr lang="pt-BR" dirty="0">
                    <a:solidFill>
                      <a:schemeClr val="bg1"/>
                    </a:solidFill>
                  </a:endParaRPr>
                </a:p>
                <a:p>
                  <a:r>
                    <a:rPr lang="pt-BR" sz="1200" dirty="0" smtClean="0">
                      <a:solidFill>
                        <a:schemeClr val="bg1"/>
                      </a:solidFill>
                    </a:rPr>
                    <a:t>Precisa-se de um tirante leve de comprimento </a:t>
                  </a:r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L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, rigidez </a:t>
                  </a:r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S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e carga de colapso </a:t>
                  </a:r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F</a:t>
                  </a:r>
                  <a:r>
                    <a:rPr lang="pt-BR" sz="1200" baseline="-25000" dirty="0" smtClean="0">
                      <a:solidFill>
                        <a:schemeClr val="bg1"/>
                      </a:solidFill>
                    </a:rPr>
                    <a:t>f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, especificados com os valores</a:t>
                  </a:r>
                </a:p>
                <a:p>
                  <a:endParaRPr lang="pt-BR" sz="1200" dirty="0" smtClean="0">
                    <a:solidFill>
                      <a:schemeClr val="bg1"/>
                    </a:solidFill>
                  </a:endParaRPr>
                </a:p>
                <a:p>
                  <a:pPr algn="ctr"/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L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* = 1 m    </a:t>
                  </a:r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S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* = 3 x 10</a:t>
                  </a:r>
                  <a:r>
                    <a:rPr lang="pt-BR" sz="1200" baseline="30000" dirty="0" smtClean="0">
                      <a:solidFill>
                        <a:schemeClr val="bg1"/>
                      </a:solidFill>
                    </a:rPr>
                    <a:t>7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N/m   </a:t>
                  </a:r>
                  <a:r>
                    <a:rPr lang="pt-BR" sz="1200" i="1" dirty="0" err="1" smtClean="0">
                      <a:solidFill>
                        <a:schemeClr val="bg1"/>
                      </a:solidFill>
                    </a:rPr>
                    <a:t>F</a:t>
                  </a:r>
                  <a:r>
                    <a:rPr lang="pt-BR" sz="1200" baseline="-25000" dirty="0" err="1" smtClean="0">
                      <a:solidFill>
                        <a:schemeClr val="bg1"/>
                      </a:solidFill>
                    </a:rPr>
                    <a:t>t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* = 10</a:t>
                  </a:r>
                  <a:r>
                    <a:rPr lang="pt-BR" sz="1200" baseline="30000" dirty="0" smtClean="0">
                      <a:solidFill>
                        <a:schemeClr val="bg1"/>
                      </a:solidFill>
                    </a:rPr>
                    <a:t>5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N</a:t>
                  </a:r>
                  <a:endParaRPr lang="pt-BR" sz="1200" dirty="0">
                    <a:solidFill>
                      <a:schemeClr val="bg1"/>
                    </a:solidFill>
                  </a:endParaRPr>
                </a:p>
                <a:p>
                  <a:endParaRPr lang="pt-BR" sz="1200" dirty="0" smtClean="0">
                    <a:solidFill>
                      <a:schemeClr val="bg1"/>
                    </a:solidFill>
                  </a:endParaRPr>
                </a:p>
                <a:p>
                  <a:r>
                    <a:rPr lang="pt-BR" sz="1200" b="1" dirty="0" smtClean="0">
                      <a:solidFill>
                        <a:schemeClr val="bg1"/>
                      </a:solidFill>
                    </a:rPr>
                    <a:t>Resposta</a:t>
                  </a:r>
                </a:p>
                <a:p>
                  <a:endParaRPr lang="pt-BR" sz="1200" dirty="0">
                    <a:solidFill>
                      <a:schemeClr val="bg1"/>
                    </a:solidFill>
                  </a:endParaRPr>
                </a:p>
                <a:p>
                  <a:r>
                    <a:rPr lang="pt-BR" sz="1200" dirty="0" smtClean="0">
                      <a:solidFill>
                        <a:schemeClr val="bg1"/>
                      </a:solidFill>
                    </a:rPr>
                    <a:t>Substituindo esses valores e as propriedades do material mostradas na tabela nas Equações (7.2) e (7.3) na Figura 7.3 tem-se os valores para m</a:t>
                  </a:r>
                  <a:r>
                    <a:rPr lang="pt-BR" sz="1200" baseline="-25000" dirty="0" smtClean="0">
                      <a:solidFill>
                        <a:schemeClr val="bg1"/>
                      </a:solidFill>
                    </a:rPr>
                    <a:t>1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e m</a:t>
                  </a:r>
                  <a:r>
                    <a:rPr lang="pt-BR" sz="1200" baseline="-25000" dirty="0" smtClean="0">
                      <a:solidFill>
                        <a:schemeClr val="bg1"/>
                      </a:solidFill>
                    </a:rPr>
                    <a:t>2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mostrados na tabela. A última coluna mostra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pt-BR" sz="1200" i="1" smtClean="0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accPr>
                        <m:e>
                          <m:r>
                            <a:rPr lang="pt-BR" sz="1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</m:acc>
                    </m:oMath>
                  </a14:m>
                  <a:r>
                    <a:rPr lang="pt-BR" sz="1200" dirty="0" smtClean="0">
                      <a:solidFill>
                        <a:schemeClr val="bg1"/>
                      </a:solidFill>
                    </a:rPr>
                    <a:t>  calculada pela Equação (7.1). Para esses requisitos de projeto 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Ti-6Al-4V 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é enfaticamente a melhor escolha: permite o tirante mais leve que satisfaz ambas as restrições.</a:t>
                  </a:r>
                </a:p>
                <a:p>
                  <a:endParaRPr lang="pt-BR" sz="1200" dirty="0">
                    <a:solidFill>
                      <a:schemeClr val="bg1"/>
                    </a:solidFill>
                  </a:endParaRPr>
                </a:p>
                <a:p>
                  <a:endParaRPr lang="pt-BR" sz="1200" dirty="0" smtClean="0">
                    <a:solidFill>
                      <a:schemeClr val="bg1"/>
                    </a:solidFill>
                  </a:endParaRPr>
                </a:p>
                <a:p>
                  <a:endParaRPr lang="pt-BR" sz="1200" dirty="0">
                    <a:solidFill>
                      <a:schemeClr val="bg1"/>
                    </a:solidFill>
                  </a:endParaRPr>
                </a:p>
                <a:p>
                  <a:endParaRPr lang="pt-BR" sz="1200" dirty="0" smtClean="0">
                    <a:solidFill>
                      <a:schemeClr val="bg1"/>
                    </a:solidFill>
                  </a:endParaRPr>
                </a:p>
                <a:p>
                  <a:endParaRPr lang="pt-BR" sz="1200" dirty="0" smtClean="0">
                    <a:solidFill>
                      <a:schemeClr val="bg1"/>
                    </a:solidFill>
                  </a:endParaRPr>
                </a:p>
                <a:p>
                  <a:endParaRPr lang="pt-BR" sz="1600" dirty="0" smtClean="0">
                    <a:solidFill>
                      <a:schemeClr val="bg1"/>
                    </a:solidFill>
                  </a:endParaRPr>
                </a:p>
                <a:p>
                  <a:endParaRPr lang="pt-BR" dirty="0" smtClean="0">
                    <a:solidFill>
                      <a:schemeClr val="bg1"/>
                    </a:solidFill>
                  </a:endParaRPr>
                </a:p>
                <a:p>
                  <a:endParaRPr lang="pt-BR" sz="1200" dirty="0" smtClean="0">
                    <a:solidFill>
                      <a:schemeClr val="bg1"/>
                    </a:solidFill>
                  </a:endParaRPr>
                </a:p>
                <a:p>
                  <a:r>
                    <a:rPr lang="pt-BR" sz="1200" dirty="0" smtClean="0">
                      <a:solidFill>
                        <a:schemeClr val="bg1"/>
                      </a:solidFill>
                    </a:rPr>
                    <a:t>Se agora mudarmos as restrição para as restrições para,</a:t>
                  </a:r>
                  <a:endParaRPr lang="pt-BR" sz="1200" dirty="0">
                    <a:solidFill>
                      <a:schemeClr val="bg1"/>
                    </a:solidFill>
                  </a:endParaRPr>
                </a:p>
                <a:p>
                  <a:pPr algn="ctr"/>
                  <a:endParaRPr lang="pt-BR" sz="1200" i="1" dirty="0" smtClean="0">
                    <a:solidFill>
                      <a:schemeClr val="bg1"/>
                    </a:solidFill>
                  </a:endParaRPr>
                </a:p>
                <a:p>
                  <a:pPr algn="ctr"/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L</a:t>
                  </a:r>
                  <a:r>
                    <a:rPr lang="pt-BR" sz="1200" i="1" dirty="0">
                      <a:solidFill>
                        <a:schemeClr val="bg1"/>
                      </a:solidFill>
                    </a:rPr>
                    <a:t>* = 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3 m</a:t>
                  </a:r>
                  <a:r>
                    <a:rPr lang="pt-BR" sz="1200" i="1" dirty="0" smtClean="0">
                      <a:solidFill>
                        <a:schemeClr val="bg1"/>
                      </a:solidFill>
                    </a:rPr>
                    <a:t>    </a:t>
                  </a:r>
                  <a:r>
                    <a:rPr lang="pt-BR" sz="1200" i="1" dirty="0">
                      <a:solidFill>
                        <a:schemeClr val="bg1"/>
                      </a:solidFill>
                    </a:rPr>
                    <a:t>S* = 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10</a:t>
                  </a:r>
                  <a:r>
                    <a:rPr lang="pt-BR" sz="1200" baseline="30000" dirty="0" smtClean="0">
                      <a:solidFill>
                        <a:schemeClr val="bg1"/>
                      </a:solidFill>
                    </a:rPr>
                    <a:t>8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</a:t>
                  </a:r>
                  <a:r>
                    <a:rPr lang="pt-BR" sz="1200" dirty="0">
                      <a:solidFill>
                        <a:schemeClr val="bg1"/>
                      </a:solidFill>
                    </a:rPr>
                    <a:t>N/m</a:t>
                  </a:r>
                  <a:r>
                    <a:rPr lang="pt-BR" sz="1200" i="1" dirty="0">
                      <a:solidFill>
                        <a:schemeClr val="bg1"/>
                      </a:solidFill>
                    </a:rPr>
                    <a:t>   </a:t>
                  </a:r>
                  <a:r>
                    <a:rPr lang="pt-BR" sz="1200" i="1" dirty="0" err="1">
                      <a:solidFill>
                        <a:schemeClr val="bg1"/>
                      </a:solidFill>
                    </a:rPr>
                    <a:t>F</a:t>
                  </a:r>
                  <a:r>
                    <a:rPr lang="pt-BR" sz="1200" i="1" baseline="-25000" dirty="0" err="1">
                      <a:solidFill>
                        <a:schemeClr val="bg1"/>
                      </a:solidFill>
                    </a:rPr>
                    <a:t>t</a:t>
                  </a:r>
                  <a:r>
                    <a:rPr lang="pt-BR" sz="1200" i="1" dirty="0">
                      <a:solidFill>
                        <a:schemeClr val="bg1"/>
                      </a:solidFill>
                    </a:rPr>
                    <a:t>* </a:t>
                  </a:r>
                  <a:r>
                    <a:rPr lang="pt-BR" sz="1200" dirty="0">
                      <a:solidFill>
                        <a:schemeClr val="bg1"/>
                      </a:solidFill>
                    </a:rPr>
                    <a:t>= 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3 x 10</a:t>
                  </a:r>
                  <a:r>
                    <a:rPr lang="pt-BR" sz="1200" baseline="30000" dirty="0" smtClean="0">
                      <a:solidFill>
                        <a:schemeClr val="bg1"/>
                      </a:solidFill>
                    </a:rPr>
                    <a:t>4</a:t>
                  </a:r>
                  <a:r>
                    <a:rPr lang="pt-BR" sz="1200" dirty="0" smtClean="0">
                      <a:solidFill>
                        <a:schemeClr val="bg1"/>
                      </a:solidFill>
                    </a:rPr>
                    <a:t> N</a:t>
                  </a:r>
                </a:p>
                <a:p>
                  <a:endParaRPr lang="pt-BR" sz="1200" dirty="0">
                    <a:solidFill>
                      <a:schemeClr val="bg1"/>
                    </a:solidFill>
                  </a:endParaRPr>
                </a:p>
                <a:p>
                  <a:r>
                    <a:rPr lang="pt-BR" sz="1200" dirty="0" smtClean="0">
                      <a:solidFill>
                        <a:schemeClr val="bg1"/>
                      </a:solidFill>
                    </a:rPr>
                    <a:t>a seleção muda. Agora o aço é a melhor escolha: dá o tirante mais leve que satisfaz todas as restrições. Experimente.</a:t>
                  </a:r>
                  <a:endParaRPr lang="en-US" sz="1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" name="CaixaDeTexto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9174" y="1066800"/>
                  <a:ext cx="7362826" cy="541686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662" t="-562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Arredondar Retângulo em um Canto Único 8"/>
            <p:cNvSpPr/>
            <p:nvPr/>
          </p:nvSpPr>
          <p:spPr>
            <a:xfrm flipV="1">
              <a:off x="1019174" y="1066800"/>
              <a:ext cx="4695826" cy="457200"/>
            </a:xfrm>
            <a:prstGeom prst="round1Rect">
              <a:avLst>
                <a:gd name="adj" fmla="val 50000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>
                  <a:rot lat="0" lon="899998" rev="10799999"/>
                </a:camera>
                <a:lightRig rig="threePt" dir="t"/>
              </a:scene3d>
            </a:bodyPr>
            <a:lstStyle/>
            <a:p>
              <a:pPr algn="ctr"/>
              <a:r>
                <a:rPr lang="pt-BR" sz="2000" b="1" dirty="0" smtClean="0"/>
                <a:t>Um exemplo de múltiplas restrições</a:t>
              </a:r>
              <a:endParaRPr lang="en-US" sz="2000" b="1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e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352279"/>
                  </p:ext>
                </p:extLst>
              </p:nvPr>
            </p:nvGraphicFramePr>
            <p:xfrm>
              <a:off x="1682017" y="3886200"/>
              <a:ext cx="5937983" cy="12852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08783"/>
                    <a:gridCol w="762000"/>
                    <a:gridCol w="698940"/>
                    <a:gridCol w="816473"/>
                    <a:gridCol w="816473"/>
                    <a:gridCol w="816473"/>
                    <a:gridCol w="1118841"/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sz="12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𝜌</m:t>
                              </m:r>
                            </m:oMath>
                          </a14:m>
                          <a:r>
                            <a:rPr lang="en-US" sz="120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kg/m</a:t>
                          </a:r>
                          <a:r>
                            <a:rPr lang="en-US" sz="1200" b="1" baseline="30000" dirty="0" smtClean="0">
                              <a:solidFill>
                                <a:schemeClr val="bg1"/>
                              </a:solidFill>
                            </a:rPr>
                            <a:t>3</a:t>
                          </a:r>
                          <a:r>
                            <a:rPr lang="en-US" sz="12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i="1" dirty="0" smtClean="0">
                              <a:solidFill>
                                <a:schemeClr val="bg1"/>
                              </a:solidFill>
                            </a:rPr>
                            <a:t>E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err="1" smtClean="0">
                              <a:solidFill>
                                <a:schemeClr val="bg1"/>
                              </a:solidFill>
                            </a:rPr>
                            <a:t>GPa</a:t>
                          </a:r>
                          <a:r>
                            <a:rPr lang="en-US" sz="12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smtClean="0">
                                      <a:solidFill>
                                        <a:schemeClr val="bg1"/>
                                      </a:solidFill>
                                      <a:latin typeface="Cambria Math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pt-BR" sz="12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MPa</a:t>
                          </a:r>
                          <a:r>
                            <a:rPr lang="en-US" sz="12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en-US" sz="1200" b="1" baseline="-250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r>
                            <a:rPr lang="en-US" sz="1200" b="1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kg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en-US" sz="1200" b="1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en-US" sz="1200" b="1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kg</a:t>
                          </a:r>
                          <a:r>
                            <a:rPr lang="en-US" sz="12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̃"/>
                                  <m:ctrlP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1400" b="1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𝒎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 kg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Aço 1020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7850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210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320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1.12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2.45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2.45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Al</a:t>
                          </a:r>
                          <a:r>
                            <a:rPr lang="pt-BR" sz="1200" baseline="0" dirty="0" smtClean="0">
                              <a:solidFill>
                                <a:schemeClr val="bg1"/>
                              </a:solidFill>
                            </a:rPr>
                            <a:t> 6061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2700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70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120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1.16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2.25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2.25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Ti-6Al-4V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4400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115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950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0.46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ela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352279"/>
                  </p:ext>
                </p:extLst>
              </p:nvPr>
            </p:nvGraphicFramePr>
            <p:xfrm>
              <a:off x="1682017" y="3886200"/>
              <a:ext cx="5937983" cy="12852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08783"/>
                    <a:gridCol w="762000"/>
                    <a:gridCol w="698940"/>
                    <a:gridCol w="816473"/>
                    <a:gridCol w="816473"/>
                    <a:gridCol w="816473"/>
                    <a:gridCol w="1118841"/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Material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19200" t="-2000" r="-560800" b="-3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i="1" dirty="0" smtClean="0">
                              <a:solidFill>
                                <a:schemeClr val="bg1"/>
                              </a:solidFill>
                            </a:rPr>
                            <a:t>E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err="1" smtClean="0">
                              <a:solidFill>
                                <a:schemeClr val="bg1"/>
                              </a:solidFill>
                            </a:rPr>
                            <a:t>GPa</a:t>
                          </a:r>
                          <a:r>
                            <a:rPr lang="en-US" sz="12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90299" t="-2000" r="-337313" b="-32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en-US" sz="1200" b="1" baseline="-25000" dirty="0" smtClean="0">
                              <a:solidFill>
                                <a:schemeClr val="bg1"/>
                              </a:solidFill>
                            </a:rPr>
                            <a:t>1</a:t>
                          </a:r>
                          <a:r>
                            <a:rPr lang="en-US" sz="1200" b="1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kg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1" i="1" dirty="0" smtClean="0">
                              <a:solidFill>
                                <a:schemeClr val="bg1"/>
                              </a:solidFill>
                            </a:rPr>
                            <a:t>m</a:t>
                          </a:r>
                          <a:r>
                            <a:rPr lang="en-US" sz="1200" b="1" baseline="-25000" dirty="0" smtClean="0">
                              <a:solidFill>
                                <a:schemeClr val="bg1"/>
                              </a:solidFill>
                            </a:rPr>
                            <a:t>2</a:t>
                          </a:r>
                          <a:r>
                            <a:rPr lang="en-US" sz="1200" b="1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r>
                            <a:rPr lang="en-US" sz="1200" b="1" dirty="0" smtClean="0">
                              <a:solidFill>
                                <a:schemeClr val="bg1"/>
                              </a:solidFill>
                            </a:rPr>
                            <a:t>kg</a:t>
                          </a:r>
                          <a:r>
                            <a:rPr lang="en-US" sz="1200" baseline="0" dirty="0" smtClean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29891" t="-2000" b="-324000"/>
                          </a:stretch>
                        </a:blip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Aço 1020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7850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210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320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1.12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2.45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2.45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Al</a:t>
                          </a:r>
                          <a:r>
                            <a:rPr lang="pt-BR" sz="1200" baseline="0" dirty="0" smtClean="0">
                              <a:solidFill>
                                <a:schemeClr val="bg1"/>
                              </a:solidFill>
                            </a:rPr>
                            <a:t> 6061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2700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70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120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1.16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2.25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2.25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Ti-6Al-4V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4400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115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950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0.46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 smtClean="0">
                              <a:solidFill>
                                <a:schemeClr val="bg1"/>
                              </a:solidFill>
                            </a:rPr>
                            <a:t>1.15</a:t>
                          </a:r>
                          <a:endParaRPr lang="en-US" sz="12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84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4617"/>
            <a:ext cx="7772400" cy="978764"/>
          </a:xfrm>
        </p:spPr>
        <p:txBody>
          <a:bodyPr>
            <a:normAutofit/>
          </a:bodyPr>
          <a:lstStyle/>
          <a:p>
            <a:r>
              <a:rPr lang="pt-BR" dirty="0" smtClean="0"/>
              <a:t>Método Gráfico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76300" y="4724400"/>
            <a:ext cx="7391400" cy="17526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/>
              <a:t>Solução acoplada pode ser feita utilizando a métrica de desempenho  como em (a), ou se utilizando dos </a:t>
            </a:r>
            <a:r>
              <a:rPr lang="pt-BR" dirty="0" smtClean="0">
                <a:solidFill>
                  <a:srgbClr val="FFFF00"/>
                </a:solidFill>
              </a:rPr>
              <a:t>índices de material </a:t>
            </a:r>
            <a:r>
              <a:rPr lang="pt-BR" i="1" dirty="0" smtClean="0">
                <a:solidFill>
                  <a:srgbClr val="FFFF00"/>
                </a:solidFill>
              </a:rPr>
              <a:t>M</a:t>
            </a:r>
            <a:r>
              <a:rPr lang="pt-BR" dirty="0" smtClean="0">
                <a:solidFill>
                  <a:srgbClr val="FFFF00"/>
                </a:solidFill>
              </a:rPr>
              <a:t> </a:t>
            </a:r>
            <a:r>
              <a:rPr lang="pt-BR" dirty="0" smtClean="0"/>
              <a:t>e um </a:t>
            </a:r>
            <a:r>
              <a:rPr lang="pt-BR" dirty="0" smtClean="0">
                <a:solidFill>
                  <a:srgbClr val="FFFF00"/>
                </a:solidFill>
              </a:rPr>
              <a:t>constante de acoplamento </a:t>
            </a:r>
            <a:r>
              <a:rPr lang="pt-BR" i="1" dirty="0" err="1" smtClean="0">
                <a:solidFill>
                  <a:srgbClr val="FFFF00"/>
                </a:solidFill>
              </a:rPr>
              <a:t>Cc</a:t>
            </a:r>
            <a:r>
              <a:rPr lang="pt-BR" i="1" dirty="0" smtClean="0"/>
              <a:t>,</a:t>
            </a:r>
            <a:r>
              <a:rPr lang="pt-BR" dirty="0" smtClean="0"/>
              <a:t> como em (b)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8" name="Grupo 7"/>
          <p:cNvGrpSpPr/>
          <p:nvPr/>
        </p:nvGrpSpPr>
        <p:grpSpPr>
          <a:xfrm>
            <a:off x="894272" y="1057700"/>
            <a:ext cx="7355456" cy="3586044"/>
            <a:chOff x="894272" y="1057700"/>
            <a:chExt cx="7355456" cy="3586044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4272" y="1057700"/>
              <a:ext cx="7355456" cy="33090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8" y="4366745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7.4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75310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8109" y="73891"/>
            <a:ext cx="7772400" cy="1221509"/>
          </a:xfrm>
        </p:spPr>
        <p:txBody>
          <a:bodyPr/>
          <a:lstStyle/>
          <a:p>
            <a:r>
              <a:rPr lang="pt-BR" dirty="0" smtClean="0"/>
              <a:t>Objetivos Conflitantes</a:t>
            </a:r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00100" y="1066800"/>
            <a:ext cx="7543800" cy="1752600"/>
          </a:xfrm>
        </p:spPr>
        <p:txBody>
          <a:bodyPr>
            <a:normAutofit/>
          </a:bodyPr>
          <a:lstStyle/>
          <a:p>
            <a:pPr algn="just"/>
            <a:r>
              <a:rPr lang="pt-BR" dirty="0" smtClean="0"/>
              <a:t>Seleção de materiais na vida real quase sempre requer que se chegue a um compromisso entre objetivos conflitantes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762000" y="2819400"/>
            <a:ext cx="7721150" cy="35394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sz="1600" i="1" dirty="0" smtClean="0">
                <a:solidFill>
                  <a:schemeClr val="bg1"/>
                </a:solidFill>
              </a:rPr>
              <a:t>Minimizar massa</a:t>
            </a:r>
            <a:r>
              <a:rPr lang="pt-BR" sz="1600" dirty="0" smtClean="0">
                <a:solidFill>
                  <a:schemeClr val="bg1"/>
                </a:solidFill>
              </a:rPr>
              <a:t> – uma meta comum no projeto de coisas que se movem ou que têm de ser movidas, que oscilam ou que devem responder rapidamente a uma força limitada (sistemas de transportes aeroespaciais e terrestres);</a:t>
            </a: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sz="1600" i="1" dirty="0" smtClean="0">
                <a:solidFill>
                  <a:schemeClr val="bg1"/>
                </a:solidFill>
              </a:rPr>
              <a:t>Minimizar volume</a:t>
            </a:r>
            <a:r>
              <a:rPr lang="pt-BR" sz="1600" dirty="0" smtClean="0">
                <a:solidFill>
                  <a:schemeClr val="bg1"/>
                </a:solidFill>
              </a:rPr>
              <a:t> – porque é usado menos material e porque o espaço está cada vez mais precioso (pense no drive para telefones celulares cada vez mais finos, computadores portáteis, tocadores de MP3 etc. e na necessidade de acondicionar cada vez mais e mais funcionalidades em um volume fixo);</a:t>
            </a: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sz="1600" i="1" dirty="0" smtClean="0">
                <a:solidFill>
                  <a:schemeClr val="bg1"/>
                </a:solidFill>
              </a:rPr>
              <a:t>Minimizar custo</a:t>
            </a:r>
            <a:r>
              <a:rPr lang="pt-BR" sz="1600" dirty="0" smtClean="0">
                <a:solidFill>
                  <a:schemeClr val="bg1"/>
                </a:solidFill>
              </a:rPr>
              <a:t> – A lucratividade depende da diferença entre o custo e valor; o modo mais óbvio de aumentar a diferença é reduzir o custo;</a:t>
            </a: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chemeClr val="bg1"/>
              </a:solidFill>
            </a:endParaRPr>
          </a:p>
          <a:p>
            <a:pPr marL="285750" indent="-285750">
              <a:buClr>
                <a:srgbClr val="FFC000"/>
              </a:buClr>
              <a:buSzPct val="130000"/>
              <a:buFont typeface="Wingdings" panose="05000000000000000000" pitchFamily="2" charset="2"/>
              <a:buChar char="§"/>
            </a:pPr>
            <a:r>
              <a:rPr lang="pt-BR" sz="1600" i="1" dirty="0" smtClean="0">
                <a:solidFill>
                  <a:schemeClr val="bg1"/>
                </a:solidFill>
              </a:rPr>
              <a:t>Minimizar impacto ambiental </a:t>
            </a:r>
            <a:r>
              <a:rPr lang="pt-BR" sz="1600" dirty="0" smtClean="0">
                <a:solidFill>
                  <a:schemeClr val="bg1"/>
                </a:solidFill>
              </a:rPr>
              <a:t>– o dano causado a nossos arredores pela produção do material, fabricação do produto e utilização do produto;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18596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86200"/>
            <a:ext cx="2836522" cy="24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228600"/>
            <a:ext cx="7772400" cy="1470025"/>
          </a:xfrm>
        </p:spPr>
        <p:txBody>
          <a:bodyPr>
            <a:normAutofit/>
          </a:bodyPr>
          <a:lstStyle/>
          <a:p>
            <a:r>
              <a:rPr lang="pt-BR" sz="3600" dirty="0" smtClean="0"/>
              <a:t>Estratégias de Permuta</a:t>
            </a:r>
            <a:endParaRPr lang="pt-BR" sz="36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038600" y="990205"/>
            <a:ext cx="4800600" cy="2492195"/>
          </a:xfrm>
        </p:spPr>
        <p:txBody>
          <a:bodyPr>
            <a:normAutofit fontScale="92500" lnSpcReduction="20000"/>
          </a:bodyPr>
          <a:lstStyle/>
          <a:p>
            <a:r>
              <a:rPr lang="pt-BR" sz="2400" b="1" u="sng" dirty="0" smtClean="0"/>
              <a:t>Estratégia 1</a:t>
            </a:r>
          </a:p>
          <a:p>
            <a:pPr algn="just"/>
            <a:r>
              <a:rPr lang="pt-BR" sz="2400" dirty="0" smtClean="0"/>
              <a:t>Uma </a:t>
            </a:r>
            <a:r>
              <a:rPr lang="pt-BR" sz="2400" dirty="0" smtClean="0">
                <a:solidFill>
                  <a:srgbClr val="FFFF00"/>
                </a:solidFill>
              </a:rPr>
              <a:t>curta lista de materiais</a:t>
            </a:r>
            <a:r>
              <a:rPr lang="pt-BR" sz="2400" dirty="0" smtClean="0"/>
              <a:t> pode ser identificada  no gráfico da métrica de desempenho contra outra; soluções sobre ou próximas da superfície de permuta oferecem o melhor compromisso, o restante pode ser rejeitado</a:t>
            </a:r>
            <a:endParaRPr lang="pt-BR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12" name="Grupo 11"/>
          <p:cNvGrpSpPr/>
          <p:nvPr/>
        </p:nvGrpSpPr>
        <p:grpSpPr>
          <a:xfrm>
            <a:off x="533400" y="1066800"/>
            <a:ext cx="2836522" cy="2622939"/>
            <a:chOff x="533400" y="1066800"/>
            <a:chExt cx="2836522" cy="2622939"/>
          </a:xfrm>
        </p:grpSpPr>
        <p:pic>
          <p:nvPicPr>
            <p:cNvPr id="1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1066800"/>
              <a:ext cx="2836522" cy="23459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1513879" y="3412740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7.5</a:t>
              </a:r>
              <a:endParaRPr lang="en-US" sz="12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1519652" y="6331360"/>
            <a:ext cx="8755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 smtClean="0"/>
              <a:t>Figura 7.6</a:t>
            </a:r>
            <a:endParaRPr lang="en-US" sz="1200" dirty="0"/>
          </a:p>
        </p:txBody>
      </p:sp>
      <p:sp>
        <p:nvSpPr>
          <p:cNvPr id="7" name="Rectangle 6"/>
          <p:cNvSpPr/>
          <p:nvPr/>
        </p:nvSpPr>
        <p:spPr>
          <a:xfrm>
            <a:off x="4114800" y="3810000"/>
            <a:ext cx="4572000" cy="24622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200" b="1" u="sng" dirty="0" err="1" smtClean="0"/>
              <a:t>Estratégia</a:t>
            </a:r>
            <a:r>
              <a:rPr lang="en-US" sz="2200" b="1" u="sng" dirty="0" smtClean="0"/>
              <a:t> </a:t>
            </a:r>
            <a:r>
              <a:rPr lang="en-US" sz="2200" b="1" u="sng" dirty="0"/>
              <a:t>2</a:t>
            </a:r>
          </a:p>
          <a:p>
            <a:pPr algn="just"/>
            <a:r>
              <a:rPr lang="pt-BR" sz="2200" dirty="0" smtClean="0"/>
              <a:t>Um objetivo pode ser reformulado como uma restrição; neste exemplo, um limite superior é estabelecido sobre o custo; no entanto, está não é uma otimização verdadeira</a:t>
            </a:r>
            <a:endParaRPr lang="pt-BR" sz="2200" dirty="0"/>
          </a:p>
        </p:txBody>
      </p:sp>
    </p:spTree>
    <p:extLst>
      <p:ext uri="{BB962C8B-B14F-4D97-AF65-F5344CB8AC3E}">
        <p14:creationId xmlns:p14="http://schemas.microsoft.com/office/powerpoint/2010/main" val="115270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533400" y="228600"/>
            <a:ext cx="8077200" cy="1752600"/>
          </a:xfrm>
          <a:solidFill>
            <a:schemeClr val="accent5">
              <a:lumMod val="75000"/>
            </a:schemeClr>
          </a:solidFill>
        </p:spPr>
        <p:txBody>
          <a:bodyPr>
            <a:normAutofit fontScale="92500" lnSpcReduction="10000"/>
          </a:bodyPr>
          <a:lstStyle/>
          <a:p>
            <a:pPr algn="l"/>
            <a:r>
              <a:rPr lang="pt-BR" sz="2200" dirty="0" smtClean="0"/>
              <a:t>A </a:t>
            </a:r>
            <a:r>
              <a:rPr lang="pt-BR" sz="2200" dirty="0" smtClean="0">
                <a:solidFill>
                  <a:srgbClr val="FFFF00"/>
                </a:solidFill>
              </a:rPr>
              <a:t>superfície de permuta</a:t>
            </a:r>
            <a:r>
              <a:rPr lang="pt-BR" sz="2200" dirty="0" smtClean="0"/>
              <a:t> identifica um </a:t>
            </a:r>
            <a:r>
              <a:rPr lang="pt-BR" sz="2200" dirty="0" smtClean="0">
                <a:solidFill>
                  <a:srgbClr val="FFFF00"/>
                </a:solidFill>
              </a:rPr>
              <a:t>subconjunto de soluções</a:t>
            </a:r>
            <a:r>
              <a:rPr lang="pt-BR" sz="2200" dirty="0" smtClean="0"/>
              <a:t> que oferecem o </a:t>
            </a:r>
            <a:r>
              <a:rPr lang="pt-BR" sz="2200" dirty="0" smtClean="0">
                <a:solidFill>
                  <a:srgbClr val="FFFF00"/>
                </a:solidFill>
              </a:rPr>
              <a:t>melhor compromisso entre os objetivos</a:t>
            </a:r>
            <a:r>
              <a:rPr lang="pt-BR" sz="2200" dirty="0" smtClean="0"/>
              <a:t>. Para se obter uma solução única, deve ser agregado aos </a:t>
            </a:r>
            <a:r>
              <a:rPr lang="pt-BR" sz="2200" dirty="0" smtClean="0">
                <a:solidFill>
                  <a:srgbClr val="FFFF00"/>
                </a:solidFill>
              </a:rPr>
              <a:t>vários objetivos numa única função objetivo</a:t>
            </a:r>
            <a:r>
              <a:rPr lang="pt-BR" sz="2200" dirty="0" smtClean="0"/>
              <a:t>, formulada, tal que o seu mínimo define a solução mais preferível. Para tanto, define-se a </a:t>
            </a:r>
            <a:r>
              <a:rPr lang="pt-BR" sz="2200" dirty="0" smtClean="0">
                <a:solidFill>
                  <a:srgbClr val="FFFF00"/>
                </a:solidFill>
              </a:rPr>
              <a:t>função penalidade linear local </a:t>
            </a:r>
            <a:r>
              <a:rPr lang="pt-BR" sz="2200" b="1" dirty="0" smtClean="0">
                <a:solidFill>
                  <a:srgbClr val="FFFF00"/>
                </a:solidFill>
              </a:rPr>
              <a:t>Z</a:t>
            </a:r>
            <a:r>
              <a:rPr lang="pt-BR" sz="2200" dirty="0" smtClean="0"/>
              <a:t>. </a:t>
            </a:r>
            <a:endParaRPr lang="en-US" sz="2200" dirty="0" smtClean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228600" y="2981877"/>
            <a:ext cx="6652494" cy="3571221"/>
            <a:chOff x="228600" y="2981877"/>
            <a:chExt cx="6652494" cy="3571221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2981877"/>
              <a:ext cx="6652494" cy="3289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3104663" y="6276099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7.7</a:t>
              </a:r>
              <a:endParaRPr lang="en-US" sz="1200" dirty="0"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460" y="2231591"/>
            <a:ext cx="3733800" cy="42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4026783"/>
            <a:ext cx="1800225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8170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666748" y="381000"/>
                <a:ext cx="7810501" cy="57861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pt-BR" dirty="0" smtClean="0">
                    <a:solidFill>
                      <a:schemeClr val="bg1"/>
                    </a:solidFill>
                  </a:rPr>
                  <a:t>Um exemplo de múltiplas restrições</a:t>
                </a:r>
              </a:p>
              <a:p>
                <a:endParaRPr lang="pt-BR" dirty="0">
                  <a:solidFill>
                    <a:schemeClr val="bg1"/>
                  </a:solidFill>
                </a:endParaRPr>
              </a:p>
              <a:p>
                <a:pPr algn="just"/>
                <a:r>
                  <a:rPr lang="pt-BR" sz="1400" dirty="0" smtClean="0">
                    <a:solidFill>
                      <a:schemeClr val="bg1"/>
                    </a:solidFill>
                  </a:rPr>
                  <a:t>A constante de troca para a economia de peso em caminhões leves é </a:t>
                </a:r>
                <a14:m>
                  <m:oMath xmlns:m="http://schemas.openxmlformats.org/officeDocument/2006/math">
                    <m:r>
                      <a:rPr lang="pt-BR" sz="14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𝛼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=$ 12/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𝑘𝑔</m:t>
                    </m:r>
                  </m:oMath>
                </a14:m>
                <a:r>
                  <a:rPr lang="pt-BR" sz="1400" dirty="0" smtClean="0">
                    <a:solidFill>
                      <a:schemeClr val="bg1"/>
                    </a:solidFill>
                  </a:rPr>
                  <a:t>, o que significa que o valor da redução do peso durante a vida útil do veículo é $ 12 para cada quilograma economizado. Um fabricante desses veículos oferece três modelos. O primeiro usa painéis de aço na carroceria. O segundo usa painéis de alumínio, que custam $ 2500 mais, porém pesam 300 kg menos. O terceiro oferece painéis de fibra de carbono, que custam $ 8000 mais e pesam 500 kg menos. Qual é a melhor comprar?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b="1" dirty="0" smtClean="0">
                    <a:solidFill>
                      <a:schemeClr val="bg1"/>
                    </a:solidFill>
                  </a:rPr>
                  <a:t>Resposta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dirty="0" smtClean="0">
                    <a:solidFill>
                      <a:schemeClr val="bg1"/>
                    </a:solidFill>
                  </a:rPr>
                  <a:t>As funções penalidade para veículos de aço (2) são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𝑍</m:t>
                          </m:r>
                          <m:r>
                            <m:rPr>
                              <m:nor/>
                            </m:rP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sSub>
                        <m:sSubPr>
                          <m:ctrlP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1400" dirty="0" smtClean="0">
                  <a:solidFill>
                    <a:schemeClr val="bg1"/>
                  </a:solidFill>
                </a:endParaRPr>
              </a:p>
              <a:p>
                <a:r>
                  <a:rPr lang="pt-BR" sz="1400" dirty="0">
                    <a:solidFill>
                      <a:schemeClr val="bg1"/>
                    </a:solidFill>
                  </a:rPr>
                  <a:t>e</a:t>
                </a:r>
                <a:r>
                  <a:rPr lang="pt-BR" sz="1400" dirty="0" smtClean="0">
                    <a:solidFill>
                      <a:schemeClr val="bg1"/>
                    </a:solidFill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𝑍</m:t>
                          </m:r>
                          <m:r>
                            <m:rPr>
                              <m:nor/>
                            </m:rP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m:rPr>
                              <m:nor/>
                            </m:rPr>
                            <a:rPr lang="pt-BR" sz="14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>
                  <a:solidFill>
                    <a:schemeClr val="bg1"/>
                  </a:solidFill>
                </a:endParaRP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r>
                  <a:rPr lang="pt-BR" sz="1400" dirty="0" smtClean="0">
                    <a:solidFill>
                      <a:schemeClr val="bg1"/>
                    </a:solidFill>
                  </a:rPr>
                  <a:t>O veículo de alumínio é atraente somente se sua Z for mais baixa do que a Z do veículo de aço. Por extenso,</a:t>
                </a:r>
              </a:p>
              <a:p>
                <a:endParaRPr lang="pt-BR" sz="14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𝑍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solidFill>
                                <a:schemeClr val="bg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𝑍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</a:rPr>
                        <m:t>+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pt-BR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pt-BR" sz="1400" i="1" smtClean="0">
                              <a:solidFill>
                                <a:schemeClr val="bg1"/>
                              </a:solidFill>
                              <a:latin typeface="Cambria Math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pt-BR" sz="14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sub>
                              <m:r>
                                <a:rPr lang="pt-BR" sz="1400" b="0" i="1" dirty="0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𝑚</m:t>
                              </m:r>
                              <m:r>
                                <m:rPr>
                                  <m:nor/>
                                </m:rPr>
                                <a:rPr lang="pt-BR" sz="1400" dirty="0">
                                  <a:solidFill>
                                    <a:schemeClr val="bg1"/>
                                  </a:solidFill>
                                </a:rPr>
                                <m:t> </m:t>
                              </m:r>
                            </m:e>
                            <m:sub>
                              <m:r>
                                <a:rPr lang="pt-BR" sz="14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14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=2500 −12 </m:t>
                      </m:r>
                      <m:r>
                        <m:rPr>
                          <m:sty m:val="p"/>
                        </m:rPr>
                        <a:rPr lang="pt-BR" sz="14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x</m:t>
                      </m:r>
                      <m:r>
                        <a:rPr lang="pt-BR" sz="14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 300=−1.100</m:t>
                      </m:r>
                    </m:oMath>
                  </m:oMathPara>
                </a14:m>
                <a:endParaRPr lang="pt-BR" sz="1400" dirty="0" smtClean="0">
                  <a:solidFill>
                    <a:schemeClr val="bg1"/>
                  </a:solidFill>
                </a:endParaRPr>
              </a:p>
              <a:p>
                <a:endParaRPr lang="pt-BR" sz="1400" dirty="0" smtClean="0">
                  <a:solidFill>
                    <a:schemeClr val="bg1"/>
                  </a:solidFill>
                </a:endParaRPr>
              </a:p>
              <a:p>
                <a:r>
                  <a:rPr lang="pt-BR" sz="1400" dirty="0" smtClean="0">
                    <a:solidFill>
                      <a:schemeClr val="bg1"/>
                    </a:solidFill>
                  </a:rPr>
                  <a:t>O veículo com painéis de alumínio oferece economia de $ 1100 – é uma boa compra. Repetindo a comparação para o veículo com painéis de compósito, obtemos um valor </a:t>
                </a:r>
                <a14:m>
                  <m:oMath xmlns:m="http://schemas.openxmlformats.org/officeDocument/2006/math"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∆</m:t>
                    </m:r>
                    <m:r>
                      <a:rPr lang="pt-BR" sz="1400" i="1">
                        <a:solidFill>
                          <a:schemeClr val="bg1"/>
                        </a:solidFill>
                        <a:latin typeface="Cambria Math"/>
                      </a:rPr>
                      <m:t>𝑍</m:t>
                    </m:r>
                    <m:r>
                      <a:rPr lang="pt-BR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=+ $2000</m:t>
                    </m:r>
                  </m:oMath>
                </a14:m>
                <a:r>
                  <a:rPr lang="pt-BR" sz="1400" dirty="0" smtClean="0">
                    <a:solidFill>
                      <a:schemeClr val="bg1"/>
                    </a:solidFill>
                  </a:rPr>
                  <a:t>. Não é uma boa compra</a:t>
                </a:r>
                <a:r>
                  <a:rPr lang="pt-BR" sz="1200" dirty="0" smtClean="0">
                    <a:solidFill>
                      <a:schemeClr val="bg1"/>
                    </a:solidFill>
                  </a:rPr>
                  <a:t>.</a:t>
                </a:r>
              </a:p>
              <a:p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48" y="381000"/>
                <a:ext cx="7810501" cy="5786199"/>
              </a:xfrm>
              <a:prstGeom prst="rect">
                <a:avLst/>
              </a:prstGeom>
              <a:blipFill rotWithShape="1">
                <a:blip r:embed="rId3"/>
                <a:stretch>
                  <a:fillRect l="-624" t="-527" r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sp>
        <p:nvSpPr>
          <p:cNvPr id="7" name="Arredondar Retângulo em um Canto Único 6"/>
          <p:cNvSpPr/>
          <p:nvPr/>
        </p:nvSpPr>
        <p:spPr>
          <a:xfrm flipV="1">
            <a:off x="666749" y="371475"/>
            <a:ext cx="4695826" cy="457200"/>
          </a:xfrm>
          <a:prstGeom prst="round1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899998" rev="10799999"/>
              </a:camera>
              <a:lightRig rig="threePt" dir="t"/>
            </a:scene3d>
          </a:bodyPr>
          <a:lstStyle/>
          <a:p>
            <a:pPr algn="ctr"/>
            <a:r>
              <a:rPr lang="pt-BR" sz="2000" b="1" dirty="0" smtClean="0"/>
              <a:t>Usando Funções Penalidades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16428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85800" y="-152400"/>
            <a:ext cx="7772400" cy="1470025"/>
          </a:xfrm>
        </p:spPr>
        <p:txBody>
          <a:bodyPr>
            <a:normAutofit/>
          </a:bodyPr>
          <a:lstStyle/>
          <a:p>
            <a:r>
              <a:rPr lang="pt-BR" dirty="0" smtClean="0"/>
              <a:t>Funções Penalidade Relativa</a:t>
            </a:r>
            <a:endParaRPr lang="pt-BR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876800" y="1434029"/>
            <a:ext cx="4152613" cy="304800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dirty="0" smtClean="0"/>
              <a:t>Quando se busca </a:t>
            </a:r>
            <a:r>
              <a:rPr lang="pt-BR" dirty="0" smtClean="0">
                <a:solidFill>
                  <a:srgbClr val="FFFF00"/>
                </a:solidFill>
              </a:rPr>
              <a:t>um melhor material para uma aplicação existente</a:t>
            </a:r>
            <a:r>
              <a:rPr lang="pt-BR" dirty="0" smtClean="0"/>
              <a:t>, torna-se mais útil </a:t>
            </a:r>
            <a:r>
              <a:rPr lang="pt-BR" dirty="0" smtClean="0">
                <a:solidFill>
                  <a:srgbClr val="FFFF00"/>
                </a:solidFill>
              </a:rPr>
              <a:t>comparar</a:t>
            </a:r>
            <a:r>
              <a:rPr lang="pt-BR" dirty="0" smtClean="0"/>
              <a:t> a </a:t>
            </a:r>
            <a:r>
              <a:rPr lang="pt-BR" dirty="0" smtClean="0">
                <a:solidFill>
                  <a:srgbClr val="FFFF00"/>
                </a:solidFill>
              </a:rPr>
              <a:t>nova escolha com um material existente</a:t>
            </a:r>
            <a:r>
              <a:rPr lang="pt-BR" dirty="0" smtClean="0"/>
              <a:t>; Para tanto, define-se uma </a:t>
            </a:r>
            <a:r>
              <a:rPr lang="pt-BR" dirty="0" smtClean="0">
                <a:solidFill>
                  <a:srgbClr val="FFFF00"/>
                </a:solidFill>
              </a:rPr>
              <a:t>função de penalidade relativa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7" name="Grupo 6"/>
          <p:cNvGrpSpPr/>
          <p:nvPr/>
        </p:nvGrpSpPr>
        <p:grpSpPr>
          <a:xfrm>
            <a:off x="152397" y="1447800"/>
            <a:ext cx="4619625" cy="4632598"/>
            <a:chOff x="152397" y="1447800"/>
            <a:chExt cx="4619625" cy="4632598"/>
          </a:xfrm>
        </p:grpSpPr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397" y="1447800"/>
              <a:ext cx="4619625" cy="43555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024429" y="5803399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7.8</a:t>
              </a:r>
              <a:endParaRPr lang="en-US" sz="1200" dirty="0"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891" y="4419600"/>
            <a:ext cx="24288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0043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914400" y="228600"/>
            <a:ext cx="7315200" cy="1752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 smtClean="0"/>
              <a:t>Uma </a:t>
            </a:r>
            <a:r>
              <a:rPr lang="pt-BR" dirty="0" smtClean="0">
                <a:solidFill>
                  <a:srgbClr val="FFFF00"/>
                </a:solidFill>
              </a:rPr>
              <a:t>constante de troca</a:t>
            </a:r>
            <a:r>
              <a:rPr lang="pt-BR" dirty="0" smtClean="0"/>
              <a:t> é uma </a:t>
            </a:r>
            <a:r>
              <a:rPr lang="pt-BR" dirty="0" smtClean="0">
                <a:solidFill>
                  <a:srgbClr val="FFFF00"/>
                </a:solidFill>
              </a:rPr>
              <a:t>medida da penalidade</a:t>
            </a:r>
            <a:r>
              <a:rPr lang="pt-BR" dirty="0" smtClean="0"/>
              <a:t> de um aumento de </a:t>
            </a:r>
            <a:r>
              <a:rPr lang="pt-BR" dirty="0" smtClean="0">
                <a:solidFill>
                  <a:srgbClr val="FFFF00"/>
                </a:solidFill>
              </a:rPr>
              <a:t>unidade na métrica de desempenho</a:t>
            </a:r>
            <a:r>
              <a:rPr lang="pt-BR" dirty="0" smtClean="0"/>
              <a:t>, ou é o valor ou “utilidade” de um </a:t>
            </a:r>
            <a:r>
              <a:rPr lang="pt-BR" dirty="0" smtClean="0">
                <a:solidFill>
                  <a:srgbClr val="FFFF00"/>
                </a:solidFill>
              </a:rPr>
              <a:t>decréscimo na métrica</a:t>
            </a:r>
            <a:endParaRPr lang="pt-BR" dirty="0">
              <a:solidFill>
                <a:srgbClr val="FFFF00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52314"/>
                  </p:ext>
                </p:extLst>
              </p:nvPr>
            </p:nvGraphicFramePr>
            <p:xfrm>
              <a:off x="990600" y="2362200"/>
              <a:ext cx="7505394" cy="2951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52547"/>
                    <a:gridCol w="2286000"/>
                    <a:gridCol w="2666847"/>
                  </a:tblGrid>
                  <a:tr h="579120">
                    <a:tc gridSpan="3">
                      <a:txBody>
                        <a:bodyPr/>
                        <a:lstStyle/>
                        <a:p>
                          <a:pPr algn="just"/>
                          <a:r>
                            <a:rPr lang="pt-BR" sz="1600" b="1" dirty="0" smtClean="0">
                              <a:solidFill>
                                <a:srgbClr val="FFC000"/>
                              </a:solidFill>
                            </a:rPr>
                            <a:t>Tabela</a:t>
                          </a:r>
                          <a:r>
                            <a:rPr lang="pt-BR" sz="1600" b="1" baseline="0" dirty="0" smtClean="0">
                              <a:solidFill>
                                <a:srgbClr val="FFC000"/>
                              </a:solidFill>
                            </a:rPr>
                            <a:t> 7.1</a:t>
                          </a:r>
                          <a:r>
                            <a:rPr lang="pt-BR" sz="1600" baseline="0" dirty="0" smtClean="0">
                              <a:solidFill>
                                <a:schemeClr val="bg1"/>
                              </a:solidFill>
                            </a:rPr>
                            <a:t> Constante de troca </a:t>
                          </a:r>
                          <a14:m>
                            <m:oMath xmlns:m="http://schemas.openxmlformats.org/officeDocument/2006/math">
                              <m:r>
                                <a:rPr lang="pt-BR" sz="1600" baseline="0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US" sz="1600" dirty="0" smtClean="0">
                              <a:solidFill>
                                <a:schemeClr val="bg1"/>
                              </a:solidFill>
                            </a:rPr>
                            <a:t> para a </a:t>
                          </a:r>
                          <a:r>
                            <a:rPr lang="pt-BR" sz="1600" noProof="0" dirty="0" smtClean="0">
                              <a:solidFill>
                                <a:schemeClr val="bg1"/>
                              </a:solidFill>
                            </a:rPr>
                            <a:t>permuta</a:t>
                          </a:r>
                          <a:r>
                            <a:rPr lang="pt-BR" sz="1600" baseline="0" noProof="0" dirty="0" smtClean="0">
                              <a:solidFill>
                                <a:schemeClr val="bg1"/>
                              </a:solidFill>
                            </a:rPr>
                            <a:t> massa-custo em sistemas </a:t>
                          </a:r>
                          <a:r>
                            <a:rPr lang="en-US" sz="1600" baseline="0" dirty="0" smtClean="0">
                              <a:solidFill>
                                <a:schemeClr val="bg1"/>
                              </a:solidFill>
                            </a:rPr>
                            <a:t>de </a:t>
                          </a:r>
                          <a:r>
                            <a:rPr lang="pt-BR" sz="1600" baseline="0" noProof="0" dirty="0" smtClean="0">
                              <a:solidFill>
                                <a:schemeClr val="bg1"/>
                              </a:solidFill>
                            </a:rPr>
                            <a:t>transporte</a:t>
                          </a:r>
                          <a:r>
                            <a:rPr lang="en-US" sz="1600" baseline="0" dirty="0" smtClean="0">
                              <a:solidFill>
                                <a:schemeClr val="bg1"/>
                              </a:solidFill>
                            </a:rPr>
                            <a:t>.</a:t>
                          </a:r>
                          <a:endParaRPr lang="en-US" sz="1600" b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Setor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: Sistemas de Transporte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Base de Estimativa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Constante de troca,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  (US$/kg)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Carro de Família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Economia de Combustível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1-2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Caminhão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útil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5-20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Aeronave Civil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 útil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100-500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Aeronave Militar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útil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, desempenho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500-1000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Veículo Espacial</a:t>
                          </a:r>
                          <a:endParaRPr lang="en-US" sz="1400" dirty="0" smtClean="0">
                            <a:solidFill>
                              <a:schemeClr val="bg1"/>
                            </a:solidFill>
                          </a:endParaRPr>
                        </a:p>
                        <a:p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 útil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3000-10000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1452314"/>
                  </p:ext>
                </p:extLst>
              </p:nvPr>
            </p:nvGraphicFramePr>
            <p:xfrm>
              <a:off x="990600" y="2362200"/>
              <a:ext cx="7505394" cy="2951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552547"/>
                    <a:gridCol w="2286000"/>
                    <a:gridCol w="2666847"/>
                  </a:tblGrid>
                  <a:tr h="579120">
                    <a:tc gridSpan="3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81" t="-3158" b="-4094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Setor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: Sistemas de Transporte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Base de Estimativa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 smtClean="0">
                              <a:solidFill>
                                <a:schemeClr val="bg1"/>
                              </a:solidFill>
                            </a:rPr>
                            <a:t>Constante de troca,</a:t>
                          </a:r>
                          <a:r>
                            <a:rPr lang="pt-BR" sz="1200" b="1" baseline="0" dirty="0" smtClean="0">
                              <a:solidFill>
                                <a:schemeClr val="bg1"/>
                              </a:solidFill>
                            </a:rPr>
                            <a:t>  (US$/kg)</a:t>
                          </a:r>
                          <a:endParaRPr lang="en-US" sz="12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Carro de Família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Economia de Combustível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1-2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Caminhão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útil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5-20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Aeronave Civil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 útil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100-500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Aeronave Militar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</a:t>
                          </a:r>
                          <a:r>
                            <a:rPr lang="pt-BR" sz="1400" baseline="0" dirty="0" smtClean="0">
                              <a:solidFill>
                                <a:schemeClr val="bg1"/>
                              </a:solidFill>
                            </a:rPr>
                            <a:t> útil</a:t>
                          </a: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, desempenho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500-1000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  <a:tr h="5181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Veículo Espacial</a:t>
                          </a:r>
                          <a:endParaRPr lang="en-US" sz="1400" dirty="0" smtClean="0">
                            <a:solidFill>
                              <a:schemeClr val="bg1"/>
                            </a:solidFill>
                          </a:endParaRPr>
                        </a:p>
                        <a:p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Carga útil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pt-BR" sz="1400" dirty="0" smtClean="0">
                              <a:solidFill>
                                <a:schemeClr val="bg1"/>
                              </a:solidFill>
                            </a:rPr>
                            <a:t>3000-10000</a:t>
                          </a:r>
                          <a:endParaRPr lang="en-US" sz="14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chemeClr val="tx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6129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8229600" cy="1752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 smtClean="0"/>
              <a:t>Um gráfico de permuta </a:t>
            </a:r>
            <a:r>
              <a:rPr lang="pt-BR" dirty="0" smtClean="0">
                <a:solidFill>
                  <a:srgbClr val="FFFF00"/>
                </a:solidFill>
              </a:rPr>
              <a:t>custo-massa para bicicletas</a:t>
            </a:r>
            <a:r>
              <a:rPr lang="pt-BR" dirty="0" smtClean="0"/>
              <a:t>. A tangente a </a:t>
            </a:r>
            <a:r>
              <a:rPr lang="pt-BR" dirty="0" smtClean="0">
                <a:solidFill>
                  <a:srgbClr val="FFFF00"/>
                </a:solidFill>
              </a:rPr>
              <a:t>superfície de permuta</a:t>
            </a:r>
            <a:r>
              <a:rPr lang="pt-BR" dirty="0" smtClean="0"/>
              <a:t> a qualquer ponto fornece um estimativa da </a:t>
            </a:r>
            <a:r>
              <a:rPr lang="pt-BR" dirty="0" smtClean="0">
                <a:solidFill>
                  <a:srgbClr val="FFFF00"/>
                </a:solidFill>
              </a:rPr>
              <a:t>constante de troca</a:t>
            </a:r>
            <a:r>
              <a:rPr lang="pt-BR" dirty="0" smtClean="0"/>
              <a:t>. Depende da aplicação. Para um consumidor, a busca por uma </a:t>
            </a:r>
            <a:r>
              <a:rPr lang="pt-BR" dirty="0" smtClean="0">
                <a:solidFill>
                  <a:srgbClr val="FFFF00"/>
                </a:solidFill>
              </a:rPr>
              <a:t>bicicleta barata para comprar</a:t>
            </a:r>
            <a:r>
              <a:rPr lang="pt-BR" dirty="0" smtClean="0"/>
              <a:t>, o valor do peso é baixo (20$/kg). Para um entusiasta, que deseja desempenho, pode ser elevado ($2000/kg).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524000" y="152400"/>
            <a:ext cx="6099061" cy="4614371"/>
            <a:chOff x="1522465" y="111286"/>
            <a:chExt cx="6099061" cy="4614371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2465" y="111286"/>
              <a:ext cx="6099061" cy="43373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134214" y="4448658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7.9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8590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47699" y="4800600"/>
            <a:ext cx="7848600" cy="17526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dirty="0" smtClean="0"/>
              <a:t>Muitas vezes acontece que </a:t>
            </a:r>
            <a:r>
              <a:rPr lang="pt-BR" dirty="0"/>
              <a:t>um </a:t>
            </a:r>
            <a:r>
              <a:rPr lang="pt-BR" dirty="0" smtClean="0"/>
              <a:t>único material </a:t>
            </a:r>
            <a:r>
              <a:rPr lang="pt-BR" dirty="0"/>
              <a:t>(</a:t>
            </a:r>
            <a:r>
              <a:rPr lang="pt-BR" dirty="0" smtClean="0"/>
              <a:t>ou subconjunto de materiais) é ótimo sobre a faixa ampla de valores da constante de troca. Então, valores aproximados para as constantes de permuta são suficientes para se chegar à conclusões precisas sobre a escolha de materiais. </a:t>
            </a:r>
            <a:endParaRPr lang="pt-BR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Materials Selection in Mechanical Design, 4th Edition, © 2010 Michael Ashby</a:t>
            </a:r>
            <a:endParaRPr lang="en-US" dirty="0" smtClean="0"/>
          </a:p>
        </p:txBody>
      </p:sp>
      <p:grpSp>
        <p:nvGrpSpPr>
          <p:cNvPr id="5" name="Grupo 4"/>
          <p:cNvGrpSpPr/>
          <p:nvPr/>
        </p:nvGrpSpPr>
        <p:grpSpPr>
          <a:xfrm>
            <a:off x="1763315" y="228600"/>
            <a:ext cx="5617369" cy="4378461"/>
            <a:chOff x="1763315" y="228600"/>
            <a:chExt cx="5617369" cy="4378461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3315" y="228600"/>
              <a:ext cx="5617369" cy="410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4091739" y="4330062"/>
              <a:ext cx="9605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smtClean="0"/>
                <a:t>Figura 7.10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38880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terialsSelec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MaterialsSelection</Template>
  <TotalTime>637</TotalTime>
  <Words>1628</Words>
  <Application>Microsoft Macintosh PowerPoint</Application>
  <PresentationFormat>Apresentação na tela (4:3)</PresentationFormat>
  <Paragraphs>160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Calibri</vt:lpstr>
      <vt:lpstr>Cambria Math</vt:lpstr>
      <vt:lpstr>Wingdings</vt:lpstr>
      <vt:lpstr>Arial</vt:lpstr>
      <vt:lpstr>MaterialsSelection</vt:lpstr>
      <vt:lpstr>Capítulo 7 Múltiplas Restrições e Objetivos Conflitantes</vt:lpstr>
      <vt:lpstr>Restrições Múltiplas e Objetivos Conflitantes</vt:lpstr>
      <vt:lpstr>Apresentação do PowerPoint</vt:lpstr>
      <vt:lpstr>Seleção com Múltiplas Restrições</vt:lpstr>
      <vt:lpstr>Apresentação do PowerPoint</vt:lpstr>
      <vt:lpstr>Apresentação do PowerPoint</vt:lpstr>
      <vt:lpstr>Apresentação do PowerPoint</vt:lpstr>
      <vt:lpstr>Método Analítico</vt:lpstr>
      <vt:lpstr>Método Gráfico</vt:lpstr>
      <vt:lpstr>Objetivos Conflitantes</vt:lpstr>
      <vt:lpstr>Estratégias de Permuta</vt:lpstr>
      <vt:lpstr>Apresentação do PowerPoint</vt:lpstr>
      <vt:lpstr>Apresentação do PowerPoint</vt:lpstr>
      <vt:lpstr>Funções Penalidade Relativa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Hougendobler</dc:creator>
  <cp:lastModifiedBy>IVALDO L FERREIRA</cp:lastModifiedBy>
  <cp:revision>65</cp:revision>
  <dcterms:created xsi:type="dcterms:W3CDTF">2010-09-03T02:00:13Z</dcterms:created>
  <dcterms:modified xsi:type="dcterms:W3CDTF">2018-10-11T11:46:46Z</dcterms:modified>
</cp:coreProperties>
</file>