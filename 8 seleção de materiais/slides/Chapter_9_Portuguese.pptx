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3" r:id="rId9"/>
    <p:sldId id="282" r:id="rId10"/>
    <p:sldId id="264" r:id="rId11"/>
    <p:sldId id="265" r:id="rId12"/>
    <p:sldId id="267" r:id="rId13"/>
    <p:sldId id="268" r:id="rId14"/>
    <p:sldId id="284" r:id="rId15"/>
    <p:sldId id="285" r:id="rId16"/>
    <p:sldId id="270" r:id="rId17"/>
    <p:sldId id="269" r:id="rId18"/>
    <p:sldId id="289" r:id="rId19"/>
    <p:sldId id="271" r:id="rId20"/>
    <p:sldId id="286" r:id="rId21"/>
    <p:sldId id="272" r:id="rId22"/>
    <p:sldId id="273" r:id="rId23"/>
    <p:sldId id="274" r:id="rId24"/>
    <p:sldId id="275" r:id="rId25"/>
    <p:sldId id="288" r:id="rId26"/>
    <p:sldId id="276" r:id="rId27"/>
    <p:sldId id="277" r:id="rId28"/>
    <p:sldId id="278" r:id="rId29"/>
    <p:sldId id="279" r:id="rId30"/>
    <p:sldId id="28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93112"/>
  </p:normalViewPr>
  <p:slideViewPr>
    <p:cSldViewPr>
      <p:cViewPr>
        <p:scale>
          <a:sx n="100" d="100"/>
          <a:sy n="100" d="100"/>
        </p:scale>
        <p:origin x="144" y="-4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10/25/18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71325-F8FE-45B7-B543-568007E1A236}" type="datetime1">
              <a:rPr lang="en-US" smtClean="0"/>
              <a:t>10/25/18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3910-BC90-454C-9890-E99DDA09F8C1}" type="datetime1">
              <a:rPr lang="en-US" smtClean="0"/>
              <a:t>10/25/18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8590-5E8C-4505-B373-BC8D5FD5A0BB}" type="datetime1">
              <a:rPr lang="en-US" smtClean="0"/>
              <a:t>10/25/18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B621-3A3D-42B8-8626-9B9AEF11E5F8}" type="datetime1">
              <a:rPr lang="en-US" smtClean="0"/>
              <a:t>10/25/18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289F-D884-49D6-976B-7BB7E717FBB9}" type="datetime1">
              <a:rPr lang="en-US" smtClean="0"/>
              <a:t>10/25/18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FB5C6-CF8A-4BE2-83D5-9554B13C4434}" type="datetime1">
              <a:rPr lang="en-US" smtClean="0"/>
              <a:t>10/25/18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B6048-04A0-4B52-99DA-679A8ABBF65B}" type="datetime1">
              <a:rPr lang="en-US" smtClean="0"/>
              <a:t>10/25/18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E060-E369-4C02-A7AD-3E52F3772A71}" type="datetime1">
              <a:rPr lang="en-US" smtClean="0"/>
              <a:t>10/25/18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473A-CA75-4994-9A29-EA73729DCC20}" type="datetime1">
              <a:rPr lang="en-US" smtClean="0"/>
              <a:t>10/25/18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1EB2D-C1F4-4493-8DAC-AE9099CAEC6F}" type="datetime1">
              <a:rPr lang="en-US" smtClean="0"/>
              <a:t>10/25/18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190F-F41C-4CCB-BF34-16958BCD1EEA}" type="datetime1">
              <a:rPr lang="en-US" smtClean="0"/>
              <a:t>10/25/18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A490A-A636-45E4-9807-BC2A54B44C93}" type="datetime1">
              <a:rPr lang="en-US" smtClean="0"/>
              <a:t>10/25/18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967756"/>
            <a:ext cx="4876800" cy="1470025"/>
          </a:xfrm>
        </p:spPr>
        <p:txBody>
          <a:bodyPr>
            <a:normAutofit fontScale="90000"/>
          </a:bodyPr>
          <a:lstStyle/>
          <a:p>
            <a:r>
              <a:rPr lang="pt-BR" sz="4400" dirty="0"/>
              <a:t>Capítulo 9</a:t>
            </a:r>
            <a:br>
              <a:rPr lang="pt-BR" dirty="0"/>
            </a:br>
            <a:r>
              <a:rPr lang="pt-BR" dirty="0">
                <a:solidFill>
                  <a:schemeClr val="tx1"/>
                </a:solidFill>
              </a:rPr>
              <a:t>Seleção de Material e Forma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2659471" cy="2795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7" y="3429000"/>
            <a:ext cx="6067425" cy="307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4800"/>
            <a:ext cx="6400800" cy="1752600"/>
          </a:xfrm>
          <a:solidFill>
            <a:schemeClr val="accent5">
              <a:lumMod val="75000"/>
            </a:schemeClr>
          </a:solidFill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rgbClr val="FFFF00"/>
                </a:solidFill>
              </a:rPr>
              <a:t>Forma </a:t>
            </a:r>
            <a:r>
              <a:rPr lang="pt-BR" dirty="0">
                <a:solidFill>
                  <a:srgbClr val="FFFF00"/>
                </a:solidFill>
              </a:rPr>
              <a:t>da seção</a:t>
            </a:r>
            <a:r>
              <a:rPr lang="pt-BR" dirty="0"/>
              <a:t> é importante para </a:t>
            </a:r>
            <a:r>
              <a:rPr lang="pt-BR" dirty="0">
                <a:solidFill>
                  <a:srgbClr val="FFFF00"/>
                </a:solidFill>
              </a:rPr>
              <a:t>certos modos de carregamento</a:t>
            </a:r>
            <a:r>
              <a:rPr lang="pt-BR" dirty="0"/>
              <a:t>. Quando</a:t>
            </a:r>
            <a:r>
              <a:rPr lang="en-US" dirty="0"/>
              <a:t> </a:t>
            </a:r>
            <a:r>
              <a:rPr lang="pt-BR" dirty="0"/>
              <a:t>a forma é variável, um novo termo </a:t>
            </a:r>
            <a:r>
              <a:rPr lang="el-GR" i="1" dirty="0"/>
              <a:t>Φ</a:t>
            </a:r>
            <a:r>
              <a:rPr lang="en-US" dirty="0"/>
              <a:t> – </a:t>
            </a:r>
            <a:r>
              <a:rPr lang="pt-BR" dirty="0"/>
              <a:t>aparece em alguns dos índices do material</a:t>
            </a:r>
            <a:r>
              <a:rPr lang="en-US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1864518" y="2347642"/>
            <a:ext cx="5414963" cy="4053266"/>
            <a:chOff x="1864518" y="2347642"/>
            <a:chExt cx="5414963" cy="4053266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4518" y="2347642"/>
              <a:ext cx="5414963" cy="3776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134219" y="6123909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629400" cy="1752600"/>
          </a:xfrm>
        </p:spPr>
        <p:txBody>
          <a:bodyPr>
            <a:normAutofit fontScale="85000" lnSpcReduction="10000"/>
          </a:bodyPr>
          <a:lstStyle/>
          <a:p>
            <a:r>
              <a:rPr lang="pt-BR" dirty="0">
                <a:solidFill>
                  <a:srgbClr val="FFFF00"/>
                </a:solidFill>
              </a:rPr>
              <a:t>Eficiência mecânica</a:t>
            </a:r>
            <a:r>
              <a:rPr lang="pt-BR" dirty="0"/>
              <a:t> é obtida pela </a:t>
            </a:r>
            <a:r>
              <a:rPr lang="pt-BR" dirty="0">
                <a:solidFill>
                  <a:srgbClr val="FFFF00"/>
                </a:solidFill>
              </a:rPr>
              <a:t>combinação de material com forma macroscópica</a:t>
            </a:r>
            <a:r>
              <a:rPr lang="pt-BR" dirty="0"/>
              <a:t>.</a:t>
            </a:r>
            <a:r>
              <a:rPr lang="en-US" dirty="0"/>
              <a:t> </a:t>
            </a:r>
            <a:r>
              <a:rPr lang="pt-BR" dirty="0"/>
              <a:t>A forma é caracterizada pelo </a:t>
            </a:r>
            <a:r>
              <a:rPr lang="pt-BR" dirty="0">
                <a:solidFill>
                  <a:srgbClr val="FFFF00"/>
                </a:solidFill>
              </a:rPr>
              <a:t>fator de forma adimensional </a:t>
            </a:r>
            <a:r>
              <a:rPr lang="el-GR" i="1" dirty="0">
                <a:solidFill>
                  <a:srgbClr val="FFFF00"/>
                </a:solidFill>
              </a:rPr>
              <a:t>Φ</a:t>
            </a:r>
            <a:r>
              <a:rPr lang="en-US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7" name="Grupo 6"/>
          <p:cNvGrpSpPr/>
          <p:nvPr/>
        </p:nvGrpSpPr>
        <p:grpSpPr>
          <a:xfrm>
            <a:off x="1752600" y="1423225"/>
            <a:ext cx="5681300" cy="2054134"/>
            <a:chOff x="1752600" y="1423225"/>
            <a:chExt cx="5681300" cy="2054134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1423225"/>
              <a:ext cx="5681300" cy="1777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134218" y="3200360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232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595" y="228600"/>
            <a:ext cx="4594809" cy="605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291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029200" y="496455"/>
            <a:ext cx="3886200" cy="2018145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pt-BR" sz="2000" dirty="0"/>
              <a:t>A </a:t>
            </a:r>
            <a:r>
              <a:rPr lang="pt-BR" sz="2000" dirty="0">
                <a:solidFill>
                  <a:srgbClr val="FFFF00"/>
                </a:solidFill>
              </a:rPr>
              <a:t>melhor combinação material-forma</a:t>
            </a:r>
            <a:r>
              <a:rPr lang="pt-BR" sz="2000" dirty="0"/>
              <a:t> depende do </a:t>
            </a:r>
            <a:r>
              <a:rPr lang="pt-BR" sz="2000" dirty="0">
                <a:solidFill>
                  <a:srgbClr val="FFFF00"/>
                </a:solidFill>
              </a:rPr>
              <a:t>modo de carregamento</a:t>
            </a:r>
            <a:r>
              <a:rPr lang="pt-BR" sz="2000" dirty="0"/>
              <a:t>. Certos elementos estruturais são especialmente projetados para suportar tipos específicos de carregamentos</a:t>
            </a:r>
            <a:r>
              <a:rPr lang="en-US" sz="20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369972" y="457198"/>
            <a:ext cx="4418947" cy="5746660"/>
            <a:chOff x="369972" y="457198"/>
            <a:chExt cx="4418947" cy="574666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972" y="457198"/>
              <a:ext cx="4418947" cy="5486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147179" y="5926859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307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104773" y="169713"/>
            <a:ext cx="4467225" cy="4155883"/>
            <a:chOff x="104773" y="169713"/>
            <a:chExt cx="4467225" cy="415588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773" y="169713"/>
              <a:ext cx="4467225" cy="38788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910131" y="4048597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9.4</a:t>
              </a:r>
            </a:p>
          </p:txBody>
        </p:sp>
      </p:grp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648200" y="53975"/>
            <a:ext cx="4467225" cy="1470025"/>
          </a:xfrm>
        </p:spPr>
        <p:txBody>
          <a:bodyPr>
            <a:normAutofit/>
          </a:bodyPr>
          <a:lstStyle/>
          <a:p>
            <a:r>
              <a:rPr lang="pt-BR" dirty="0"/>
              <a:t>Flexão Elásticas de Vigas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4800600" y="1600200"/>
            <a:ext cx="4114800" cy="15240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 </a:t>
            </a:r>
            <a:r>
              <a:rPr lang="pt-BR" dirty="0">
                <a:solidFill>
                  <a:srgbClr val="FFFF00"/>
                </a:solidFill>
              </a:rPr>
              <a:t>rigidez de uma viga</a:t>
            </a:r>
            <a:r>
              <a:rPr lang="pt-BR" dirty="0"/>
              <a:t> é proporcional ao </a:t>
            </a:r>
            <a:r>
              <a:rPr lang="pt-BR" dirty="0">
                <a:solidFill>
                  <a:srgbClr val="FFFF00"/>
                </a:solidFill>
              </a:rPr>
              <a:t>produto </a:t>
            </a:r>
            <a:r>
              <a:rPr lang="pt-BR" i="1" dirty="0">
                <a:solidFill>
                  <a:srgbClr val="FFFF00"/>
                </a:solidFill>
              </a:rPr>
              <a:t>EI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00400"/>
            <a:ext cx="1347571" cy="728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Subtitle 7"/>
          <p:cNvSpPr txBox="1">
            <a:spLocks/>
          </p:cNvSpPr>
          <p:nvPr/>
        </p:nvSpPr>
        <p:spPr>
          <a:xfrm>
            <a:off x="609600" y="4648200"/>
            <a:ext cx="7924800" cy="17526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A </a:t>
            </a:r>
            <a:r>
              <a:rPr lang="pt-BR" dirty="0">
                <a:solidFill>
                  <a:srgbClr val="FFFF00"/>
                </a:solidFill>
              </a:rPr>
              <a:t>Figura 9.4</a:t>
            </a:r>
            <a:r>
              <a:rPr lang="pt-BR" dirty="0"/>
              <a:t> apresenta o efeito da forma sobre a rigidez a flexão. A viga de seção quadrada comparada: </a:t>
            </a:r>
            <a:r>
              <a:rPr lang="pt-BR" i="1" dirty="0">
                <a:solidFill>
                  <a:srgbClr val="FFFF00"/>
                </a:solidFill>
              </a:rPr>
              <a:t>esquerda</a:t>
            </a:r>
            <a:r>
              <a:rPr lang="pt-BR" dirty="0"/>
              <a:t>, com um tudo de </a:t>
            </a:r>
            <a:r>
              <a:rPr lang="pt-BR" dirty="0">
                <a:solidFill>
                  <a:srgbClr val="FFFF00"/>
                </a:solidFill>
              </a:rPr>
              <a:t>mesma área</a:t>
            </a:r>
            <a:r>
              <a:rPr lang="pt-BR" dirty="0"/>
              <a:t>; </a:t>
            </a:r>
            <a:r>
              <a:rPr lang="pt-BR" dirty="0">
                <a:solidFill>
                  <a:srgbClr val="FFFF00"/>
                </a:solidFill>
              </a:rPr>
              <a:t>direita</a:t>
            </a:r>
            <a:r>
              <a:rPr lang="pt-BR" dirty="0"/>
              <a:t>, com um tudo de </a:t>
            </a:r>
            <a:r>
              <a:rPr lang="pt-BR" dirty="0">
                <a:solidFill>
                  <a:srgbClr val="FFFF00"/>
                </a:solidFill>
              </a:rPr>
              <a:t>mesma rigidez</a:t>
            </a:r>
            <a:r>
              <a:rPr lang="pt-BR" dirty="0"/>
              <a:t> (porém, </a:t>
            </a:r>
            <a:r>
              <a:rPr lang="pt-BR" dirty="0">
                <a:solidFill>
                  <a:srgbClr val="FFFF00"/>
                </a:solidFill>
              </a:rPr>
              <a:t>4X mais leve</a:t>
            </a:r>
            <a:r>
              <a:rPr lang="pt-BR" dirty="0"/>
              <a:t>).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1525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4264923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244764"/>
            <a:ext cx="4381169" cy="2325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410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343400" y="1066800"/>
            <a:ext cx="4343400" cy="16764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>
                <a:solidFill>
                  <a:srgbClr val="FFFF00"/>
                </a:solidFill>
              </a:rPr>
              <a:t>Fator de forma</a:t>
            </a:r>
            <a:r>
              <a:rPr lang="pt-BR" dirty="0"/>
              <a:t> para vários </a:t>
            </a:r>
            <a:r>
              <a:rPr lang="pt-BR" dirty="0">
                <a:solidFill>
                  <a:srgbClr val="FFFF00"/>
                </a:solidFill>
              </a:rPr>
              <a:t>elementos estruturais </a:t>
            </a:r>
            <a:r>
              <a:rPr lang="pt-BR" dirty="0"/>
              <a:t>sujeitos a </a:t>
            </a:r>
            <a:r>
              <a:rPr lang="pt-BR" dirty="0">
                <a:solidFill>
                  <a:srgbClr val="FFFF00"/>
                </a:solidFill>
              </a:rPr>
              <a:t>carregamentos de flexão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06013" y="295837"/>
            <a:ext cx="3724275" cy="5950221"/>
            <a:chOff x="2443163" y="152400"/>
            <a:chExt cx="4257675" cy="618385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163" y="152400"/>
              <a:ext cx="4257675" cy="5895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071519" y="6048375"/>
              <a:ext cx="1000961" cy="2878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11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800099" y="990600"/>
                <a:ext cx="7810501" cy="401488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Um exemplo de múltiplas restrições</a:t>
                </a:r>
              </a:p>
              <a:p>
                <a:endParaRPr lang="pt-BR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Um tubo tem raio r = 10 mm e uma espessura de parede t = 1mm. De quanto ele é mais rijo que um cilindro sólido de mesma massa por unidade de comprimento </a:t>
                </a:r>
                <a:r>
                  <a:rPr lang="pt-BR" sz="1400" i="1" dirty="0">
                    <a:solidFill>
                      <a:schemeClr val="bg1"/>
                    </a:solidFill>
                  </a:rPr>
                  <a:t>m</a:t>
                </a:r>
                <a:r>
                  <a:rPr lang="pt-BR" sz="1400" baseline="-25000" dirty="0">
                    <a:solidFill>
                      <a:schemeClr val="bg1"/>
                    </a:solidFill>
                  </a:rPr>
                  <a:t>l</a:t>
                </a:r>
                <a:r>
                  <a:rPr lang="pt-BR" sz="1400" dirty="0">
                    <a:solidFill>
                      <a:schemeClr val="bg1"/>
                    </a:solidFill>
                  </a:rPr>
                  <a:t>?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b="1" dirty="0">
                    <a:solidFill>
                      <a:schemeClr val="bg1"/>
                    </a:solidFill>
                  </a:rPr>
                  <a:t>Resposta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dirty="0">
                    <a:solidFill>
                      <a:schemeClr val="bg1"/>
                    </a:solidFill>
                  </a:rPr>
                  <a:t>A diferença é a razão entre os dois fatores de forma. O fator de forma para o tubo, pela Tabela 9.3 é,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</m:t>
                          </m:r>
                        </m:sup>
                      </m:sSubSup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=9,55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Para um sólido de seção circular é,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</m:t>
                          </m:r>
                        </m:sup>
                      </m:sSubSup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0,9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55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algn="just"/>
                <a:endParaRPr lang="pt-BR" sz="14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Desta forma, conclui-se que o tubo é mais rijo por um fator de 10. </a:t>
                </a:r>
              </a:p>
              <a:p>
                <a:pPr algn="just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99" y="990600"/>
                <a:ext cx="7810501" cy="4014882"/>
              </a:xfrm>
              <a:prstGeom prst="rect">
                <a:avLst/>
              </a:prstGeom>
              <a:blipFill rotWithShape="1">
                <a:blip r:embed="rId2"/>
                <a:stretch>
                  <a:fillRect l="-624" t="-760" r="-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edondar Retângulo em um Canto Único 4"/>
          <p:cNvSpPr/>
          <p:nvPr/>
        </p:nvSpPr>
        <p:spPr>
          <a:xfrm flipV="1">
            <a:off x="800099" y="990600"/>
            <a:ext cx="4695826" cy="45720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899998" rev="10799999"/>
              </a:camera>
              <a:lightRig rig="threePt" dir="t"/>
            </a:scene3d>
          </a:bodyPr>
          <a:lstStyle/>
          <a:p>
            <a:pPr algn="ctr"/>
            <a:r>
              <a:rPr lang="pt-BR" sz="2000" b="1" dirty="0"/>
              <a:t>Calculando fatores de forma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167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14400" y="261201"/>
            <a:ext cx="7315200" cy="1470025"/>
          </a:xfrm>
        </p:spPr>
        <p:txBody>
          <a:bodyPr>
            <a:normAutofit/>
          </a:bodyPr>
          <a:lstStyle/>
          <a:p>
            <a:r>
              <a:rPr lang="pt-BR" sz="4400" dirty="0"/>
              <a:t>Torção Elásticas de Eixos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1600" y="1644073"/>
            <a:ext cx="6400799" cy="1632527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As </a:t>
            </a:r>
            <a:r>
              <a:rPr lang="pt-BR" dirty="0">
                <a:solidFill>
                  <a:srgbClr val="FFFF00"/>
                </a:solidFill>
              </a:rPr>
              <a:t>formas</a:t>
            </a:r>
            <a:r>
              <a:rPr lang="pt-BR" dirty="0"/>
              <a:t> que </a:t>
            </a:r>
            <a:r>
              <a:rPr lang="pt-BR" dirty="0">
                <a:solidFill>
                  <a:srgbClr val="FFFF00"/>
                </a:solidFill>
              </a:rPr>
              <a:t>resistem</a:t>
            </a:r>
            <a:r>
              <a:rPr lang="pt-BR" dirty="0"/>
              <a:t> bem a </a:t>
            </a:r>
            <a:r>
              <a:rPr lang="pt-BR" dirty="0">
                <a:solidFill>
                  <a:srgbClr val="FFFF00"/>
                </a:solidFill>
              </a:rPr>
              <a:t>flexão</a:t>
            </a:r>
            <a:r>
              <a:rPr lang="pt-BR" dirty="0"/>
              <a:t>, podem não ser tão boas quanto submetidas </a:t>
            </a:r>
            <a:r>
              <a:rPr lang="pt-BR" dirty="0">
                <a:solidFill>
                  <a:srgbClr val="FFFF00"/>
                </a:solidFill>
              </a:rPr>
              <a:t>a torção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52800"/>
            <a:ext cx="244549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352800"/>
            <a:ext cx="22907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6538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4185232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11018"/>
            <a:ext cx="4191000" cy="2220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378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1986053" y="239712"/>
            <a:ext cx="5162368" cy="4808538"/>
            <a:chOff x="1986053" y="239712"/>
            <a:chExt cx="5162368" cy="4808538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053" y="239712"/>
              <a:ext cx="5162368" cy="4518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21294" y="4771251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9.6</a:t>
              </a:r>
            </a:p>
          </p:txBody>
        </p:sp>
      </p:grp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88012" y="5029200"/>
            <a:ext cx="7543800" cy="1752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2400" dirty="0"/>
              <a:t>Estruturas eficientes apresentam </a:t>
            </a:r>
            <a:r>
              <a:rPr lang="pt-BR" sz="2400" dirty="0">
                <a:solidFill>
                  <a:srgbClr val="FFFF00"/>
                </a:solidFill>
              </a:rPr>
              <a:t>elevados</a:t>
            </a:r>
            <a:r>
              <a:rPr lang="pt-BR" sz="2400" dirty="0"/>
              <a:t> </a:t>
            </a:r>
            <a:r>
              <a:rPr lang="pt-BR" sz="2400" dirty="0">
                <a:solidFill>
                  <a:srgbClr val="FFFF00"/>
                </a:solidFill>
              </a:rPr>
              <a:t>valores da relação </a:t>
            </a:r>
            <a:r>
              <a:rPr lang="pt-BR" sz="2400" i="1" dirty="0">
                <a:solidFill>
                  <a:srgbClr val="FFFF00"/>
                </a:solidFill>
              </a:rPr>
              <a:t>I/A</a:t>
            </a:r>
            <a:r>
              <a:rPr lang="pt-BR" sz="2400" i="1" baseline="30000" dirty="0">
                <a:solidFill>
                  <a:srgbClr val="FFFF00"/>
                </a:solidFill>
              </a:rPr>
              <a:t>2</a:t>
            </a:r>
            <a:r>
              <a:rPr lang="pt-BR" sz="2400" dirty="0"/>
              <a:t>; estruturas </a:t>
            </a:r>
            <a:r>
              <a:rPr lang="pt-BR" sz="2400" dirty="0">
                <a:solidFill>
                  <a:srgbClr val="FFFF00"/>
                </a:solidFill>
              </a:rPr>
              <a:t>ineficientes</a:t>
            </a:r>
            <a:r>
              <a:rPr lang="pt-BR" sz="2400" dirty="0"/>
              <a:t> (aquelas que se flexionam facilmente) apresentam baixos valores. Seções estruturais reais possuem valores de </a:t>
            </a:r>
            <a:r>
              <a:rPr lang="pt-BR" sz="2400" i="1" dirty="0">
                <a:solidFill>
                  <a:srgbClr val="FFFF00"/>
                </a:solidFill>
              </a:rPr>
              <a:t>I</a:t>
            </a:r>
            <a:r>
              <a:rPr lang="pt-BR" sz="2400" dirty="0"/>
              <a:t> e </a:t>
            </a:r>
            <a:r>
              <a:rPr lang="pt-BR" sz="2400" i="1" dirty="0">
                <a:solidFill>
                  <a:srgbClr val="FFFF00"/>
                </a:solidFill>
              </a:rPr>
              <a:t>A</a:t>
            </a:r>
            <a:r>
              <a:rPr lang="pt-BR" sz="2400" dirty="0"/>
              <a:t> que se encontram nas </a:t>
            </a:r>
            <a:r>
              <a:rPr lang="pt-BR" sz="2400" dirty="0">
                <a:solidFill>
                  <a:srgbClr val="FFFF00"/>
                </a:solidFill>
              </a:rPr>
              <a:t>zonas sombreadas</a:t>
            </a:r>
            <a:r>
              <a:rPr lang="pt-BR" sz="24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75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0441" y="5029200"/>
            <a:ext cx="7315200" cy="160020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Quando se olha para a </a:t>
            </a:r>
            <a:r>
              <a:rPr lang="pt-BR" sz="2400" dirty="0">
                <a:solidFill>
                  <a:srgbClr val="FFFF00"/>
                </a:solidFill>
              </a:rPr>
              <a:t>flexão plástica</a:t>
            </a:r>
            <a:r>
              <a:rPr lang="pt-BR" sz="2400" dirty="0"/>
              <a:t>, é melhor compará-la ao </a:t>
            </a:r>
            <a:r>
              <a:rPr lang="pt-BR" sz="2400" dirty="0">
                <a:solidFill>
                  <a:srgbClr val="FFFF00"/>
                </a:solidFill>
              </a:rPr>
              <a:t>módulo da seção</a:t>
            </a:r>
            <a:r>
              <a:rPr lang="pt-BR" sz="2400" dirty="0"/>
              <a:t> comparada com a </a:t>
            </a:r>
            <a:r>
              <a:rPr lang="pt-BR" sz="2400" dirty="0">
                <a:solidFill>
                  <a:srgbClr val="FFFF00"/>
                </a:solidFill>
              </a:rPr>
              <a:t>área da seção</a:t>
            </a:r>
            <a:r>
              <a:rPr lang="pt-BR" sz="2400" dirty="0"/>
              <a:t>. Os </a:t>
            </a:r>
            <a:r>
              <a:rPr lang="pt-BR" sz="2400" dirty="0">
                <a:solidFill>
                  <a:srgbClr val="FFFF00"/>
                </a:solidFill>
              </a:rPr>
              <a:t>materiais ótimos</a:t>
            </a:r>
            <a:r>
              <a:rPr lang="pt-BR" sz="2400" dirty="0"/>
              <a:t> tem </a:t>
            </a:r>
            <a:r>
              <a:rPr lang="pt-BR" sz="2400" dirty="0">
                <a:solidFill>
                  <a:srgbClr val="FFFF00"/>
                </a:solidFill>
              </a:rPr>
              <a:t>elevados</a:t>
            </a:r>
            <a:r>
              <a:rPr lang="pt-BR" sz="2400" dirty="0"/>
              <a:t> </a:t>
            </a:r>
            <a:r>
              <a:rPr lang="pt-BR" sz="2400" dirty="0">
                <a:solidFill>
                  <a:srgbClr val="FFFF00"/>
                </a:solidFill>
              </a:rPr>
              <a:t>valores da razão </a:t>
            </a:r>
            <a:r>
              <a:rPr lang="pt-BR" sz="2400" i="1" dirty="0">
                <a:solidFill>
                  <a:srgbClr val="FFFF00"/>
                </a:solidFill>
              </a:rPr>
              <a:t>Z/A</a:t>
            </a:r>
            <a:r>
              <a:rPr lang="pt-BR" sz="2400" i="1" baseline="30000" dirty="0">
                <a:solidFill>
                  <a:srgbClr val="FFFF00"/>
                </a:solidFill>
              </a:rPr>
              <a:t>3/2</a:t>
            </a:r>
            <a:r>
              <a:rPr lang="pt-BR" sz="2400" baseline="30000" dirty="0">
                <a:solidFill>
                  <a:srgbClr val="FFFF00"/>
                </a:solidFill>
              </a:rPr>
              <a:t> </a:t>
            </a:r>
            <a:r>
              <a:rPr lang="pt-BR" sz="24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2041802" y="178089"/>
            <a:ext cx="5060396" cy="4854933"/>
            <a:chOff x="2041802" y="178089"/>
            <a:chExt cx="5060396" cy="4854933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1802" y="178089"/>
              <a:ext cx="5060396" cy="4577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0034" y="4756023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304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685800" y="838200"/>
                <a:ext cx="7810501" cy="370146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Um exemplo de múltiplas restrições</a:t>
                </a:r>
              </a:p>
              <a:p>
                <a:endParaRPr lang="pt-BR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Uma viga caixão tem seção quadrada com altura </a:t>
                </a:r>
                <a:r>
                  <a:rPr lang="pt-BR" sz="1400" i="1" dirty="0">
                    <a:solidFill>
                      <a:schemeClr val="bg1"/>
                    </a:solidFill>
                  </a:rPr>
                  <a:t>h</a:t>
                </a:r>
                <a:r>
                  <a:rPr lang="pt-BR" sz="1400" dirty="0">
                    <a:solidFill>
                      <a:schemeClr val="bg1"/>
                    </a:solidFill>
                  </a:rPr>
                  <a:t> = 100mm, largura b = 100mm e espessura de parede t = 5mm. Qual é o valor de seu fator de forma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?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b="1" dirty="0">
                    <a:solidFill>
                      <a:schemeClr val="bg1"/>
                    </a:solidFill>
                  </a:rPr>
                  <a:t>Resposta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dirty="0">
                    <a:solidFill>
                      <a:schemeClr val="bg1"/>
                    </a:solidFill>
                  </a:rPr>
                  <a:t>O fator de forma para seção caixão, da Tabela 9.3 é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</m:t>
                          </m:r>
                        </m:sup>
                      </m:sSubSup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pt-B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den>
                          </m:f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  </m:t>
                          </m:r>
                        </m:e>
                      </m:rad>
                      <m:f>
                        <m:f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3</m:t>
                              </m:r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pt-BR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pt-BR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h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pt-BR" sz="1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4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,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47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A seção caixão é mais forte do que uma viga sólida quadrada com mesma massa por unidade de comprimento por um fator de aproximadamente 4,5.</a:t>
                </a:r>
              </a:p>
              <a:p>
                <a:pPr algn="just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838200"/>
                <a:ext cx="7810501" cy="3701463"/>
              </a:xfrm>
              <a:prstGeom prst="rect">
                <a:avLst/>
              </a:prstGeom>
              <a:blipFill rotWithShape="1">
                <a:blip r:embed="rId2"/>
                <a:stretch>
                  <a:fillRect l="-703" t="-824" r="-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edondar Retângulo em um Canto Único 5"/>
          <p:cNvSpPr/>
          <p:nvPr/>
        </p:nvSpPr>
        <p:spPr>
          <a:xfrm flipV="1">
            <a:off x="685800" y="838200"/>
            <a:ext cx="4695826" cy="45720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899998" rev="10799999"/>
              </a:camera>
              <a:lightRig rig="threePt" dir="t"/>
            </a:scene3d>
          </a:bodyPr>
          <a:lstStyle/>
          <a:p>
            <a:pPr algn="ctr"/>
            <a:r>
              <a:rPr lang="pt-BR" sz="2000" b="1" dirty="0"/>
              <a:t>Avaliação dos Fatores de Forma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45986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/>
              <p:cNvSpPr txBox="1"/>
              <p:nvPr/>
            </p:nvSpPr>
            <p:spPr>
              <a:xfrm>
                <a:off x="695325" y="914400"/>
                <a:ext cx="7810501" cy="410279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Um exemplo de múltiplas restrições</a:t>
                </a:r>
              </a:p>
              <a:p>
                <a:endParaRPr lang="pt-BR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Uma coluna cilíndrica sólida delgada de altura </a:t>
                </a:r>
                <a:r>
                  <a:rPr lang="pt-BR" sz="1400" i="1" dirty="0">
                    <a:solidFill>
                      <a:schemeClr val="bg1"/>
                    </a:solidFill>
                  </a:rPr>
                  <a:t>L</a:t>
                </a:r>
                <a:r>
                  <a:rPr lang="pt-BR" sz="1400" dirty="0">
                    <a:solidFill>
                      <a:schemeClr val="bg1"/>
                    </a:solidFill>
                  </a:rPr>
                  <a:t> suporta uma carga </a:t>
                </a:r>
                <a:r>
                  <a:rPr lang="pt-BR" sz="1400" i="1" dirty="0">
                    <a:solidFill>
                      <a:schemeClr val="bg1"/>
                    </a:solidFill>
                  </a:rPr>
                  <a:t>F</a:t>
                </a:r>
                <a:r>
                  <a:rPr lang="pt-BR" sz="1400" dirty="0">
                    <a:solidFill>
                      <a:schemeClr val="bg1"/>
                    </a:solidFill>
                  </a:rPr>
                  <a:t>. Se supercarregada, a coluna falhará por flambagem elástica. De quanto aumentará a capacidade de suportar carga se o cilindro sólido for substituído por um tubo circular oco com a mesma seção transversal </a:t>
                </a:r>
                <a:r>
                  <a:rPr lang="pt-BR" sz="1400" i="1" dirty="0">
                    <a:solidFill>
                      <a:schemeClr val="bg1"/>
                    </a:solidFill>
                  </a:rPr>
                  <a:t>A</a:t>
                </a:r>
                <a:r>
                  <a:rPr lang="pt-BR" sz="1400" dirty="0">
                    <a:solidFill>
                      <a:schemeClr val="bg1"/>
                    </a:solidFill>
                  </a:rPr>
                  <a:t>?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b="1" dirty="0">
                    <a:solidFill>
                      <a:schemeClr val="bg1"/>
                    </a:solidFill>
                  </a:rPr>
                  <a:t>Resposta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dirty="0">
                    <a:solidFill>
                      <a:schemeClr val="bg1"/>
                    </a:solidFill>
                  </a:rPr>
                  <a:t>Substituindo o </a:t>
                </a:r>
                <a:r>
                  <a:rPr lang="pt-BR" sz="1400" b="1" i="1" dirty="0" err="1">
                    <a:solidFill>
                      <a:schemeClr val="bg1"/>
                    </a:solidFill>
                  </a:rPr>
                  <a:t>I</a:t>
                </a:r>
                <a:r>
                  <a:rPr lang="pt-BR" sz="1400" b="1" baseline="-25000" dirty="0" err="1">
                    <a:solidFill>
                      <a:schemeClr val="bg1"/>
                    </a:solidFill>
                  </a:rPr>
                  <a:t>min</a:t>
                </a:r>
                <a:r>
                  <a:rPr lang="pt-BR" sz="1400" dirty="0">
                    <a:solidFill>
                      <a:schemeClr val="bg1"/>
                    </a:solidFill>
                  </a:rPr>
                  <a:t> na Equação 9.14 por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4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𝜙</m:t>
                            </m:r>
                          </m:e>
                          <m:sub>
                            <m:r>
                              <a:rPr lang="pt-BR" sz="14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𝐵</m:t>
                            </m:r>
                          </m:sub>
                          <m:sup>
                            <m:r>
                              <a:rPr lang="pt-BR" sz="14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𝑒</m:t>
                            </m:r>
                          </m:sup>
                        </m:sSubSup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/>
                          </a:rPr>
                          <m:t> </m:t>
                        </m:r>
                        <m:sSup>
                          <m:sSupPr>
                            <m:ctrlPr>
                              <a:rPr lang="pt-BR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sz="140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pt-BR" sz="14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 da Equação 9.3, obtendo,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𝐶</m:t>
                          </m:r>
                        </m:sub>
                        <m:sup/>
                      </m:sSubSup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b="0" i="0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14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b="0" i="0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140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1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12 </m:t>
                              </m:r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pt-BR" sz="14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𝐸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𝜙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</m:t>
                          </m:r>
                        </m:sup>
                      </m:sSubSup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algn="just"/>
                <a:endParaRPr lang="pt-BR" sz="14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>
                    <a:solidFill>
                      <a:schemeClr val="bg1"/>
                    </a:solidFill>
                  </a:rPr>
                  <a:t>A carga de falha aumenta conforme a razão entre o fator de forma para o tubo e o fator de forma do cilindro sólido. O fator de forma para o tubo de parede fina é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𝑒</m:t>
                        </m:r>
                      </m:sup>
                    </m:sSubSup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; para o cilindro sólido é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𝑒</m:t>
                        </m:r>
                      </m:sup>
                    </m:sSubSup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 (Tabela 9.3). A razão 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, </a:t>
                </a:r>
                <a:r>
                  <a:rPr lang="pt-BR" sz="1400" dirty="0">
                    <a:solidFill>
                      <a:schemeClr val="bg1"/>
                    </a:solidFill>
                  </a:rPr>
                  <a:t>onde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</a:rPr>
                      <m:t>𝑟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é o </a:t>
                </a:r>
                <a:r>
                  <a:rPr lang="pt-BR" sz="1400" dirty="0">
                    <a:solidFill>
                      <a:schemeClr val="bg1"/>
                    </a:solidFill>
                  </a:rPr>
                  <a:t>raio</a:t>
                </a:r>
                <a:r>
                  <a:rPr lang="en-US" sz="1400" dirty="0">
                    <a:solidFill>
                      <a:schemeClr val="bg1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 b="0" i="0" smtClean="0">
                        <a:solidFill>
                          <a:schemeClr val="bg1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a </a:t>
                </a:r>
                <a:r>
                  <a:rPr lang="pt-BR" sz="1400" dirty="0">
                    <a:solidFill>
                      <a:schemeClr val="bg1"/>
                    </a:solidFill>
                  </a:rPr>
                  <a:t>espessura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pt-BR" sz="1400" dirty="0">
                    <a:solidFill>
                      <a:schemeClr val="bg1"/>
                    </a:solidFill>
                  </a:rPr>
                  <a:t>de parede do tubo</a:t>
                </a:r>
                <a:r>
                  <a:rPr lang="en-US" sz="1400" dirty="0">
                    <a:solidFill>
                      <a:schemeClr val="bg1"/>
                    </a:solidFill>
                  </a:rPr>
                  <a:t>.</a:t>
                </a:r>
              </a:p>
              <a:p>
                <a:pPr algn="just"/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914400"/>
                <a:ext cx="7810501" cy="4102790"/>
              </a:xfrm>
              <a:prstGeom prst="rect">
                <a:avLst/>
              </a:prstGeom>
              <a:blipFill>
                <a:blip r:embed="rId2"/>
                <a:stretch>
                  <a:fillRect l="-649" t="-619" r="-1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edondar Retângulo em um Canto Único 4"/>
          <p:cNvSpPr/>
          <p:nvPr/>
        </p:nvSpPr>
        <p:spPr>
          <a:xfrm flipV="1">
            <a:off x="685800" y="923925"/>
            <a:ext cx="4695826" cy="45720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899998" rev="10799999"/>
              </a:camera>
              <a:lightRig rig="threePt" dir="t"/>
            </a:scene3d>
          </a:bodyPr>
          <a:lstStyle/>
          <a:p>
            <a:pPr algn="ctr"/>
            <a:r>
              <a:rPr lang="pt-BR" sz="2000" b="1" dirty="0"/>
              <a:t>Aumento de Resistência pela Forma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67643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38200" y="381000"/>
            <a:ext cx="7391400" cy="1752600"/>
          </a:xfrm>
          <a:solidFill>
            <a:schemeClr val="accent5">
              <a:lumMod val="75000"/>
            </a:schemeClr>
          </a:solidFill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Se o que se deseja são estruturas </a:t>
            </a:r>
            <a:r>
              <a:rPr lang="pt-BR" dirty="0">
                <a:solidFill>
                  <a:srgbClr val="FFFF00"/>
                </a:solidFill>
              </a:rPr>
              <a:t>rijas e fortes</a:t>
            </a:r>
            <a:r>
              <a:rPr lang="pt-BR" dirty="0"/>
              <a:t> que são eficientes (utilizando a menor quantidade possível de material), faça com que a eficiência do fator de forma seja a maior possível. No entanto, existem limites.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833322"/>
                  </p:ext>
                </p:extLst>
              </p:nvPr>
            </p:nvGraphicFramePr>
            <p:xfrm>
              <a:off x="725104" y="2825750"/>
              <a:ext cx="7809296" cy="31940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00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9539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79120">
                    <a:tc gridSpan="5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>
                              <a:solidFill>
                                <a:srgbClr val="FFC000"/>
                              </a:solidFill>
                            </a:rPr>
                            <a:t> 9.4</a:t>
                          </a:r>
                          <a:r>
                            <a:rPr lang="pt-BR" sz="1600" baseline="0" dirty="0">
                              <a:solidFill>
                                <a:schemeClr val="bg1"/>
                              </a:solidFill>
                            </a:rPr>
                            <a:t> Limites superiores empíricos para os fatores de forma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pt-BR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pt-BR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pt-BR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 e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pt-BR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𝝓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𝑩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𝒆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𝒎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á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𝝓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𝑻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𝒆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𝒎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á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𝝓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𝑩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𝒇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𝒎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á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𝝓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𝑻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𝒇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𝒎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á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Aços estruturais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65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Liga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de Al 6061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44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GFRP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e CFRP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26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Polímeros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(por exemplo, náilon)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Madeira (seção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sólidas)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Elastômeros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&lt;6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-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-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4833322"/>
                  </p:ext>
                </p:extLst>
              </p:nvPr>
            </p:nvGraphicFramePr>
            <p:xfrm>
              <a:off x="725104" y="2825750"/>
              <a:ext cx="7809296" cy="31940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0098"/>
                    <a:gridCol w="1371600"/>
                    <a:gridCol w="1143000"/>
                    <a:gridCol w="1219200"/>
                    <a:gridCol w="1295398"/>
                  </a:tblGrid>
                  <a:tr h="579120"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8" t="-1053" b="-45157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8989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3111" t="-150000" r="-266667" b="-57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62766" t="-150000" r="-219149" b="-57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35000" t="-150000" r="-106000" b="-57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4717" t="-150000" b="-57031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Aços estruturais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65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Liga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de Al 6061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44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GFRP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e CFRP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26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Polímeros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(por exemplo, náilon)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Madeira (seção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sólidas)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Elastômeros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&lt;6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-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-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948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1600" y="5235111"/>
            <a:ext cx="6400800" cy="1219971"/>
          </a:xfrm>
        </p:spPr>
        <p:txBody>
          <a:bodyPr>
            <a:normAutofit/>
          </a:bodyPr>
          <a:lstStyle/>
          <a:p>
            <a:r>
              <a:rPr lang="pt-BR" dirty="0"/>
              <a:t>Contornos de </a:t>
            </a:r>
            <a:r>
              <a:rPr lang="pt-BR" dirty="0">
                <a:solidFill>
                  <a:srgbClr val="FFFF00"/>
                </a:solidFill>
              </a:rPr>
              <a:t>fatores de forma</a:t>
            </a:r>
            <a:r>
              <a:rPr lang="pt-BR" dirty="0"/>
              <a:t> ilustrando seus </a:t>
            </a:r>
            <a:r>
              <a:rPr lang="pt-BR" dirty="0">
                <a:solidFill>
                  <a:srgbClr val="FFFF00"/>
                </a:solidFill>
              </a:rPr>
              <a:t>limites superiores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3" name="Grupo 2"/>
          <p:cNvGrpSpPr/>
          <p:nvPr/>
        </p:nvGrpSpPr>
        <p:grpSpPr>
          <a:xfrm>
            <a:off x="1141403" y="118937"/>
            <a:ext cx="6861194" cy="5187262"/>
            <a:chOff x="1141403" y="118937"/>
            <a:chExt cx="6861194" cy="518726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1403" y="118937"/>
              <a:ext cx="6861194" cy="4863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20" y="5029200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580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295400" y="228600"/>
            <a:ext cx="6400800" cy="1219971"/>
          </a:xfrm>
        </p:spPr>
        <p:txBody>
          <a:bodyPr>
            <a:normAutofit/>
          </a:bodyPr>
          <a:lstStyle/>
          <a:p>
            <a:r>
              <a:rPr lang="pt-BR" dirty="0"/>
              <a:t>Limites superiores teóricos para </a:t>
            </a:r>
            <a:r>
              <a:rPr lang="pt-BR" dirty="0">
                <a:solidFill>
                  <a:srgbClr val="FFFF00"/>
                </a:solidFill>
              </a:rPr>
              <a:t>fatores de forma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EEC4F9A-17B7-4C43-9CAF-2ADCCEDC675A}"/>
                  </a:ext>
                </a:extLst>
              </p:cNvPr>
              <p:cNvSpPr txBox="1"/>
              <p:nvPr/>
            </p:nvSpPr>
            <p:spPr>
              <a:xfrm>
                <a:off x="2801265" y="1924802"/>
                <a:ext cx="3389069" cy="1214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2,3 </m:t>
                      </m:r>
                      <m:sSup>
                        <m:sSupPr>
                          <m:ctrlP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pt-BR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EEC4F9A-17B7-4C43-9CAF-2ADCCEDC6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265" y="1924802"/>
                <a:ext cx="3389069" cy="1214820"/>
              </a:xfrm>
              <a:prstGeom prst="rect">
                <a:avLst/>
              </a:prstGeom>
              <a:blipFill>
                <a:blip r:embed="rId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3C371B7-65A5-184F-B429-8098661839E8}"/>
                  </a:ext>
                </a:extLst>
              </p:cNvPr>
              <p:cNvSpPr txBox="1"/>
              <p:nvPr/>
            </p:nvSpPr>
            <p:spPr>
              <a:xfrm>
                <a:off x="2801265" y="3944434"/>
                <a:ext cx="3504284" cy="6013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pt-BR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pt-B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pt-BR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pt-BR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á</m:t>
                              </m:r>
                              <m:r>
                                <a:rPr lang="pt-BR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3C371B7-65A5-184F-B429-809866183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265" y="3944434"/>
                <a:ext cx="3504284" cy="601318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189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19799" y="685800"/>
            <a:ext cx="2955563" cy="365760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Diagramas exploram </a:t>
            </a:r>
            <a:r>
              <a:rPr lang="pt-BR" dirty="0">
                <a:solidFill>
                  <a:srgbClr val="FFFF00"/>
                </a:solidFill>
              </a:rPr>
              <a:t>seções estruturais</a:t>
            </a:r>
            <a:r>
              <a:rPr lang="pt-BR" dirty="0"/>
              <a:t> para </a:t>
            </a:r>
            <a:r>
              <a:rPr lang="pt-BR" dirty="0">
                <a:solidFill>
                  <a:srgbClr val="FFFF00"/>
                </a:solidFill>
              </a:rPr>
              <a:t>projetos limitados por rigidez</a:t>
            </a:r>
            <a:r>
              <a:rPr lang="pt-BR" dirty="0"/>
              <a:t> durante </a:t>
            </a:r>
            <a:r>
              <a:rPr lang="pt-BR" dirty="0">
                <a:solidFill>
                  <a:srgbClr val="FFFF00"/>
                </a:solidFill>
              </a:rPr>
              <a:t>flexão</a:t>
            </a:r>
            <a:r>
              <a:rPr lang="pt-BR" dirty="0"/>
              <a:t>.</a:t>
            </a:r>
          </a:p>
          <a:p>
            <a:r>
              <a:rPr lang="pt-BR" dirty="0"/>
              <a:t>Cada </a:t>
            </a:r>
            <a:r>
              <a:rPr lang="pt-BR" dirty="0">
                <a:solidFill>
                  <a:srgbClr val="FFFF00"/>
                </a:solidFill>
              </a:rPr>
              <a:t>diagrama compartilha</a:t>
            </a:r>
            <a:r>
              <a:rPr lang="pt-BR" dirty="0"/>
              <a:t> seu </a:t>
            </a:r>
            <a:r>
              <a:rPr lang="pt-BR" dirty="0">
                <a:solidFill>
                  <a:srgbClr val="FFFF00"/>
                </a:solidFill>
              </a:rPr>
              <a:t>eixo</a:t>
            </a:r>
            <a:r>
              <a:rPr lang="pt-BR" dirty="0"/>
              <a:t> com o seu vizinho.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152400" y="380999"/>
            <a:ext cx="5756097" cy="5934685"/>
            <a:chOff x="152400" y="380999"/>
            <a:chExt cx="5756097" cy="593468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380999"/>
              <a:ext cx="5756097" cy="56630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592668" y="6038685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0855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76200"/>
            <a:ext cx="8534400" cy="1278105"/>
          </a:xfrm>
        </p:spPr>
        <p:txBody>
          <a:bodyPr/>
          <a:lstStyle/>
          <a:p>
            <a:r>
              <a:rPr lang="pt-BR" dirty="0"/>
              <a:t>4-Diagrama de Quatro Quadrantes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2" name="Grupo 1"/>
          <p:cNvGrpSpPr/>
          <p:nvPr/>
        </p:nvGrpSpPr>
        <p:grpSpPr>
          <a:xfrm>
            <a:off x="2095500" y="1354305"/>
            <a:ext cx="4953000" cy="5013604"/>
            <a:chOff x="2095500" y="1354305"/>
            <a:chExt cx="4953000" cy="5013604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5500" y="1354305"/>
              <a:ext cx="4953000" cy="4736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4026244" y="6090910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195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038599" y="914400"/>
            <a:ext cx="4535533" cy="1752600"/>
          </a:xfrm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pt-BR" sz="3600" dirty="0"/>
              <a:t>Como se utiliza o diagrama de quatro quadrantes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152402" y="87746"/>
            <a:ext cx="3200400" cy="3094334"/>
            <a:chOff x="152402" y="87746"/>
            <a:chExt cx="3200400" cy="309433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2" y="87746"/>
              <a:ext cx="3200400" cy="2817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272342" y="2905081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1640593" y="3182080"/>
                <a:ext cx="5903208" cy="334546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Clr>
                    <a:srgbClr val="FFC000"/>
                  </a:buClr>
                  <a:buSzPct val="130000"/>
                  <a:buFont typeface="Wingdings" panose="05000000000000000000" pitchFamily="2" charset="2"/>
                  <a:buChar char="§"/>
                </a:pPr>
                <a:r>
                  <a:rPr lang="pt-BR" sz="1400" dirty="0">
                    <a:solidFill>
                      <a:schemeClr val="bg1"/>
                    </a:solidFill>
                  </a:rPr>
                  <a:t>Escolha um material para a seção e marque seu módulo </a:t>
                </a:r>
                <a:r>
                  <a:rPr lang="pt-BR" sz="1400" i="1" dirty="0">
                    <a:solidFill>
                      <a:schemeClr val="bg1"/>
                    </a:solidFill>
                  </a:rPr>
                  <a:t>E</a:t>
                </a:r>
                <a:r>
                  <a:rPr lang="pt-BR" sz="1400" dirty="0">
                    <a:solidFill>
                      <a:schemeClr val="bg1"/>
                    </a:solidFill>
                  </a:rPr>
                  <a:t> </a:t>
                </a:r>
                <a:r>
                  <a:rPr lang="pt-BR" sz="1400" dirty="0" err="1">
                    <a:solidFill>
                      <a:schemeClr val="bg1"/>
                    </a:solidFill>
                  </a:rPr>
                  <a:t>e</a:t>
                </a:r>
                <a:r>
                  <a:rPr lang="pt-BR" sz="1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𝜌</m:t>
                    </m:r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 densidade sobre o </a:t>
                </a:r>
                <a:r>
                  <a:rPr lang="pt-BR" sz="1400" b="1" dirty="0">
                    <a:solidFill>
                      <a:schemeClr val="bg1"/>
                    </a:solidFill>
                  </a:rPr>
                  <a:t>diagrama de propriedade de material</a:t>
                </a:r>
                <a:r>
                  <a:rPr lang="pt-BR" sz="1400" dirty="0">
                    <a:solidFill>
                      <a:schemeClr val="bg1"/>
                    </a:solidFill>
                  </a:rPr>
                  <a:t> no primeiro quadrante da figura;</a:t>
                </a:r>
              </a:p>
              <a:p>
                <a:pPr marL="285750" indent="-285750">
                  <a:buClr>
                    <a:srgbClr val="FFC000"/>
                  </a:buClr>
                  <a:buSzPct val="130000"/>
                  <a:buFont typeface="Wingdings" panose="05000000000000000000" pitchFamily="2" charset="2"/>
                  <a:buChar char="§"/>
                </a:pPr>
                <a:r>
                  <a:rPr lang="pt-BR" sz="1400" dirty="0">
                    <a:solidFill>
                      <a:schemeClr val="bg1"/>
                    </a:solidFill>
                  </a:rPr>
                  <a:t>Escolha a rigidez de seção desejada (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𝐸𝐼</m:t>
                    </m:r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); é uma restrição que deve ser cumprida pela seção. Trace uma linha horizontal desde o valor de E para o material até o contorno adequado no </a:t>
                </a:r>
                <a:r>
                  <a:rPr lang="pt-BR" sz="1400" b="1" dirty="0">
                    <a:solidFill>
                      <a:schemeClr val="bg1"/>
                    </a:solidFill>
                  </a:rPr>
                  <a:t>diagrama de restrições à rigidez</a:t>
                </a:r>
                <a:r>
                  <a:rPr lang="pt-BR" sz="1400" dirty="0">
                    <a:solidFill>
                      <a:schemeClr val="bg1"/>
                    </a:solidFill>
                  </a:rPr>
                  <a:t> no segundo quadrante;</a:t>
                </a:r>
              </a:p>
              <a:p>
                <a:pPr marL="285750" indent="-285750" algn="just">
                  <a:buClr>
                    <a:srgbClr val="FFC000"/>
                  </a:buClr>
                  <a:buSzPct val="130000"/>
                  <a:buFont typeface="Wingdings" panose="05000000000000000000" pitchFamily="2" charset="2"/>
                  <a:buChar char="§"/>
                </a:pPr>
                <a:r>
                  <a:rPr lang="pt-BR" sz="1400" dirty="0">
                    <a:solidFill>
                      <a:schemeClr val="bg1"/>
                    </a:solidFill>
                  </a:rPr>
                  <a:t>Puxe uma linha vertical desse ponto até o </a:t>
                </a:r>
                <a:r>
                  <a:rPr lang="pt-BR" sz="1400" b="1" dirty="0">
                    <a:solidFill>
                      <a:schemeClr val="bg1"/>
                    </a:solidFill>
                  </a:rPr>
                  <a:t>diagrama de forma de seção</a:t>
                </a:r>
                <a:r>
                  <a:rPr lang="pt-BR" sz="1400" dirty="0">
                    <a:solidFill>
                      <a:schemeClr val="bg1"/>
                    </a:solidFill>
                  </a:rPr>
                  <a:t> no terceiro quadrante até encontrar a linha que descreve o fator de forma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𝜙</m:t>
                        </m:r>
                      </m:e>
                      <m:sub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pt-BR" sz="14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 para </a:t>
                </a:r>
                <a:r>
                  <a:rPr lang="pt-BR" sz="1400" dirty="0">
                    <a:solidFill>
                      <a:schemeClr val="bg1"/>
                    </a:solidFill>
                  </a:rPr>
                  <a:t>a a seção. Valores de </a:t>
                </a:r>
                <a:r>
                  <a:rPr lang="pt-BR" sz="1400" b="1" i="1" dirty="0">
                    <a:solidFill>
                      <a:schemeClr val="bg1"/>
                    </a:solidFill>
                  </a:rPr>
                  <a:t>I</a:t>
                </a:r>
                <a:r>
                  <a:rPr lang="pt-BR" sz="1400" dirty="0">
                    <a:solidFill>
                      <a:schemeClr val="bg1"/>
                    </a:solidFill>
                  </a:rPr>
                  <a:t> e </a:t>
                </a:r>
                <a:r>
                  <a:rPr lang="pt-BR" sz="1400" b="1" i="1" dirty="0">
                    <a:solidFill>
                      <a:schemeClr val="bg1"/>
                    </a:solidFill>
                  </a:rPr>
                  <a:t>A</a:t>
                </a:r>
                <a:r>
                  <a:rPr lang="pt-BR" sz="1400" dirty="0">
                    <a:solidFill>
                      <a:schemeClr val="bg1"/>
                    </a:solidFill>
                  </a:rPr>
                  <a:t> fora das faixas sombreadas são proibidos;</a:t>
                </a:r>
              </a:p>
              <a:p>
                <a:pPr marL="285750" indent="-285750" algn="just">
                  <a:buClr>
                    <a:srgbClr val="FFC000"/>
                  </a:buClr>
                  <a:buSzPct val="130000"/>
                  <a:buFont typeface="Wingdings" panose="05000000000000000000" pitchFamily="2" charset="2"/>
                  <a:buChar char="§"/>
                </a:pPr>
                <a:r>
                  <a:rPr lang="pt-BR" sz="1400" dirty="0">
                    <a:solidFill>
                      <a:schemeClr val="bg1"/>
                    </a:solidFill>
                  </a:rPr>
                  <a:t>Estenda a linha horizontal desse ponto até o </a:t>
                </a:r>
                <a:r>
                  <a:rPr lang="pt-BR" sz="1400" b="1" dirty="0">
                    <a:solidFill>
                      <a:schemeClr val="bg1"/>
                    </a:solidFill>
                  </a:rPr>
                  <a:t>diagrama de desempenho</a:t>
                </a:r>
                <a:r>
                  <a:rPr lang="pt-BR" sz="1400" dirty="0">
                    <a:solidFill>
                      <a:schemeClr val="bg1"/>
                    </a:solidFill>
                  </a:rPr>
                  <a:t> no último quadrante. Puxe uma linha vertical desde a densidade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𝜌</m:t>
                    </m:r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 no diagrama de materiais. A interseção mostra a massa por unidade de comprimento da seção. 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593" y="3182080"/>
                <a:ext cx="5903208" cy="3345468"/>
              </a:xfrm>
              <a:prstGeom prst="rect">
                <a:avLst/>
              </a:prstGeom>
              <a:blipFill rotWithShape="1">
                <a:blip r:embed="rId3"/>
                <a:stretch>
                  <a:fillRect l="-619" t="-1639" r="-310" b="-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193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76200"/>
            <a:ext cx="7467600" cy="1066800"/>
          </a:xfrm>
        </p:spPr>
        <p:txBody>
          <a:bodyPr>
            <a:normAutofit/>
          </a:bodyPr>
          <a:lstStyle/>
          <a:p>
            <a:r>
              <a:rPr lang="pt-BR" sz="2800" dirty="0"/>
              <a:t>Comparação de seções de aço, alumínio e madeira para </a:t>
            </a:r>
            <a:r>
              <a:rPr lang="pt-BR" sz="2800" dirty="0">
                <a:solidFill>
                  <a:srgbClr val="FFFF00"/>
                </a:solidFill>
              </a:rPr>
              <a:t>projetos limitados por rigidez</a:t>
            </a:r>
            <a:r>
              <a:rPr lang="pt-BR" sz="28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585" y="1219200"/>
            <a:ext cx="5278829" cy="5140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1932585" y="1219200"/>
            <a:ext cx="5278829" cy="5427669"/>
            <a:chOff x="1932585" y="1219200"/>
            <a:chExt cx="5278829" cy="5427669"/>
          </a:xfrm>
        </p:grpSpPr>
        <p:sp>
          <p:nvSpPr>
            <p:cNvPr id="4" name="TextBox 3"/>
            <p:cNvSpPr txBox="1"/>
            <p:nvPr/>
          </p:nvSpPr>
          <p:spPr>
            <a:xfrm>
              <a:off x="4097446" y="6369870"/>
              <a:ext cx="949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9.11</a:t>
              </a:r>
            </a:p>
          </p:txBody>
        </p:sp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585" y="1219200"/>
              <a:ext cx="5278829" cy="5140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75960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5405583"/>
            <a:ext cx="7696200" cy="1147617"/>
          </a:xfrm>
        </p:spPr>
        <p:txBody>
          <a:bodyPr>
            <a:normAutofit/>
          </a:bodyPr>
          <a:lstStyle/>
          <a:p>
            <a:r>
              <a:rPr lang="pt-BR" dirty="0"/>
              <a:t>Diagramas de quatro quadrantes para projetos limitados por resistência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1891222" y="152401"/>
            <a:ext cx="5342506" cy="5306198"/>
            <a:chOff x="1891222" y="152401"/>
            <a:chExt cx="5342506" cy="5306198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1222" y="152401"/>
              <a:ext cx="5342506" cy="5009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082215" y="5181600"/>
              <a:ext cx="9605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761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71500" y="76201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Índices de Material que incluem a forma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1676398"/>
            <a:ext cx="4876800" cy="4517159"/>
          </a:xfrm>
        </p:spPr>
        <p:txBody>
          <a:bodyPr>
            <a:normAutofit/>
          </a:bodyPr>
          <a:lstStyle/>
          <a:p>
            <a:pPr algn="l"/>
            <a:r>
              <a:rPr lang="pt-BR" sz="2400" dirty="0"/>
              <a:t>Flexão elástica de vigas:</a:t>
            </a:r>
          </a:p>
          <a:p>
            <a:pPr algn="l"/>
            <a:endParaRPr lang="pt-BR" sz="2400" dirty="0"/>
          </a:p>
          <a:p>
            <a:pPr algn="l"/>
            <a:endParaRPr lang="pt-BR" sz="2400" dirty="0"/>
          </a:p>
          <a:p>
            <a:pPr algn="l"/>
            <a:r>
              <a:rPr lang="pt-BR" sz="2400" dirty="0"/>
              <a:t>Torção de eixo:</a:t>
            </a:r>
          </a:p>
          <a:p>
            <a:pPr algn="l"/>
            <a:endParaRPr lang="pt-BR" sz="2400" dirty="0"/>
          </a:p>
          <a:p>
            <a:pPr algn="l"/>
            <a:endParaRPr lang="pt-BR" sz="2400" dirty="0"/>
          </a:p>
          <a:p>
            <a:pPr algn="l"/>
            <a:r>
              <a:rPr lang="pt-BR" sz="2400" dirty="0"/>
              <a:t>Falha de vigas:</a:t>
            </a:r>
          </a:p>
          <a:p>
            <a:pPr algn="l"/>
            <a:endParaRPr lang="pt-BR" sz="2400" dirty="0"/>
          </a:p>
          <a:p>
            <a:pPr algn="l"/>
            <a:endParaRPr lang="pt-BR" sz="2400" dirty="0"/>
          </a:p>
          <a:p>
            <a:pPr algn="l"/>
            <a:r>
              <a:rPr lang="pt-BR" sz="2400" dirty="0"/>
              <a:t>Falha de eixos: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676398"/>
            <a:ext cx="1828800" cy="831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782" y="3039893"/>
            <a:ext cx="1828800" cy="77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782" y="4286381"/>
            <a:ext cx="1828800" cy="804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5486400"/>
            <a:ext cx="1828800" cy="830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0542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407156" y="1752600"/>
                <a:ext cx="8355844" cy="31398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</a:rPr>
                  <a:t>Um exemplo de múltiplas restrições</a:t>
                </a:r>
              </a:p>
              <a:p>
                <a:endParaRPr lang="pt-BR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600" dirty="0">
                    <a:solidFill>
                      <a:schemeClr val="bg1"/>
                    </a:solidFill>
                  </a:rPr>
                  <a:t>Precisa-se de um material conformado para uma viga forte de massa mínima. Há quatro materiais disponíveis cujas propriedades e formas típicas são apresentadas na Tabela 9.6. Qual é a combinação que tem a massa mais baixa para uma resistência à flexão dada?</a:t>
                </a:r>
              </a:p>
              <a:p>
                <a:pPr algn="just"/>
                <a:endParaRPr lang="pt-BR" sz="16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600" b="1" dirty="0">
                    <a:solidFill>
                      <a:schemeClr val="bg1"/>
                    </a:solidFill>
                  </a:rPr>
                  <a:t>Resposta</a:t>
                </a:r>
              </a:p>
              <a:p>
                <a:pPr algn="just"/>
                <a:endParaRPr lang="pt-BR" sz="16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600" dirty="0">
                    <a:solidFill>
                      <a:schemeClr val="bg1"/>
                    </a:solidFill>
                  </a:rPr>
                  <a:t>A penúltima coluna da tabela mostra o índice simples de “forma fixa”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pt-BR" sz="16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𝑓</m:t>
                            </m:r>
                          </m:sub>
                          <m:sup>
                            <m:f>
                              <m:fPr>
                                <m:type m:val="lin"/>
                                <m:ctrlP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pt-BR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den>
                            </m:f>
                          </m:sup>
                        </m:sSubSup>
                      </m:num>
                      <m:den>
                        <m:r>
                          <a:rPr lang="pt-BR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𝜌</m:t>
                        </m:r>
                      </m:den>
                    </m:f>
                  </m:oMath>
                </a14:m>
                <a:r>
                  <a:rPr lang="pt-BR" sz="1600" dirty="0">
                    <a:solidFill>
                      <a:schemeClr val="bg1"/>
                    </a:solidFill>
                  </a:rPr>
                  <a:t>. A madeira tem o maior valor, mais de três vezes o do aço. Porém, quando cada material é conformado (última coluna), a liga de alumínio vence, suplantando o aço e o GFRP.</a:t>
                </a:r>
              </a:p>
              <a:p>
                <a:pPr algn="just"/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6" y="1752600"/>
                <a:ext cx="8355844" cy="3139899"/>
              </a:xfrm>
              <a:prstGeom prst="rect">
                <a:avLst/>
              </a:prstGeom>
              <a:blipFill rotWithShape="1">
                <a:blip r:embed="rId2"/>
                <a:stretch>
                  <a:fillRect l="-656" t="-971" r="-365" b="-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edondar Retângulo em um Canto Único 5"/>
          <p:cNvSpPr/>
          <p:nvPr/>
        </p:nvSpPr>
        <p:spPr>
          <a:xfrm flipV="1">
            <a:off x="407156" y="1752600"/>
            <a:ext cx="5867400" cy="45720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899998" rev="10799999"/>
              </a:camera>
              <a:lightRig rig="threePt" dir="t"/>
            </a:scene3d>
          </a:bodyPr>
          <a:lstStyle/>
          <a:p>
            <a:pPr algn="just"/>
            <a:r>
              <a:rPr lang="pt-BR" sz="2000" b="1" dirty="0"/>
              <a:t>   Escolha de combinações Materiais e Formas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54139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8956"/>
                  </p:ext>
                </p:extLst>
              </p:nvPr>
            </p:nvGraphicFramePr>
            <p:xfrm>
              <a:off x="457201" y="1038226"/>
              <a:ext cx="8229598" cy="208597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275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00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3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806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3529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9226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04209">
                    <a:tc gridSpan="6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>
                              <a:solidFill>
                                <a:srgbClr val="FFC000"/>
                              </a:solidFill>
                            </a:rPr>
                            <a:t> 9.5</a:t>
                          </a:r>
                          <a:r>
                            <a:rPr lang="pt-BR" sz="1600" baseline="0" dirty="0">
                              <a:solidFill>
                                <a:schemeClr val="bg1"/>
                              </a:solidFill>
                            </a:rPr>
                            <a:t> Seleção de Material e Forma para uma Viga Leve e Rígida</a:t>
                          </a:r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𝝆</m:t>
                              </m:r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chemeClr val="bg1"/>
                              </a:solidFill>
                            </a:rPr>
                            <a:t>(Mg/m</a:t>
                          </a:r>
                          <a:r>
                            <a:rPr lang="en-US" sz="1200" b="1" baseline="300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r>
                            <a:rPr lang="en-US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>
                              <a:solidFill>
                                <a:schemeClr val="bg1"/>
                              </a:solidFill>
                            </a:rPr>
                            <a:t>E</a:t>
                          </a:r>
                          <a:r>
                            <a:rPr lang="pt-BR" sz="1200" b="1" baseline="0" dirty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pt-BR" sz="1200" b="1" baseline="0" dirty="0" err="1">
                              <a:solidFill>
                                <a:schemeClr val="bg1"/>
                              </a:solidFill>
                            </a:rPr>
                            <a:t>Gpa</a:t>
                          </a:r>
                          <a:r>
                            <a:rPr lang="pt-BR" sz="1200" b="1" baseline="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1" i="1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a:rPr lang="pt-BR" sz="1400" b="1" i="1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sub>
                                  <m:sup>
                                    <m:r>
                                      <a:rPr lang="pt-B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𝑬</m:t>
                                    </m:r>
                                  </m:e>
                                  <m:sub/>
                                  <m:sup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bSup>
                                <m:r>
                                  <a:rPr lang="pt-BR" sz="12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/</m:t>
                                </m:r>
                                <m:r>
                                  <a:rPr lang="pt-BR" sz="12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𝝓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𝑩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𝒆</m:t>
                                            </m:r>
                                          </m:sup>
                                        </m:sSubSup>
                                        <m:r>
                                          <a:rPr lang="pt-BR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pt-BR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/>
                                          </a:rPr>
                                          <m:t>𝑬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200" b="1" dirty="0">
                                            <a:solidFill>
                                              <a:schemeClr val="bg1"/>
                                            </a:solidFill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pt-BR" sz="12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/</m:t>
                                </m:r>
                                <m:r>
                                  <a:rPr lang="pt-BR" sz="12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Aços 1020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7.85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205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1.8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8.2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Al 6061 T4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2.7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70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3.1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>
                              <a:solidFill>
                                <a:schemeClr val="bg1"/>
                              </a:solidFill>
                            </a:rPr>
                            <a:t>12.0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GFRP (isotrópico)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1.75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2.9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Madeira (carvalho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) veio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0.9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13.5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>
                              <a:solidFill>
                                <a:schemeClr val="bg1"/>
                              </a:solidFill>
                            </a:rPr>
                            <a:t>4.1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5.8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38956"/>
                  </p:ext>
                </p:extLst>
              </p:nvPr>
            </p:nvGraphicFramePr>
            <p:xfrm>
              <a:off x="457201" y="1038226"/>
              <a:ext cx="8229598" cy="208597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27565"/>
                    <a:gridCol w="1330036"/>
                    <a:gridCol w="1163781"/>
                    <a:gridCol w="1080654"/>
                    <a:gridCol w="1035293"/>
                    <a:gridCol w="1292269"/>
                  </a:tblGrid>
                  <a:tr h="404209">
                    <a:tc gridSpan="6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 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9.5</a:t>
                          </a:r>
                          <a:r>
                            <a:rPr lang="pt-BR" sz="1600" baseline="0" dirty="0" smtClean="0">
                              <a:solidFill>
                                <a:schemeClr val="bg1"/>
                              </a:solidFill>
                            </a:rPr>
                            <a:t> Seleção de Material e Forma para uma Viga Leve e Rígida</a:t>
                          </a:r>
                          <a:r>
                            <a:rPr lang="en-US" sz="1600" baseline="0" dirty="0" smtClean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75229" t="-123214" r="-344037" b="-4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E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 (</a:t>
                          </a:r>
                          <a:r>
                            <a:rPr lang="pt-BR" sz="1200" b="1" baseline="0" dirty="0" err="1" smtClean="0">
                              <a:solidFill>
                                <a:schemeClr val="bg1"/>
                              </a:solidFill>
                            </a:rPr>
                            <a:t>Gpa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6893" t="-123214" r="-215819" b="-4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69412" t="-123214" r="-124706" b="-4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36792" t="-123214" b="-401786"/>
                          </a:stretch>
                        </a:blip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Aços 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1020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7.85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205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1.8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8.2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Al 6061 T4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2.7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70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3.1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 smtClean="0">
                              <a:solidFill>
                                <a:schemeClr val="bg1"/>
                              </a:solidFill>
                            </a:rPr>
                            <a:t>12.0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GFRP (isotrópico)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1.75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2.9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Madeira 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(carvalho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) veio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0.9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13.5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 smtClean="0">
                              <a:solidFill>
                                <a:schemeClr val="bg1"/>
                              </a:solidFill>
                            </a:rPr>
                            <a:t>4.1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5.8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728440"/>
                  </p:ext>
                </p:extLst>
              </p:nvPr>
            </p:nvGraphicFramePr>
            <p:xfrm>
              <a:off x="476250" y="3886200"/>
              <a:ext cx="8229598" cy="215830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275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00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3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806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3529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9226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04209">
                    <a:tc gridSpan="6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>
                              <a:solidFill>
                                <a:srgbClr val="FFC000"/>
                              </a:solidFill>
                            </a:rPr>
                            <a:t> 9.6</a:t>
                          </a:r>
                          <a:r>
                            <a:rPr lang="pt-BR" sz="1600" baseline="0" dirty="0">
                              <a:solidFill>
                                <a:schemeClr val="bg1"/>
                              </a:solidFill>
                            </a:rPr>
                            <a:t> Seleção de Material e Forma para uma Viga Leve e Resistente</a:t>
                          </a:r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𝝆</m:t>
                              </m:r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chemeClr val="bg1"/>
                              </a:solidFill>
                            </a:rPr>
                            <a:t>(Mg/m</a:t>
                          </a:r>
                          <a:r>
                            <a:rPr lang="en-US" sz="1200" b="1" baseline="300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r>
                            <a:rPr lang="en-US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2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pt-BR" sz="12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𝒇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200" b="1" baseline="0" dirty="0">
                              <a:solidFill>
                                <a:schemeClr val="bg1"/>
                              </a:solidFill>
                            </a:rPr>
                            <a:t> (MPa)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b="1" i="1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a:rPr lang="pt-BR" sz="1400" b="1" i="1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sub>
                                  <m:sup>
                                    <m:r>
                                      <a:rPr lang="pt-B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𝒇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𝒇</m:t>
                                    </m:r>
                                  </m:sub>
                                  <m:sup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p>
                                </m:sSubSup>
                                <m:r>
                                  <a:rPr lang="pt-BR" sz="11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/</m:t>
                                </m:r>
                                <m:r>
                                  <a:rPr lang="pt-BR" sz="11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𝝓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𝑩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200" b="1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𝒇</m:t>
                                            </m:r>
                                          </m:sup>
                                        </m:sSubSup>
                                        <m:r>
                                          <a:rPr lang="pt-BR" sz="1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200" b="1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200" b="1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𝝈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1" i="1" dirty="0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/>
                                              </a:rPr>
                                              <m:t>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/</m:t>
                                    </m:r>
                                    <m:r>
                                      <a:rPr lang="pt-BR" sz="1200" b="1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pt-BR" sz="12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/</m:t>
                                </m:r>
                                <m:r>
                                  <a:rPr lang="pt-BR" sz="1200" b="1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𝝆</m:t>
                                </m:r>
                              </m:oMath>
                            </m:oMathPara>
                          </a14:m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Aços 1020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7.85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330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6.1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17.8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Al 6061 T4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2.7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110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>
                              <a:solidFill>
                                <a:schemeClr val="bg1"/>
                              </a:solidFill>
                            </a:rPr>
                            <a:t>21.4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GFRP (isotrópico)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1.75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80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9.3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19.3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Madeira (carvalho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) veio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0.9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50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>
                              <a:solidFill>
                                <a:schemeClr val="bg1"/>
                              </a:solidFill>
                            </a:rPr>
                            <a:t>15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19.7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9728440"/>
                  </p:ext>
                </p:extLst>
              </p:nvPr>
            </p:nvGraphicFramePr>
            <p:xfrm>
              <a:off x="476250" y="3886200"/>
              <a:ext cx="8229598" cy="215830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27565"/>
                    <a:gridCol w="1330036"/>
                    <a:gridCol w="1163781"/>
                    <a:gridCol w="1080654"/>
                    <a:gridCol w="1035293"/>
                    <a:gridCol w="1292269"/>
                  </a:tblGrid>
                  <a:tr h="404209">
                    <a:tc gridSpan="6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 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9.6</a:t>
                          </a:r>
                          <a:r>
                            <a:rPr lang="pt-BR" sz="1600" baseline="0" dirty="0" smtClean="0">
                              <a:solidFill>
                                <a:schemeClr val="bg1"/>
                              </a:solidFill>
                            </a:rPr>
                            <a:t> Seleção de Material e Forma para uma Viga Leve e Resistente</a:t>
                          </a:r>
                          <a:r>
                            <a:rPr lang="en-US" sz="1600" baseline="0" dirty="0" smtClean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4086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75229" t="-102985" r="-344495" b="-3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14136" t="-102985" r="-293194" b="-3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46893" t="-102985" r="-216384" b="-3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69412" t="-102985" r="-125294" b="-3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36792" t="-102985" r="-472" b="-335821"/>
                          </a:stretch>
                        </a:blip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Aços 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1020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7.85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330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6.1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17.8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Al 6061 T4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2.7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110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 smtClean="0">
                              <a:solidFill>
                                <a:schemeClr val="bg1"/>
                              </a:solidFill>
                            </a:rPr>
                            <a:t>21.4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GFRP (isotrópico)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1.75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80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9.3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19.3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Madeira 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(carvalho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) veio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0.9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1.5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b="1" dirty="0" smtClean="0">
                              <a:solidFill>
                                <a:schemeClr val="bg1"/>
                              </a:solidFill>
                            </a:rPr>
                            <a:t>15</a:t>
                          </a:r>
                          <a:endParaRPr 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19.7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6875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/>
          </a:bodyPr>
          <a:lstStyle/>
          <a:p>
            <a:r>
              <a:rPr lang="pt-BR" sz="3200" dirty="0"/>
              <a:t>Seleção Gráfica Conjugada usando Índice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152400" y="1600199"/>
            <a:ext cx="4632217" cy="4401325"/>
            <a:chOff x="152400" y="1600199"/>
            <a:chExt cx="4632217" cy="4401325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1600199"/>
              <a:ext cx="4632217" cy="4124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988249" y="5724525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9.13</a:t>
              </a:r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982" y="1912830"/>
            <a:ext cx="3862388" cy="76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901" y="3124200"/>
            <a:ext cx="287655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8549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135" y="1457324"/>
            <a:ext cx="5825727" cy="2386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04259" y="34636"/>
            <a:ext cx="7772400" cy="1470025"/>
          </a:xfrm>
        </p:spPr>
        <p:txBody>
          <a:bodyPr/>
          <a:lstStyle/>
          <a:p>
            <a:r>
              <a:rPr lang="pt-BR" dirty="0"/>
              <a:t>Materiais Arquitetados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66799" y="4419600"/>
            <a:ext cx="7010400" cy="1524000"/>
          </a:xfrm>
          <a:noFill/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A </a:t>
            </a:r>
            <a:r>
              <a:rPr lang="pt-BR" dirty="0">
                <a:solidFill>
                  <a:srgbClr val="FFFF00"/>
                </a:solidFill>
              </a:rPr>
              <a:t>eficiência mecânica</a:t>
            </a:r>
            <a:r>
              <a:rPr lang="pt-BR" dirty="0"/>
              <a:t> pode ser obtida pela combinação de material com </a:t>
            </a:r>
            <a:r>
              <a:rPr lang="pt-BR" dirty="0">
                <a:solidFill>
                  <a:srgbClr val="FFFF00"/>
                </a:solidFill>
              </a:rPr>
              <a:t>formas microscópicas ou internas</a:t>
            </a:r>
            <a:r>
              <a:rPr lang="pt-BR" dirty="0"/>
              <a:t>, as quais se </a:t>
            </a:r>
            <a:r>
              <a:rPr lang="pt-BR" dirty="0">
                <a:solidFill>
                  <a:srgbClr val="FFFF00"/>
                </a:solidFill>
              </a:rPr>
              <a:t>repetem</a:t>
            </a:r>
            <a:r>
              <a:rPr lang="pt-BR" dirty="0"/>
              <a:t> para fornecer uma </a:t>
            </a:r>
            <a:r>
              <a:rPr lang="pt-BR" dirty="0">
                <a:solidFill>
                  <a:srgbClr val="FFFF00"/>
                </a:solidFill>
              </a:rPr>
              <a:t>estrutura extensiva</a:t>
            </a:r>
            <a:r>
              <a:rPr lang="pt-BR" dirty="0"/>
              <a:t>. A forma é caracterizada por fatores de </a:t>
            </a:r>
            <a:r>
              <a:rPr lang="pt-BR" dirty="0">
                <a:solidFill>
                  <a:srgbClr val="FFFF00"/>
                </a:solidFill>
              </a:rPr>
              <a:t>formas microscópicos</a:t>
            </a:r>
            <a:r>
              <a:rPr lang="en-US" dirty="0"/>
              <a:t>, </a:t>
            </a:r>
            <a:r>
              <a:rPr lang="el-GR" i="1" dirty="0"/>
              <a:t>Ψ</a:t>
            </a:r>
            <a:r>
              <a:rPr lang="en-US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113183" y="3844272"/>
            <a:ext cx="96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Figura 9.14</a:t>
            </a:r>
          </a:p>
        </p:txBody>
      </p:sp>
    </p:spTree>
    <p:extLst>
      <p:ext uri="{BB962C8B-B14F-4D97-AF65-F5344CB8AC3E}">
        <p14:creationId xmlns:p14="http://schemas.microsoft.com/office/powerpoint/2010/main" val="4091115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95321" y="3276600"/>
            <a:ext cx="4800600" cy="2590800"/>
          </a:xfrm>
          <a:solidFill>
            <a:schemeClr val="accent5">
              <a:lumMod val="75000"/>
            </a:schemeClr>
          </a:solidFill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Estrutura microestrutural pode ser combinada com forma macroscópica para fornecer estruturas eficientes. O fator de forma global é o produto dos fatores de forma microscópico e macroscópico.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p:grpSp>
        <p:nvGrpSpPr>
          <p:cNvPr id="5" name="Grupo 4"/>
          <p:cNvGrpSpPr/>
          <p:nvPr/>
        </p:nvGrpSpPr>
        <p:grpSpPr>
          <a:xfrm>
            <a:off x="1190624" y="228600"/>
            <a:ext cx="6762751" cy="2409035"/>
            <a:chOff x="1190624" y="228600"/>
            <a:chExt cx="6762751" cy="240903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624" y="228600"/>
              <a:ext cx="6762751" cy="21320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06827" y="2360636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9.15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486398" y="2895600"/>
            <a:ext cx="3457575" cy="3462621"/>
            <a:chOff x="2105025" y="609600"/>
            <a:chExt cx="4933950" cy="5261949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5025" y="609600"/>
              <a:ext cx="4933950" cy="4857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3886670" y="5450609"/>
              <a:ext cx="1370658" cy="4209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Figura 9.16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941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Materials Selection in Mechanical Design, 4th Edition, © 2010 Michael Ashby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8235612"/>
                  </p:ext>
                </p:extLst>
              </p:nvPr>
            </p:nvGraphicFramePr>
            <p:xfrm>
              <a:off x="381000" y="1600200"/>
              <a:ext cx="8391525" cy="212527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31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228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255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4209">
                    <a:tc gridSpan="3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>
                              <a:solidFill>
                                <a:srgbClr val="FFC000"/>
                              </a:solidFill>
                            </a:rPr>
                            <a:t> 9.7</a:t>
                          </a:r>
                          <a:r>
                            <a:rPr lang="pt-BR" sz="1600" baseline="0" dirty="0">
                              <a:solidFill>
                                <a:schemeClr val="bg1"/>
                              </a:solidFill>
                            </a:rPr>
                            <a:t> Definições de Fatores de Forma</a:t>
                          </a:r>
                          <a:r>
                            <a:rPr lang="en-US" sz="1600" baseline="0" dirty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>
                              <a:solidFill>
                                <a:schemeClr val="bg1"/>
                              </a:solidFill>
                            </a:rPr>
                            <a:t>Restrição</a:t>
                          </a:r>
                          <a:r>
                            <a:rPr lang="pt-BR" sz="1200" b="1" baseline="0" dirty="0">
                              <a:solidFill>
                                <a:schemeClr val="bg1"/>
                              </a:solidFill>
                            </a:rPr>
                            <a:t> de Projeto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𝝆</m:t>
                              </m:r>
                              <m:r>
                                <a:rPr lang="pt-BR" sz="12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200" b="1" dirty="0">
                              <a:solidFill>
                                <a:schemeClr val="bg1"/>
                              </a:solidFill>
                            </a:rPr>
                            <a:t>(Mg/m</a:t>
                          </a:r>
                          <a:r>
                            <a:rPr lang="en-US" sz="1200" b="1" baseline="30000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r>
                            <a:rPr lang="en-US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2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pt-BR" sz="12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𝒇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200" b="1" baseline="0" dirty="0">
                              <a:solidFill>
                                <a:schemeClr val="bg1"/>
                              </a:solidFill>
                            </a:rPr>
                            <a:t> (MPa)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4838">
                    <a:tc>
                      <a:txBody>
                        <a:bodyPr/>
                        <a:lstStyle/>
                        <a:p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Rigidez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60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6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pt-BR" sz="16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pt-BR" sz="16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sup>
                                </m:sSubSup>
                                <m:r>
                                  <a:rPr lang="pt-BR" sz="1600" i="1" kern="12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6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12 </m:t>
                                    </m:r>
                                    <m:r>
                                      <a:rPr lang="pt-BR" sz="16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6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6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pt-BR" sz="16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sup>
                                </m:sSubSup>
                                <m:r>
                                  <a:rPr lang="pt-BR" sz="1400" i="1" kern="12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7.14</m:t>
                                    </m:r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𝐾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pt-BR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6353">
                    <a:tc>
                      <a:txBody>
                        <a:bodyPr/>
                        <a:lstStyle/>
                        <a:p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Resistência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sup>
                                </m:sSubSup>
                                <m:r>
                                  <a:rPr lang="pt-BR" sz="1400" i="1" kern="12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𝑍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pt-BR" sz="1400" b="0" i="1" kern="1200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3/</m:t>
                                        </m:r>
                                        <m:r>
                                          <a:rPr lang="pt-BR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1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sup>
                                </m:sSubSup>
                                <m:r>
                                  <a:rPr lang="pt-BR" sz="1400" i="1" kern="12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 kern="12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4.8 </m:t>
                                    </m:r>
                                    <m:r>
                                      <a:rPr lang="pt-B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pt-BR" sz="1400" i="1" kern="120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  <m:r>
                                          <a:rPr lang="pt-BR" sz="1400" b="0" i="1" kern="1200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/3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6353">
                    <a:tc gridSpan="3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* </a:t>
                          </a:r>
                          <a:r>
                            <a:rPr lang="pt-BR" sz="1400" i="1" dirty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a:t>,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400" i="1" baseline="0" dirty="0">
                              <a:solidFill>
                                <a:schemeClr val="bg1"/>
                              </a:solidFill>
                            </a:rPr>
                            <a:t>I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, </a:t>
                          </a:r>
                          <a:r>
                            <a:rPr lang="pt-BR" sz="1400" i="1" baseline="0" dirty="0">
                              <a:solidFill>
                                <a:schemeClr val="bg1"/>
                              </a:solidFill>
                            </a:rPr>
                            <a:t>K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, </a:t>
                          </a:r>
                          <a:r>
                            <a:rPr lang="pt-BR" sz="1400" i="1" baseline="0" dirty="0">
                              <a:solidFill>
                                <a:schemeClr val="bg1"/>
                              </a:solidFill>
                            </a:rPr>
                            <a:t>Z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e </a:t>
                          </a:r>
                          <a:r>
                            <a:rPr lang="pt-BR" sz="1400" i="1" baseline="0" dirty="0">
                              <a:solidFill>
                                <a:schemeClr val="bg1"/>
                              </a:solidFill>
                            </a:rPr>
                            <a:t>Q</a:t>
                          </a:r>
                          <a:r>
                            <a:rPr lang="pt-BR" sz="1400" baseline="0" dirty="0">
                              <a:solidFill>
                                <a:schemeClr val="bg1"/>
                              </a:solidFill>
                            </a:rPr>
                            <a:t> são definições no texto e tabulados na Tabela 9.2.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8235612"/>
                  </p:ext>
                </p:extLst>
              </p:nvPr>
            </p:nvGraphicFramePr>
            <p:xfrm>
              <a:off x="381000" y="1600200"/>
              <a:ext cx="8391525" cy="214822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3151"/>
                    <a:gridCol w="4022835"/>
                    <a:gridCol w="2025539"/>
                  </a:tblGrid>
                  <a:tr h="404209">
                    <a:tc gridSpan="3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 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9.7</a:t>
                          </a:r>
                          <a:r>
                            <a:rPr lang="pt-BR" sz="1600" baseline="0" dirty="0" smtClean="0">
                              <a:solidFill>
                                <a:schemeClr val="bg1"/>
                              </a:solidFill>
                            </a:rPr>
                            <a:t> Definições de Fatores de Forma</a:t>
                          </a:r>
                          <a:r>
                            <a:rPr lang="en-US" sz="1600" baseline="0" dirty="0" smtClean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3635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Restrição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 de Projeto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8333" t="-125455" r="-50455" b="-4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4759" t="-125455" r="-301" b="-429091"/>
                          </a:stretch>
                        </a:blipFill>
                      </a:tcPr>
                    </a:tc>
                  </a:tr>
                  <a:tr h="577787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Rigidez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8333" t="-130526" r="-50455" b="-14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14759" t="-130526" r="-301" b="-148421"/>
                          </a:stretch>
                        </a:blipFill>
                      </a:tcPr>
                    </a:tc>
                  </a:tr>
                  <a:tr h="493522">
                    <a:tc>
                      <a:txBody>
                        <a:bodyPr/>
                        <a:lstStyle/>
                        <a:p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Resistência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333" t="-270370" r="-50455" b="-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314759" t="-270370" r="-301" b="-74074"/>
                          </a:stretch>
                        </a:blipFill>
                      </a:tcPr>
                    </a:tc>
                  </a:tr>
                  <a:tr h="336353">
                    <a:tc gridSpan="3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* </a:t>
                          </a:r>
                          <a:r>
                            <a:rPr lang="pt-BR" sz="1400" i="1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,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pt-BR" sz="1400" i="1" baseline="0" dirty="0" smtClean="0">
                              <a:solidFill>
                                <a:schemeClr val="bg1"/>
                              </a:solidFill>
                            </a:rPr>
                            <a:t>I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, </a:t>
                          </a:r>
                          <a:r>
                            <a:rPr lang="pt-BR" sz="1400" i="1" baseline="0" dirty="0" smtClean="0">
                              <a:solidFill>
                                <a:schemeClr val="bg1"/>
                              </a:solidFill>
                            </a:rPr>
                            <a:t>K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, </a:t>
                          </a:r>
                          <a:r>
                            <a:rPr lang="pt-BR" sz="1400" i="1" baseline="0" dirty="0" smtClean="0">
                              <a:solidFill>
                                <a:schemeClr val="bg1"/>
                              </a:solidFill>
                            </a:rPr>
                            <a:t>Z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e </a:t>
                          </a:r>
                          <a:r>
                            <a:rPr lang="pt-BR" sz="1400" i="1" baseline="0" dirty="0" smtClean="0">
                              <a:solidFill>
                                <a:schemeClr val="bg1"/>
                              </a:solidFill>
                            </a:rPr>
                            <a:t>Q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são definições no texto e tabulados na Tabela 9.2.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206708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3797</TotalTime>
  <Words>1763</Words>
  <Application>Microsoft Macintosh PowerPoint</Application>
  <PresentationFormat>Apresentação na tela (4:3)</PresentationFormat>
  <Paragraphs>243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MaterialsSelection</vt:lpstr>
      <vt:lpstr>Capítulo 9 Seleção de Material e Forma</vt:lpstr>
      <vt:lpstr>Apresentação do PowerPoint</vt:lpstr>
      <vt:lpstr>Apresentação do PowerPoint</vt:lpstr>
      <vt:lpstr>Apresentação do PowerPoint</vt:lpstr>
      <vt:lpstr>Apresentação do PowerPoint</vt:lpstr>
      <vt:lpstr>Flexão Elásticas de Vigas</vt:lpstr>
      <vt:lpstr>Apresentação do PowerPoint</vt:lpstr>
      <vt:lpstr>Apresentação do PowerPoint</vt:lpstr>
      <vt:lpstr>Apresentação do PowerPoint</vt:lpstr>
      <vt:lpstr>Torção Elásticas de Eixos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4-Diagrama de Quatro Quadrantes</vt:lpstr>
      <vt:lpstr>Apresentação do PowerPoint</vt:lpstr>
      <vt:lpstr>Apresentação do PowerPoint</vt:lpstr>
      <vt:lpstr>Apresentação do PowerPoint</vt:lpstr>
      <vt:lpstr>Índices de Material que incluem a forma</vt:lpstr>
      <vt:lpstr>Apresentação do PowerPoint</vt:lpstr>
      <vt:lpstr>Apresentação do PowerPoint</vt:lpstr>
      <vt:lpstr>Seleção Gráfica Conjugada usando Índice</vt:lpstr>
      <vt:lpstr>Materiais Arquitetados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IVALDO L FERREIRA</cp:lastModifiedBy>
  <cp:revision>78</cp:revision>
  <dcterms:created xsi:type="dcterms:W3CDTF">2010-09-03T02:00:13Z</dcterms:created>
  <dcterms:modified xsi:type="dcterms:W3CDTF">2018-10-25T14:12:16Z</dcterms:modified>
</cp:coreProperties>
</file>