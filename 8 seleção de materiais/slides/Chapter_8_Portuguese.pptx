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7" r:id="rId9"/>
    <p:sldId id="270" r:id="rId10"/>
    <p:sldId id="271" r:id="rId11"/>
    <p:sldId id="272" r:id="rId12"/>
    <p:sldId id="282" r:id="rId13"/>
    <p:sldId id="274" r:id="rId14"/>
    <p:sldId id="275" r:id="rId15"/>
    <p:sldId id="276" r:id="rId16"/>
    <p:sldId id="277" r:id="rId17"/>
    <p:sldId id="278" r:id="rId18"/>
    <p:sldId id="279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19" autoAdjust="0"/>
  </p:normalViewPr>
  <p:slideViewPr>
    <p:cSldViewPr>
      <p:cViewPr varScale="1">
        <p:scale>
          <a:sx n="47" d="100"/>
          <a:sy n="47" d="100"/>
        </p:scale>
        <p:origin x="-581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3/28/2016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B17B-64EF-459B-B0D3-9A20E5A2C75B}" type="datetime1">
              <a:rPr lang="en-US" smtClean="0"/>
              <a:t>3/28/2016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1A7E6-BEA1-49DC-85A8-4D64E64330CF}" type="datetime1">
              <a:rPr lang="en-US" smtClean="0"/>
              <a:t>3/28/2016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5FC7A-031A-448C-A07D-1BB2B636A1F4}" type="datetime1">
              <a:rPr lang="en-US" smtClean="0"/>
              <a:t>3/28/2016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3AD0-3CF6-4F4E-A40E-FBBCBBA20D07}" type="datetime1">
              <a:rPr lang="en-US" smtClean="0"/>
              <a:t>3/28/2016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3F63F-B967-4E93-858C-4F16218B4ECB}" type="datetime1">
              <a:rPr lang="en-US" smtClean="0"/>
              <a:t>3/28/2016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F4F6-FC57-4C1B-8339-46FF1E343B8C}" type="datetime1">
              <a:rPr lang="en-US" smtClean="0"/>
              <a:t>3/28/2016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4B99-62D6-42EE-9963-DC2C6A08C5FD}" type="datetime1">
              <a:rPr lang="en-US" smtClean="0"/>
              <a:t>3/28/2016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1405-A8F1-4FE6-A15A-AF8FB6A4F349}" type="datetime1">
              <a:rPr lang="en-US" smtClean="0"/>
              <a:t>3/28/2016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07ED0-2E78-43C5-BEFB-14171C1C226B}" type="datetime1">
              <a:rPr lang="en-US" smtClean="0"/>
              <a:t>3/28/2016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4F0-6D13-4384-B49D-AA8EF14B767B}" type="datetime1">
              <a:rPr lang="en-US" smtClean="0"/>
              <a:t>3/28/2016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F51A-5E52-42E6-9EBE-2CA28EAD8A0D}" type="datetime1">
              <a:rPr lang="en-US" smtClean="0"/>
              <a:t>3/28/2016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A5192-A36D-4595-8710-51726C958718}" type="datetime1">
              <a:rPr lang="en-US" smtClean="0"/>
              <a:t>3/28/2016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685800"/>
            <a:ext cx="4724400" cy="1470025"/>
          </a:xfrm>
        </p:spPr>
        <p:txBody>
          <a:bodyPr>
            <a:normAutofit fontScale="90000"/>
          </a:bodyPr>
          <a:lstStyle/>
          <a:p>
            <a:r>
              <a:rPr lang="pt-BR" sz="4400" dirty="0" smtClean="0"/>
              <a:t>Capítulo 8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Estudos de caso: Restrições Múltiplas e Objetivos Conflitantes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080" y="270164"/>
            <a:ext cx="2824162" cy="2845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19" y="3534353"/>
            <a:ext cx="5567361" cy="2919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636"/>
            <a:ext cx="7772400" cy="1470025"/>
          </a:xfrm>
        </p:spPr>
        <p:txBody>
          <a:bodyPr>
            <a:normAutofit/>
          </a:bodyPr>
          <a:lstStyle/>
          <a:p>
            <a:r>
              <a:rPr lang="pt-BR" dirty="0" smtClean="0"/>
              <a:t>Restrições Múltiplas</a:t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Vasos de Pressão Leves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257800"/>
            <a:ext cx="114551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273" y="5257800"/>
            <a:ext cx="108145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24" y="5257800"/>
            <a:ext cx="131384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043" y="5267036"/>
            <a:ext cx="1246239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3079" y="4343400"/>
            <a:ext cx="4562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Não deve falhar por </a:t>
            </a:r>
            <a:r>
              <a:rPr lang="pt-BR" sz="2400" dirty="0" smtClean="0">
                <a:solidFill>
                  <a:srgbClr val="FFFF00"/>
                </a:solidFill>
              </a:rPr>
              <a:t>escoamento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67201" y="4567535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Não deve falhar por </a:t>
            </a:r>
            <a:r>
              <a:rPr lang="pt-BR" sz="2400" dirty="0" smtClean="0">
                <a:solidFill>
                  <a:srgbClr val="FFFF00"/>
                </a:solidFill>
              </a:rPr>
              <a:t>fratura rápida</a:t>
            </a:r>
            <a:endParaRPr lang="pt-BR" sz="2400" dirty="0">
              <a:solidFill>
                <a:srgbClr val="FFFF00"/>
              </a:solidFill>
            </a:endParaRPr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72869"/>
              </p:ext>
            </p:extLst>
          </p:nvPr>
        </p:nvGraphicFramePr>
        <p:xfrm>
          <a:off x="354164" y="1752600"/>
          <a:ext cx="8449526" cy="2575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87919"/>
                <a:gridCol w="666160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8.1 – Requisitos</a:t>
                      </a:r>
                      <a:r>
                        <a:rPr lang="pt-BR" sz="1200" baseline="0" dirty="0" smtClean="0"/>
                        <a:t> de Projeto para Vasos de Pressão Seguros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Função	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Vaso de pressão leve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Restrições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Raio</a:t>
                      </a:r>
                      <a:r>
                        <a:rPr lang="pt-BR" sz="1400" baseline="0" dirty="0" smtClean="0"/>
                        <a:t> R especificado </a:t>
                      </a:r>
                    </a:p>
                    <a:p>
                      <a:r>
                        <a:rPr lang="pt-BR" sz="1400" baseline="0" dirty="0" smtClean="0"/>
                        <a:t>rigidez à flexão S* especificada</a:t>
                      </a:r>
                    </a:p>
                    <a:p>
                      <a:r>
                        <a:rPr lang="pt-BR" sz="1400" baseline="0" dirty="0" smtClean="0"/>
                        <a:t>Não deve falhar por escoamento</a:t>
                      </a:r>
                    </a:p>
                    <a:p>
                      <a:r>
                        <a:rPr lang="pt-BR" sz="1400" baseline="0" dirty="0" smtClean="0"/>
                        <a:t>Não deve falhar por fratura rápida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Objetivo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Minimizar a massa </a:t>
                      </a:r>
                      <a:r>
                        <a:rPr lang="pt-BR" sz="1400" i="1" dirty="0" smtClean="0"/>
                        <a:t>m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Variável</a:t>
                      </a:r>
                      <a:r>
                        <a:rPr lang="pt-BR" sz="1400" baseline="0" dirty="0" smtClean="0"/>
                        <a:t> Livre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Espessura da parede </a:t>
                      </a:r>
                      <a:r>
                        <a:rPr lang="pt-BR" sz="1400" i="1" dirty="0" smtClean="0"/>
                        <a:t>t</a:t>
                      </a:r>
                      <a:endParaRPr lang="pt-BR" sz="1400" i="1" baseline="0" dirty="0" smtClean="0"/>
                    </a:p>
                    <a:p>
                      <a:r>
                        <a:rPr lang="pt-BR" sz="1400" baseline="0" dirty="0" smtClean="0"/>
                        <a:t>Escolha do material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0" y="4876800"/>
            <a:ext cx="7772400" cy="17526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 smtClean="0"/>
              <a:t>Projetos superrestritos conduzem a dois ou mais índices de desempenho associados por equações de acoplamento. A diagonal das linhas segmentadas apresenta as equações de acoplamento para quatro valores de comprimento de trinca. A interseção das linhas de sobre a linha de acoplamento apropriado fornece áreas de busca na forma de caixas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519007" y="161925"/>
            <a:ext cx="6105983" cy="4692273"/>
            <a:chOff x="1519007" y="161925"/>
            <a:chExt cx="6105983" cy="469227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9007" y="161925"/>
              <a:ext cx="6105983" cy="4415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4134219" y="4577199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8.1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5878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13" y="160351"/>
            <a:ext cx="6060971" cy="4134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134219" y="4295001"/>
            <a:ext cx="875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Figura 8.2</a:t>
            </a:r>
            <a:endParaRPr lang="en-US" sz="1200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635836"/>
              </p:ext>
            </p:extLst>
          </p:nvPr>
        </p:nvGraphicFramePr>
        <p:xfrm>
          <a:off x="971703" y="4648201"/>
          <a:ext cx="7334097" cy="1828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4897"/>
                <a:gridCol w="5029200"/>
              </a:tblGrid>
              <a:tr h="339694">
                <a:tc gridSpan="2">
                  <a:txBody>
                    <a:bodyPr/>
                    <a:lstStyle/>
                    <a:p>
                      <a:pPr algn="just"/>
                      <a:r>
                        <a:rPr lang="pt-BR" sz="1400" b="1" dirty="0" smtClean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400" b="1" baseline="0" dirty="0" smtClean="0">
                          <a:solidFill>
                            <a:srgbClr val="FFC000"/>
                          </a:solidFill>
                        </a:rPr>
                        <a:t> 8.2</a:t>
                      </a:r>
                      <a:r>
                        <a:rPr lang="pt-BR" sz="1400" baseline="0" dirty="0" smtClean="0">
                          <a:solidFill>
                            <a:schemeClr val="bg1"/>
                          </a:solidFill>
                        </a:rPr>
                        <a:t> Materiais para vasos de pressão</a:t>
                      </a:r>
                      <a:r>
                        <a:rPr lang="en-US" sz="1400" baseline="0" dirty="0" smtClean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97821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solidFill>
                            <a:schemeClr val="bg1"/>
                          </a:solidFill>
                        </a:rPr>
                        <a:t>Tamanho</a:t>
                      </a:r>
                      <a:r>
                        <a:rPr lang="pt-BR" sz="1200" b="1" baseline="0" dirty="0" smtClean="0">
                          <a:solidFill>
                            <a:schemeClr val="bg1"/>
                          </a:solidFill>
                        </a:rPr>
                        <a:t> da trinca 2</a:t>
                      </a:r>
                      <a:r>
                        <a:rPr lang="pt-BR" sz="1200" b="1" i="1" baseline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pt-BR" sz="1200" b="1" baseline="-25000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r>
                        <a:rPr lang="pt-BR" sz="1200" b="1" baseline="0" dirty="0" smtClean="0">
                          <a:solidFill>
                            <a:schemeClr val="bg1"/>
                          </a:solidFill>
                        </a:rPr>
                        <a:t>, mm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 smtClean="0">
                          <a:solidFill>
                            <a:schemeClr val="bg1"/>
                          </a:solidFill>
                        </a:rPr>
                        <a:t>Base de Estimativa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297821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0.1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Aço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de baixa liga AISI 4340 temperado à 206</a:t>
                      </a:r>
                      <a:r>
                        <a:rPr lang="pt-BR" sz="1200" baseline="30000" dirty="0" smtClean="0">
                          <a:solidFill>
                            <a:schemeClr val="bg1"/>
                          </a:solidFill>
                        </a:rPr>
                        <a:t>o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97821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Liga de alumínio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7150, têmpera T6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97821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Aço de baixa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liga 4135 revenido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97821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Aço inoxidável AISI 304,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HT grau B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29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674503"/>
              </p:ext>
            </p:extLst>
          </p:nvPr>
        </p:nvGraphicFramePr>
        <p:xfrm>
          <a:off x="2895600" y="1609725"/>
          <a:ext cx="6172200" cy="208593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06037"/>
                <a:gridCol w="4866163"/>
              </a:tblGrid>
              <a:tr h="329550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8.3 – Requisitos</a:t>
                      </a:r>
                      <a:r>
                        <a:rPr lang="pt-BR" sz="1200" baseline="0" dirty="0" smtClean="0"/>
                        <a:t> de Projeto: Bielas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29550">
                <a:tc>
                  <a:txBody>
                    <a:bodyPr/>
                    <a:lstStyle/>
                    <a:p>
                      <a:r>
                        <a:rPr lang="pt-BR" sz="1200" b="1" dirty="0" smtClean="0"/>
                        <a:t>Função</a:t>
                      </a:r>
                      <a:r>
                        <a:rPr lang="pt-BR" sz="1200" dirty="0" smtClean="0"/>
                        <a:t>	</a:t>
                      </a:r>
                      <a:endParaRPr lang="en-US" sz="12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Biela para motor</a:t>
                      </a:r>
                      <a:r>
                        <a:rPr lang="pt-BR" sz="1200" baseline="0" dirty="0" smtClean="0"/>
                        <a:t> ou bomba recíproca</a:t>
                      </a:r>
                      <a:endParaRPr lang="en-US" sz="1200" dirty="0"/>
                    </a:p>
                  </a:txBody>
                  <a:tcPr/>
                </a:tc>
              </a:tr>
              <a:tr h="568812">
                <a:tc>
                  <a:txBody>
                    <a:bodyPr/>
                    <a:lstStyle/>
                    <a:p>
                      <a:r>
                        <a:rPr lang="pt-BR" sz="1200" b="1" dirty="0" smtClean="0"/>
                        <a:t>Restrições</a:t>
                      </a:r>
                      <a:endParaRPr lang="en-US" sz="12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Não</a:t>
                      </a:r>
                      <a:r>
                        <a:rPr lang="pt-BR" sz="1200" baseline="0" dirty="0" smtClean="0"/>
                        <a:t> deve falhar por fadiga de alto ciclo</a:t>
                      </a:r>
                    </a:p>
                    <a:p>
                      <a:r>
                        <a:rPr lang="pt-BR" sz="1200" baseline="0" dirty="0" smtClean="0"/>
                        <a:t>Não deve falhar por flambagem elástica</a:t>
                      </a:r>
                    </a:p>
                    <a:p>
                      <a:r>
                        <a:rPr lang="pt-BR" sz="1200" baseline="0" dirty="0" smtClean="0"/>
                        <a:t>Curso, e por consequência o comprimento da biela </a:t>
                      </a:r>
                      <a:r>
                        <a:rPr lang="pt-BR" sz="1200" i="1" baseline="0" dirty="0" smtClean="0"/>
                        <a:t>L</a:t>
                      </a:r>
                      <a:r>
                        <a:rPr lang="pt-BR" sz="1200" baseline="0" dirty="0" smtClean="0"/>
                        <a:t>, especificado</a:t>
                      </a:r>
                      <a:endParaRPr lang="en-US" sz="1200" dirty="0"/>
                    </a:p>
                  </a:txBody>
                  <a:tcPr/>
                </a:tc>
              </a:tr>
              <a:tr h="329550">
                <a:tc>
                  <a:txBody>
                    <a:bodyPr/>
                    <a:lstStyle/>
                    <a:p>
                      <a:r>
                        <a:rPr lang="pt-BR" sz="1200" b="1" dirty="0" smtClean="0"/>
                        <a:t>Objetivo</a:t>
                      </a:r>
                      <a:endParaRPr lang="en-US" sz="12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Minimizar a massa</a:t>
                      </a:r>
                      <a:endParaRPr lang="en-US" sz="1200" dirty="0"/>
                    </a:p>
                  </a:txBody>
                  <a:tcPr/>
                </a:tc>
              </a:tr>
              <a:tr h="406295">
                <a:tc>
                  <a:txBody>
                    <a:bodyPr/>
                    <a:lstStyle/>
                    <a:p>
                      <a:r>
                        <a:rPr lang="pt-BR" sz="1200" b="1" dirty="0" smtClean="0"/>
                        <a:t>Variável</a:t>
                      </a:r>
                      <a:r>
                        <a:rPr lang="pt-BR" sz="1200" b="1" baseline="0" dirty="0" smtClean="0"/>
                        <a:t> Livre</a:t>
                      </a:r>
                      <a:endParaRPr lang="en-US" sz="12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Seção transversa</a:t>
                      </a:r>
                      <a:r>
                        <a:rPr lang="pt-BR" sz="1200" baseline="0" dirty="0" smtClean="0"/>
                        <a:t>l </a:t>
                      </a:r>
                      <a:r>
                        <a:rPr lang="pt-BR" sz="1200" i="1" baseline="0" dirty="0" smtClean="0"/>
                        <a:t>A</a:t>
                      </a:r>
                    </a:p>
                    <a:p>
                      <a:r>
                        <a:rPr lang="pt-BR" sz="1200" baseline="0" dirty="0" smtClean="0"/>
                        <a:t>Escolha do material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42900" y="0"/>
            <a:ext cx="8458200" cy="147002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Restrições Múltiplas</a:t>
            </a:r>
            <a:br>
              <a:rPr lang="pt-BR" dirty="0" smtClean="0"/>
            </a:br>
            <a:r>
              <a:rPr lang="pt-BR" sz="3600" b="0" dirty="0" smtClean="0">
                <a:solidFill>
                  <a:schemeClr val="tx1"/>
                </a:solidFill>
              </a:rPr>
              <a:t>Bielas  para Motores de Alto Desempenho</a:t>
            </a:r>
            <a:endParaRPr lang="pt-BR" sz="3600" b="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152400" y="1611746"/>
            <a:ext cx="2605087" cy="4181420"/>
            <a:chOff x="3109913" y="1300163"/>
            <a:chExt cx="2924175" cy="4559736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9913" y="1300163"/>
              <a:ext cx="2924175" cy="4257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4080597" y="5557838"/>
              <a:ext cx="982805" cy="3020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8.3</a:t>
              </a:r>
              <a:endParaRPr lang="en-US" sz="1200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553691" y="4538056"/>
            <a:ext cx="1609725" cy="1636939"/>
            <a:chOff x="3553691" y="4538056"/>
            <a:chExt cx="1609725" cy="1636939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3691" y="4538056"/>
              <a:ext cx="1609344" cy="832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3691" y="5365370"/>
              <a:ext cx="1609725" cy="809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6494751" y="4542784"/>
            <a:ext cx="1600200" cy="1642080"/>
            <a:chOff x="6494751" y="4542784"/>
            <a:chExt cx="1600200" cy="1642080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06" b="11749"/>
            <a:stretch/>
          </p:blipFill>
          <p:spPr bwMode="auto">
            <a:xfrm>
              <a:off x="6494751" y="4542784"/>
              <a:ext cx="1600200" cy="827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4751" y="5355845"/>
              <a:ext cx="1600200" cy="829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0" name="TextBox 9"/>
          <p:cNvSpPr txBox="1"/>
          <p:nvPr/>
        </p:nvSpPr>
        <p:spPr>
          <a:xfrm>
            <a:off x="2931537" y="3792606"/>
            <a:ext cx="285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Não deve falhas por fadiga de alto ciclo</a:t>
            </a:r>
            <a:endParaRPr lang="pt-BR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096000" y="3810000"/>
            <a:ext cx="243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Não deve falhar por flambagem elástica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4457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241650" y="684006"/>
            <a:ext cx="4101750" cy="3354594"/>
            <a:chOff x="165449" y="444787"/>
            <a:chExt cx="4101750" cy="3354594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9" y="444787"/>
              <a:ext cx="4101750" cy="3077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781895" y="3522382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8.4</a:t>
              </a:r>
              <a:endParaRPr lang="en-US" sz="1200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57205" y="1983584"/>
            <a:ext cx="423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 smtClean="0"/>
              <a:t>Linha de Acoplamento</a:t>
            </a:r>
            <a:endParaRPr lang="pt-BR" sz="32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395" y="2659454"/>
            <a:ext cx="3100388" cy="988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073" y="912666"/>
            <a:ext cx="3514725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725247" y="304800"/>
            <a:ext cx="1301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Bielas</a:t>
            </a:r>
            <a:endParaRPr lang="pt-BR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ela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905241"/>
                  </p:ext>
                </p:extLst>
              </p:nvPr>
            </p:nvGraphicFramePr>
            <p:xfrm>
              <a:off x="842223" y="4274180"/>
              <a:ext cx="7768377" cy="21266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96338"/>
                    <a:gridCol w="790155"/>
                    <a:gridCol w="711139"/>
                    <a:gridCol w="869170"/>
                    <a:gridCol w="632124"/>
                    <a:gridCol w="711139"/>
                    <a:gridCol w="2058312"/>
                  </a:tblGrid>
                  <a:tr h="339694">
                    <a:tc gridSpan="7">
                      <a:txBody>
                        <a:bodyPr/>
                        <a:lstStyle/>
                        <a:p>
                          <a:pPr algn="just"/>
                          <a:r>
                            <a:rPr lang="pt-BR" sz="14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400" b="1" baseline="0" dirty="0" smtClean="0">
                              <a:solidFill>
                                <a:srgbClr val="FFC000"/>
                              </a:solidFill>
                            </a:rPr>
                            <a:t> 8.4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Materiais para Biela</a:t>
                          </a:r>
                          <a:endParaRPr lang="en-US" sz="1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𝝆</m:t>
                              </m:r>
                            </m:oMath>
                          </a14:m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 kg/m</a:t>
                          </a:r>
                          <a:r>
                            <a:rPr lang="en-US" sz="1200" b="1" baseline="30000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200" b="1" baseline="30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i="1" dirty="0" smtClean="0">
                              <a:solidFill>
                                <a:schemeClr val="bg1"/>
                              </a:solidFill>
                            </a:rPr>
                            <a:t>E</a:t>
                          </a:r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200" b="1" dirty="0" err="1" smtClean="0">
                              <a:solidFill>
                                <a:schemeClr val="bg1"/>
                              </a:solidFill>
                            </a:rPr>
                            <a:t>GPa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𝝈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chemeClr val="bg1"/>
                                      </a:solidFill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𝒆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 MPa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pt-BR" sz="1200" b="1" baseline="-250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 kg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pt-BR" sz="1200" b="1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 kg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𝒎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chemeClr val="bg1"/>
                                      </a:solidFill>
                                    </a:rPr>
                                    <m:t> </m:t>
                                  </m:r>
                                </m:e>
                              </m:acc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𝒎𝒂𝒙</m:t>
                              </m:r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pt-BR" sz="12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 kg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Ferro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fundido nodular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7150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178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250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0.43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0.22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0.43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Aço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HSLA 4140 temp. óleo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7850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210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590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Al S355.0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liga fundida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2700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95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0.39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0.14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0.39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Compósito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100" dirty="0" err="1" smtClean="0">
                              <a:solidFill>
                                <a:schemeClr val="bg1"/>
                              </a:solidFill>
                            </a:rPr>
                            <a:t>Duralcan</a:t>
                          </a:r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 Al-</a:t>
                          </a:r>
                          <a:r>
                            <a:rPr lang="pt-BR" sz="1100" dirty="0" err="1" smtClean="0">
                              <a:solidFill>
                                <a:schemeClr val="bg1"/>
                              </a:solidFill>
                            </a:rPr>
                            <a:t>SiC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2880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110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230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0.12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Titânio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6Al 4V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4400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115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530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0.12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0.17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0.17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ela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905241"/>
                  </p:ext>
                </p:extLst>
              </p:nvPr>
            </p:nvGraphicFramePr>
            <p:xfrm>
              <a:off x="842223" y="4274180"/>
              <a:ext cx="7768377" cy="21266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96338"/>
                    <a:gridCol w="790155"/>
                    <a:gridCol w="711139"/>
                    <a:gridCol w="869170"/>
                    <a:gridCol w="632124"/>
                    <a:gridCol w="711139"/>
                    <a:gridCol w="2058312"/>
                  </a:tblGrid>
                  <a:tr h="339694">
                    <a:tc gridSpan="7">
                      <a:txBody>
                        <a:bodyPr/>
                        <a:lstStyle/>
                        <a:p>
                          <a:pPr algn="just"/>
                          <a:r>
                            <a:rPr lang="pt-BR" sz="14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400" b="1" baseline="0" dirty="0" smtClean="0">
                              <a:solidFill>
                                <a:srgbClr val="FFC000"/>
                              </a:solidFill>
                            </a:rPr>
                            <a:t> 8.4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Materiais para Biela</a:t>
                          </a:r>
                          <a:endParaRPr lang="en-US" sz="1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54264" t="-116327" r="-634109" b="-4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i="1" dirty="0" smtClean="0">
                              <a:solidFill>
                                <a:schemeClr val="bg1"/>
                              </a:solidFill>
                            </a:rPr>
                            <a:t>E</a:t>
                          </a:r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200" b="1" dirty="0" err="1" smtClean="0">
                              <a:solidFill>
                                <a:schemeClr val="bg1"/>
                              </a:solidFill>
                            </a:rPr>
                            <a:t>GPa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401399" t="-116327" r="-390210" b="-4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pt-BR" sz="1200" b="1" baseline="-250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 kg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pt-BR" sz="1200" b="1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 kg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77219" t="-116327" b="-497959"/>
                          </a:stretch>
                        </a:blip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Ferro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fundido nodular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7150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178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250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0.43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0.22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0.43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Aço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HSLA 4140 temp. óleo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7850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210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590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0.28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Al S355.0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liga fundida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2700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95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0.39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0.14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0.39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Compósito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100" dirty="0" err="1" smtClean="0">
                              <a:solidFill>
                                <a:schemeClr val="bg1"/>
                              </a:solidFill>
                            </a:rPr>
                            <a:t>Duralcan</a:t>
                          </a:r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 Al-</a:t>
                          </a:r>
                          <a:r>
                            <a:rPr lang="pt-BR" sz="1100" dirty="0" err="1" smtClean="0">
                              <a:solidFill>
                                <a:schemeClr val="bg1"/>
                              </a:solidFill>
                            </a:rPr>
                            <a:t>SiC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2880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110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230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0.12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0.18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Titânio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6Al 4V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4400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115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530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0.12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0.17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0.17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503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782074" y="115377"/>
            <a:ext cx="5579851" cy="4557247"/>
            <a:chOff x="1782074" y="115377"/>
            <a:chExt cx="5579851" cy="4557247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2074" y="115377"/>
              <a:ext cx="5579851" cy="4269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19" y="4395625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8.5</a:t>
              </a:r>
              <a:endParaRPr lang="en-US" sz="1200" dirty="0"/>
            </a:p>
          </p:txBody>
        </p:sp>
      </p:grp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619344"/>
              </p:ext>
            </p:extLst>
          </p:nvPr>
        </p:nvGraphicFramePr>
        <p:xfrm>
          <a:off x="1066800" y="4724400"/>
          <a:ext cx="7467600" cy="1728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4851"/>
                <a:gridCol w="5372749"/>
              </a:tblGrid>
              <a:tr h="321004">
                <a:tc gridSpan="2">
                  <a:txBody>
                    <a:bodyPr/>
                    <a:lstStyle/>
                    <a:p>
                      <a:pPr algn="just"/>
                      <a:r>
                        <a:rPr lang="pt-BR" sz="1200" b="1" dirty="0" smtClean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200" b="1" baseline="0" dirty="0" smtClean="0">
                          <a:solidFill>
                            <a:srgbClr val="FFC000"/>
                          </a:solidFill>
                        </a:rPr>
                        <a:t> 8.5 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Materiais para bielas de alto desempenho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81434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 smtClean="0">
                          <a:solidFill>
                            <a:schemeClr val="bg1"/>
                          </a:solidFill>
                        </a:rPr>
                        <a:t>Materiais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 smtClean="0">
                          <a:solidFill>
                            <a:schemeClr val="bg1"/>
                          </a:solidFill>
                        </a:rPr>
                        <a:t>Comentário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281434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Ligas de magnésio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AZ61 e ligas relacionadas oferecem bom desempenho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geral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81434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Ligas de titânio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Ti-6-4 é a melhor escolha para alta F/L</a:t>
                      </a:r>
                      <a:r>
                        <a:rPr lang="pt-BR" sz="1200" baseline="30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81434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Ligas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de berílio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A escolha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definitiva, porém difíceis de processar e muito caras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81434"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Ligas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alumínio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 smtClean="0">
                          <a:solidFill>
                            <a:schemeClr val="bg1"/>
                          </a:solidFill>
                        </a:rPr>
                        <a:t>Mais baratas</a:t>
                      </a:r>
                      <a:r>
                        <a:rPr lang="pt-BR" sz="1200" baseline="0" dirty="0" smtClean="0">
                          <a:solidFill>
                            <a:schemeClr val="bg1"/>
                          </a:solidFill>
                        </a:rPr>
                        <a:t> que as de titânio ou magnésio, porém desempenho mais baixo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16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76719"/>
              </p:ext>
            </p:extLst>
          </p:nvPr>
        </p:nvGraphicFramePr>
        <p:xfrm>
          <a:off x="3124200" y="3821129"/>
          <a:ext cx="5815584" cy="166653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30577"/>
                <a:gridCol w="4585007"/>
              </a:tblGrid>
              <a:tr h="241377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8.5 – Requisitos</a:t>
                      </a:r>
                      <a:r>
                        <a:rPr lang="pt-BR" sz="1200" baseline="0" dirty="0" smtClean="0"/>
                        <a:t> de Projeto: Enrolamentos de magnetos de alto campo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41377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Função</a:t>
                      </a:r>
                      <a:r>
                        <a:rPr lang="pt-BR" sz="1100" dirty="0" smtClean="0"/>
                        <a:t>	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Enrolamento de magnetos</a:t>
                      </a:r>
                      <a:endParaRPr lang="en-US" sz="1100" dirty="0"/>
                    </a:p>
                  </a:txBody>
                  <a:tcPr/>
                </a:tc>
              </a:tr>
              <a:tr h="563212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Restrições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Não podem ter falha</a:t>
                      </a:r>
                      <a:r>
                        <a:rPr lang="pt-BR" sz="1100" baseline="0" dirty="0" smtClean="0"/>
                        <a:t> mecânica</a:t>
                      </a:r>
                    </a:p>
                    <a:p>
                      <a:r>
                        <a:rPr lang="pt-BR" sz="1100" baseline="0" dirty="0" smtClean="0"/>
                        <a:t>Elevação de temperatura &lt; 100</a:t>
                      </a:r>
                      <a:r>
                        <a:rPr lang="pt-BR" sz="1100" baseline="30000" dirty="0" smtClean="0"/>
                        <a:t>o</a:t>
                      </a:r>
                      <a:r>
                        <a:rPr lang="pt-BR" sz="1100" baseline="0" dirty="0" smtClean="0"/>
                        <a:t>C</a:t>
                      </a:r>
                    </a:p>
                    <a:p>
                      <a:r>
                        <a:rPr lang="pt-BR" sz="1100" baseline="0" dirty="0" smtClean="0"/>
                        <a:t>Raio </a:t>
                      </a:r>
                      <a:r>
                        <a:rPr lang="pt-BR" sz="1100" i="1" baseline="0" dirty="0" smtClean="0"/>
                        <a:t>R</a:t>
                      </a:r>
                      <a:r>
                        <a:rPr lang="pt-BR" sz="1100" baseline="0" dirty="0" smtClean="0"/>
                        <a:t> e comprimento </a:t>
                      </a:r>
                      <a:r>
                        <a:rPr lang="pt-BR" sz="1100" i="1" baseline="0" dirty="0" smtClean="0"/>
                        <a:t>L</a:t>
                      </a:r>
                      <a:r>
                        <a:rPr lang="pt-BR" sz="1100" baseline="0" dirty="0" smtClean="0"/>
                        <a:t> da bobina especificados</a:t>
                      </a:r>
                      <a:endParaRPr lang="en-US" sz="1100" dirty="0"/>
                    </a:p>
                  </a:txBody>
                  <a:tcPr/>
                </a:tc>
              </a:tr>
              <a:tr h="241377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Objetivo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Minimizar campo magnético</a:t>
                      </a:r>
                      <a:endParaRPr lang="en-US" sz="1100" dirty="0"/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Variável</a:t>
                      </a:r>
                      <a:r>
                        <a:rPr lang="pt-BR" sz="1100" b="1" baseline="0" dirty="0" smtClean="0"/>
                        <a:t> Livre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baseline="0" dirty="0" smtClean="0"/>
                        <a:t>Escolha do material para rolamento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ela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6873507"/>
                  </p:ext>
                </p:extLst>
              </p:nvPr>
            </p:nvGraphicFramePr>
            <p:xfrm>
              <a:off x="3124200" y="1912969"/>
              <a:ext cx="5815584" cy="18478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71601"/>
                    <a:gridCol w="1447800"/>
                    <a:gridCol w="2996183"/>
                  </a:tblGrid>
                  <a:tr h="278085">
                    <a:tc gridSpan="3">
                      <a:txBody>
                        <a:bodyPr/>
                        <a:lstStyle/>
                        <a:p>
                          <a:pPr algn="just"/>
                          <a:r>
                            <a:rPr lang="pt-BR" sz="12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200" b="1" baseline="0" dirty="0" smtClean="0">
                              <a:solidFill>
                                <a:srgbClr val="FFC000"/>
                              </a:solidFill>
                            </a:rPr>
                            <a:t> 8.5 </a:t>
                          </a:r>
                          <a:r>
                            <a:rPr lang="pt-BR" sz="1200" baseline="0" dirty="0" smtClean="0">
                              <a:solidFill>
                                <a:schemeClr val="bg1"/>
                              </a:solidFill>
                            </a:rPr>
                            <a:t>Duração e força de Campos Pulsados</a:t>
                          </a:r>
                          <a:endParaRPr lang="en-US" sz="12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2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544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Tipo de pulso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Tempo de pulso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Força de campo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</a:tr>
                  <a:tr h="243805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Contínuo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1 s - </a:t>
                          </a:r>
                          <a14:m>
                            <m:oMath xmlns:m="http://schemas.openxmlformats.org/officeDocument/2006/math">
                              <m:r>
                                <a:rPr lang="pt-BR" sz="110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sz="110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&lt; 30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43805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Longo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100 </a:t>
                          </a:r>
                          <a:r>
                            <a:rPr lang="pt-BR" sz="1100" baseline="0" dirty="0" err="1" smtClean="0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– 1s 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30-60 T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43805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Padrão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10 – 1.000 </a:t>
                          </a:r>
                          <a:r>
                            <a:rPr lang="pt-BR" sz="1100" baseline="0" dirty="0" err="1" smtClean="0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endParaRPr lang="en-US" sz="110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40-70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43805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Curto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kern="1200" baseline="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 – 1.000 µs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70-80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43805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Ultracurto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0,1-10 µs</a:t>
                          </a:r>
                          <a:endParaRPr lang="en-US" sz="110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&gt; 100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ela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6873507"/>
                  </p:ext>
                </p:extLst>
              </p:nvPr>
            </p:nvGraphicFramePr>
            <p:xfrm>
              <a:off x="3124200" y="1912969"/>
              <a:ext cx="5815584" cy="18478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71601"/>
                    <a:gridCol w="1447800"/>
                    <a:gridCol w="2996183"/>
                  </a:tblGrid>
                  <a:tr h="278085">
                    <a:tc gridSpan="3">
                      <a:txBody>
                        <a:bodyPr/>
                        <a:lstStyle/>
                        <a:p>
                          <a:pPr algn="just"/>
                          <a:r>
                            <a:rPr lang="pt-BR" sz="12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200" b="1" baseline="0" dirty="0" smtClean="0">
                              <a:solidFill>
                                <a:srgbClr val="FFC000"/>
                              </a:solidFill>
                            </a:rPr>
                            <a:t> 8.5 </a:t>
                          </a:r>
                          <a:r>
                            <a:rPr lang="pt-BR" sz="1200" baseline="0" dirty="0" smtClean="0">
                              <a:solidFill>
                                <a:schemeClr val="bg1"/>
                              </a:solidFill>
                            </a:rPr>
                            <a:t>Duração e força de Campos Pulsados</a:t>
                          </a:r>
                          <a:endParaRPr lang="en-US" sz="12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2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Tipo de pulso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Tempo de pulso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Força de campo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Contínuo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4958" t="-219048" r="-206303" b="-4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&lt; 30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Longo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100 </a:t>
                          </a:r>
                          <a:r>
                            <a:rPr lang="pt-BR" sz="1100" baseline="0" dirty="0" err="1" smtClean="0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– 1s 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30-60 T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Padrão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10 – 1.000 </a:t>
                          </a:r>
                          <a:r>
                            <a:rPr lang="pt-BR" sz="1100" baseline="0" dirty="0" err="1" smtClean="0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endParaRPr lang="en-US" sz="110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40-70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Curto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kern="1200" baseline="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 – 1.000 µs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70-80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Ultracurto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0,1-10 µs</a:t>
                          </a:r>
                          <a:endParaRPr lang="en-US" sz="110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100" dirty="0" smtClean="0">
                              <a:solidFill>
                                <a:schemeClr val="bg1"/>
                              </a:solidFill>
                            </a:rPr>
                            <a:t>&gt; 100 T</a:t>
                          </a:r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798" y="1301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Múltiplas Restrições</a:t>
            </a:r>
            <a:br>
              <a:rPr lang="pt-BR" dirty="0" smtClean="0"/>
            </a:br>
            <a:r>
              <a:rPr lang="pt-BR" dirty="0" smtClean="0"/>
              <a:t> </a:t>
            </a:r>
            <a:r>
              <a:rPr lang="pt-BR" b="0" dirty="0" smtClean="0">
                <a:solidFill>
                  <a:schemeClr val="tx1"/>
                </a:solidFill>
              </a:rPr>
              <a:t>Enrolamentos para Magnetos de Alto Campo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6" name="Grupo 5"/>
          <p:cNvGrpSpPr/>
          <p:nvPr/>
        </p:nvGrpSpPr>
        <p:grpSpPr>
          <a:xfrm>
            <a:off x="170871" y="1903444"/>
            <a:ext cx="2690091" cy="3631355"/>
            <a:chOff x="152399" y="1903444"/>
            <a:chExt cx="2690091" cy="3631355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399" y="1903444"/>
              <a:ext cx="2690091" cy="3353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078137" y="5257800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8.6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6819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19098" y="173182"/>
            <a:ext cx="8305800" cy="1274618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6700" dirty="0" smtClean="0"/>
              <a:t>Os dois grupos de materiais que determinam a escolha de material para enrolamento de magnetos de alta potência ou motores elétricos. Os eixos são  duas suposições  baseadas nas tentativas de maximizar resistência e o fluxo de corrente.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474021" y="1537901"/>
            <a:ext cx="6195955" cy="4919978"/>
            <a:chOff x="1474022" y="1676400"/>
            <a:chExt cx="6195955" cy="4919978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022" y="1676400"/>
              <a:ext cx="6195955" cy="46429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19" y="6319379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8.7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358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7" name="Grupo 6"/>
          <p:cNvGrpSpPr/>
          <p:nvPr/>
        </p:nvGrpSpPr>
        <p:grpSpPr>
          <a:xfrm>
            <a:off x="327891" y="3209588"/>
            <a:ext cx="4419600" cy="3171549"/>
            <a:chOff x="327891" y="3209588"/>
            <a:chExt cx="4419600" cy="3171549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891" y="3209588"/>
              <a:ext cx="4419600" cy="2894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099910" y="6104138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8.8</a:t>
              </a:r>
              <a:endParaRPr lang="en-US" sz="12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58566" y="228600"/>
            <a:ext cx="7649851" cy="2461155"/>
            <a:chOff x="630857" y="3974812"/>
            <a:chExt cx="9284498" cy="246115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4701309"/>
              <a:ext cx="2438400" cy="808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4076" y="5631295"/>
              <a:ext cx="1543848" cy="804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599" y="4701309"/>
              <a:ext cx="3412405" cy="804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1125" y="5631295"/>
              <a:ext cx="1673352" cy="804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630857" y="3974812"/>
              <a:ext cx="9284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 smtClean="0"/>
                <a:t>Índices de Materiais baseados no Campo Magnético B</a:t>
              </a:r>
              <a:endParaRPr lang="pt-BR" sz="2400" b="1" i="1" dirty="0"/>
            </a:p>
          </p:txBody>
        </p:sp>
      </p:grp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308" y="4182994"/>
            <a:ext cx="3703346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339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85" y="838200"/>
            <a:ext cx="444055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75176" y="129308"/>
            <a:ext cx="7494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Materiais para Magnetos de Alto Campo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8339835"/>
                  </p:ext>
                </p:extLst>
              </p:nvPr>
            </p:nvGraphicFramePr>
            <p:xfrm>
              <a:off x="233217" y="2133600"/>
              <a:ext cx="8686801" cy="164463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39822"/>
                    <a:gridCol w="831979"/>
                    <a:gridCol w="914400"/>
                    <a:gridCol w="1066800"/>
                    <a:gridCol w="1066800"/>
                    <a:gridCol w="990600"/>
                    <a:gridCol w="838200"/>
                    <a:gridCol w="838200"/>
                  </a:tblGrid>
                  <a:tr h="339694">
                    <a:tc gridSpan="8">
                      <a:txBody>
                        <a:bodyPr/>
                        <a:lstStyle/>
                        <a:p>
                          <a:pPr algn="just"/>
                          <a:r>
                            <a:rPr lang="pt-BR" sz="11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100" b="1" baseline="0" dirty="0" smtClean="0">
                              <a:solidFill>
                                <a:srgbClr val="FFC000"/>
                              </a:solidFill>
                            </a:rPr>
                            <a:t> 8.8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Materiais para magneto de alto campo, comprimento do pulso de 10 </a:t>
                          </a:r>
                          <a:r>
                            <a:rPr lang="pt-BR" sz="1100" baseline="0" dirty="0" err="1" smtClean="0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endParaRPr lang="en-US" sz="11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05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05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𝝆</m:t>
                              </m:r>
                            </m:oMath>
                          </a14:m>
                          <a:r>
                            <a:rPr lang="en-US" sz="1050" b="1" dirty="0" smtClean="0">
                              <a:solidFill>
                                <a:schemeClr val="bg1"/>
                              </a:solidFill>
                            </a:rPr>
                            <a:t> kg/m</a:t>
                          </a:r>
                          <a:r>
                            <a:rPr lang="en-US" sz="1050" b="1" baseline="30000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050" b="1" baseline="30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𝝈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050" b="1" dirty="0">
                                      <a:solidFill>
                                        <a:schemeClr val="bg1"/>
                                      </a:solidFill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pt-BR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𝒚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50" b="1" dirty="0" smtClean="0">
                              <a:solidFill>
                                <a:schemeClr val="bg1"/>
                              </a:solidFill>
                            </a:rPr>
                            <a:t> MPa</a:t>
                          </a:r>
                          <a:endParaRPr lang="en-US" sz="105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𝑪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050" b="1" dirty="0">
                                      <a:solidFill>
                                        <a:schemeClr val="bg1"/>
                                      </a:solidFill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pt-BR" sz="1050" b="1" i="1" dirty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50" b="1" dirty="0" smtClean="0">
                              <a:solidFill>
                                <a:schemeClr val="bg1"/>
                              </a:solidFill>
                            </a:rPr>
                            <a:t> J/(</a:t>
                          </a:r>
                          <a:r>
                            <a:rPr lang="en-US" sz="1050" b="1" dirty="0" err="1" smtClean="0">
                              <a:solidFill>
                                <a:schemeClr val="bg1"/>
                              </a:solidFill>
                            </a:rPr>
                            <a:t>kg.K</a:t>
                          </a:r>
                          <a:r>
                            <a:rPr lang="en-US" sz="1050" b="1" dirty="0" smtClean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en-US" sz="1050" b="1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endParaRPr lang="en-US" sz="105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𝝆</m:t>
                                  </m:r>
                                </m:e>
                                <m:sub>
                                  <m:r>
                                    <a:rPr lang="pt-BR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𝒆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50" b="1" dirty="0" smtClean="0">
                              <a:solidFill>
                                <a:schemeClr val="bg1"/>
                              </a:solidFill>
                            </a:rPr>
                            <a:t> 10</a:t>
                          </a:r>
                          <a:r>
                            <a:rPr lang="en-US" sz="1050" b="1" baseline="30000" dirty="0" smtClean="0">
                              <a:solidFill>
                                <a:schemeClr val="bg1"/>
                              </a:solidFill>
                            </a:rPr>
                            <a:t>-8</a:t>
                          </a:r>
                          <a:r>
                            <a:rPr lang="en-US" sz="105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l-GR" sz="1050" b="1" dirty="0" smtClean="0">
                              <a:solidFill>
                                <a:schemeClr val="bg1"/>
                              </a:solidFill>
                            </a:rPr>
                            <a:t>Ω</a:t>
                          </a:r>
                          <a:r>
                            <a:rPr lang="en-US" sz="1050" b="1" dirty="0" smtClean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endParaRPr lang="en-US" sz="105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050" b="1" i="1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r>
                            <a:rPr lang="pt-BR" sz="1050" b="1" baseline="-250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050" b="1" dirty="0" err="1" smtClean="0">
                              <a:solidFill>
                                <a:schemeClr val="bg1"/>
                              </a:solidFill>
                            </a:rPr>
                            <a:t>Wb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/m</a:t>
                          </a:r>
                          <a:r>
                            <a:rPr lang="pt-BR" sz="1050" b="1" baseline="30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en-US" sz="1050" b="1" baseline="30000" dirty="0" smtClean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endParaRPr lang="en-US" sz="1050" b="1" baseline="30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i="1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r>
                            <a:rPr lang="pt-BR" sz="1050" b="1" baseline="-25000" dirty="0" smtClean="0">
                              <a:solidFill>
                                <a:schemeClr val="bg1"/>
                              </a:solidFill>
                            </a:rPr>
                            <a:t>2 </a:t>
                          </a:r>
                          <a:r>
                            <a:rPr lang="pt-BR" sz="1050" b="1" dirty="0" err="1" smtClean="0">
                              <a:solidFill>
                                <a:schemeClr val="bg1"/>
                              </a:solidFill>
                            </a:rPr>
                            <a:t>Wb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/m</a:t>
                          </a:r>
                          <a:r>
                            <a:rPr lang="pt-BR" sz="1050" b="1" baseline="30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en-US" sz="1050" b="1" baseline="30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pt-BR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pt-BR" sz="105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𝑩</m:t>
                                  </m:r>
                                </m:e>
                              </m:acc>
                            </m:oMath>
                          </a14:m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050" b="1" dirty="0" err="1" smtClean="0">
                              <a:solidFill>
                                <a:schemeClr val="bg1"/>
                              </a:solidFill>
                            </a:rPr>
                            <a:t>Wb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/m</a:t>
                          </a:r>
                          <a:r>
                            <a:rPr lang="pt-BR" sz="1050" b="1" baseline="30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en-US" sz="1050" b="1" baseline="30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Cobre de alta condutividade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8940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250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385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1.7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u="sng" dirty="0" smtClean="0">
                              <a:solidFill>
                                <a:schemeClr val="bg1"/>
                              </a:solidFill>
                            </a:rPr>
                            <a:t>35</a:t>
                          </a:r>
                          <a:endParaRPr lang="en-US" sz="1050" b="1" u="sng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050" kern="120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113</a:t>
                          </a:r>
                          <a:endParaRPr lang="en-US" sz="1050" kern="1200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35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Compósito</a:t>
                          </a:r>
                          <a:r>
                            <a:rPr lang="pt-BR" sz="1050" baseline="0" dirty="0" smtClean="0">
                              <a:solidFill>
                                <a:schemeClr val="bg1"/>
                              </a:solidFill>
                            </a:rPr>
                            <a:t> de </a:t>
                          </a:r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Cu-15%Nb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8900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780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368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2.4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u="sng" dirty="0" smtClean="0">
                              <a:solidFill>
                                <a:schemeClr val="bg1"/>
                              </a:solidFill>
                            </a:rPr>
                            <a:t>62</a:t>
                          </a:r>
                          <a:endParaRPr lang="en-US" sz="1050" b="1" u="sng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050" kern="120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92</a:t>
                          </a:r>
                          <a:endParaRPr lang="en-US" sz="1050" kern="1200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u="sng" dirty="0" smtClean="0">
                              <a:solidFill>
                                <a:schemeClr val="bg1"/>
                              </a:solidFill>
                            </a:rPr>
                            <a:t>62</a:t>
                          </a:r>
                          <a:endParaRPr lang="en-US" sz="1050" b="1" u="sng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Aço</a:t>
                          </a:r>
                          <a:r>
                            <a:rPr lang="pt-BR" sz="1050" baseline="0" dirty="0" smtClean="0">
                              <a:solidFill>
                                <a:schemeClr val="bg1"/>
                              </a:solidFill>
                            </a:rPr>
                            <a:t> ARBL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7850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1600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450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25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89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050" b="1" u="sng" kern="120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</a:t>
                          </a:r>
                          <a:endParaRPr lang="en-US" sz="1050" b="1" u="sng" kern="1200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8339835"/>
                  </p:ext>
                </p:extLst>
              </p:nvPr>
            </p:nvGraphicFramePr>
            <p:xfrm>
              <a:off x="233217" y="2133600"/>
              <a:ext cx="8686801" cy="164463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39822"/>
                    <a:gridCol w="831979"/>
                    <a:gridCol w="914400"/>
                    <a:gridCol w="1066800"/>
                    <a:gridCol w="1066800"/>
                    <a:gridCol w="990600"/>
                    <a:gridCol w="838200"/>
                    <a:gridCol w="838200"/>
                  </a:tblGrid>
                  <a:tr h="339694">
                    <a:tc gridSpan="8">
                      <a:txBody>
                        <a:bodyPr/>
                        <a:lstStyle/>
                        <a:p>
                          <a:pPr algn="just"/>
                          <a:r>
                            <a:rPr lang="pt-BR" sz="11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100" b="1" baseline="0" dirty="0" smtClean="0">
                              <a:solidFill>
                                <a:srgbClr val="FFC000"/>
                              </a:solidFill>
                            </a:rPr>
                            <a:t> 8.8</a:t>
                          </a:r>
                          <a:r>
                            <a:rPr lang="pt-BR" sz="1100" baseline="0" dirty="0" smtClean="0">
                              <a:solidFill>
                                <a:schemeClr val="bg1"/>
                              </a:solidFill>
                            </a:rPr>
                            <a:t> Materiais para magneto de alto campo, comprimento do pulso de 10 </a:t>
                          </a:r>
                          <a:r>
                            <a:rPr lang="pt-BR" sz="1100" baseline="0" dirty="0" err="1" smtClean="0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endParaRPr lang="en-US" sz="11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114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05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56204" t="-85075" r="-684672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25333" t="-85075" r="-525333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64571" t="-85075" r="-350286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64571" t="-85075" r="-250286" b="-2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050" b="1" i="1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r>
                            <a:rPr lang="pt-BR" sz="1050" b="1" baseline="-250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050" b="1" dirty="0" err="1" smtClean="0">
                              <a:solidFill>
                                <a:schemeClr val="bg1"/>
                              </a:solidFill>
                            </a:rPr>
                            <a:t>Wb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/m</a:t>
                          </a:r>
                          <a:r>
                            <a:rPr lang="pt-BR" sz="1050" b="1" baseline="30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en-US" sz="1050" b="1" baseline="30000" dirty="0" smtClean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endParaRPr lang="en-US" sz="1050" b="1" baseline="30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i="1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r>
                            <a:rPr lang="pt-BR" sz="1050" b="1" baseline="-25000" dirty="0" smtClean="0">
                              <a:solidFill>
                                <a:schemeClr val="bg1"/>
                              </a:solidFill>
                            </a:rPr>
                            <a:t>2 </a:t>
                          </a:r>
                          <a:r>
                            <a:rPr lang="pt-BR" sz="1050" b="1" dirty="0" err="1" smtClean="0">
                              <a:solidFill>
                                <a:schemeClr val="bg1"/>
                              </a:solidFill>
                            </a:rPr>
                            <a:t>Wb</a:t>
                          </a:r>
                          <a:r>
                            <a:rPr lang="pt-BR" sz="1050" b="1" dirty="0" smtClean="0">
                              <a:solidFill>
                                <a:schemeClr val="bg1"/>
                              </a:solidFill>
                            </a:rPr>
                            <a:t>/m</a:t>
                          </a:r>
                          <a:r>
                            <a:rPr lang="pt-BR" sz="1050" b="1" baseline="30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en-US" sz="1050" b="1" baseline="30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40146" t="-85075" r="-730" b="-219403"/>
                          </a:stretch>
                        </a:blip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Cobre de alta condutividade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8940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250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385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1.7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u="sng" dirty="0" smtClean="0">
                              <a:solidFill>
                                <a:schemeClr val="bg1"/>
                              </a:solidFill>
                            </a:rPr>
                            <a:t>35</a:t>
                          </a:r>
                          <a:endParaRPr lang="en-US" sz="1050" b="1" u="sng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050" kern="120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113</a:t>
                          </a:r>
                          <a:endParaRPr lang="en-US" sz="1050" kern="1200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35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Compósito</a:t>
                          </a:r>
                          <a:r>
                            <a:rPr lang="pt-BR" sz="1050" baseline="0" dirty="0" smtClean="0">
                              <a:solidFill>
                                <a:schemeClr val="bg1"/>
                              </a:solidFill>
                            </a:rPr>
                            <a:t> de </a:t>
                          </a:r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Cu-15%Nb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8900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780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368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2.4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u="sng" dirty="0" smtClean="0">
                              <a:solidFill>
                                <a:schemeClr val="bg1"/>
                              </a:solidFill>
                            </a:rPr>
                            <a:t>62</a:t>
                          </a:r>
                          <a:endParaRPr lang="en-US" sz="1050" b="1" u="sng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050" kern="120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92</a:t>
                          </a:r>
                          <a:endParaRPr lang="en-US" sz="1050" kern="1200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b="1" u="sng" dirty="0" smtClean="0">
                              <a:solidFill>
                                <a:schemeClr val="bg1"/>
                              </a:solidFill>
                            </a:rPr>
                            <a:t>62</a:t>
                          </a:r>
                          <a:endParaRPr lang="en-US" sz="1050" b="1" u="sng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297821">
                    <a:tc>
                      <a:txBody>
                        <a:bodyPr/>
                        <a:lstStyle/>
                        <a:p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Aço</a:t>
                          </a:r>
                          <a:r>
                            <a:rPr lang="pt-BR" sz="1050" baseline="0" dirty="0" smtClean="0">
                              <a:solidFill>
                                <a:schemeClr val="bg1"/>
                              </a:solidFill>
                            </a:rPr>
                            <a:t> ARBL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7850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1600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450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25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89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pt-BR" sz="1050" b="1" u="sng" kern="1200" dirty="0" smtClean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</a:t>
                          </a:r>
                          <a:endParaRPr lang="en-US" sz="1050" b="1" u="sng" kern="1200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050" dirty="0" smtClean="0">
                              <a:solidFill>
                                <a:schemeClr val="bg1"/>
                              </a:solidFill>
                            </a:rPr>
                            <a:t>30</a:t>
                          </a:r>
                          <a:endParaRPr lang="en-US" sz="105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71213"/>
              </p:ext>
            </p:extLst>
          </p:nvPr>
        </p:nvGraphicFramePr>
        <p:xfrm>
          <a:off x="838200" y="3954322"/>
          <a:ext cx="7467600" cy="2522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0038"/>
                <a:gridCol w="4867562"/>
              </a:tblGrid>
              <a:tr h="321004">
                <a:tc gridSpan="2">
                  <a:txBody>
                    <a:bodyPr/>
                    <a:lstStyle/>
                    <a:p>
                      <a:pPr algn="just"/>
                      <a:r>
                        <a:rPr lang="pt-BR" sz="1000" b="1" dirty="0" smtClean="0">
                          <a:solidFill>
                            <a:srgbClr val="FFC000"/>
                          </a:solidFill>
                        </a:rPr>
                        <a:t>Tabela</a:t>
                      </a:r>
                      <a:r>
                        <a:rPr lang="pt-BR" sz="1000" b="1" baseline="0" dirty="0" smtClean="0">
                          <a:solidFill>
                            <a:srgbClr val="FFC000"/>
                          </a:solidFill>
                        </a:rPr>
                        <a:t> 8.9 </a:t>
                      </a:r>
                      <a:r>
                        <a:rPr lang="pt-BR" sz="1000" baseline="0" dirty="0" smtClean="0">
                          <a:solidFill>
                            <a:schemeClr val="bg1"/>
                          </a:solidFill>
                        </a:rPr>
                        <a:t>Materiais para enrolamentos de magnetos de alto campo</a:t>
                      </a:r>
                      <a:r>
                        <a:rPr lang="en-US" sz="1000" baseline="0" dirty="0" smtClean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81434"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 smtClean="0">
                          <a:solidFill>
                            <a:schemeClr val="bg1"/>
                          </a:solidFill>
                        </a:rPr>
                        <a:t>Materiais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 smtClean="0">
                          <a:solidFill>
                            <a:schemeClr val="bg1"/>
                          </a:solidFill>
                        </a:rPr>
                        <a:t>Comentário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281434">
                <a:tc>
                  <a:txBody>
                    <a:bodyPr/>
                    <a:lstStyle/>
                    <a:p>
                      <a:r>
                        <a:rPr lang="pt-BR" sz="900" b="1" dirty="0" smtClean="0">
                          <a:solidFill>
                            <a:schemeClr val="bg1"/>
                          </a:solidFill>
                        </a:rPr>
                        <a:t>Pulsos contínuos e longos</a:t>
                      </a:r>
                    </a:p>
                    <a:p>
                      <a:r>
                        <a:rPr lang="pt-BR" sz="900" dirty="0" smtClean="0">
                          <a:solidFill>
                            <a:schemeClr val="bg1"/>
                          </a:solidFill>
                        </a:rPr>
                        <a:t>Cobres de alta condutividade</a:t>
                      </a:r>
                      <a:endParaRPr lang="pt-BR" sz="900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Prata Pura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 smtClean="0">
                          <a:solidFill>
                            <a:schemeClr val="bg1"/>
                          </a:solidFill>
                        </a:rPr>
                        <a:t>Melhor</a:t>
                      </a:r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 escolha para magnetos de baixo campo, pulso longo (limitados pelo calor)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81434">
                <a:tc>
                  <a:txBody>
                    <a:bodyPr/>
                    <a:lstStyle/>
                    <a:p>
                      <a:r>
                        <a:rPr lang="pt-BR" sz="900" b="1" dirty="0" smtClean="0">
                          <a:solidFill>
                            <a:schemeClr val="bg1"/>
                          </a:solidFill>
                        </a:rPr>
                        <a:t>Pulso curto</a:t>
                      </a:r>
                    </a:p>
                    <a:p>
                      <a:r>
                        <a:rPr lang="pt-BR" sz="900" dirty="0" smtClean="0">
                          <a:solidFill>
                            <a:schemeClr val="bg1"/>
                          </a:solidFill>
                        </a:rPr>
                        <a:t>Compósitos</a:t>
                      </a:r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 de Cu-Al2O3 (</a:t>
                      </a:r>
                      <a:r>
                        <a:rPr lang="pt-BR" sz="900" baseline="0" dirty="0" err="1" smtClean="0">
                          <a:solidFill>
                            <a:schemeClr val="bg1"/>
                          </a:solidFill>
                        </a:rPr>
                        <a:t>Glidcop</a:t>
                      </a:r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pt-BR" sz="90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t-BR" sz="900" dirty="0" smtClean="0">
                          <a:solidFill>
                            <a:schemeClr val="bg1"/>
                          </a:solidFill>
                        </a:rPr>
                        <a:t>Ligas de</a:t>
                      </a:r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 Cu e </a:t>
                      </a:r>
                      <a:r>
                        <a:rPr lang="pt-BR" sz="900" baseline="0" dirty="0" err="1" smtClean="0">
                          <a:solidFill>
                            <a:schemeClr val="bg1"/>
                          </a:solidFill>
                        </a:rPr>
                        <a:t>Cd</a:t>
                      </a:r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 H-C</a:t>
                      </a:r>
                    </a:p>
                    <a:p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Ligas de Cu e Zr H-C</a:t>
                      </a:r>
                    </a:p>
                    <a:p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Ligas de Cu e Cr H-C</a:t>
                      </a:r>
                    </a:p>
                    <a:p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Compósitos de Cu-Nb estirados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900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pt-BR" sz="900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Melhor escolha para magnetos de alto campo, pulso curto (limitados pelo calor e resistência)</a:t>
                      </a:r>
                      <a:endParaRPr lang="pt-BR" sz="900" baseline="300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81434">
                <a:tc>
                  <a:txBody>
                    <a:bodyPr/>
                    <a:lstStyle/>
                    <a:p>
                      <a:r>
                        <a:rPr lang="pt-BR" sz="900" b="1" dirty="0" smtClean="0">
                          <a:solidFill>
                            <a:schemeClr val="bg1"/>
                          </a:solidFill>
                        </a:rPr>
                        <a:t>Pulso ultracurto campo </a:t>
                      </a:r>
                      <a:r>
                        <a:rPr lang="pt-BR" sz="900" b="1" dirty="0" err="1" smtClean="0">
                          <a:solidFill>
                            <a:schemeClr val="bg1"/>
                          </a:solidFill>
                        </a:rPr>
                        <a:t>ultra-alto</a:t>
                      </a:r>
                      <a:endParaRPr lang="pt-BR" sz="900" b="1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t-BR" sz="900" dirty="0" smtClean="0">
                          <a:solidFill>
                            <a:schemeClr val="bg1"/>
                          </a:solidFill>
                        </a:rPr>
                        <a:t>Ligas </a:t>
                      </a:r>
                      <a:r>
                        <a:rPr lang="pt-BR" sz="900" dirty="0" err="1" smtClean="0">
                          <a:solidFill>
                            <a:schemeClr val="bg1"/>
                          </a:solidFill>
                        </a:rPr>
                        <a:t>Cu-Be-Co</a:t>
                      </a:r>
                      <a:endParaRPr lang="pt-BR" sz="90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pt-BR" sz="900" dirty="0" smtClean="0">
                          <a:solidFill>
                            <a:schemeClr val="bg1"/>
                          </a:solidFill>
                        </a:rPr>
                        <a:t>Aços</a:t>
                      </a:r>
                      <a:r>
                        <a:rPr lang="pt-BR" sz="900" baseline="0" dirty="0" smtClean="0">
                          <a:solidFill>
                            <a:schemeClr val="bg1"/>
                          </a:solidFill>
                        </a:rPr>
                        <a:t> e baixa liga e alta resistência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 smtClean="0">
                          <a:solidFill>
                            <a:schemeClr val="bg1"/>
                          </a:solidFill>
                        </a:rPr>
                        <a:t>Melhor escolha para magnetos de alto campo, pulso curto (limitados por resistência)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91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Objetivos Conflitantes</a:t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Pernas de Mesas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2209799"/>
            <a:ext cx="6400800" cy="2743201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algn="just"/>
            <a:r>
              <a:rPr lang="pt-BR" dirty="0" smtClean="0"/>
              <a:t>Dois </a:t>
            </a:r>
            <a:r>
              <a:rPr lang="pt-BR" dirty="0" smtClean="0">
                <a:solidFill>
                  <a:srgbClr val="FFFF00"/>
                </a:solidFill>
              </a:rPr>
              <a:t>objetivos</a:t>
            </a:r>
            <a:r>
              <a:rPr lang="pt-BR" dirty="0" smtClean="0"/>
              <a:t>: Pernas devem ser as mais leves e delgadas quanto possível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914774"/>
            <a:ext cx="16383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905249"/>
            <a:ext cx="15240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670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092979" y="175490"/>
            <a:ext cx="6958041" cy="5063690"/>
            <a:chOff x="1092979" y="175490"/>
            <a:chExt cx="6958041" cy="5063690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979" y="175490"/>
              <a:ext cx="6958041" cy="4803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19" y="4962181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8.9</a:t>
              </a:r>
              <a:endParaRPr lang="en-US" sz="1200" dirty="0"/>
            </a:p>
          </p:txBody>
        </p:sp>
      </p:grp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5257800"/>
            <a:ext cx="7315200" cy="139930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/>
              <a:t>Gráfico de permuta para a perna da mesa. Compósitos oferecem o melhor compromisso entre o baixo e peso e esbelteza.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023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Objetivos Conflitantes</a:t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Carcaças para Eletrônicos Portáteis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6799" y="2026954"/>
            <a:ext cx="4203581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Carcaças podem ser idealizadas com painéis carregados sob flexão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304800" y="2083317"/>
            <a:ext cx="4495800" cy="1879083"/>
            <a:chOff x="1028700" y="2366963"/>
            <a:chExt cx="7086600" cy="249132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8700" y="2366963"/>
              <a:ext cx="7086600" cy="212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3814982" y="4491037"/>
              <a:ext cx="1514038" cy="3672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8.10</a:t>
              </a:r>
              <a:endParaRPr lang="en-US" sz="1200" dirty="0"/>
            </a:p>
          </p:txBody>
        </p:sp>
      </p:grp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04237"/>
              </p:ext>
            </p:extLst>
          </p:nvPr>
        </p:nvGraphicFramePr>
        <p:xfrm>
          <a:off x="1371600" y="4191000"/>
          <a:ext cx="6372225" cy="20116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48362"/>
                <a:gridCol w="5023863"/>
              </a:tblGrid>
              <a:tr h="241377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8.10 – Requisitos</a:t>
                      </a:r>
                      <a:r>
                        <a:rPr lang="pt-BR" sz="1200" baseline="0" dirty="0" smtClean="0"/>
                        <a:t> de Projeto: Carcaças para eletrônicos portáteis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41377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Função</a:t>
                      </a:r>
                      <a:r>
                        <a:rPr lang="pt-BR" sz="1100" dirty="0" smtClean="0"/>
                        <a:t>	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Carcaça leve</a:t>
                      </a:r>
                      <a:r>
                        <a:rPr lang="pt-BR" sz="1100" baseline="0" dirty="0" smtClean="0"/>
                        <a:t> e </a:t>
                      </a:r>
                      <a:r>
                        <a:rPr lang="pt-BR" sz="1100" dirty="0" smtClean="0"/>
                        <a:t>delgada</a:t>
                      </a:r>
                      <a:r>
                        <a:rPr lang="pt-BR" sz="1100" baseline="0" dirty="0" smtClean="0"/>
                        <a:t> (barata)</a:t>
                      </a:r>
                      <a:endParaRPr lang="en-US" sz="11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Restrições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Rigidez</a:t>
                      </a:r>
                      <a:r>
                        <a:rPr lang="pt-BR" sz="1100" baseline="0" dirty="0" smtClean="0"/>
                        <a:t> à flexão </a:t>
                      </a:r>
                      <a:r>
                        <a:rPr lang="pt-BR" sz="1100" i="1" baseline="0" dirty="0" smtClean="0"/>
                        <a:t>S</a:t>
                      </a:r>
                      <a:r>
                        <a:rPr lang="pt-BR" sz="1100" baseline="0" dirty="0" smtClean="0"/>
                        <a:t>* especificada</a:t>
                      </a:r>
                      <a:endParaRPr lang="pt-BR" sz="1100" dirty="0" smtClean="0"/>
                    </a:p>
                    <a:p>
                      <a:r>
                        <a:rPr lang="pt-BR" sz="1100" dirty="0" smtClean="0"/>
                        <a:t>Dimensões </a:t>
                      </a:r>
                      <a:r>
                        <a:rPr lang="pt-BR" sz="1100" i="1" dirty="0" smtClean="0"/>
                        <a:t>L</a:t>
                      </a:r>
                      <a:r>
                        <a:rPr lang="pt-BR" sz="1100" dirty="0" smtClean="0"/>
                        <a:t> e </a:t>
                      </a:r>
                      <a:r>
                        <a:rPr lang="pt-BR" sz="1100" i="1" dirty="0" smtClean="0"/>
                        <a:t>W</a:t>
                      </a:r>
                      <a:r>
                        <a:rPr lang="pt-BR" sz="1100" dirty="0" smtClean="0"/>
                        <a:t> especificadas</a:t>
                      </a:r>
                      <a:endParaRPr lang="pt-BR" sz="1100" baseline="0" dirty="0" smtClean="0"/>
                    </a:p>
                  </a:txBody>
                  <a:tcPr/>
                </a:tc>
              </a:tr>
              <a:tr h="241377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Objetivo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Minimizar a espessura</a:t>
                      </a:r>
                      <a:r>
                        <a:rPr lang="pt-BR" sz="1100" baseline="0" dirty="0" smtClean="0"/>
                        <a:t> da carcaça</a:t>
                      </a:r>
                    </a:p>
                    <a:p>
                      <a:r>
                        <a:rPr lang="pt-BR" sz="1100" baseline="0" dirty="0" smtClean="0"/>
                        <a:t>Minimizar a massa da carcaça</a:t>
                      </a:r>
                    </a:p>
                    <a:p>
                      <a:r>
                        <a:rPr lang="pt-BR" sz="1100" baseline="0" dirty="0" smtClean="0"/>
                        <a:t>(Minimizar o custo do material)</a:t>
                      </a:r>
                      <a:endParaRPr lang="en-US" sz="1100" dirty="0"/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Variável</a:t>
                      </a:r>
                      <a:r>
                        <a:rPr lang="pt-BR" sz="1100" b="1" baseline="0" dirty="0" smtClean="0"/>
                        <a:t> Livre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baseline="0" dirty="0" smtClean="0"/>
                        <a:t>Espessura </a:t>
                      </a:r>
                      <a:r>
                        <a:rPr lang="pt-BR" sz="1100" i="1" baseline="0" dirty="0" smtClean="0"/>
                        <a:t>t</a:t>
                      </a:r>
                      <a:r>
                        <a:rPr lang="pt-BR" sz="1100" baseline="0" dirty="0" smtClean="0"/>
                        <a:t> da parede da carcaça</a:t>
                      </a:r>
                    </a:p>
                    <a:p>
                      <a:r>
                        <a:rPr lang="pt-BR" sz="1100" baseline="0" dirty="0" smtClean="0"/>
                        <a:t>Escolha de material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45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1374573"/>
            <a:ext cx="1752600" cy="84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2416318"/>
            <a:ext cx="178117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16318"/>
            <a:ext cx="1734385" cy="832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7713" y="457200"/>
            <a:ext cx="8202887" cy="52322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2800" dirty="0" smtClean="0"/>
              <a:t>Índices de Materiais para Carcaças de Eletrônicos</a:t>
            </a:r>
            <a:endParaRPr lang="pt-BR" sz="2800" dirty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6" y="5181600"/>
            <a:ext cx="275272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3833" y="3886200"/>
            <a:ext cx="8515367" cy="107721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Função de Penalidade Relativa em Unidades Monetárias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16943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085317" y="533400"/>
            <a:ext cx="6954316" cy="5581509"/>
            <a:chOff x="1085317" y="533400"/>
            <a:chExt cx="6954316" cy="5581509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317" y="533400"/>
              <a:ext cx="6954316" cy="5282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097447" y="5837910"/>
              <a:ext cx="949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8.11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467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423693" y="5646520"/>
                <a:ext cx="8153400" cy="738664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400" dirty="0" smtClean="0">
                    <a:solidFill>
                      <a:schemeClr val="bg1"/>
                    </a:solidFill>
                  </a:rPr>
                  <a:t>A função penalidade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𝑍</m:t>
                        </m:r>
                      </m:e>
                      <m:sup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pt-BR" sz="1400" i="1">
                        <a:solidFill>
                          <a:schemeClr val="bg1"/>
                        </a:solidFill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sub>
                      <m:sup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400" dirty="0" smtClean="0">
                    <a:solidFill>
                      <a:schemeClr val="bg1"/>
                    </a:solidFill>
                  </a:rPr>
                  <a:t> quando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40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pt-BR" sz="1400" i="1">
                        <a:solidFill>
                          <a:schemeClr val="bg1"/>
                        </a:solidFill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sub>
                      <m:sup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400" dirty="0" smtClean="0">
                    <a:solidFill>
                      <a:schemeClr val="bg1"/>
                    </a:solidFill>
                  </a:rPr>
                  <a:t>. O ABS </a:t>
                </a:r>
                <a:r>
                  <a:rPr lang="pt-BR" sz="1400" dirty="0" smtClean="0">
                    <a:solidFill>
                      <a:schemeClr val="bg1"/>
                    </a:solidFill>
                  </a:rPr>
                  <a:t>permanece próxima  ao meio da coluna de polímero. Materiais desta, apresentam funções penalidades menores – Eles são a melhores escolhas</a:t>
                </a:r>
                <a:r>
                  <a:rPr lang="en-US" sz="1400" dirty="0" smtClean="0">
                    <a:solidFill>
                      <a:schemeClr val="bg1"/>
                    </a:solidFill>
                  </a:rPr>
                  <a:t>. 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93" y="5646520"/>
                <a:ext cx="8153400" cy="738664"/>
              </a:xfrm>
              <a:prstGeom prst="rect">
                <a:avLst/>
              </a:prstGeom>
              <a:blipFill rotWithShape="1">
                <a:blip r:embed="rId2"/>
                <a:stretch>
                  <a:fillRect l="-224" t="-826" r="-224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764662" y="134925"/>
            <a:ext cx="7624199" cy="5438555"/>
            <a:chOff x="764662" y="134925"/>
            <a:chExt cx="7624199" cy="5438555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662" y="134925"/>
              <a:ext cx="7624199" cy="5183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087562" y="5296481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8.12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4339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655013"/>
              </p:ext>
            </p:extLst>
          </p:nvPr>
        </p:nvGraphicFramePr>
        <p:xfrm>
          <a:off x="1295400" y="1584960"/>
          <a:ext cx="6372225" cy="1844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48362"/>
                <a:gridCol w="5023863"/>
              </a:tblGrid>
              <a:tr h="241377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8.11 – Requisitos</a:t>
                      </a:r>
                      <a:r>
                        <a:rPr lang="pt-BR" sz="1200" baseline="0" dirty="0" smtClean="0"/>
                        <a:t> de Projeto: Pinças de freio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41377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Função</a:t>
                      </a:r>
                      <a:r>
                        <a:rPr lang="pt-BR" sz="1100" dirty="0" smtClean="0"/>
                        <a:t>	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baseline="0" dirty="0" smtClean="0"/>
                        <a:t>Pinça de freio </a:t>
                      </a:r>
                      <a:r>
                        <a:rPr lang="pt-BR" sz="1100" dirty="0" smtClean="0"/>
                        <a:t> </a:t>
                      </a:r>
                      <a:endParaRPr lang="en-US" sz="11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Restrições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Rigidez</a:t>
                      </a:r>
                      <a:r>
                        <a:rPr lang="pt-BR" sz="1100" baseline="0" dirty="0" smtClean="0"/>
                        <a:t> à flexão </a:t>
                      </a:r>
                      <a:r>
                        <a:rPr lang="pt-BR" sz="1100" i="1" baseline="0" dirty="0" smtClean="0"/>
                        <a:t>S</a:t>
                      </a:r>
                      <a:r>
                        <a:rPr lang="pt-BR" sz="1100" baseline="0" dirty="0" smtClean="0"/>
                        <a:t>* especificada</a:t>
                      </a:r>
                      <a:endParaRPr lang="pt-BR" sz="1100" dirty="0" smtClean="0"/>
                    </a:p>
                    <a:p>
                      <a:r>
                        <a:rPr lang="pt-BR" sz="1100" dirty="0" smtClean="0"/>
                        <a:t>Dimensões </a:t>
                      </a:r>
                      <a:r>
                        <a:rPr lang="pt-BR" sz="1100" i="1" dirty="0" smtClean="0"/>
                        <a:t>L</a:t>
                      </a:r>
                      <a:r>
                        <a:rPr lang="pt-BR" sz="1100" dirty="0" smtClean="0"/>
                        <a:t> e </a:t>
                      </a:r>
                      <a:r>
                        <a:rPr lang="pt-BR" sz="1100" i="1" dirty="0" smtClean="0"/>
                        <a:t>b</a:t>
                      </a:r>
                      <a:r>
                        <a:rPr lang="pt-BR" sz="1100" dirty="0" smtClean="0"/>
                        <a:t> especificadas</a:t>
                      </a:r>
                      <a:endParaRPr lang="pt-BR" sz="1100" baseline="0" dirty="0" smtClean="0"/>
                    </a:p>
                  </a:txBody>
                  <a:tcPr/>
                </a:tc>
              </a:tr>
              <a:tr h="241377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Objetivo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Minimizar a massa da pinça</a:t>
                      </a:r>
                      <a:endParaRPr lang="pt-BR" sz="1100" baseline="0" dirty="0" smtClean="0"/>
                    </a:p>
                    <a:p>
                      <a:r>
                        <a:rPr lang="pt-BR" sz="1100" baseline="0" dirty="0" smtClean="0"/>
                        <a:t>Maximizar a transferência de calor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r>
                        <a:rPr lang="pt-BR" sz="1100" b="1" dirty="0" smtClean="0"/>
                        <a:t>Variável</a:t>
                      </a:r>
                      <a:r>
                        <a:rPr lang="pt-BR" sz="1100" b="1" baseline="0" dirty="0" smtClean="0"/>
                        <a:t> Livre</a:t>
                      </a:r>
                      <a:endParaRPr lang="en-US" sz="11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baseline="0" dirty="0" smtClean="0"/>
                        <a:t>Espessura </a:t>
                      </a:r>
                      <a:r>
                        <a:rPr lang="pt-BR" sz="1100" i="1" baseline="0" dirty="0" smtClean="0"/>
                        <a:t>h</a:t>
                      </a:r>
                      <a:r>
                        <a:rPr lang="pt-BR" sz="1100" baseline="0" dirty="0" smtClean="0"/>
                        <a:t> da parede da pinça</a:t>
                      </a:r>
                    </a:p>
                    <a:p>
                      <a:r>
                        <a:rPr lang="pt-BR" sz="1100" baseline="0" dirty="0" smtClean="0"/>
                        <a:t>Escolha de material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76200"/>
            <a:ext cx="8077200" cy="147002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Objetivos Conflitantes</a:t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Materiais para Pinças de Freio a Disco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6" name="Grupo 5"/>
          <p:cNvGrpSpPr/>
          <p:nvPr/>
        </p:nvGrpSpPr>
        <p:grpSpPr>
          <a:xfrm>
            <a:off x="304801" y="3622059"/>
            <a:ext cx="2709534" cy="3002607"/>
            <a:chOff x="304801" y="3622059"/>
            <a:chExt cx="2709534" cy="3002607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1" y="3622059"/>
              <a:ext cx="2709534" cy="27256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179308" y="6347667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8.13</a:t>
              </a:r>
              <a:endParaRPr lang="en-US" sz="1200" dirty="0"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36725"/>
            <a:ext cx="3341255" cy="131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5278022"/>
            <a:ext cx="1366871" cy="77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389" y="5278022"/>
            <a:ext cx="1704975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167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143000" y="76200"/>
            <a:ext cx="6781800" cy="1066800"/>
          </a:xfrm>
        </p:spPr>
        <p:txBody>
          <a:bodyPr>
            <a:normAutofit/>
          </a:bodyPr>
          <a:lstStyle/>
          <a:p>
            <a:r>
              <a:rPr lang="pt-BR" sz="2800" dirty="0" smtClean="0"/>
              <a:t>Seleção de Material para pinça de freio a disco com função penalidade</a:t>
            </a:r>
            <a:endParaRPr lang="pt-BR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733550" y="2223954"/>
            <a:ext cx="5676900" cy="4250733"/>
            <a:chOff x="1733550" y="2223954"/>
            <a:chExt cx="5676900" cy="4250733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550" y="2223954"/>
              <a:ext cx="5676900" cy="39737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091740" y="6197688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8.14</a:t>
              </a:r>
              <a:endParaRPr lang="en-US" sz="1200" dirty="0"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176" y="1080502"/>
            <a:ext cx="307164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165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2483</TotalTime>
  <Words>1250</Words>
  <Application>Microsoft Office PowerPoint</Application>
  <PresentationFormat>Apresentação na tela (4:3)</PresentationFormat>
  <Paragraphs>255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MaterialsSelection</vt:lpstr>
      <vt:lpstr>Capítulo 8 Estudos de caso: Restrições Múltiplas e Objetivos Conflitantes</vt:lpstr>
      <vt:lpstr>Restrições Múltiplas Vasos de Pressão Leves</vt:lpstr>
      <vt:lpstr>Apresentação do PowerPoint</vt:lpstr>
      <vt:lpstr>Apresentação do PowerPoint</vt:lpstr>
      <vt:lpstr>Restrições Múltiplas Bielas  para Motores de Alto Desempenho</vt:lpstr>
      <vt:lpstr>Apresentação do PowerPoint</vt:lpstr>
      <vt:lpstr>Apresentação do PowerPoint</vt:lpstr>
      <vt:lpstr>Múltiplas Restrições  Enrolamentos para Magnetos de Alto Campo</vt:lpstr>
      <vt:lpstr>Apresentação do PowerPoint</vt:lpstr>
      <vt:lpstr>Apresentação do PowerPoint</vt:lpstr>
      <vt:lpstr>Apresentação do PowerPoint</vt:lpstr>
      <vt:lpstr>Objetivos Conflitantes Pernas de Mesas</vt:lpstr>
      <vt:lpstr>Apresentação do PowerPoint</vt:lpstr>
      <vt:lpstr>Objetivos Conflitantes Carcaças para Eletrônicos Portáteis</vt:lpstr>
      <vt:lpstr>Apresentação do PowerPoint</vt:lpstr>
      <vt:lpstr>Apresentação do PowerPoint</vt:lpstr>
      <vt:lpstr>Apresentação do PowerPoint</vt:lpstr>
      <vt:lpstr>Objetivos Conflitantes Materiais para Pinças de Freio a Disco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ileao</cp:lastModifiedBy>
  <cp:revision>61</cp:revision>
  <dcterms:created xsi:type="dcterms:W3CDTF">2010-09-03T02:00:13Z</dcterms:created>
  <dcterms:modified xsi:type="dcterms:W3CDTF">2016-03-28T22:57:10Z</dcterms:modified>
</cp:coreProperties>
</file>