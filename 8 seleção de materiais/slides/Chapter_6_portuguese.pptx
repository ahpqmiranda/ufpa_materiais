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sldIdLst>
    <p:sldId id="256" r:id="rId2"/>
    <p:sldId id="257" r:id="rId3"/>
    <p:sldId id="328" r:id="rId4"/>
    <p:sldId id="329" r:id="rId5"/>
    <p:sldId id="259" r:id="rId6"/>
    <p:sldId id="260" r:id="rId7"/>
    <p:sldId id="261" r:id="rId8"/>
    <p:sldId id="331" r:id="rId9"/>
    <p:sldId id="330" r:id="rId10"/>
    <p:sldId id="263" r:id="rId11"/>
    <p:sldId id="264" r:id="rId12"/>
    <p:sldId id="265" r:id="rId13"/>
    <p:sldId id="267" r:id="rId14"/>
    <p:sldId id="269" r:id="rId15"/>
    <p:sldId id="271" r:id="rId16"/>
    <p:sldId id="272" r:id="rId17"/>
    <p:sldId id="273" r:id="rId18"/>
    <p:sldId id="275" r:id="rId19"/>
    <p:sldId id="276" r:id="rId20"/>
    <p:sldId id="277" r:id="rId21"/>
    <p:sldId id="278" r:id="rId22"/>
    <p:sldId id="280" r:id="rId23"/>
    <p:sldId id="281" r:id="rId24"/>
    <p:sldId id="282" r:id="rId25"/>
    <p:sldId id="332" r:id="rId26"/>
    <p:sldId id="284" r:id="rId27"/>
    <p:sldId id="285" r:id="rId28"/>
    <p:sldId id="286" r:id="rId29"/>
    <p:sldId id="287" r:id="rId30"/>
    <p:sldId id="288" r:id="rId31"/>
    <p:sldId id="289" r:id="rId32"/>
    <p:sldId id="291" r:id="rId33"/>
    <p:sldId id="292" r:id="rId34"/>
    <p:sldId id="293" r:id="rId35"/>
    <p:sldId id="295" r:id="rId36"/>
    <p:sldId id="296" r:id="rId37"/>
    <p:sldId id="297" r:id="rId38"/>
    <p:sldId id="298" r:id="rId39"/>
    <p:sldId id="334" r:id="rId40"/>
    <p:sldId id="333" r:id="rId41"/>
    <p:sldId id="299"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6" r:id="rId64"/>
    <p:sldId id="322" r:id="rId65"/>
    <p:sldId id="323"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0" d="100"/>
          <a:sy n="80" d="100"/>
        </p:scale>
        <p:origin x="-1445"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2E3741E-2754-4470-B6A8-885ABCDA37E5}" type="datetimeFigureOut">
              <a:rPr lang="en-US" smtClean="0"/>
              <a:t>3/28/2016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3F259B-8D59-4545-ADDE-C43F261CB8AA}" type="slidenum">
              <a:rPr lang="en-US" smtClean="0"/>
              <a:t>‹nº›</a:t>
            </a:fld>
            <a:endParaRPr lang="en-US"/>
          </a:p>
        </p:txBody>
      </p:sp>
    </p:spTree>
    <p:extLst>
      <p:ext uri="{BB962C8B-B14F-4D97-AF65-F5344CB8AC3E}">
        <p14:creationId xmlns:p14="http://schemas.microsoft.com/office/powerpoint/2010/main" val="1764242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lvl1pPr algn="ctr">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FDCAB35-F57D-4FAC-94CD-EFBFA48FD61E}" type="datetime1">
              <a:rPr lang="en-US" smtClean="0"/>
              <a:t>3/28/2016</a:t>
            </a:fld>
            <a:endParaRPr lang="en-US"/>
          </a:p>
        </p:txBody>
      </p:sp>
      <p:sp>
        <p:nvSpPr>
          <p:cNvPr id="5" name="Footer Placeholder 4"/>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6" name="Slide Number Placeholder 5"/>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859075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4E54BC-3A8A-4883-9DDE-549A39A50DD4}" type="datetime1">
              <a:rPr lang="en-US" smtClean="0"/>
              <a:t>3/28/2016</a:t>
            </a:fld>
            <a:endParaRPr lang="en-US"/>
          </a:p>
        </p:txBody>
      </p:sp>
      <p:sp>
        <p:nvSpPr>
          <p:cNvPr id="5" name="Footer Placeholder 4"/>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6" name="Slide Number Placeholder 5"/>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3945719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934A2B-5669-4530-A3BB-1239AC2BA38F}" type="datetime1">
              <a:rPr lang="en-US" smtClean="0"/>
              <a:t>3/28/2016</a:t>
            </a:fld>
            <a:endParaRPr lang="en-US"/>
          </a:p>
        </p:txBody>
      </p:sp>
      <p:sp>
        <p:nvSpPr>
          <p:cNvPr id="5" name="Footer Placeholder 4"/>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6" name="Slide Number Placeholder 5"/>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2319025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2985D0-5827-4A98-B24A-596F1740E6B7}" type="datetime1">
              <a:rPr lang="en-US" smtClean="0"/>
              <a:t>3/28/2016</a:t>
            </a:fld>
            <a:endParaRPr lang="en-US"/>
          </a:p>
        </p:txBody>
      </p:sp>
      <p:sp>
        <p:nvSpPr>
          <p:cNvPr id="6" name="Footer Placeholder 5"/>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7" name="Slide Number Placeholder 6"/>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1866776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CDCF74-1384-4069-93AC-22B2F0AFF040}" type="datetime1">
              <a:rPr lang="en-US" smtClean="0"/>
              <a:t>3/28/2016</a:t>
            </a:fld>
            <a:endParaRPr lang="en-US"/>
          </a:p>
        </p:txBody>
      </p:sp>
      <p:sp>
        <p:nvSpPr>
          <p:cNvPr id="8" name="Footer Placeholder 7"/>
          <p:cNvSpPr>
            <a:spLocks noGrp="1"/>
          </p:cNvSpPr>
          <p:nvPr>
            <p:ph type="ftr" sz="quarter" idx="11"/>
          </p:nvPr>
        </p:nvSpPr>
        <p:spPr/>
        <p:txBody>
          <a:bodyPr/>
          <a:lstStyle/>
          <a:p>
            <a:r>
              <a:rPr lang="en-US" smtClean="0"/>
              <a:t>Materials Selection in Mechanical Design, 4th Edition © 2010 Michael Ashby</a:t>
            </a:r>
            <a:endParaRPr lang="en-US"/>
          </a:p>
        </p:txBody>
      </p:sp>
      <p:sp>
        <p:nvSpPr>
          <p:cNvPr id="9" name="Slide Number Placeholder 8"/>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212594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27B55B-0918-4E05-A115-BEF7AF321BD1}" type="datetime1">
              <a:rPr lang="en-US" smtClean="0"/>
              <a:t>3/28/2016</a:t>
            </a:fld>
            <a:endParaRPr lang="en-US"/>
          </a:p>
        </p:txBody>
      </p:sp>
      <p:sp>
        <p:nvSpPr>
          <p:cNvPr id="4" name="Footer Placeholder 3"/>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5" name="Slide Number Placeholder 4"/>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3205843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9C373E-FD84-4892-9997-3E292A406662}" type="datetime1">
              <a:rPr lang="en-US" smtClean="0"/>
              <a:t>3/28/2016</a:t>
            </a:fld>
            <a:endParaRPr lang="en-US"/>
          </a:p>
        </p:txBody>
      </p:sp>
      <p:sp>
        <p:nvSpPr>
          <p:cNvPr id="3" name="Footer Placeholder 2"/>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4" name="Slide Number Placeholder 3"/>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3393577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030BC8-92F4-4598-84A8-4BF62224ECF0}" type="datetime1">
              <a:rPr lang="en-US" smtClean="0"/>
              <a:t>3/28/2016</a:t>
            </a:fld>
            <a:endParaRPr lang="en-US"/>
          </a:p>
        </p:txBody>
      </p:sp>
      <p:sp>
        <p:nvSpPr>
          <p:cNvPr id="6" name="Footer Placeholder 5"/>
          <p:cNvSpPr>
            <a:spLocks noGrp="1"/>
          </p:cNvSpPr>
          <p:nvPr>
            <p:ph type="ftr" sz="quarter" idx="11"/>
          </p:nvPr>
        </p:nvSpPr>
        <p:spPr/>
        <p:txBody>
          <a:bodyPr/>
          <a:lstStyle/>
          <a:p>
            <a:r>
              <a:rPr lang="en-US" smtClean="0"/>
              <a:t>Materials Selection in Mechanical Design, 4th Edition © 2010 Michael Ashby</a:t>
            </a:r>
            <a:endParaRPr lang="en-US"/>
          </a:p>
        </p:txBody>
      </p:sp>
      <p:sp>
        <p:nvSpPr>
          <p:cNvPr id="7" name="Slide Number Placeholder 6"/>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2293395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69708B-E82F-4D5A-9DEC-B56CA72856EC}" type="datetime1">
              <a:rPr lang="en-US" smtClean="0"/>
              <a:t>3/28/2016</a:t>
            </a:fld>
            <a:endParaRPr lang="en-US"/>
          </a:p>
        </p:txBody>
      </p:sp>
      <p:sp>
        <p:nvSpPr>
          <p:cNvPr id="6" name="Footer Placeholder 5"/>
          <p:cNvSpPr>
            <a:spLocks noGrp="1"/>
          </p:cNvSpPr>
          <p:nvPr>
            <p:ph type="ftr" sz="quarter" idx="11"/>
          </p:nvPr>
        </p:nvSpPr>
        <p:spPr/>
        <p:txBody>
          <a:bodyPr/>
          <a:lstStyle/>
          <a:p>
            <a:r>
              <a:rPr lang="en-US" smtClean="0"/>
              <a:t>Materials Selection in Mechanical Design, 4th Edition © 2010 Michael Ashby</a:t>
            </a:r>
            <a:endParaRPr lang="en-US"/>
          </a:p>
        </p:txBody>
      </p:sp>
      <p:sp>
        <p:nvSpPr>
          <p:cNvPr id="7" name="Slide Number Placeholder 6"/>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1281587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520C18-228E-4DA5-9CE9-49B13E14592D}" type="datetime1">
              <a:rPr lang="en-US" smtClean="0"/>
              <a:t>3/28/2016</a:t>
            </a:fld>
            <a:endParaRPr lang="en-US"/>
          </a:p>
        </p:txBody>
      </p:sp>
      <p:sp>
        <p:nvSpPr>
          <p:cNvPr id="5" name="Footer Placeholder 4"/>
          <p:cNvSpPr>
            <a:spLocks noGrp="1"/>
          </p:cNvSpPr>
          <p:nvPr>
            <p:ph type="ftr" sz="quarter" idx="11"/>
          </p:nvPr>
        </p:nvSpPr>
        <p:spPr/>
        <p:txBody>
          <a:bodyPr/>
          <a:lstStyle/>
          <a:p>
            <a:r>
              <a:rPr lang="en-US" smtClean="0"/>
              <a:t>Materials Selection in Mechanical Design, 4th Edition © 2010 Michael Ashby</a:t>
            </a:r>
            <a:endParaRPr lang="en-US"/>
          </a:p>
        </p:txBody>
      </p:sp>
      <p:sp>
        <p:nvSpPr>
          <p:cNvPr id="6" name="Slide Number Placeholder 5"/>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1558167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4670B3-6FEF-4C31-9638-E610F167FCE5}" type="datetime1">
              <a:rPr lang="en-US" smtClean="0"/>
              <a:t>3/28/2016</a:t>
            </a:fld>
            <a:endParaRPr lang="en-US"/>
          </a:p>
        </p:txBody>
      </p:sp>
      <p:sp>
        <p:nvSpPr>
          <p:cNvPr id="5" name="Footer Placeholder 4"/>
          <p:cNvSpPr>
            <a:spLocks noGrp="1"/>
          </p:cNvSpPr>
          <p:nvPr>
            <p:ph type="ftr" sz="quarter" idx="11"/>
          </p:nvPr>
        </p:nvSpPr>
        <p:spPr/>
        <p:txBody>
          <a:bodyPr/>
          <a:lstStyle/>
          <a:p>
            <a:r>
              <a:rPr lang="en-US" smtClean="0"/>
              <a:t>Materials Selection in Mechanical Design, 4th Edition © 2010 Michael Ashby</a:t>
            </a:r>
            <a:endParaRPr lang="en-US"/>
          </a:p>
        </p:txBody>
      </p:sp>
      <p:sp>
        <p:nvSpPr>
          <p:cNvPr id="6" name="Slide Number Placeholder 5"/>
          <p:cNvSpPr>
            <a:spLocks noGrp="1"/>
          </p:cNvSpPr>
          <p:nvPr>
            <p:ph type="sldNum" sz="quarter" idx="12"/>
          </p:nvPr>
        </p:nvSpPr>
        <p:spPr/>
        <p:txBody>
          <a:bodyPr/>
          <a:lstStyle/>
          <a:p>
            <a:fld id="{AB1AB3F7-43BF-4C6B-9CF4-E5AA57EDF464}" type="slidenum">
              <a:rPr lang="en-US" smtClean="0"/>
              <a:t>‹nº›</a:t>
            </a:fld>
            <a:endParaRPr lang="en-US"/>
          </a:p>
        </p:txBody>
      </p:sp>
    </p:spTree>
    <p:extLst>
      <p:ext uri="{BB962C8B-B14F-4D97-AF65-F5344CB8AC3E}">
        <p14:creationId xmlns:p14="http://schemas.microsoft.com/office/powerpoint/2010/main" val="328480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5F135-6CDB-4942-916D-AFBA6B926957}" type="datetime1">
              <a:rPr lang="en-US" smtClean="0"/>
              <a:t>3/28/2016</a:t>
            </a:fld>
            <a:endParaRPr lang="en-US"/>
          </a:p>
        </p:txBody>
      </p:sp>
      <p:sp>
        <p:nvSpPr>
          <p:cNvPr id="5" name="Footer Placeholder 4"/>
          <p:cNvSpPr>
            <a:spLocks noGrp="1"/>
          </p:cNvSpPr>
          <p:nvPr>
            <p:ph type="ftr" sz="quarter" idx="3"/>
          </p:nvPr>
        </p:nvSpPr>
        <p:spPr>
          <a:xfrm>
            <a:off x="0" y="6553200"/>
            <a:ext cx="9144000" cy="274036"/>
          </a:xfrm>
          <a:prstGeom prst="rect">
            <a:avLst/>
          </a:prstGeom>
        </p:spPr>
        <p:txBody>
          <a:bodyPr vert="horz" lIns="91440" tIns="45720" rIns="91440" bIns="45720" rtlCol="0" anchor="ctr"/>
          <a:lstStyle>
            <a:lvl1pPr algn="ctr">
              <a:defRPr sz="800">
                <a:solidFill>
                  <a:schemeClr val="tx1">
                    <a:tint val="75000"/>
                  </a:schemeClr>
                </a:solidFill>
              </a:defRPr>
            </a:lvl1pPr>
          </a:lstStyle>
          <a:p>
            <a:r>
              <a:rPr lang="en-US" smtClean="0"/>
              <a:t>Materials Selection in Mechanical Design, 4th Edition © 2010 Michael Ashby</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1AB3F7-43BF-4C6B-9CF4-E5AA57EDF464}" type="slidenum">
              <a:rPr lang="en-US" smtClean="0"/>
              <a:t>‹nº›</a:t>
            </a:fld>
            <a:endParaRPr lang="en-US"/>
          </a:p>
        </p:txBody>
      </p:sp>
    </p:spTree>
    <p:extLst>
      <p:ext uri="{BB962C8B-B14F-4D97-AF65-F5344CB8AC3E}">
        <p14:creationId xmlns:p14="http://schemas.microsoft.com/office/powerpoint/2010/main" val="39076315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defTabSz="914400" rtl="0" eaLnBrk="1" latinLnBrk="0" hangingPunct="1">
        <a:spcBef>
          <a:spcPct val="0"/>
        </a:spcBef>
        <a:buNone/>
        <a:defRPr sz="4000" b="1" kern="1200">
          <a:solidFill>
            <a:schemeClr val="accent1">
              <a:lumMod val="40000"/>
              <a:lumOff val="60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jpeg"/><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6.xml"/><Relationship Id="rId5" Type="http://schemas.openxmlformats.org/officeDocument/2006/relationships/image" Target="../media/image45.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6.xml"/><Relationship Id="rId4" Type="http://schemas.openxmlformats.org/officeDocument/2006/relationships/image" Target="../media/image62.png"/></Relationships>
</file>

<file path=ppt/slides/_rels/slide4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eg"/><Relationship Id="rId1" Type="http://schemas.openxmlformats.org/officeDocument/2006/relationships/slideLayout" Target="../slideLayouts/slideLayout6.xml"/><Relationship Id="rId5" Type="http://schemas.openxmlformats.org/officeDocument/2006/relationships/image" Target="../media/image71.png"/><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1.jpeg"/><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52.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6.jpeg"/><Relationship Id="rId1" Type="http://schemas.openxmlformats.org/officeDocument/2006/relationships/slideLayout" Target="../slideLayouts/slideLayout6.xml"/><Relationship Id="rId4" Type="http://schemas.openxmlformats.org/officeDocument/2006/relationships/image" Target="../media/image80.png"/></Relationships>
</file>

<file path=ppt/slides/_rels/slide55.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3.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6.xml"/><Relationship Id="rId4" Type="http://schemas.openxmlformats.org/officeDocument/2006/relationships/image" Target="../media/image91.png"/></Relationships>
</file>

<file path=ppt/slides/_rels/slide62.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7700" y="228600"/>
            <a:ext cx="7848600" cy="1470025"/>
          </a:xfrm>
        </p:spPr>
        <p:txBody>
          <a:bodyPr>
            <a:normAutofit fontScale="90000"/>
          </a:bodyPr>
          <a:lstStyle/>
          <a:p>
            <a:r>
              <a:rPr lang="pt-BR" sz="4400" dirty="0" smtClean="0"/>
              <a:t>Capítulo 6</a:t>
            </a:r>
            <a:r>
              <a:rPr lang="pt-BR" dirty="0" smtClean="0"/>
              <a:t/>
            </a:r>
            <a:br>
              <a:rPr lang="pt-BR" dirty="0" smtClean="0"/>
            </a:br>
            <a:r>
              <a:rPr lang="pt-BR" dirty="0" smtClean="0">
                <a:solidFill>
                  <a:schemeClr val="tx1"/>
                </a:solidFill>
              </a:rPr>
              <a:t>Estudo de caso: Seleção de Materiais</a:t>
            </a:r>
            <a:endParaRPr lang="pt-BR" dirty="0">
              <a:solidFill>
                <a:schemeClr val="tx1"/>
              </a:solidFill>
            </a:endParaRPr>
          </a:p>
        </p:txBody>
      </p:sp>
      <p:sp>
        <p:nvSpPr>
          <p:cNvPr id="4" name="Footer Placeholder 3"/>
          <p:cNvSpPr>
            <a:spLocks noGrp="1"/>
          </p:cNvSpPr>
          <p:nvPr>
            <p:ph type="ftr" sz="quarter" idx="11"/>
          </p:nvPr>
        </p:nvSpPr>
        <p:spPr/>
        <p:txBody>
          <a:bodyPr/>
          <a:lstStyle/>
          <a:p>
            <a:r>
              <a:rPr lang="en-US" dirty="0" smtClean="0"/>
              <a:t>Materials Selection in Mechanical Design, 4th Edition © 2010 Michael Ashby</a:t>
            </a:r>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174" t="3671" r="3922" b="6366"/>
          <a:stretch/>
        </p:blipFill>
        <p:spPr bwMode="auto">
          <a:xfrm>
            <a:off x="674913" y="2133600"/>
            <a:ext cx="3347729" cy="2782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866900"/>
            <a:ext cx="4203887" cy="468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02512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726" y="3648075"/>
            <a:ext cx="4282440" cy="264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6"/>
          <p:cNvSpPr>
            <a:spLocks noGrp="1"/>
          </p:cNvSpPr>
          <p:nvPr>
            <p:ph type="ctrTitle"/>
          </p:nvPr>
        </p:nvSpPr>
        <p:spPr>
          <a:xfrm>
            <a:off x="685800" y="1"/>
            <a:ext cx="7772400" cy="1219200"/>
          </a:xfrm>
        </p:spPr>
        <p:txBody>
          <a:bodyPr/>
          <a:lstStyle/>
          <a:p>
            <a:r>
              <a:rPr lang="pt-BR" dirty="0" smtClean="0"/>
              <a:t>Materiais para Remos</a:t>
            </a:r>
            <a:endParaRPr lang="pt-BR" dirty="0"/>
          </a:p>
        </p:txBody>
      </p:sp>
      <p:sp>
        <p:nvSpPr>
          <p:cNvPr id="10" name="Subtitle 9"/>
          <p:cNvSpPr>
            <a:spLocks noGrp="1"/>
          </p:cNvSpPr>
          <p:nvPr>
            <p:ph type="subTitle" idx="1"/>
          </p:nvPr>
        </p:nvSpPr>
        <p:spPr>
          <a:xfrm>
            <a:off x="190497" y="914400"/>
            <a:ext cx="8763000" cy="2209800"/>
          </a:xfrm>
        </p:spPr>
        <p:txBody>
          <a:bodyPr>
            <a:noAutofit/>
          </a:bodyPr>
          <a:lstStyle/>
          <a:p>
            <a:r>
              <a:rPr lang="pt-BR" sz="2700" dirty="0" smtClean="0"/>
              <a:t>O crédito pela invenção do barco a remo pertence aos egípcios. O real estímulo para o desenvolvimento de barcos e remos ocorreu em 1900 com o estabelecimento do remo como esporte olímpico. Desde então ambos aproveitam ao máximo o artesanato e os materiais de sua época.</a:t>
            </a:r>
            <a:endParaRPr lang="pt-BR" sz="2700" dirty="0"/>
          </a:p>
        </p:txBody>
      </p:sp>
      <p:sp>
        <p:nvSpPr>
          <p:cNvPr id="4" name="Footer Placeholder 3"/>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6" name="TextBox 5"/>
          <p:cNvSpPr txBox="1"/>
          <p:nvPr/>
        </p:nvSpPr>
        <p:spPr>
          <a:xfrm>
            <a:off x="4157461" y="6294728"/>
            <a:ext cx="829073" cy="246221"/>
          </a:xfrm>
          <a:prstGeom prst="rect">
            <a:avLst/>
          </a:prstGeom>
          <a:noFill/>
        </p:spPr>
        <p:txBody>
          <a:bodyPr wrap="none" rtlCol="0">
            <a:spAutoFit/>
          </a:bodyPr>
          <a:lstStyle/>
          <a:p>
            <a:pPr algn="ctr"/>
            <a:r>
              <a:rPr lang="en-US" sz="1000" dirty="0" smtClean="0"/>
              <a:t>Figura 6.11</a:t>
            </a:r>
            <a:endParaRPr lang="en-US" sz="1000" dirty="0"/>
          </a:p>
        </p:txBody>
      </p:sp>
    </p:spTree>
    <p:extLst>
      <p:ext uri="{BB962C8B-B14F-4D97-AF65-F5344CB8AC3E}">
        <p14:creationId xmlns:p14="http://schemas.microsoft.com/office/powerpoint/2010/main" val="32139934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76200"/>
            <a:ext cx="8229600" cy="1143000"/>
          </a:xfrm>
        </p:spPr>
        <p:txBody>
          <a:bodyPr>
            <a:normAutofit/>
          </a:bodyPr>
          <a:lstStyle/>
          <a:p>
            <a:r>
              <a:rPr lang="pt-BR" dirty="0" smtClean="0"/>
              <a:t>Materiais para Remos: Tradução</a:t>
            </a:r>
            <a:endParaRPr lang="pt-BR" dirty="0"/>
          </a:p>
        </p:txBody>
      </p:sp>
      <p:sp>
        <p:nvSpPr>
          <p:cNvPr id="7" name="Content Placeholder 6"/>
          <p:cNvSpPr>
            <a:spLocks noGrp="1"/>
          </p:cNvSpPr>
          <p:nvPr>
            <p:ph idx="1"/>
          </p:nvPr>
        </p:nvSpPr>
        <p:spPr>
          <a:xfrm>
            <a:off x="457200" y="1198382"/>
            <a:ext cx="8229600" cy="4525963"/>
          </a:xfrm>
        </p:spPr>
        <p:txBody>
          <a:bodyPr>
            <a:normAutofit/>
          </a:bodyPr>
          <a:lstStyle/>
          <a:p>
            <a:r>
              <a:rPr lang="pt-BR" sz="2800" dirty="0" smtClean="0"/>
              <a:t>Um remo é uma </a:t>
            </a:r>
            <a:r>
              <a:rPr lang="pt-BR" sz="2800" dirty="0" smtClean="0">
                <a:solidFill>
                  <a:srgbClr val="FFFF00"/>
                </a:solidFill>
              </a:rPr>
              <a:t>viga carregada sob flexão</a:t>
            </a:r>
            <a:r>
              <a:rPr lang="pt-BR" sz="2800" dirty="0" smtClean="0"/>
              <a:t>;</a:t>
            </a:r>
          </a:p>
          <a:p>
            <a:r>
              <a:rPr lang="pt-BR" sz="2800" dirty="0" smtClean="0"/>
              <a:t>Devem ser </a:t>
            </a:r>
            <a:r>
              <a:rPr lang="pt-BR" sz="2800" dirty="0" smtClean="0">
                <a:solidFill>
                  <a:srgbClr val="FFFF00"/>
                </a:solidFill>
              </a:rPr>
              <a:t>forte o suficiente</a:t>
            </a:r>
            <a:r>
              <a:rPr lang="pt-BR" sz="2800" dirty="0" smtClean="0"/>
              <a:t> para suportar, </a:t>
            </a:r>
            <a:r>
              <a:rPr lang="pt-BR" sz="2800" dirty="0" smtClean="0">
                <a:solidFill>
                  <a:srgbClr val="FFFF00"/>
                </a:solidFill>
              </a:rPr>
              <a:t>sem quebrar</a:t>
            </a:r>
            <a:r>
              <a:rPr lang="pt-BR" sz="2800" dirty="0" smtClean="0"/>
              <a:t>, para fornecer </a:t>
            </a:r>
            <a:r>
              <a:rPr lang="pt-BR" sz="2800" dirty="0" smtClean="0">
                <a:solidFill>
                  <a:srgbClr val="FFFF00"/>
                </a:solidFill>
              </a:rPr>
              <a:t>uma dada deflexão elástica</a:t>
            </a:r>
            <a:r>
              <a:rPr lang="pt-BR" sz="2800" dirty="0" smtClean="0"/>
              <a:t> </a:t>
            </a:r>
            <a:r>
              <a:rPr lang="pt-BR" sz="2800" dirty="0" smtClean="0">
                <a:solidFill>
                  <a:srgbClr val="FFFF00"/>
                </a:solidFill>
              </a:rPr>
              <a:t>sob um dado carregamento</a:t>
            </a:r>
            <a:r>
              <a:rPr lang="pt-BR" sz="2800" dirty="0" smtClean="0"/>
              <a:t>;</a:t>
            </a:r>
          </a:p>
          <a:p>
            <a:r>
              <a:rPr lang="pt-BR" sz="2800" dirty="0" smtClean="0"/>
              <a:t>Deve </a:t>
            </a:r>
            <a:r>
              <a:rPr lang="pt-BR" sz="2800" dirty="0" smtClean="0">
                <a:solidFill>
                  <a:srgbClr val="FFFF00"/>
                </a:solidFill>
              </a:rPr>
              <a:t>ser leve</a:t>
            </a:r>
            <a:r>
              <a:rPr lang="pt-BR" sz="2800" dirty="0" smtClean="0"/>
              <a:t>, pois </a:t>
            </a:r>
            <a:r>
              <a:rPr lang="pt-BR" sz="2800" dirty="0" smtClean="0">
                <a:solidFill>
                  <a:srgbClr val="FFFF00"/>
                </a:solidFill>
              </a:rPr>
              <a:t>peso extra </a:t>
            </a:r>
            <a:r>
              <a:rPr lang="pt-BR" sz="2800" dirty="0" smtClean="0"/>
              <a:t>aumenta a área molhada do casco e o </a:t>
            </a:r>
            <a:r>
              <a:rPr lang="pt-BR" sz="2800" dirty="0" smtClean="0">
                <a:solidFill>
                  <a:srgbClr val="FFFF00"/>
                </a:solidFill>
              </a:rPr>
              <a:t>arraste</a:t>
            </a:r>
            <a:r>
              <a:rPr lang="pt-BR" sz="2800" dirty="0" smtClean="0"/>
              <a:t>;</a:t>
            </a:r>
          </a:p>
          <a:p>
            <a:r>
              <a:rPr lang="pt-BR" sz="2800" dirty="0" smtClean="0"/>
              <a:t>Remos devem ser </a:t>
            </a:r>
            <a:r>
              <a:rPr lang="pt-BR" sz="2800" dirty="0" smtClean="0">
                <a:solidFill>
                  <a:srgbClr val="FFFF00"/>
                </a:solidFill>
              </a:rPr>
              <a:t>tenazes</a:t>
            </a:r>
            <a:r>
              <a:rPr lang="pt-BR" sz="2800" dirty="0" smtClean="0"/>
              <a:t> para suportar serem derrubados ou choques eventuais com outros remos;</a:t>
            </a:r>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Tree>
    <p:extLst>
      <p:ext uri="{BB962C8B-B14F-4D97-AF65-F5344CB8AC3E}">
        <p14:creationId xmlns:p14="http://schemas.microsoft.com/office/powerpoint/2010/main" val="19065545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6" name="TextBox 5"/>
          <p:cNvSpPr txBox="1"/>
          <p:nvPr/>
        </p:nvSpPr>
        <p:spPr>
          <a:xfrm>
            <a:off x="143359" y="3430292"/>
            <a:ext cx="8762999" cy="954107"/>
          </a:xfrm>
          <a:prstGeom prst="rect">
            <a:avLst/>
          </a:prstGeom>
          <a:noFill/>
        </p:spPr>
        <p:txBody>
          <a:bodyPr wrap="square" rtlCol="0">
            <a:spAutoFit/>
          </a:bodyPr>
          <a:lstStyle/>
          <a:p>
            <a:pPr algn="ctr"/>
            <a:r>
              <a:rPr lang="en-US" sz="2800" dirty="0" smtClean="0"/>
              <a:t>O </a:t>
            </a:r>
            <a:r>
              <a:rPr lang="en-US" sz="2800" dirty="0" err="1" smtClean="0">
                <a:solidFill>
                  <a:srgbClr val="FFFF00"/>
                </a:solidFill>
              </a:rPr>
              <a:t>índice</a:t>
            </a:r>
            <a:r>
              <a:rPr lang="en-US" sz="2800" dirty="0" smtClean="0">
                <a:solidFill>
                  <a:srgbClr val="FFFF00"/>
                </a:solidFill>
              </a:rPr>
              <a:t> de material</a:t>
            </a:r>
            <a:r>
              <a:rPr lang="en-US" sz="2800" dirty="0" smtClean="0"/>
              <a:t> para um </a:t>
            </a:r>
            <a:r>
              <a:rPr lang="en-US" sz="2800" dirty="0" err="1" smtClean="0"/>
              <a:t>remo</a:t>
            </a:r>
            <a:r>
              <a:rPr lang="en-US" sz="2800" dirty="0" smtClean="0"/>
              <a:t> é </a:t>
            </a:r>
            <a:r>
              <a:rPr lang="en-US" sz="2800" dirty="0" err="1" smtClean="0"/>
              <a:t>aquele</a:t>
            </a:r>
            <a:r>
              <a:rPr lang="en-US" sz="2800" dirty="0" smtClean="0"/>
              <a:t> para </a:t>
            </a:r>
            <a:r>
              <a:rPr lang="en-US" sz="2800" dirty="0" err="1" smtClean="0"/>
              <a:t>uma</a:t>
            </a:r>
            <a:r>
              <a:rPr lang="en-US" sz="2800" dirty="0" smtClean="0"/>
              <a:t> </a:t>
            </a:r>
            <a:r>
              <a:rPr lang="en-US" sz="2800" dirty="0" err="1" smtClean="0">
                <a:solidFill>
                  <a:srgbClr val="FFFF00"/>
                </a:solidFill>
              </a:rPr>
              <a:t>viga</a:t>
            </a:r>
            <a:r>
              <a:rPr lang="en-US" sz="2800" dirty="0" smtClean="0">
                <a:solidFill>
                  <a:srgbClr val="FFFF00"/>
                </a:solidFill>
              </a:rPr>
              <a:t> </a:t>
            </a:r>
            <a:r>
              <a:rPr lang="en-US" sz="2800" dirty="0" err="1" smtClean="0">
                <a:solidFill>
                  <a:srgbClr val="FFFF00"/>
                </a:solidFill>
              </a:rPr>
              <a:t>leve</a:t>
            </a:r>
            <a:r>
              <a:rPr lang="en-US" sz="2800" dirty="0" smtClean="0"/>
              <a:t> e </a:t>
            </a:r>
            <a:r>
              <a:rPr lang="en-US" sz="2800" dirty="0" err="1" smtClean="0">
                <a:solidFill>
                  <a:srgbClr val="FFFF00"/>
                </a:solidFill>
              </a:rPr>
              <a:t>rígida</a:t>
            </a:r>
            <a:r>
              <a:rPr lang="en-US" sz="2800" dirty="0" smtClean="0"/>
              <a:t>, logo:</a:t>
            </a:r>
            <a:endParaRPr lang="en-US" sz="2800"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6859" y="4648200"/>
            <a:ext cx="1570281" cy="92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7" name="Tabela 6"/>
              <p:cNvGraphicFramePr>
                <a:graphicFrameLocks noGrp="1"/>
              </p:cNvGraphicFramePr>
              <p:nvPr>
                <p:extLst>
                  <p:ext uri="{D42A27DB-BD31-4B8C-83A1-F6EECF244321}">
                    <p14:modId xmlns:p14="http://schemas.microsoft.com/office/powerpoint/2010/main" val="1735524429"/>
                  </p:ext>
                </p:extLst>
              </p:nvPr>
            </p:nvGraphicFramePr>
            <p:xfrm>
              <a:off x="456832" y="381000"/>
              <a:ext cx="8449526" cy="278892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6.1 – Requisitos</a:t>
                          </a:r>
                          <a:r>
                            <a:rPr lang="pt-BR" sz="1200" baseline="0" dirty="0" smtClean="0"/>
                            <a:t> de Projeto para o remo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Remo – significando viga leve,</a:t>
                          </a:r>
                          <a:r>
                            <a:rPr lang="pt-BR" sz="1400" baseline="0" dirty="0" smtClean="0"/>
                            <a:t> rígida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dirty="0" smtClean="0"/>
                            <a:t>Comprimento</a:t>
                          </a:r>
                          <a:r>
                            <a:rPr lang="pt-BR" sz="1400" baseline="0" dirty="0" smtClean="0"/>
                            <a:t> L é especificado </a:t>
                          </a:r>
                        </a:p>
                        <a:p>
                          <a:r>
                            <a:rPr lang="pt-BR" sz="1400" baseline="0" dirty="0" smtClean="0"/>
                            <a:t>rigidez à flexão S* especificada</a:t>
                          </a:r>
                        </a:p>
                        <a:p>
                          <a:r>
                            <a:rPr lang="pt-BR" sz="1400" baseline="0" dirty="0" smtClean="0"/>
                            <a:t>Tenacidade </a:t>
                          </a:r>
                          <a14:m>
                            <m:oMath xmlns:m="http://schemas.openxmlformats.org/officeDocument/2006/math">
                              <m:sSub>
                                <m:sSubPr>
                                  <m:ctrlPr>
                                    <a:rPr lang="pt-BR" sz="1400" b="0" i="1" baseline="0" smtClean="0">
                                      <a:latin typeface="Cambria Math"/>
                                    </a:rPr>
                                  </m:ctrlPr>
                                </m:sSubPr>
                                <m:e>
                                  <m:r>
                                    <a:rPr lang="pt-BR" sz="1400" b="0" i="1" baseline="0" smtClean="0">
                                      <a:latin typeface="Cambria Math"/>
                                    </a:rPr>
                                    <m:t>𝐺</m:t>
                                  </m:r>
                                </m:e>
                                <m:sub>
                                  <m:r>
                                    <a:rPr lang="pt-BR" sz="1400" b="0" i="1" baseline="0" smtClean="0">
                                      <a:latin typeface="Cambria Math"/>
                                    </a:rPr>
                                    <m:t>1</m:t>
                                  </m:r>
                                  <m:r>
                                    <a:rPr lang="pt-BR" sz="1400" b="0" i="1" baseline="0" smtClean="0">
                                      <a:latin typeface="Cambria Math"/>
                                    </a:rPr>
                                    <m:t>𝑐</m:t>
                                  </m:r>
                                </m:sub>
                              </m:sSub>
                              <m:r>
                                <a:rPr lang="pt-BR" sz="1400" b="0" i="1" baseline="0" smtClean="0">
                                  <a:latin typeface="Cambria Math"/>
                                </a:rPr>
                                <m:t>&gt;1 </m:t>
                              </m:r>
                              <m:f>
                                <m:fPr>
                                  <m:type m:val="lin"/>
                                  <m:ctrlPr>
                                    <a:rPr lang="pt-BR" sz="1400" b="0" i="1" baseline="0" smtClean="0">
                                      <a:latin typeface="Cambria Math"/>
                                    </a:rPr>
                                  </m:ctrlPr>
                                </m:fPr>
                                <m:num>
                                  <m:r>
                                    <a:rPr lang="pt-BR" sz="1400" b="0" i="1" baseline="0" smtClean="0">
                                      <a:latin typeface="Cambria Math"/>
                                    </a:rPr>
                                    <m:t>𝑘𝐽</m:t>
                                  </m:r>
                                </m:num>
                                <m:den>
                                  <m:sSup>
                                    <m:sSupPr>
                                      <m:ctrlPr>
                                        <a:rPr lang="pt-BR" sz="1400" b="0" i="1" baseline="0" smtClean="0">
                                          <a:latin typeface="Cambria Math"/>
                                        </a:rPr>
                                      </m:ctrlPr>
                                    </m:sSupPr>
                                    <m:e>
                                      <m:r>
                                        <a:rPr lang="pt-BR" sz="1400" b="0" i="1" baseline="0" smtClean="0">
                                          <a:latin typeface="Cambria Math"/>
                                        </a:rPr>
                                        <m:t>𝑚</m:t>
                                      </m:r>
                                    </m:e>
                                    <m:sup>
                                      <m:r>
                                        <a:rPr lang="pt-BR" sz="1400" b="0" i="1" baseline="0" smtClean="0">
                                          <a:latin typeface="Cambria Math"/>
                                        </a:rPr>
                                        <m:t>2</m:t>
                                      </m:r>
                                    </m:sup>
                                  </m:sSup>
                                </m:den>
                              </m:f>
                            </m:oMath>
                          </a14:m>
                          <a:endParaRPr lang="pt-BR" sz="1400" baseline="0" dirty="0" smtClean="0"/>
                        </a:p>
                        <a:p>
                          <a:r>
                            <a:rPr lang="pt-BR" sz="1400" baseline="0" dirty="0" smtClean="0"/>
                            <a:t>Viga deve suportar carga de dobramento F sem defletir tanto, significando que a (restrição funcional)</a:t>
                          </a:r>
                          <a:endParaRPr lang="en-US" sz="1400" dirty="0"/>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Minimizar a massa </a:t>
                          </a:r>
                          <a:r>
                            <a:rPr lang="pt-BR" sz="1400" i="1" dirty="0" smtClean="0"/>
                            <a:t>m</a:t>
                          </a:r>
                          <a:endParaRPr lang="en-US" sz="1400" dirty="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dirty="0" smtClean="0"/>
                            <a:t>Diâmetro da haste</a:t>
                          </a:r>
                          <a:endParaRPr lang="pt-BR" sz="1400" i="1" baseline="0" dirty="0" smtClean="0"/>
                        </a:p>
                        <a:p>
                          <a:r>
                            <a:rPr lang="pt-BR" sz="1400" baseline="0" dirty="0" smtClean="0"/>
                            <a:t>Escolha do material</a:t>
                          </a:r>
                          <a:endParaRPr lang="en-US" sz="1400" dirty="0"/>
                        </a:p>
                      </a:txBody>
                      <a:tcPr/>
                    </a:tc>
                  </a:tr>
                </a:tbl>
              </a:graphicData>
            </a:graphic>
          </p:graphicFrame>
        </mc:Choice>
        <mc:Fallback xmlns="">
          <p:graphicFrame>
            <p:nvGraphicFramePr>
              <p:cNvPr id="7" name="Tabela 6"/>
              <p:cNvGraphicFramePr>
                <a:graphicFrameLocks noGrp="1"/>
              </p:cNvGraphicFramePr>
              <p:nvPr>
                <p:extLst>
                  <p:ext uri="{D42A27DB-BD31-4B8C-83A1-F6EECF244321}">
                    <p14:modId xmlns:p14="http://schemas.microsoft.com/office/powerpoint/2010/main" val="1735524429"/>
                  </p:ext>
                </p:extLst>
              </p:nvPr>
            </p:nvGraphicFramePr>
            <p:xfrm>
              <a:off x="456832" y="381000"/>
              <a:ext cx="8449526" cy="278892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a:t>
                          </a:r>
                          <a:r>
                            <a:rPr lang="pt-BR" sz="1200" dirty="0" smtClean="0"/>
                            <a:t>6.1 </a:t>
                          </a:r>
                          <a:r>
                            <a:rPr lang="pt-BR" sz="1200" dirty="0" smtClean="0"/>
                            <a:t>– Requisitos</a:t>
                          </a:r>
                          <a:r>
                            <a:rPr lang="pt-BR" sz="1200" baseline="0" dirty="0" smtClean="0"/>
                            <a:t> de Projeto </a:t>
                          </a:r>
                          <a:r>
                            <a:rPr lang="pt-BR" sz="1200" baseline="0" dirty="0" smtClean="0"/>
                            <a:t>para o remo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Remo – significando viga leve,</a:t>
                          </a:r>
                          <a:r>
                            <a:rPr lang="pt-BR" sz="1400" baseline="0" dirty="0" smtClean="0"/>
                            <a:t> rígida</a:t>
                          </a:r>
                          <a:endParaRPr lang="en-US" sz="1400" dirty="0"/>
                        </a:p>
                      </a:txBody>
                      <a:tcPr/>
                    </a:tc>
                  </a:tr>
                  <a:tr h="115824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3"/>
                          <a:stretch>
                            <a:fillRect l="-26898" t="-65079" r="-91" b="-82540"/>
                          </a:stretch>
                        </a:blipFill>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Minimizar a massa </a:t>
                          </a:r>
                          <a:r>
                            <a:rPr lang="pt-BR" sz="1400" i="1" dirty="0" smtClean="0"/>
                            <a:t>m</a:t>
                          </a:r>
                          <a:endParaRPr lang="en-US" sz="1400" dirty="0"/>
                        </a:p>
                      </a:txBody>
                      <a:tcPr/>
                    </a:tc>
                  </a:tr>
                  <a:tr h="51816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dirty="0" smtClean="0"/>
                            <a:t>Diâmetro da haste</a:t>
                          </a:r>
                          <a:endParaRPr lang="pt-BR" sz="1400" i="1" baseline="0" dirty="0" smtClean="0"/>
                        </a:p>
                        <a:p>
                          <a:r>
                            <a:rPr lang="pt-BR" sz="1400" baseline="0" dirty="0" smtClean="0"/>
                            <a:t>Escolha do material</a:t>
                          </a:r>
                          <a:endParaRPr lang="en-US" sz="1400" dirty="0"/>
                        </a:p>
                      </a:txBody>
                      <a:tcPr/>
                    </a:tc>
                  </a:tr>
                </a:tbl>
              </a:graphicData>
            </a:graphic>
          </p:graphicFrame>
        </mc:Fallback>
      </mc:AlternateContent>
    </p:spTree>
    <p:extLst>
      <p:ext uri="{BB962C8B-B14F-4D97-AF65-F5344CB8AC3E}">
        <p14:creationId xmlns:p14="http://schemas.microsoft.com/office/powerpoint/2010/main" val="5486566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52400" y="1748725"/>
            <a:ext cx="6477000" cy="4881312"/>
            <a:chOff x="152400" y="1748725"/>
            <a:chExt cx="6477000" cy="4881312"/>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48725"/>
              <a:ext cx="6477000" cy="463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989961" y="6383816"/>
              <a:ext cx="758541" cy="246221"/>
            </a:xfrm>
            <a:prstGeom prst="rect">
              <a:avLst/>
            </a:prstGeom>
            <a:noFill/>
          </p:spPr>
          <p:txBody>
            <a:bodyPr wrap="none" rtlCol="0">
              <a:spAutoFit/>
            </a:bodyPr>
            <a:lstStyle/>
            <a:p>
              <a:pPr algn="ctr"/>
              <a:r>
                <a:rPr lang="en-US" sz="1000" dirty="0" smtClean="0"/>
                <a:t>Figura 6.2</a:t>
              </a:r>
              <a:endParaRPr lang="en-US" sz="1000" dirty="0"/>
            </a:p>
          </p:txBody>
        </p:sp>
      </p:grpSp>
      <p:sp>
        <p:nvSpPr>
          <p:cNvPr id="10" name="Subtitle 7"/>
          <p:cNvSpPr txBox="1">
            <a:spLocks/>
          </p:cNvSpPr>
          <p:nvPr/>
        </p:nvSpPr>
        <p:spPr>
          <a:xfrm>
            <a:off x="141051" y="108626"/>
            <a:ext cx="8839200" cy="13716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pt-BR" sz="2000" dirty="0" smtClean="0"/>
              <a:t>O </a:t>
            </a:r>
            <a:r>
              <a:rPr lang="pt-BR" sz="2000" dirty="0" smtClean="0">
                <a:solidFill>
                  <a:srgbClr val="FFFF00"/>
                </a:solidFill>
              </a:rPr>
              <a:t>diagrama</a:t>
            </a:r>
            <a:r>
              <a:rPr lang="pt-BR" sz="2000" dirty="0" smtClean="0"/>
              <a:t> de seleção </a:t>
            </a:r>
            <a:r>
              <a:rPr lang="pt-BR" sz="2000" dirty="0" smtClean="0">
                <a:solidFill>
                  <a:srgbClr val="FFFF00"/>
                </a:solidFill>
              </a:rPr>
              <a:t>adequado</a:t>
            </a:r>
            <a:r>
              <a:rPr lang="pt-BR" sz="2000" dirty="0" smtClean="0"/>
              <a:t> é o do </a:t>
            </a:r>
            <a:r>
              <a:rPr lang="pt-BR" sz="2000" dirty="0" smtClean="0">
                <a:solidFill>
                  <a:srgbClr val="FFFF00"/>
                </a:solidFill>
              </a:rPr>
              <a:t>módulo de Young</a:t>
            </a:r>
            <a:r>
              <a:rPr lang="pt-BR" sz="2000" dirty="0" smtClean="0"/>
              <a:t> em relação a </a:t>
            </a:r>
            <a:r>
              <a:rPr lang="pt-BR" sz="2000" dirty="0" smtClean="0">
                <a:solidFill>
                  <a:srgbClr val="FFFF00"/>
                </a:solidFill>
              </a:rPr>
              <a:t>massa específica</a:t>
            </a:r>
            <a:r>
              <a:rPr lang="pt-BR" sz="2000" dirty="0" smtClean="0"/>
              <a:t>. A linha de seleção para o </a:t>
            </a:r>
            <a:r>
              <a:rPr lang="pt-BR" sz="2000" dirty="0" smtClean="0">
                <a:solidFill>
                  <a:srgbClr val="FFFF00"/>
                </a:solidFill>
              </a:rPr>
              <a:t>índice </a:t>
            </a:r>
            <a:r>
              <a:rPr lang="pt-BR" sz="2000" i="1" dirty="0" smtClean="0">
                <a:solidFill>
                  <a:srgbClr val="FFFF00"/>
                </a:solidFill>
              </a:rPr>
              <a:t>M</a:t>
            </a:r>
            <a:r>
              <a:rPr lang="pt-BR" sz="2000" dirty="0" smtClean="0"/>
              <a:t> apresenta </a:t>
            </a:r>
            <a:r>
              <a:rPr lang="pt-BR" sz="2000" dirty="0" smtClean="0">
                <a:solidFill>
                  <a:srgbClr val="FFFF00"/>
                </a:solidFill>
              </a:rPr>
              <a:t>inclinação 2</a:t>
            </a:r>
            <a:r>
              <a:rPr lang="pt-BR" sz="2000" dirty="0" smtClean="0"/>
              <a:t>; está </a:t>
            </a:r>
            <a:r>
              <a:rPr lang="pt-BR" sz="2000" dirty="0" smtClean="0">
                <a:solidFill>
                  <a:srgbClr val="FFFF00"/>
                </a:solidFill>
              </a:rPr>
              <a:t>posicionada de forma que resta um pequeno grupo de materiais</a:t>
            </a:r>
            <a:r>
              <a:rPr lang="pt-BR" sz="2000" dirty="0" smtClean="0"/>
              <a:t> acima dela. São os materiais que tem os </a:t>
            </a:r>
            <a:r>
              <a:rPr lang="pt-BR" sz="2000" dirty="0" smtClean="0">
                <a:solidFill>
                  <a:srgbClr val="FFFF00"/>
                </a:solidFill>
              </a:rPr>
              <a:t>maiores valores de </a:t>
            </a:r>
            <a:r>
              <a:rPr lang="pt-BR" sz="2000" i="1" dirty="0" smtClean="0">
                <a:solidFill>
                  <a:srgbClr val="FFFF00"/>
                </a:solidFill>
              </a:rPr>
              <a:t>M</a:t>
            </a:r>
            <a:r>
              <a:rPr lang="pt-BR" sz="2000" dirty="0" smtClean="0">
                <a:solidFill>
                  <a:srgbClr val="FFFF00"/>
                </a:solidFill>
              </a:rPr>
              <a:t> </a:t>
            </a:r>
            <a:r>
              <a:rPr lang="pt-BR" sz="2000" dirty="0" smtClean="0"/>
              <a:t>e representam a melhor escolha desde que </a:t>
            </a:r>
            <a:r>
              <a:rPr lang="pt-BR" sz="2000" dirty="0" smtClean="0">
                <a:solidFill>
                  <a:srgbClr val="FFFF00"/>
                </a:solidFill>
              </a:rPr>
              <a:t>satisfaça a outra restrição</a:t>
            </a:r>
            <a:r>
              <a:rPr lang="pt-BR" sz="2000" dirty="0" smtClean="0"/>
              <a:t>.</a:t>
            </a:r>
            <a:endParaRPr lang="pt-BR" sz="2000" dirty="0"/>
          </a:p>
        </p:txBody>
      </p:sp>
      <p:sp>
        <p:nvSpPr>
          <p:cNvPr id="14" name="TextBox 13"/>
          <p:cNvSpPr txBox="1"/>
          <p:nvPr/>
        </p:nvSpPr>
        <p:spPr>
          <a:xfrm>
            <a:off x="6934199" y="2743200"/>
            <a:ext cx="2046051" cy="2062103"/>
          </a:xfrm>
          <a:prstGeom prst="rect">
            <a:avLst/>
          </a:prstGeom>
          <a:noFill/>
        </p:spPr>
        <p:txBody>
          <a:bodyPr wrap="square" rtlCol="0">
            <a:spAutoFit/>
          </a:bodyPr>
          <a:lstStyle/>
          <a:p>
            <a:pPr algn="ctr"/>
            <a:r>
              <a:rPr lang="pt-BR" sz="1600" dirty="0" smtClean="0"/>
              <a:t>Madeiras, polímeros reforçados por carbonos e certos cerâmicos são as melhores escolhas baseadas nas suas posições relativas a  linha de seleção</a:t>
            </a:r>
          </a:p>
        </p:txBody>
      </p:sp>
    </p:spTree>
    <p:extLst>
      <p:ext uri="{BB962C8B-B14F-4D97-AF65-F5344CB8AC3E}">
        <p14:creationId xmlns:p14="http://schemas.microsoft.com/office/powerpoint/2010/main" val="37036904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381000" y="3200400"/>
            <a:ext cx="8305800" cy="2663125"/>
          </a:xfrm>
        </p:spPr>
        <p:txBody>
          <a:bodyPr>
            <a:normAutofit fontScale="77500" lnSpcReduction="20000"/>
          </a:bodyPr>
          <a:lstStyle/>
          <a:p>
            <a:r>
              <a:rPr lang="pt-BR" dirty="0" smtClean="0">
                <a:solidFill>
                  <a:srgbClr val="FFFF00"/>
                </a:solidFill>
              </a:rPr>
              <a:t>Cerâmicas</a:t>
            </a:r>
            <a:r>
              <a:rPr lang="pt-BR" dirty="0" smtClean="0"/>
              <a:t> são </a:t>
            </a:r>
            <a:r>
              <a:rPr lang="pt-BR" dirty="0" smtClean="0">
                <a:solidFill>
                  <a:srgbClr val="FFFF00"/>
                </a:solidFill>
              </a:rPr>
              <a:t>frágeis</a:t>
            </a:r>
            <a:r>
              <a:rPr lang="pt-BR" dirty="0" smtClean="0"/>
              <a:t> e falham na </a:t>
            </a:r>
            <a:r>
              <a:rPr lang="pt-BR" dirty="0" smtClean="0">
                <a:solidFill>
                  <a:srgbClr val="FFFF00"/>
                </a:solidFill>
              </a:rPr>
              <a:t>restrição tenacidade</a:t>
            </a:r>
            <a:r>
              <a:rPr lang="pt-BR" dirty="0" smtClean="0"/>
              <a:t> do projeto. </a:t>
            </a:r>
            <a:r>
              <a:rPr lang="pt-BR" dirty="0" smtClean="0">
                <a:solidFill>
                  <a:srgbClr val="FFFF00"/>
                </a:solidFill>
              </a:rPr>
              <a:t>Pás de compósitos </a:t>
            </a:r>
            <a:r>
              <a:rPr lang="pt-BR" dirty="0" smtClean="0"/>
              <a:t>são </a:t>
            </a:r>
            <a:r>
              <a:rPr lang="pt-BR" dirty="0" smtClean="0">
                <a:solidFill>
                  <a:srgbClr val="FFFF00"/>
                </a:solidFill>
              </a:rPr>
              <a:t>mais leves </a:t>
            </a:r>
            <a:r>
              <a:rPr lang="pt-BR" dirty="0" smtClean="0"/>
              <a:t>que </a:t>
            </a:r>
            <a:r>
              <a:rPr lang="pt-BR" dirty="0" smtClean="0">
                <a:solidFill>
                  <a:srgbClr val="FFFF00"/>
                </a:solidFill>
              </a:rPr>
              <a:t>madeiras</a:t>
            </a:r>
            <a:r>
              <a:rPr lang="pt-BR" dirty="0" smtClean="0"/>
              <a:t> para a </a:t>
            </a:r>
            <a:r>
              <a:rPr lang="pt-BR" dirty="0" smtClean="0">
                <a:solidFill>
                  <a:srgbClr val="FFFF00"/>
                </a:solidFill>
              </a:rPr>
              <a:t>mesma rigidez </a:t>
            </a:r>
            <a:r>
              <a:rPr lang="pt-BR" dirty="0" smtClean="0"/>
              <a:t>e oferecem </a:t>
            </a:r>
            <a:r>
              <a:rPr lang="pt-BR" dirty="0" smtClean="0">
                <a:solidFill>
                  <a:srgbClr val="FFFF00"/>
                </a:solidFill>
              </a:rPr>
              <a:t>grande controle de propriedades</a:t>
            </a:r>
            <a:r>
              <a:rPr lang="pt-BR" dirty="0" smtClean="0"/>
              <a:t>. Até recentemente, um </a:t>
            </a:r>
            <a:r>
              <a:rPr lang="pt-BR" dirty="0" smtClean="0">
                <a:solidFill>
                  <a:srgbClr val="FFFF00"/>
                </a:solidFill>
              </a:rPr>
              <a:t>remo de CFRP</a:t>
            </a:r>
            <a:r>
              <a:rPr lang="pt-BR" dirty="0" smtClean="0"/>
              <a:t> custava </a:t>
            </a:r>
            <a:r>
              <a:rPr lang="pt-BR" dirty="0" smtClean="0">
                <a:solidFill>
                  <a:srgbClr val="FFFF00"/>
                </a:solidFill>
              </a:rPr>
              <a:t>muito mais que um de madeira</a:t>
            </a:r>
            <a:r>
              <a:rPr lang="pt-BR" dirty="0" smtClean="0"/>
              <a:t>, mas o </a:t>
            </a:r>
            <a:r>
              <a:rPr lang="pt-BR" dirty="0" smtClean="0">
                <a:solidFill>
                  <a:srgbClr val="FFFF00"/>
                </a:solidFill>
              </a:rPr>
              <a:t>preço da fibra de carbono caiu </a:t>
            </a:r>
            <a:r>
              <a:rPr lang="pt-BR" dirty="0" smtClean="0"/>
              <a:t>o suficiente para que os dois </a:t>
            </a:r>
            <a:r>
              <a:rPr lang="pt-BR" dirty="0" smtClean="0">
                <a:solidFill>
                  <a:srgbClr val="FFFF00"/>
                </a:solidFill>
              </a:rPr>
              <a:t>custos sejam aproximadamente o mesmo</a:t>
            </a:r>
            <a:r>
              <a:rPr lang="pt-BR" dirty="0" smtClean="0"/>
              <a:t>.</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aphicFrame>
        <p:nvGraphicFramePr>
          <p:cNvPr id="5" name="Tabela 4"/>
          <p:cNvGraphicFramePr>
            <a:graphicFrameLocks noGrp="1"/>
          </p:cNvGraphicFramePr>
          <p:nvPr>
            <p:extLst>
              <p:ext uri="{D42A27DB-BD31-4B8C-83A1-F6EECF244321}">
                <p14:modId xmlns:p14="http://schemas.microsoft.com/office/powerpoint/2010/main" val="2518570559"/>
              </p:ext>
            </p:extLst>
          </p:nvPr>
        </p:nvGraphicFramePr>
        <p:xfrm>
          <a:off x="304800" y="685800"/>
          <a:ext cx="8610600" cy="2057400"/>
        </p:xfrm>
        <a:graphic>
          <a:graphicData uri="http://schemas.openxmlformats.org/drawingml/2006/table">
            <a:tbl>
              <a:tblPr firstRow="1" bandRow="1">
                <a:tableStyleId>{68D230F3-CF80-4859-8CE7-A43EE81993B5}</a:tableStyleId>
              </a:tblPr>
              <a:tblGrid>
                <a:gridCol w="1295400"/>
                <a:gridCol w="2451806"/>
                <a:gridCol w="4863394"/>
              </a:tblGrid>
              <a:tr h="487680">
                <a:tc gridSpan="3">
                  <a:txBody>
                    <a:bodyPr/>
                    <a:lstStyle/>
                    <a:p>
                      <a:r>
                        <a:rPr lang="pt-BR" sz="1400" dirty="0" smtClean="0">
                          <a:solidFill>
                            <a:srgbClr val="FFFF00"/>
                          </a:solidFill>
                        </a:rPr>
                        <a:t>Tabela 6.2 – Materiais para o</a:t>
                      </a:r>
                      <a:r>
                        <a:rPr lang="pt-BR" sz="1400" baseline="0" dirty="0" smtClean="0">
                          <a:solidFill>
                            <a:srgbClr val="FFFF00"/>
                          </a:solidFill>
                        </a:rPr>
                        <a:t> remo</a:t>
                      </a:r>
                      <a:endParaRPr lang="pt-BR" sz="1200" baseline="0" dirty="0" smtClean="0"/>
                    </a:p>
                    <a:p>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400" b="1" baseline="0" dirty="0" smtClean="0">
                          <a:solidFill>
                            <a:srgbClr val="FFFF00"/>
                          </a:solidFill>
                        </a:rPr>
                        <a:t>Material</a:t>
                      </a:r>
                    </a:p>
                    <a:p>
                      <a:pPr algn="ctr"/>
                      <a:endParaRPr lang="pt-BR" sz="1200" baseline="0" dirty="0" smtClean="0"/>
                    </a:p>
                    <a:p>
                      <a:pPr algn="ctr"/>
                      <a:endParaRPr lang="pt-BR" sz="1400" baseline="0" dirty="0" smtClean="0"/>
                    </a:p>
                    <a:p>
                      <a:pPr algn="ctr"/>
                      <a:r>
                        <a:rPr lang="pt-BR" sz="1400" baseline="0" dirty="0" err="1" smtClean="0"/>
                        <a:t>Bambú</a:t>
                      </a:r>
                      <a:endParaRPr lang="pt-BR" sz="1400" baseline="0" dirty="0" smtClean="0"/>
                    </a:p>
                    <a:p>
                      <a:pPr algn="ctr"/>
                      <a:r>
                        <a:rPr lang="pt-BR" sz="1400" baseline="0" dirty="0" smtClean="0"/>
                        <a:t>Madeira</a:t>
                      </a:r>
                    </a:p>
                    <a:p>
                      <a:pPr algn="ctr"/>
                      <a:r>
                        <a:rPr lang="pt-BR" sz="1400" baseline="0" dirty="0" smtClean="0"/>
                        <a:t>CFRP</a:t>
                      </a:r>
                    </a:p>
                    <a:p>
                      <a:pPr algn="ctr"/>
                      <a:r>
                        <a:rPr lang="pt-BR" sz="1400" baseline="0" dirty="0" smtClean="0"/>
                        <a:t>Cerâmica</a:t>
                      </a:r>
                    </a:p>
                  </a:txBody>
                  <a:tcPr>
                    <a:solidFill>
                      <a:schemeClr val="accent1"/>
                    </a:solidFill>
                  </a:tcPr>
                </a:tc>
                <a:tc>
                  <a:txBody>
                    <a:bodyPr/>
                    <a:lstStyle/>
                    <a:p>
                      <a:pPr marL="0" algn="ctr" defTabSz="914400" rtl="0" eaLnBrk="1" latinLnBrk="0" hangingPunct="1"/>
                      <a:r>
                        <a:rPr lang="pt-BR" sz="1400" b="1" kern="1200" baseline="0" dirty="0" smtClean="0">
                          <a:solidFill>
                            <a:srgbClr val="FFFF00"/>
                          </a:solidFill>
                          <a:latin typeface="+mn-lt"/>
                          <a:ea typeface="+mn-ea"/>
                          <a:cs typeface="+mn-cs"/>
                        </a:rPr>
                        <a:t>Índice </a:t>
                      </a:r>
                      <a:r>
                        <a:rPr lang="pt-BR" sz="1400" b="1" i="1" kern="1200" baseline="0" dirty="0" smtClean="0">
                          <a:solidFill>
                            <a:srgbClr val="FFFF00"/>
                          </a:solidFill>
                          <a:latin typeface="+mn-lt"/>
                          <a:ea typeface="+mn-ea"/>
                          <a:cs typeface="+mn-cs"/>
                        </a:rPr>
                        <a:t>M</a:t>
                      </a:r>
                      <a:r>
                        <a:rPr lang="pt-BR" sz="1400" b="1" kern="1200" baseline="0" dirty="0" smtClean="0">
                          <a:solidFill>
                            <a:srgbClr val="FFFF00"/>
                          </a:solidFill>
                          <a:latin typeface="+mn-lt"/>
                          <a:ea typeface="+mn-ea"/>
                          <a:cs typeface="+mn-cs"/>
                        </a:rPr>
                        <a:t> (</a:t>
                      </a:r>
                      <a:r>
                        <a:rPr lang="pt-BR" sz="1400" b="1" kern="1200" baseline="0" dirty="0" err="1" smtClean="0">
                          <a:solidFill>
                            <a:srgbClr val="FFFF00"/>
                          </a:solidFill>
                          <a:latin typeface="+mn-lt"/>
                          <a:ea typeface="+mn-ea"/>
                          <a:cs typeface="+mn-cs"/>
                        </a:rPr>
                        <a:t>GPa</a:t>
                      </a:r>
                      <a:r>
                        <a:rPr lang="pt-BR" sz="1400" b="1" kern="1200" baseline="0" dirty="0" smtClean="0">
                          <a:solidFill>
                            <a:srgbClr val="FFFF00"/>
                          </a:solidFill>
                          <a:latin typeface="+mn-lt"/>
                          <a:ea typeface="+mn-ea"/>
                          <a:cs typeface="+mn-cs"/>
                        </a:rPr>
                        <a:t>)</a:t>
                      </a:r>
                      <a:r>
                        <a:rPr lang="pt-BR" sz="1400" b="1" kern="1200" baseline="30000" dirty="0" smtClean="0">
                          <a:solidFill>
                            <a:srgbClr val="FFFF00"/>
                          </a:solidFill>
                          <a:latin typeface="+mn-lt"/>
                          <a:ea typeface="+mn-ea"/>
                          <a:cs typeface="+mn-cs"/>
                        </a:rPr>
                        <a:t>1/2</a:t>
                      </a:r>
                      <a:r>
                        <a:rPr lang="pt-BR" sz="1400" b="1" kern="1200" baseline="0" dirty="0" smtClean="0">
                          <a:solidFill>
                            <a:srgbClr val="FFFF00"/>
                          </a:solidFill>
                          <a:latin typeface="+mn-lt"/>
                          <a:ea typeface="+mn-ea"/>
                          <a:cs typeface="+mn-cs"/>
                        </a:rPr>
                        <a:t> /(Mg/m</a:t>
                      </a:r>
                      <a:r>
                        <a:rPr lang="pt-BR" sz="1400" b="1" kern="1200" baseline="30000" dirty="0" smtClean="0">
                          <a:solidFill>
                            <a:srgbClr val="FFFF00"/>
                          </a:solidFill>
                          <a:latin typeface="+mn-lt"/>
                          <a:ea typeface="+mn-ea"/>
                          <a:cs typeface="+mn-cs"/>
                        </a:rPr>
                        <a:t>3</a:t>
                      </a:r>
                      <a:r>
                        <a:rPr lang="pt-BR" sz="1400" b="1" kern="1200" baseline="0" dirty="0" smtClean="0">
                          <a:solidFill>
                            <a:srgbClr val="FFFF00"/>
                          </a:solidFill>
                          <a:latin typeface="+mn-lt"/>
                          <a:ea typeface="+mn-ea"/>
                          <a:cs typeface="+mn-cs"/>
                        </a:rPr>
                        <a:t>)</a:t>
                      </a:r>
                    </a:p>
                    <a:p>
                      <a:pPr algn="ctr"/>
                      <a:endParaRPr lang="pt-BR" sz="1200" b="1" baseline="0" dirty="0" smtClean="0">
                        <a:solidFill>
                          <a:srgbClr val="FFFF00"/>
                        </a:solidFill>
                      </a:endParaRPr>
                    </a:p>
                    <a:p>
                      <a:pPr marL="0" algn="ctr" defTabSz="914400" rtl="0" eaLnBrk="1" latinLnBrk="0" hangingPunct="1"/>
                      <a:endParaRPr lang="pt-BR" sz="1400" kern="1200" baseline="0" dirty="0" smtClean="0">
                        <a:solidFill>
                          <a:schemeClr val="tx1"/>
                        </a:solidFill>
                        <a:latin typeface="+mn-lt"/>
                        <a:ea typeface="+mn-ea"/>
                        <a:cs typeface="+mn-cs"/>
                      </a:endParaRPr>
                    </a:p>
                    <a:p>
                      <a:pPr marL="0" algn="ctr" defTabSz="914400" rtl="0" eaLnBrk="1" latinLnBrk="0" hangingPunct="1"/>
                      <a:r>
                        <a:rPr lang="pt-BR" sz="1400" kern="1200" baseline="0" dirty="0" smtClean="0">
                          <a:solidFill>
                            <a:schemeClr val="tx1"/>
                          </a:solidFill>
                          <a:latin typeface="+mn-lt"/>
                          <a:ea typeface="+mn-ea"/>
                          <a:cs typeface="+mn-cs"/>
                        </a:rPr>
                        <a:t>4,0 – 4,5</a:t>
                      </a:r>
                    </a:p>
                    <a:p>
                      <a:pPr marL="0" algn="ctr" defTabSz="914400" rtl="0" eaLnBrk="1" latinLnBrk="0" hangingPunct="1"/>
                      <a:r>
                        <a:rPr lang="pt-BR" sz="1400" kern="1200" baseline="0" dirty="0" smtClean="0">
                          <a:solidFill>
                            <a:schemeClr val="tx1"/>
                          </a:solidFill>
                          <a:latin typeface="+mn-lt"/>
                          <a:ea typeface="+mn-ea"/>
                          <a:cs typeface="+mn-cs"/>
                        </a:rPr>
                        <a:t>3,4 – 6,3</a:t>
                      </a:r>
                    </a:p>
                    <a:p>
                      <a:pPr marL="0" algn="ctr" defTabSz="914400" rtl="0" eaLnBrk="1" latinLnBrk="0" hangingPunct="1"/>
                      <a:r>
                        <a:rPr lang="pt-BR" sz="1400" kern="1200" baseline="0" dirty="0" smtClean="0">
                          <a:solidFill>
                            <a:schemeClr val="tx1"/>
                          </a:solidFill>
                          <a:latin typeface="+mn-lt"/>
                          <a:ea typeface="+mn-ea"/>
                          <a:cs typeface="+mn-cs"/>
                        </a:rPr>
                        <a:t>5,3 – 7,9</a:t>
                      </a:r>
                    </a:p>
                    <a:p>
                      <a:pPr marL="0" algn="ctr" defTabSz="914400" rtl="0" eaLnBrk="1" latinLnBrk="0" hangingPunct="1"/>
                      <a:r>
                        <a:rPr lang="pt-BR" sz="1400" kern="1200" baseline="0" dirty="0" smtClean="0">
                          <a:solidFill>
                            <a:schemeClr val="tx1"/>
                          </a:solidFill>
                          <a:latin typeface="+mn-lt"/>
                          <a:ea typeface="+mn-ea"/>
                          <a:cs typeface="+mn-cs"/>
                        </a:rPr>
                        <a:t>4 – 8,9</a:t>
                      </a:r>
                    </a:p>
                  </a:txBody>
                  <a:tcPr>
                    <a:solidFill>
                      <a:schemeClr val="accent1"/>
                    </a:solidFill>
                  </a:tcPr>
                </a:tc>
                <a:tc>
                  <a:txBody>
                    <a:bodyPr/>
                    <a:lstStyle/>
                    <a:p>
                      <a:pPr marL="0" algn="ctr" defTabSz="914400" rtl="0" eaLnBrk="1" latinLnBrk="0" hangingPunct="1"/>
                      <a:r>
                        <a:rPr lang="pt-BR" sz="1400" b="1" kern="1200" baseline="0" dirty="0" smtClean="0">
                          <a:solidFill>
                            <a:srgbClr val="FFFF00"/>
                          </a:solidFill>
                          <a:latin typeface="+mn-lt"/>
                          <a:ea typeface="+mn-ea"/>
                          <a:cs typeface="+mn-cs"/>
                        </a:rPr>
                        <a:t>Comentário</a:t>
                      </a:r>
                    </a:p>
                    <a:p>
                      <a:pPr algn="ctr"/>
                      <a:endParaRPr lang="pt-BR" sz="1100" baseline="0" dirty="0" smtClean="0">
                        <a:solidFill>
                          <a:srgbClr val="FFFF00"/>
                        </a:solidFill>
                      </a:endParaRPr>
                    </a:p>
                    <a:p>
                      <a:pPr algn="ctr"/>
                      <a:endParaRPr lang="pt-BR" sz="1200" b="1" baseline="0" dirty="0" smtClean="0">
                        <a:solidFill>
                          <a:srgbClr val="FFFF00"/>
                        </a:solidFill>
                      </a:endParaRPr>
                    </a:p>
                    <a:p>
                      <a:pPr algn="ctr"/>
                      <a:endParaRPr lang="pt-BR" sz="1200" b="1" baseline="0" dirty="0" smtClean="0">
                        <a:solidFill>
                          <a:schemeClr val="tx1"/>
                        </a:solidFill>
                      </a:endParaRPr>
                    </a:p>
                    <a:p>
                      <a:pPr algn="ctr"/>
                      <a:r>
                        <a:rPr lang="pt-BR" sz="1200" b="1" baseline="0" dirty="0" smtClean="0">
                          <a:solidFill>
                            <a:schemeClr val="tx1"/>
                          </a:solidFill>
                        </a:rPr>
                        <a:t>Material tradicional para remos de canoa</a:t>
                      </a:r>
                    </a:p>
                    <a:p>
                      <a:pPr algn="ctr"/>
                      <a:r>
                        <a:rPr lang="pt-BR" sz="1200" b="1" baseline="0" dirty="0" smtClean="0">
                          <a:solidFill>
                            <a:schemeClr val="tx1"/>
                          </a:solidFill>
                        </a:rPr>
                        <a:t>Baratas, tradicionais, porém com variabilidade natural</a:t>
                      </a:r>
                    </a:p>
                    <a:p>
                      <a:pPr algn="ctr"/>
                      <a:r>
                        <a:rPr lang="pt-BR" sz="1200" b="1" baseline="0" dirty="0" smtClean="0">
                          <a:solidFill>
                            <a:schemeClr val="tx1"/>
                          </a:solidFill>
                        </a:rPr>
                        <a:t>Tão bom quanto a madeira, mais controle de propriedades</a:t>
                      </a:r>
                    </a:p>
                    <a:p>
                      <a:pPr algn="ctr"/>
                      <a:r>
                        <a:rPr lang="pt-BR" sz="1200" b="1" baseline="0" dirty="0" smtClean="0">
                          <a:solidFill>
                            <a:schemeClr val="tx1"/>
                          </a:solidFill>
                        </a:rPr>
                        <a:t>Bom </a:t>
                      </a:r>
                      <a:r>
                        <a:rPr lang="pt-BR" sz="1200" b="1" i="1" baseline="0" dirty="0" smtClean="0">
                          <a:solidFill>
                            <a:schemeClr val="tx1"/>
                          </a:solidFill>
                        </a:rPr>
                        <a:t>M</a:t>
                      </a:r>
                      <a:r>
                        <a:rPr lang="pt-BR" sz="1200" b="1" baseline="0" dirty="0" smtClean="0">
                          <a:solidFill>
                            <a:schemeClr val="tx1"/>
                          </a:solidFill>
                        </a:rPr>
                        <a:t> mas tenacidade baixa e custo elevado</a:t>
                      </a:r>
                    </a:p>
                  </a:txBody>
                  <a:tcPr>
                    <a:solidFill>
                      <a:schemeClr val="accent1"/>
                    </a:solidFill>
                  </a:tcPr>
                </a:tc>
              </a:tr>
            </a:tbl>
          </a:graphicData>
        </a:graphic>
      </p:graphicFrame>
    </p:spTree>
    <p:extLst>
      <p:ext uri="{BB962C8B-B14F-4D97-AF65-F5344CB8AC3E}">
        <p14:creationId xmlns:p14="http://schemas.microsoft.com/office/powerpoint/2010/main" val="8357673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27122"/>
            <a:ext cx="7772400" cy="1143000"/>
          </a:xfrm>
        </p:spPr>
        <p:txBody>
          <a:bodyPr>
            <a:normAutofit fontScale="90000"/>
          </a:bodyPr>
          <a:lstStyle/>
          <a:p>
            <a:r>
              <a:rPr lang="pt-BR" dirty="0" smtClean="0"/>
              <a:t>Espelhos para Grandes Telescópios</a:t>
            </a:r>
            <a:endParaRPr lang="pt-BR" dirty="0"/>
          </a:p>
        </p:txBody>
      </p:sp>
      <p:sp>
        <p:nvSpPr>
          <p:cNvPr id="7" name="Subtitle 6"/>
          <p:cNvSpPr>
            <a:spLocks noGrp="1"/>
          </p:cNvSpPr>
          <p:nvPr>
            <p:ph type="subTitle" idx="1"/>
          </p:nvPr>
        </p:nvSpPr>
        <p:spPr>
          <a:xfrm>
            <a:off x="228600" y="991839"/>
            <a:ext cx="8686800" cy="2514600"/>
          </a:xfrm>
        </p:spPr>
        <p:txBody>
          <a:bodyPr>
            <a:normAutofit fontScale="85000" lnSpcReduction="20000"/>
          </a:bodyPr>
          <a:lstStyle/>
          <a:p>
            <a:r>
              <a:rPr lang="pt-BR" dirty="0" smtClean="0"/>
              <a:t>O </a:t>
            </a:r>
            <a:r>
              <a:rPr lang="pt-BR" dirty="0" smtClean="0">
                <a:solidFill>
                  <a:srgbClr val="FFFF00"/>
                </a:solidFill>
              </a:rPr>
              <a:t>custo total de um grande telescópio</a:t>
            </a:r>
            <a:r>
              <a:rPr lang="pt-BR" dirty="0" smtClean="0"/>
              <a:t> (236”) é em torno de </a:t>
            </a:r>
            <a:r>
              <a:rPr lang="pt-BR" dirty="0" smtClean="0">
                <a:solidFill>
                  <a:srgbClr val="FFFF00"/>
                </a:solidFill>
              </a:rPr>
              <a:t>300 milhões de dólares</a:t>
            </a:r>
            <a:r>
              <a:rPr lang="pt-BR" dirty="0" smtClean="0"/>
              <a:t>. O </a:t>
            </a:r>
            <a:r>
              <a:rPr lang="pt-BR" dirty="0" smtClean="0">
                <a:solidFill>
                  <a:srgbClr val="FFFF00"/>
                </a:solidFill>
              </a:rPr>
              <a:t>espelho em si </a:t>
            </a:r>
            <a:r>
              <a:rPr lang="pt-BR" dirty="0" smtClean="0"/>
              <a:t>é responsável por </a:t>
            </a:r>
            <a:r>
              <a:rPr lang="pt-BR" dirty="0" smtClean="0">
                <a:solidFill>
                  <a:srgbClr val="FFFF00"/>
                </a:solidFill>
              </a:rPr>
              <a:t>5% desse custo</a:t>
            </a:r>
            <a:r>
              <a:rPr lang="pt-BR" dirty="0" smtClean="0"/>
              <a:t>, o restante do custo é o </a:t>
            </a:r>
            <a:r>
              <a:rPr lang="pt-BR" dirty="0" smtClean="0">
                <a:solidFill>
                  <a:srgbClr val="FFFF00"/>
                </a:solidFill>
              </a:rPr>
              <a:t>mecanismo que o sustenta</a:t>
            </a:r>
            <a:r>
              <a:rPr lang="pt-BR" dirty="0" smtClean="0"/>
              <a:t>, </a:t>
            </a:r>
            <a:r>
              <a:rPr lang="pt-BR" dirty="0" smtClean="0">
                <a:solidFill>
                  <a:srgbClr val="FFFF00"/>
                </a:solidFill>
              </a:rPr>
              <a:t>posiciona</a:t>
            </a:r>
            <a:r>
              <a:rPr lang="pt-BR" dirty="0" smtClean="0"/>
              <a:t> e </a:t>
            </a:r>
            <a:r>
              <a:rPr lang="pt-BR" dirty="0" smtClean="0">
                <a:solidFill>
                  <a:srgbClr val="FFFF00"/>
                </a:solidFill>
              </a:rPr>
              <a:t>movimenta</a:t>
            </a:r>
            <a:r>
              <a:rPr lang="pt-BR" dirty="0" smtClean="0"/>
              <a:t> em suas incursões pelo céu.  Conforme a </a:t>
            </a:r>
            <a:r>
              <a:rPr lang="pt-BR" dirty="0" smtClean="0">
                <a:solidFill>
                  <a:srgbClr val="FFFF00"/>
                </a:solidFill>
              </a:rPr>
              <a:t>massa do espelho cresce</a:t>
            </a:r>
            <a:r>
              <a:rPr lang="pt-BR" dirty="0" smtClean="0"/>
              <a:t>, as </a:t>
            </a:r>
            <a:r>
              <a:rPr lang="pt-BR" dirty="0" smtClean="0">
                <a:solidFill>
                  <a:srgbClr val="FFFF00"/>
                </a:solidFill>
              </a:rPr>
              <a:t>seções da estrutura de suporte devem crescer em m</a:t>
            </a:r>
            <a:r>
              <a:rPr lang="pt-BR" baseline="30000" dirty="0" smtClean="0">
                <a:solidFill>
                  <a:srgbClr val="FFFF00"/>
                </a:solidFill>
              </a:rPr>
              <a:t>2</a:t>
            </a:r>
            <a:r>
              <a:rPr lang="pt-BR" dirty="0" smtClean="0"/>
              <a:t>, e assim </a:t>
            </a:r>
            <a:r>
              <a:rPr lang="pt-BR" dirty="0" smtClean="0">
                <a:solidFill>
                  <a:srgbClr val="FFFF00"/>
                </a:solidFill>
              </a:rPr>
              <a:t>cresce o custo</a:t>
            </a:r>
            <a:r>
              <a:rPr lang="pt-BR" dirty="0" smtClean="0"/>
              <a:t>.</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3172147" y="3525811"/>
            <a:ext cx="2799705" cy="3093229"/>
            <a:chOff x="3172147" y="3525811"/>
            <a:chExt cx="2799705" cy="3093229"/>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147" y="3525811"/>
              <a:ext cx="2799705" cy="284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92730" y="6372819"/>
              <a:ext cx="758541" cy="246221"/>
            </a:xfrm>
            <a:prstGeom prst="rect">
              <a:avLst/>
            </a:prstGeom>
            <a:noFill/>
          </p:spPr>
          <p:txBody>
            <a:bodyPr wrap="none" rtlCol="0">
              <a:spAutoFit/>
            </a:bodyPr>
            <a:lstStyle/>
            <a:p>
              <a:pPr algn="ctr"/>
              <a:r>
                <a:rPr lang="en-US" sz="1000" dirty="0" smtClean="0"/>
                <a:t>Figura 6.3</a:t>
              </a:r>
              <a:endParaRPr lang="en-US" sz="1000" dirty="0"/>
            </a:p>
          </p:txBody>
        </p:sp>
      </p:grpSp>
    </p:spTree>
    <p:extLst>
      <p:ext uri="{BB962C8B-B14F-4D97-AF65-F5344CB8AC3E}">
        <p14:creationId xmlns:p14="http://schemas.microsoft.com/office/powerpoint/2010/main" val="17259631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76200"/>
            <a:ext cx="8763000" cy="762000"/>
          </a:xfrm>
        </p:spPr>
        <p:txBody>
          <a:bodyPr>
            <a:normAutofit fontScale="90000"/>
          </a:bodyPr>
          <a:lstStyle/>
          <a:p>
            <a:r>
              <a:rPr lang="pt-BR" sz="3200" dirty="0" smtClean="0"/>
              <a:t>Espelhos para Grandes Telescópios: Tradução</a:t>
            </a:r>
            <a:endParaRPr lang="pt-BR" sz="3200" dirty="0"/>
          </a:p>
        </p:txBody>
      </p:sp>
      <p:sp>
        <p:nvSpPr>
          <p:cNvPr id="4" name="Content Placeholder 3"/>
          <p:cNvSpPr>
            <a:spLocks noGrp="1"/>
          </p:cNvSpPr>
          <p:nvPr>
            <p:ph idx="1"/>
          </p:nvPr>
        </p:nvSpPr>
        <p:spPr>
          <a:xfrm>
            <a:off x="304800" y="1010544"/>
            <a:ext cx="8534400" cy="4525963"/>
          </a:xfrm>
        </p:spPr>
        <p:txBody>
          <a:bodyPr>
            <a:normAutofit lnSpcReduction="10000"/>
          </a:bodyPr>
          <a:lstStyle/>
          <a:p>
            <a:r>
              <a:rPr lang="pt-BR" sz="2600" dirty="0" smtClean="0"/>
              <a:t>Na sua </a:t>
            </a:r>
            <a:r>
              <a:rPr lang="pt-BR" sz="2600" dirty="0" smtClean="0">
                <a:solidFill>
                  <a:srgbClr val="FFFF00"/>
                </a:solidFill>
              </a:rPr>
              <a:t>forma mais simples</a:t>
            </a:r>
            <a:r>
              <a:rPr lang="pt-BR" sz="2600" dirty="0" smtClean="0"/>
              <a:t>, o espelho é um disco circular de diâmetro </a:t>
            </a:r>
            <a:r>
              <a:rPr lang="pt-BR" sz="2600" dirty="0" smtClean="0">
                <a:solidFill>
                  <a:srgbClr val="FFFF00"/>
                </a:solidFill>
              </a:rPr>
              <a:t>2R</a:t>
            </a:r>
            <a:r>
              <a:rPr lang="pt-BR" sz="2600" dirty="0" smtClean="0"/>
              <a:t> e espessura </a:t>
            </a:r>
            <a:r>
              <a:rPr lang="pt-BR" sz="2600" dirty="0" smtClean="0">
                <a:solidFill>
                  <a:srgbClr val="FFFF00"/>
                </a:solidFill>
              </a:rPr>
              <a:t>t</a:t>
            </a:r>
            <a:r>
              <a:rPr lang="pt-BR" sz="2600" dirty="0" smtClean="0"/>
              <a:t>;</a:t>
            </a:r>
            <a:endParaRPr lang="en-US" sz="2600" dirty="0" smtClean="0"/>
          </a:p>
          <a:p>
            <a:r>
              <a:rPr lang="pt-BR" sz="2600" dirty="0" smtClean="0"/>
              <a:t>Quando </a:t>
            </a:r>
            <a:r>
              <a:rPr lang="pt-BR" sz="2600" dirty="0" smtClean="0">
                <a:solidFill>
                  <a:srgbClr val="FFFF00"/>
                </a:solidFill>
              </a:rPr>
              <a:t>na horizontal</a:t>
            </a:r>
            <a:r>
              <a:rPr lang="pt-BR" sz="2600" dirty="0" smtClean="0"/>
              <a:t>, ele deve </a:t>
            </a:r>
            <a:r>
              <a:rPr lang="pt-BR" sz="2600" dirty="0" smtClean="0">
                <a:solidFill>
                  <a:srgbClr val="FFFF00"/>
                </a:solidFill>
              </a:rPr>
              <a:t>sofrer deflexão sobre o seu próprio peso</a:t>
            </a:r>
            <a:r>
              <a:rPr lang="pt-BR" sz="2600" dirty="0" smtClean="0"/>
              <a:t>, quando na vertical </a:t>
            </a:r>
            <a:r>
              <a:rPr lang="pt-BR" sz="2600" dirty="0" smtClean="0">
                <a:solidFill>
                  <a:srgbClr val="FFFF00"/>
                </a:solidFill>
              </a:rPr>
              <a:t>não sofrerá deflexão significativa</a:t>
            </a:r>
            <a:r>
              <a:rPr lang="pt-BR" sz="2600" dirty="0" smtClean="0"/>
              <a:t>;</a:t>
            </a:r>
            <a:endParaRPr lang="en-US" sz="2600" dirty="0" smtClean="0"/>
          </a:p>
          <a:p>
            <a:r>
              <a:rPr lang="pt-BR" sz="2600" dirty="0" smtClean="0">
                <a:solidFill>
                  <a:srgbClr val="FFFF00"/>
                </a:solidFill>
              </a:rPr>
              <a:t>Esta distorção </a:t>
            </a:r>
            <a:r>
              <a:rPr lang="pt-BR" sz="2600" dirty="0" smtClean="0"/>
              <a:t>deve </a:t>
            </a:r>
            <a:r>
              <a:rPr lang="pt-BR" sz="2600" dirty="0" smtClean="0">
                <a:solidFill>
                  <a:srgbClr val="FFFF00"/>
                </a:solidFill>
              </a:rPr>
              <a:t>ser pequena </a:t>
            </a:r>
            <a:r>
              <a:rPr lang="pt-BR" sz="2600" dirty="0" smtClean="0"/>
              <a:t>assim não irá interferir com o desempenho. Na prática, significa que a deflexão do ponto médio do espelho </a:t>
            </a:r>
            <a:r>
              <a:rPr lang="pt-BR" sz="2600" dirty="0" smtClean="0">
                <a:solidFill>
                  <a:srgbClr val="FFFF00"/>
                </a:solidFill>
              </a:rPr>
              <a:t>deve ser menor que o comprimento de onda da luz</a:t>
            </a:r>
            <a:r>
              <a:rPr lang="pt-BR" sz="2600" dirty="0" smtClean="0"/>
              <a:t>;</a:t>
            </a:r>
            <a:endParaRPr lang="en-US" sz="2600" dirty="0" smtClean="0"/>
          </a:p>
          <a:p>
            <a:r>
              <a:rPr lang="pt-BR" sz="2600" dirty="0" smtClean="0">
                <a:solidFill>
                  <a:srgbClr val="FFFF00"/>
                </a:solidFill>
              </a:rPr>
              <a:t>Requisitos adicionais</a:t>
            </a:r>
            <a:r>
              <a:rPr lang="pt-BR" sz="2600" dirty="0" smtClean="0"/>
              <a:t> são a </a:t>
            </a:r>
            <a:r>
              <a:rPr lang="pt-BR" sz="2600" dirty="0" smtClean="0">
                <a:solidFill>
                  <a:srgbClr val="FFFF00"/>
                </a:solidFill>
              </a:rPr>
              <a:t>elevada estabilidade </a:t>
            </a:r>
            <a:r>
              <a:rPr lang="pt-BR" sz="2600" dirty="0" smtClean="0"/>
              <a:t>dimensional e a baixa </a:t>
            </a:r>
            <a:r>
              <a:rPr lang="pt-BR" sz="2600" dirty="0" smtClean="0">
                <a:solidFill>
                  <a:srgbClr val="FFFF00"/>
                </a:solidFill>
              </a:rPr>
              <a:t>expansão térmica</a:t>
            </a:r>
            <a:endParaRPr lang="en-US" sz="2600" dirty="0" smtClean="0">
              <a:solidFill>
                <a:srgbClr val="FFFF00"/>
              </a:solidFill>
            </a:endParaRPr>
          </a:p>
          <a:p>
            <a:endParaRPr lang="en-US" sz="2600"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Tree>
    <p:extLst>
      <p:ext uri="{BB962C8B-B14F-4D97-AF65-F5344CB8AC3E}">
        <p14:creationId xmlns:p14="http://schemas.microsoft.com/office/powerpoint/2010/main" val="37707285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5287" y="3352800"/>
            <a:ext cx="2209800" cy="725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5287" y="4267200"/>
            <a:ext cx="2325876" cy="1010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5287" y="5486400"/>
            <a:ext cx="1696113" cy="99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13838" y="3607294"/>
            <a:ext cx="4512774" cy="461665"/>
          </a:xfrm>
          <a:prstGeom prst="rect">
            <a:avLst/>
          </a:prstGeom>
          <a:noFill/>
        </p:spPr>
        <p:txBody>
          <a:bodyPr wrap="none" rtlCol="0">
            <a:spAutoFit/>
          </a:bodyPr>
          <a:lstStyle/>
          <a:p>
            <a:r>
              <a:rPr lang="pt-BR" sz="2400" dirty="0" smtClean="0">
                <a:solidFill>
                  <a:srgbClr val="FFFF00"/>
                </a:solidFill>
              </a:rPr>
              <a:t>Massa do Espelho</a:t>
            </a:r>
            <a:r>
              <a:rPr lang="pt-BR" sz="2400" dirty="0" smtClean="0"/>
              <a:t>……………...</a:t>
            </a:r>
            <a:endParaRPr lang="pt-BR" sz="2400" dirty="0"/>
          </a:p>
        </p:txBody>
      </p:sp>
      <p:sp>
        <p:nvSpPr>
          <p:cNvPr id="12" name="TextBox 11"/>
          <p:cNvSpPr txBox="1"/>
          <p:nvPr/>
        </p:nvSpPr>
        <p:spPr>
          <a:xfrm>
            <a:off x="304798" y="4324013"/>
            <a:ext cx="5336717" cy="830997"/>
          </a:xfrm>
          <a:prstGeom prst="rect">
            <a:avLst/>
          </a:prstGeom>
          <a:noFill/>
        </p:spPr>
        <p:txBody>
          <a:bodyPr wrap="square" rtlCol="0">
            <a:spAutoFit/>
          </a:bodyPr>
          <a:lstStyle/>
          <a:p>
            <a:r>
              <a:rPr lang="pt-BR" sz="2400" dirty="0" smtClean="0">
                <a:solidFill>
                  <a:srgbClr val="FFFF00"/>
                </a:solidFill>
              </a:rPr>
              <a:t>Deflexão horizontal</a:t>
            </a:r>
            <a:r>
              <a:rPr lang="pt-BR" sz="2400" dirty="0" smtClean="0"/>
              <a:t> do disco é  devido ao próprio peso………...</a:t>
            </a:r>
            <a:endParaRPr lang="pt-BR" sz="2400" dirty="0"/>
          </a:p>
        </p:txBody>
      </p:sp>
      <p:sp>
        <p:nvSpPr>
          <p:cNvPr id="13" name="TextBox 12"/>
          <p:cNvSpPr txBox="1"/>
          <p:nvPr/>
        </p:nvSpPr>
        <p:spPr>
          <a:xfrm>
            <a:off x="304799" y="5486400"/>
            <a:ext cx="5336716" cy="830997"/>
          </a:xfrm>
          <a:prstGeom prst="rect">
            <a:avLst/>
          </a:prstGeom>
          <a:noFill/>
        </p:spPr>
        <p:txBody>
          <a:bodyPr wrap="square" rtlCol="0">
            <a:spAutoFit/>
          </a:bodyPr>
          <a:lstStyle/>
          <a:p>
            <a:r>
              <a:rPr lang="pt-BR" sz="2400" dirty="0" smtClean="0">
                <a:solidFill>
                  <a:srgbClr val="FFFF00"/>
                </a:solidFill>
              </a:rPr>
              <a:t>Índice do Material</a:t>
            </a:r>
            <a:r>
              <a:rPr lang="pt-BR" sz="2400" dirty="0" smtClean="0"/>
              <a:t> para identificar o espelho mais leve…………………….</a:t>
            </a:r>
            <a:endParaRPr lang="pt-BR" sz="2400" dirty="0"/>
          </a:p>
        </p:txBody>
      </p:sp>
      <mc:AlternateContent xmlns:mc="http://schemas.openxmlformats.org/markup-compatibility/2006" xmlns:a14="http://schemas.microsoft.com/office/drawing/2010/main">
        <mc:Choice Requires="a14">
          <p:graphicFrame>
            <p:nvGraphicFramePr>
              <p:cNvPr id="10" name="Tabela 9"/>
              <p:cNvGraphicFramePr>
                <a:graphicFrameLocks noGrp="1"/>
              </p:cNvGraphicFramePr>
              <p:nvPr>
                <p:extLst>
                  <p:ext uri="{D42A27DB-BD31-4B8C-83A1-F6EECF244321}">
                    <p14:modId xmlns:p14="http://schemas.microsoft.com/office/powerpoint/2010/main" val="356427586"/>
                  </p:ext>
                </p:extLst>
              </p:nvPr>
            </p:nvGraphicFramePr>
            <p:xfrm>
              <a:off x="313838" y="381000"/>
              <a:ext cx="8449526" cy="236220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6.3 – Requisitos</a:t>
                          </a:r>
                          <a:r>
                            <a:rPr lang="pt-BR" sz="1200" baseline="0" dirty="0" smtClean="0"/>
                            <a:t> de Projeto para o Espelho do Telescópio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Espelho de precisão</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dirty="0" smtClean="0"/>
                            <a:t>Raio R</a:t>
                          </a:r>
                          <a:r>
                            <a:rPr lang="pt-BR" sz="1400" baseline="0" dirty="0" smtClean="0"/>
                            <a:t> é especificado </a:t>
                          </a:r>
                        </a:p>
                        <a:p>
                          <a:r>
                            <a:rPr lang="pt-BR" sz="1400" baseline="0" dirty="0" smtClean="0"/>
                            <a:t>Não deve sofrer distorção maior do que </a:t>
                          </a:r>
                          <a14:m>
                            <m:oMath xmlns:m="http://schemas.openxmlformats.org/officeDocument/2006/math">
                              <m:r>
                                <a:rPr lang="pt-BR" sz="1400" i="1" baseline="0" smtClean="0">
                                  <a:latin typeface="Cambria Math"/>
                                  <a:ea typeface="Cambria Math"/>
                                </a:rPr>
                                <m:t>𝛿</m:t>
                              </m:r>
                            </m:oMath>
                          </a14:m>
                          <a:r>
                            <a:rPr lang="pt-BR" sz="1400" baseline="0" dirty="0" smtClean="0"/>
                            <a:t> sob o peso próprio</a:t>
                          </a:r>
                        </a:p>
                        <a:p>
                          <a:r>
                            <a:rPr lang="pt-BR" sz="1400" baseline="0" dirty="0" smtClean="0"/>
                            <a:t>Alta estabilidade dimensional: nenhuma fluência, baixa expansão térmica</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Minimizar a massa </a:t>
                          </a:r>
                          <a:r>
                            <a:rPr lang="pt-BR" sz="1400" i="1" dirty="0" smtClean="0"/>
                            <a:t>m</a:t>
                          </a:r>
                          <a:endParaRPr lang="en-US" sz="1400" dirty="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dirty="0" smtClean="0"/>
                            <a:t>Espessura</a:t>
                          </a:r>
                          <a:r>
                            <a:rPr lang="pt-BR" sz="1400" baseline="0" dirty="0" smtClean="0"/>
                            <a:t> do espelho, t</a:t>
                          </a:r>
                          <a:endParaRPr lang="pt-BR" sz="1400" i="1" baseline="0" dirty="0" smtClean="0"/>
                        </a:p>
                        <a:p>
                          <a:r>
                            <a:rPr lang="pt-BR" sz="1400" baseline="0" dirty="0" smtClean="0"/>
                            <a:t>Escolha do material</a:t>
                          </a:r>
                          <a:endParaRPr lang="en-US" sz="1400" dirty="0"/>
                        </a:p>
                      </a:txBody>
                      <a:tcPr/>
                    </a:tc>
                  </a:tr>
                </a:tbl>
              </a:graphicData>
            </a:graphic>
          </p:graphicFrame>
        </mc:Choice>
        <mc:Fallback xmlns="">
          <p:graphicFrame>
            <p:nvGraphicFramePr>
              <p:cNvPr id="10" name="Tabela 9"/>
              <p:cNvGraphicFramePr>
                <a:graphicFrameLocks noGrp="1"/>
              </p:cNvGraphicFramePr>
              <p:nvPr>
                <p:extLst>
                  <p:ext uri="{D42A27DB-BD31-4B8C-83A1-F6EECF244321}">
                    <p14:modId xmlns:p14="http://schemas.microsoft.com/office/powerpoint/2010/main" val="356427586"/>
                  </p:ext>
                </p:extLst>
              </p:nvPr>
            </p:nvGraphicFramePr>
            <p:xfrm>
              <a:off x="313838" y="381000"/>
              <a:ext cx="8449526" cy="236220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a:t>
                          </a:r>
                          <a:r>
                            <a:rPr lang="pt-BR" sz="1200" dirty="0" smtClean="0"/>
                            <a:t>6.3 </a:t>
                          </a:r>
                          <a:r>
                            <a:rPr lang="pt-BR" sz="1200" dirty="0" smtClean="0"/>
                            <a:t>– Requisitos</a:t>
                          </a:r>
                          <a:r>
                            <a:rPr lang="pt-BR" sz="1200" baseline="0" dirty="0" smtClean="0"/>
                            <a:t> de Projeto </a:t>
                          </a:r>
                          <a:r>
                            <a:rPr lang="pt-BR" sz="1200" baseline="0" dirty="0" smtClean="0"/>
                            <a:t>para o Espelho do Telescópio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Espelho de precisão</a:t>
                          </a:r>
                          <a:endParaRPr lang="en-US" sz="1400" dirty="0"/>
                        </a:p>
                      </a:txBody>
                      <a:tcPr/>
                    </a:tc>
                  </a:tr>
                  <a:tr h="73152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5"/>
                          <a:stretch>
                            <a:fillRect l="-26782" t="-103361" b="-131092"/>
                          </a:stretch>
                        </a:blipFill>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Minimizar a massa </a:t>
                          </a:r>
                          <a:r>
                            <a:rPr lang="pt-BR" sz="1400" i="1" dirty="0" smtClean="0"/>
                            <a:t>m</a:t>
                          </a:r>
                          <a:endParaRPr lang="en-US" sz="1400" dirty="0"/>
                        </a:p>
                      </a:txBody>
                      <a:tcPr/>
                    </a:tc>
                  </a:tr>
                  <a:tr h="51816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dirty="0" smtClean="0"/>
                            <a:t>Espessura</a:t>
                          </a:r>
                          <a:r>
                            <a:rPr lang="pt-BR" sz="1400" baseline="0" dirty="0" smtClean="0"/>
                            <a:t> do espelho, t</a:t>
                          </a:r>
                          <a:endParaRPr lang="pt-BR" sz="1400" i="1" baseline="0" dirty="0" smtClean="0"/>
                        </a:p>
                        <a:p>
                          <a:r>
                            <a:rPr lang="pt-BR" sz="1400" baseline="0" dirty="0" smtClean="0"/>
                            <a:t>Escolha do material</a:t>
                          </a:r>
                          <a:endParaRPr lang="en-US" sz="1400" dirty="0"/>
                        </a:p>
                      </a:txBody>
                      <a:tcPr/>
                    </a:tc>
                  </a:tr>
                </a:tbl>
              </a:graphicData>
            </a:graphic>
          </p:graphicFrame>
        </mc:Fallback>
      </mc:AlternateContent>
    </p:spTree>
    <p:extLst>
      <p:ext uri="{BB962C8B-B14F-4D97-AF65-F5344CB8AC3E}">
        <p14:creationId xmlns:p14="http://schemas.microsoft.com/office/powerpoint/2010/main" val="37669302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28600" y="0"/>
            <a:ext cx="8610600" cy="914400"/>
          </a:xfrm>
        </p:spPr>
        <p:txBody>
          <a:bodyPr>
            <a:normAutofit fontScale="90000"/>
          </a:bodyPr>
          <a:lstStyle/>
          <a:p>
            <a:r>
              <a:rPr lang="pt-BR" dirty="0" smtClean="0"/>
              <a:t>Materiais para Espelhos do Telescópio</a:t>
            </a:r>
            <a:endParaRPr lang="pt-BR" dirty="0"/>
          </a:p>
        </p:txBody>
      </p:sp>
      <p:sp>
        <p:nvSpPr>
          <p:cNvPr id="6" name="Subtitle 5"/>
          <p:cNvSpPr>
            <a:spLocks noGrp="1"/>
          </p:cNvSpPr>
          <p:nvPr>
            <p:ph type="subTitle" idx="1"/>
          </p:nvPr>
        </p:nvSpPr>
        <p:spPr>
          <a:xfrm>
            <a:off x="1104900" y="5486400"/>
            <a:ext cx="6934200" cy="1145380"/>
          </a:xfrm>
        </p:spPr>
        <p:txBody>
          <a:bodyPr>
            <a:normAutofit fontScale="47500" lnSpcReduction="20000"/>
          </a:bodyPr>
          <a:lstStyle/>
          <a:p>
            <a:r>
              <a:rPr lang="pt-BR" dirty="0" smtClean="0">
                <a:solidFill>
                  <a:srgbClr val="FFFF00"/>
                </a:solidFill>
              </a:rPr>
              <a:t>Vidro é melhor do que a maioria dos metais</a:t>
            </a:r>
            <a:r>
              <a:rPr lang="pt-BR" dirty="0" smtClean="0"/>
              <a:t>, entre os quais o </a:t>
            </a:r>
            <a:r>
              <a:rPr lang="pt-BR" dirty="0" smtClean="0">
                <a:solidFill>
                  <a:srgbClr val="FFFF00"/>
                </a:solidFill>
              </a:rPr>
              <a:t>magnésio</a:t>
            </a:r>
            <a:r>
              <a:rPr lang="pt-BR" dirty="0" smtClean="0"/>
              <a:t> é uma boa escolha. </a:t>
            </a:r>
            <a:r>
              <a:rPr lang="pt-BR" dirty="0" smtClean="0">
                <a:solidFill>
                  <a:srgbClr val="FFFF00"/>
                </a:solidFill>
              </a:rPr>
              <a:t>Polímeros reforçados por fibra de carbono </a:t>
            </a:r>
            <a:r>
              <a:rPr lang="pt-BR" dirty="0" smtClean="0"/>
              <a:t>fornecem, potencialmente, </a:t>
            </a:r>
            <a:r>
              <a:rPr lang="pt-BR" dirty="0" smtClean="0">
                <a:solidFill>
                  <a:srgbClr val="FFFF00"/>
                </a:solidFill>
              </a:rPr>
              <a:t>o peso mais baixo de todos</a:t>
            </a:r>
            <a:r>
              <a:rPr lang="pt-BR" dirty="0" smtClean="0"/>
              <a:t>, mas pode </a:t>
            </a:r>
            <a:r>
              <a:rPr lang="pt-BR" dirty="0" smtClean="0">
                <a:solidFill>
                  <a:srgbClr val="FFFF00"/>
                </a:solidFill>
              </a:rPr>
              <a:t>faltar estabilidade dimensionais adequada</a:t>
            </a:r>
            <a:r>
              <a:rPr lang="pt-BR" dirty="0" smtClean="0"/>
              <a:t>. Vidros espumados é um possível candidato. </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7" name="Grupo 6"/>
          <p:cNvGrpSpPr/>
          <p:nvPr/>
        </p:nvGrpSpPr>
        <p:grpSpPr>
          <a:xfrm>
            <a:off x="1660288" y="850864"/>
            <a:ext cx="5812074" cy="4595091"/>
            <a:chOff x="1660288" y="850864"/>
            <a:chExt cx="5812074" cy="4595091"/>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288" y="850864"/>
              <a:ext cx="5812074" cy="434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92729" y="5199734"/>
              <a:ext cx="758541" cy="246221"/>
            </a:xfrm>
            <a:prstGeom prst="rect">
              <a:avLst/>
            </a:prstGeom>
            <a:noFill/>
          </p:spPr>
          <p:txBody>
            <a:bodyPr wrap="none" rtlCol="0">
              <a:spAutoFit/>
            </a:bodyPr>
            <a:lstStyle/>
            <a:p>
              <a:pPr algn="ctr"/>
              <a:r>
                <a:rPr lang="en-US" sz="1000" dirty="0" smtClean="0"/>
                <a:t>Figura 6.4</a:t>
              </a:r>
              <a:endParaRPr lang="en-US" sz="1000" dirty="0"/>
            </a:p>
          </p:txBody>
        </p:sp>
      </p:grpSp>
    </p:spTree>
    <p:extLst>
      <p:ext uri="{BB962C8B-B14F-4D97-AF65-F5344CB8AC3E}">
        <p14:creationId xmlns:p14="http://schemas.microsoft.com/office/powerpoint/2010/main" val="10639377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aphicFrame>
        <p:nvGraphicFramePr>
          <p:cNvPr id="4" name="Tabela 3"/>
          <p:cNvGraphicFramePr>
            <a:graphicFrameLocks noGrp="1"/>
          </p:cNvGraphicFramePr>
          <p:nvPr>
            <p:extLst>
              <p:ext uri="{D42A27DB-BD31-4B8C-83A1-F6EECF244321}">
                <p14:modId xmlns:p14="http://schemas.microsoft.com/office/powerpoint/2010/main" val="1065650456"/>
              </p:ext>
            </p:extLst>
          </p:nvPr>
        </p:nvGraphicFramePr>
        <p:xfrm>
          <a:off x="304800" y="838200"/>
          <a:ext cx="8610601" cy="2727960"/>
        </p:xfrm>
        <a:graphic>
          <a:graphicData uri="http://schemas.openxmlformats.org/drawingml/2006/table">
            <a:tbl>
              <a:tblPr firstRow="1" bandRow="1">
                <a:tableStyleId>{68D230F3-CF80-4859-8CE7-A43EE81993B5}</a:tableStyleId>
              </a:tblPr>
              <a:tblGrid>
                <a:gridCol w="1752600"/>
                <a:gridCol w="1371600"/>
                <a:gridCol w="1143000"/>
                <a:gridCol w="4343401"/>
              </a:tblGrid>
              <a:tr h="487680">
                <a:tc gridSpan="4">
                  <a:txBody>
                    <a:bodyPr/>
                    <a:lstStyle/>
                    <a:p>
                      <a:r>
                        <a:rPr lang="pt-BR" sz="1400" dirty="0" smtClean="0">
                          <a:solidFill>
                            <a:srgbClr val="FFFF00"/>
                          </a:solidFill>
                        </a:rPr>
                        <a:t>Tabela 6.2 – Suporte de espelho para telescópio de 200 polegadas (5,1 m)</a:t>
                      </a:r>
                      <a:endParaRPr lang="pt-BR" sz="1200" baseline="0" dirty="0" smtClean="0"/>
                    </a:p>
                    <a:p>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100" baseline="0" dirty="0" smtClean="0"/>
                    </a:p>
                    <a:p>
                      <a:pPr algn="ctr"/>
                      <a:r>
                        <a:rPr lang="pt-BR" sz="1100" baseline="0" dirty="0" smtClean="0"/>
                        <a:t>Aço (ou metal polido)</a:t>
                      </a:r>
                    </a:p>
                    <a:p>
                      <a:pPr algn="ctr"/>
                      <a:r>
                        <a:rPr lang="pt-BR" sz="1100" baseline="0" dirty="0" smtClean="0"/>
                        <a:t>GFRP</a:t>
                      </a:r>
                    </a:p>
                    <a:p>
                      <a:pPr algn="ctr"/>
                      <a:endParaRPr lang="pt-BR" sz="1100" baseline="0" dirty="0" smtClean="0"/>
                    </a:p>
                    <a:p>
                      <a:pPr algn="ctr"/>
                      <a:r>
                        <a:rPr lang="pt-BR" sz="1100" baseline="0" dirty="0" smtClean="0"/>
                        <a:t>Ligas de Al</a:t>
                      </a:r>
                    </a:p>
                    <a:p>
                      <a:pPr algn="ctr"/>
                      <a:r>
                        <a:rPr lang="pt-BR" sz="1100" baseline="0" dirty="0" smtClean="0"/>
                        <a:t>Vidro</a:t>
                      </a:r>
                    </a:p>
                    <a:p>
                      <a:pPr algn="ctr"/>
                      <a:r>
                        <a:rPr lang="pt-BR" sz="1100" baseline="0" dirty="0" smtClean="0"/>
                        <a:t>Ligas de Mg</a:t>
                      </a:r>
                    </a:p>
                    <a:p>
                      <a:pPr algn="ctr"/>
                      <a:r>
                        <a:rPr lang="pt-BR" sz="1100" baseline="0" dirty="0" smtClean="0"/>
                        <a:t>CFRP</a:t>
                      </a:r>
                    </a:p>
                    <a:p>
                      <a:pPr algn="ctr"/>
                      <a:endParaRPr lang="pt-BR" sz="1100" baseline="0" dirty="0" smtClean="0"/>
                    </a:p>
                    <a:p>
                      <a:pPr algn="ctr"/>
                      <a:r>
                        <a:rPr lang="pt-BR" sz="1100" baseline="0" dirty="0" smtClean="0"/>
                        <a:t>Poliestireno espumado</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Índice </a:t>
                      </a:r>
                      <a:r>
                        <a:rPr lang="pt-BR" sz="1100" b="1" i="1" kern="1200" baseline="0" dirty="0" smtClean="0">
                          <a:solidFill>
                            <a:srgbClr val="FFFF00"/>
                          </a:solidFill>
                          <a:latin typeface="+mn-lt"/>
                          <a:ea typeface="+mn-ea"/>
                          <a:cs typeface="+mn-cs"/>
                        </a:rPr>
                        <a:t>M = E</a:t>
                      </a:r>
                      <a:r>
                        <a:rPr lang="pt-BR" sz="1100" b="1" i="1" kern="1200" baseline="30000" dirty="0" smtClean="0">
                          <a:solidFill>
                            <a:srgbClr val="FFFF00"/>
                          </a:solidFill>
                          <a:latin typeface="+mn-lt"/>
                          <a:ea typeface="+mn-ea"/>
                          <a:cs typeface="+mn-cs"/>
                        </a:rPr>
                        <a:t>1/3</a:t>
                      </a:r>
                      <a:r>
                        <a:rPr lang="pt-BR" sz="1100" b="1" kern="1200" baseline="0" dirty="0" smtClean="0">
                          <a:solidFill>
                            <a:srgbClr val="FFFF00"/>
                          </a:solidFill>
                          <a:latin typeface="+mn-lt"/>
                          <a:ea typeface="+mn-ea"/>
                          <a:cs typeface="+mn-cs"/>
                        </a:rPr>
                        <a:t>/</a:t>
                      </a:r>
                      <a:r>
                        <a:rPr lang="el-GR" sz="1100" b="1" kern="1200" baseline="0" dirty="0" smtClean="0">
                          <a:solidFill>
                            <a:srgbClr val="FFFF00"/>
                          </a:solidFill>
                          <a:latin typeface="+mn-lt"/>
                          <a:ea typeface="+mn-ea"/>
                          <a:cs typeface="+mn-cs"/>
                        </a:rPr>
                        <a:t>ρ</a:t>
                      </a:r>
                      <a:r>
                        <a:rPr lang="pt-BR" sz="1100" b="1" kern="1200" baseline="0" dirty="0" smtClean="0">
                          <a:solidFill>
                            <a:srgbClr val="FFFF00"/>
                          </a:solidFill>
                          <a:latin typeface="+mn-lt"/>
                          <a:ea typeface="+mn-ea"/>
                          <a:cs typeface="+mn-cs"/>
                        </a:rPr>
                        <a:t> (</a:t>
                      </a:r>
                      <a:r>
                        <a:rPr lang="pt-BR" sz="1100" b="1" kern="1200" baseline="0" dirty="0" err="1" smtClean="0">
                          <a:solidFill>
                            <a:srgbClr val="FFFF00"/>
                          </a:solidFill>
                          <a:latin typeface="+mn-lt"/>
                          <a:ea typeface="+mn-ea"/>
                          <a:cs typeface="+mn-cs"/>
                        </a:rPr>
                        <a:t>GPa</a:t>
                      </a:r>
                      <a:r>
                        <a:rPr lang="pt-BR" sz="1100" b="1" kern="1200" baseline="0" dirty="0" smtClean="0">
                          <a:solidFill>
                            <a:srgbClr val="FFFF00"/>
                          </a:solidFill>
                          <a:latin typeface="+mn-lt"/>
                          <a:ea typeface="+mn-ea"/>
                          <a:cs typeface="+mn-cs"/>
                        </a:rPr>
                        <a:t>)</a:t>
                      </a:r>
                      <a:r>
                        <a:rPr lang="pt-BR" sz="1100" b="1" kern="1200" baseline="30000" dirty="0" smtClean="0">
                          <a:solidFill>
                            <a:srgbClr val="FFFF00"/>
                          </a:solidFill>
                          <a:latin typeface="+mn-lt"/>
                          <a:ea typeface="+mn-ea"/>
                          <a:cs typeface="+mn-cs"/>
                        </a:rPr>
                        <a:t>1/3</a:t>
                      </a:r>
                      <a:r>
                        <a:rPr lang="pt-BR" sz="1100" b="1" kern="1200" baseline="0" dirty="0" smtClean="0">
                          <a:solidFill>
                            <a:srgbClr val="FFFF00"/>
                          </a:solidFill>
                          <a:latin typeface="+mn-lt"/>
                          <a:ea typeface="+mn-ea"/>
                          <a:cs typeface="+mn-cs"/>
                        </a:rPr>
                        <a:t> /Mg</a:t>
                      </a:r>
                    </a:p>
                    <a:p>
                      <a:pPr algn="ctr"/>
                      <a:endParaRPr lang="pt-BR" sz="1050" b="1" baseline="0" dirty="0" smtClean="0">
                        <a:solidFill>
                          <a:srgbClr val="FFFF00"/>
                        </a:solidFill>
                      </a:endParaRPr>
                    </a:p>
                    <a:p>
                      <a:pPr marL="0" algn="ctr" defTabSz="914400" rtl="0" eaLnBrk="1" latinLnBrk="0" hangingPunct="1"/>
                      <a:r>
                        <a:rPr lang="pt-BR" sz="1100" kern="1200" baseline="0" dirty="0" smtClean="0">
                          <a:solidFill>
                            <a:schemeClr val="tx1"/>
                          </a:solidFill>
                          <a:latin typeface="+mn-lt"/>
                          <a:ea typeface="+mn-ea"/>
                          <a:cs typeface="+mn-cs"/>
                        </a:rPr>
                        <a:t>0,74</a:t>
                      </a:r>
                    </a:p>
                    <a:p>
                      <a:pPr marL="0" algn="ctr" defTabSz="914400" rtl="0" eaLnBrk="1" latinLnBrk="0" hangingPunct="1"/>
                      <a:r>
                        <a:rPr lang="pt-BR" sz="1100" kern="1200" baseline="0" dirty="0" smtClean="0">
                          <a:solidFill>
                            <a:schemeClr val="tx1"/>
                          </a:solidFill>
                          <a:latin typeface="+mn-lt"/>
                          <a:ea typeface="+mn-ea"/>
                          <a:cs typeface="+mn-cs"/>
                        </a:rPr>
                        <a:t>1,5</a:t>
                      </a:r>
                    </a:p>
                    <a:p>
                      <a:pPr marL="0" algn="ctr" defTabSz="914400" rtl="0" eaLnBrk="1" latinLnBrk="0" hangingPunct="1"/>
                      <a:endParaRPr lang="pt-BR" sz="1100" kern="1200" baseline="0" dirty="0" smtClean="0">
                        <a:solidFill>
                          <a:schemeClr val="tx1"/>
                        </a:solidFill>
                        <a:latin typeface="+mn-lt"/>
                        <a:ea typeface="+mn-ea"/>
                        <a:cs typeface="+mn-cs"/>
                      </a:endParaRPr>
                    </a:p>
                    <a:p>
                      <a:pPr marL="0" algn="ctr" defTabSz="914400" rtl="0" eaLnBrk="1" latinLnBrk="0" hangingPunct="1"/>
                      <a:r>
                        <a:rPr lang="pt-BR" sz="1100" kern="1200" baseline="0" dirty="0" smtClean="0">
                          <a:solidFill>
                            <a:schemeClr val="tx1"/>
                          </a:solidFill>
                          <a:latin typeface="+mn-lt"/>
                          <a:ea typeface="+mn-ea"/>
                          <a:cs typeface="+mn-cs"/>
                        </a:rPr>
                        <a:t>1,6</a:t>
                      </a:r>
                    </a:p>
                    <a:p>
                      <a:pPr marL="0" algn="ctr" defTabSz="914400" rtl="0" eaLnBrk="1" latinLnBrk="0" hangingPunct="1"/>
                      <a:r>
                        <a:rPr lang="pt-BR" sz="1100" kern="1200" baseline="0" dirty="0" smtClean="0">
                          <a:solidFill>
                            <a:schemeClr val="tx1"/>
                          </a:solidFill>
                          <a:latin typeface="+mn-lt"/>
                          <a:ea typeface="+mn-ea"/>
                          <a:cs typeface="+mn-cs"/>
                        </a:rPr>
                        <a:t>1,7</a:t>
                      </a:r>
                    </a:p>
                    <a:p>
                      <a:pPr marL="0" algn="ctr" defTabSz="914400" rtl="0" eaLnBrk="1" latinLnBrk="0" hangingPunct="1"/>
                      <a:r>
                        <a:rPr lang="pt-BR" sz="1100" kern="1200" baseline="0" dirty="0" smtClean="0">
                          <a:solidFill>
                            <a:schemeClr val="tx1"/>
                          </a:solidFill>
                          <a:latin typeface="+mn-lt"/>
                          <a:ea typeface="+mn-ea"/>
                          <a:cs typeface="+mn-cs"/>
                        </a:rPr>
                        <a:t>1,9</a:t>
                      </a:r>
                    </a:p>
                    <a:p>
                      <a:pPr marL="0" algn="ctr" defTabSz="914400" rtl="0" eaLnBrk="1" latinLnBrk="0" hangingPunct="1"/>
                      <a:r>
                        <a:rPr lang="pt-BR" sz="1100" kern="1200" baseline="0" dirty="0" smtClean="0">
                          <a:solidFill>
                            <a:schemeClr val="tx1"/>
                          </a:solidFill>
                          <a:latin typeface="+mn-lt"/>
                          <a:ea typeface="+mn-ea"/>
                          <a:cs typeface="+mn-cs"/>
                        </a:rPr>
                        <a:t>3,0</a:t>
                      </a:r>
                    </a:p>
                    <a:p>
                      <a:pPr marL="0" algn="ctr" defTabSz="914400" rtl="0" eaLnBrk="1" latinLnBrk="0" hangingPunct="1"/>
                      <a:endParaRPr lang="pt-BR" sz="1100" kern="1200" baseline="0" dirty="0" smtClean="0">
                        <a:solidFill>
                          <a:schemeClr val="tx1"/>
                        </a:solidFill>
                        <a:latin typeface="+mn-lt"/>
                        <a:ea typeface="+mn-ea"/>
                        <a:cs typeface="+mn-cs"/>
                      </a:endParaRPr>
                    </a:p>
                    <a:p>
                      <a:pPr marL="0" algn="ctr" defTabSz="914400" rtl="0" eaLnBrk="1" latinLnBrk="0" hangingPunct="1"/>
                      <a:r>
                        <a:rPr lang="pt-BR" sz="1100" kern="1200" baseline="0" dirty="0" smtClean="0">
                          <a:solidFill>
                            <a:schemeClr val="tx1"/>
                          </a:solidFill>
                          <a:latin typeface="+mn-lt"/>
                          <a:ea typeface="+mn-ea"/>
                          <a:cs typeface="+mn-cs"/>
                        </a:rPr>
                        <a:t>4,5</a:t>
                      </a:r>
                    </a:p>
                  </a:txBody>
                  <a:tcPr>
                    <a:solidFill>
                      <a:schemeClr val="accent1"/>
                    </a:solidFill>
                  </a:tcPr>
                </a:tc>
                <a:tc>
                  <a:txBody>
                    <a:bodyPr/>
                    <a:lstStyle/>
                    <a:p>
                      <a:pPr algn="ctr"/>
                      <a:r>
                        <a:rPr lang="pt-BR" sz="1050" b="1" baseline="0" dirty="0" smtClean="0">
                          <a:solidFill>
                            <a:srgbClr val="FFFF00"/>
                          </a:solidFill>
                        </a:rPr>
                        <a:t>M(t)</a:t>
                      </a:r>
                    </a:p>
                    <a:p>
                      <a:pPr algn="ctr"/>
                      <a:r>
                        <a:rPr lang="pt-BR" sz="1050" b="1" baseline="0" dirty="0" smtClean="0">
                          <a:solidFill>
                            <a:srgbClr val="FFFF00"/>
                          </a:solidFill>
                        </a:rPr>
                        <a:t>2R = 5,1 m</a:t>
                      </a:r>
                    </a:p>
                    <a:p>
                      <a:pPr algn="ctr"/>
                      <a:endParaRPr lang="pt-BR" sz="1050" b="1" baseline="0" dirty="0" smtClean="0">
                        <a:solidFill>
                          <a:srgbClr val="FFFF00"/>
                        </a:solidFill>
                      </a:endParaRPr>
                    </a:p>
                    <a:p>
                      <a:pPr algn="ctr"/>
                      <a:r>
                        <a:rPr lang="pt-BR" sz="1100" b="0" baseline="0" dirty="0" smtClean="0">
                          <a:solidFill>
                            <a:schemeClr val="tx1"/>
                          </a:solidFill>
                        </a:rPr>
                        <a:t>73,6</a:t>
                      </a:r>
                    </a:p>
                    <a:p>
                      <a:pPr algn="ctr"/>
                      <a:r>
                        <a:rPr lang="pt-BR" sz="1100" b="0" baseline="0" dirty="0" smtClean="0">
                          <a:solidFill>
                            <a:schemeClr val="tx1"/>
                          </a:solidFill>
                        </a:rPr>
                        <a:t>25,5</a:t>
                      </a:r>
                    </a:p>
                    <a:p>
                      <a:pPr algn="ctr"/>
                      <a:endParaRPr lang="pt-BR" sz="1100" b="0" baseline="0" dirty="0" smtClean="0">
                        <a:solidFill>
                          <a:schemeClr val="tx1"/>
                        </a:solidFill>
                      </a:endParaRPr>
                    </a:p>
                    <a:p>
                      <a:pPr algn="ctr"/>
                      <a:r>
                        <a:rPr lang="pt-BR" sz="1100" b="0" baseline="0" dirty="0" smtClean="0">
                          <a:solidFill>
                            <a:schemeClr val="tx1"/>
                          </a:solidFill>
                        </a:rPr>
                        <a:t>23,1</a:t>
                      </a:r>
                    </a:p>
                    <a:p>
                      <a:pPr algn="ctr"/>
                      <a:r>
                        <a:rPr lang="pt-BR" sz="1100" b="0" baseline="0" dirty="0" smtClean="0">
                          <a:solidFill>
                            <a:schemeClr val="tx1"/>
                          </a:solidFill>
                        </a:rPr>
                        <a:t>21,6</a:t>
                      </a:r>
                    </a:p>
                    <a:p>
                      <a:pPr algn="ctr"/>
                      <a:r>
                        <a:rPr lang="pt-BR" sz="1100" b="0" baseline="0" dirty="0" smtClean="0">
                          <a:solidFill>
                            <a:schemeClr val="tx1"/>
                          </a:solidFill>
                        </a:rPr>
                        <a:t>17,9</a:t>
                      </a:r>
                    </a:p>
                    <a:p>
                      <a:pPr algn="ctr"/>
                      <a:r>
                        <a:rPr lang="pt-BR" sz="1100" b="0" baseline="0" dirty="0" smtClean="0">
                          <a:solidFill>
                            <a:schemeClr val="tx1"/>
                          </a:solidFill>
                        </a:rPr>
                        <a:t>9</a:t>
                      </a:r>
                    </a:p>
                    <a:p>
                      <a:pPr algn="ctr"/>
                      <a:endParaRPr lang="pt-BR" sz="1100" b="0" baseline="0" dirty="0" smtClean="0">
                        <a:solidFill>
                          <a:schemeClr val="tx1"/>
                        </a:solidFill>
                      </a:endParaRPr>
                    </a:p>
                    <a:p>
                      <a:pPr algn="ctr"/>
                      <a:r>
                        <a:rPr lang="pt-BR" sz="1100" b="0" baseline="0" dirty="0" smtClean="0">
                          <a:solidFill>
                            <a:schemeClr val="tx1"/>
                          </a:solidFill>
                        </a:rPr>
                        <a:t>5</a:t>
                      </a:r>
                      <a:endParaRPr lang="pt-BR" sz="1050" b="0" baseline="0" dirty="0" smtClean="0">
                        <a:solidFill>
                          <a:schemeClr val="tx1"/>
                        </a:solidFill>
                      </a:endParaRP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rgbClr val="FFFF00"/>
                        </a:solidFill>
                      </a:endParaRPr>
                    </a:p>
                    <a:p>
                      <a:pPr algn="ctr"/>
                      <a:r>
                        <a:rPr lang="pt-BR" sz="1100" b="1" baseline="0" dirty="0" smtClean="0">
                          <a:solidFill>
                            <a:schemeClr val="tx1"/>
                          </a:solidFill>
                        </a:rPr>
                        <a:t>Muito pesado – a escolha original</a:t>
                      </a:r>
                    </a:p>
                    <a:p>
                      <a:pPr algn="ctr"/>
                      <a:r>
                        <a:rPr lang="pt-BR" sz="1100" b="1" baseline="0" dirty="0" smtClean="0">
                          <a:solidFill>
                            <a:schemeClr val="tx1"/>
                          </a:solidFill>
                        </a:rPr>
                        <a:t>Não tem estabilidade dimensional suficiente – usar para radio telescópio</a:t>
                      </a:r>
                    </a:p>
                    <a:p>
                      <a:pPr algn="ctr"/>
                      <a:r>
                        <a:rPr lang="pt-BR" sz="1100" b="1" baseline="0" dirty="0" smtClean="0">
                          <a:solidFill>
                            <a:schemeClr val="tx1"/>
                          </a:solidFill>
                        </a:rPr>
                        <a:t>Mais pesadas do que o vidro e com alta expansão térmica</a:t>
                      </a:r>
                    </a:p>
                    <a:p>
                      <a:pPr algn="ctr"/>
                      <a:r>
                        <a:rPr lang="pt-BR" sz="1100" b="1" baseline="0" dirty="0" smtClean="0">
                          <a:solidFill>
                            <a:schemeClr val="tx1"/>
                          </a:solidFill>
                        </a:rPr>
                        <a:t>A escolha atual</a:t>
                      </a:r>
                    </a:p>
                    <a:p>
                      <a:pPr algn="ctr"/>
                      <a:r>
                        <a:rPr lang="pt-BR" sz="1100" b="1" baseline="0" dirty="0" smtClean="0">
                          <a:solidFill>
                            <a:schemeClr val="tx1"/>
                          </a:solidFill>
                        </a:rPr>
                        <a:t>Mais leve do que o vidro e com alta expansão térmica</a:t>
                      </a:r>
                    </a:p>
                    <a:p>
                      <a:pPr algn="ctr"/>
                      <a:r>
                        <a:rPr lang="pt-BR" sz="1100" b="1" baseline="0" dirty="0" smtClean="0">
                          <a:solidFill>
                            <a:schemeClr val="tx1"/>
                          </a:solidFill>
                        </a:rPr>
                        <a:t>Muito leve, porém não tem estabilidade dimensional – usar radiotelescópio</a:t>
                      </a:r>
                    </a:p>
                    <a:p>
                      <a:pPr algn="ctr"/>
                      <a:r>
                        <a:rPr lang="pt-BR" sz="1100" b="1" baseline="0" dirty="0" smtClean="0">
                          <a:solidFill>
                            <a:schemeClr val="tx1"/>
                          </a:solidFill>
                        </a:rPr>
                        <a:t>Muito leve, porém não tem estabilidade dimensional. </a:t>
                      </a:r>
                    </a:p>
                    <a:p>
                      <a:pPr algn="ctr"/>
                      <a:endParaRPr lang="pt-BR" sz="1050" b="1" baseline="0" dirty="0" smtClean="0">
                        <a:solidFill>
                          <a:schemeClr val="tx1"/>
                        </a:solidFill>
                      </a:endParaRPr>
                    </a:p>
                  </a:txBody>
                  <a:tcPr>
                    <a:solidFill>
                      <a:schemeClr val="accent1"/>
                    </a:solidFill>
                  </a:tcPr>
                </a:tc>
              </a:tr>
            </a:tbl>
          </a:graphicData>
        </a:graphic>
      </p:graphicFrame>
    </p:spTree>
    <p:extLst>
      <p:ext uri="{BB962C8B-B14F-4D97-AF65-F5344CB8AC3E}">
        <p14:creationId xmlns:p14="http://schemas.microsoft.com/office/powerpoint/2010/main" val="36914392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438400" y="233371"/>
            <a:ext cx="6324600" cy="1470025"/>
          </a:xfrm>
        </p:spPr>
        <p:txBody>
          <a:bodyPr/>
          <a:lstStyle/>
          <a:p>
            <a:r>
              <a:rPr lang="pt-BR" dirty="0" smtClean="0"/>
              <a:t>Materiais para Pernas de Mesas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3" name="Group 2"/>
          <p:cNvGrpSpPr/>
          <p:nvPr/>
        </p:nvGrpSpPr>
        <p:grpSpPr>
          <a:xfrm>
            <a:off x="228600" y="199159"/>
            <a:ext cx="1967091" cy="1828800"/>
            <a:chOff x="2205038" y="762000"/>
            <a:chExt cx="4733925" cy="4675346"/>
          </a:xfrm>
        </p:grpSpPr>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5038" y="762000"/>
              <a:ext cx="4733925"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71316" y="5191125"/>
              <a:ext cx="758541" cy="246221"/>
            </a:xfrm>
            <a:prstGeom prst="rect">
              <a:avLst/>
            </a:prstGeom>
            <a:noFill/>
          </p:spPr>
          <p:txBody>
            <a:bodyPr wrap="none" rtlCol="0">
              <a:spAutoFit/>
            </a:bodyPr>
            <a:lstStyle/>
            <a:p>
              <a:pPr algn="ctr"/>
              <a:r>
                <a:rPr lang="en-US" sz="1000" dirty="0" smtClean="0"/>
                <a:t>Figure 6.5</a:t>
              </a:r>
              <a:endParaRPr lang="en-US" sz="1000" dirty="0"/>
            </a:p>
          </p:txBody>
        </p:sp>
      </p:gr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0846" y="5137666"/>
            <a:ext cx="22860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2775" y="5845821"/>
            <a:ext cx="1522141" cy="71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284184" y="4719935"/>
            <a:ext cx="2291012" cy="461665"/>
          </a:xfrm>
          <a:prstGeom prst="rect">
            <a:avLst/>
          </a:prstGeom>
          <a:noFill/>
        </p:spPr>
        <p:txBody>
          <a:bodyPr wrap="none" rtlCol="0">
            <a:spAutoFit/>
          </a:bodyPr>
          <a:lstStyle/>
          <a:p>
            <a:r>
              <a:rPr lang="pt-BR" sz="2400" dirty="0" smtClean="0"/>
              <a:t>Minimizar Peso</a:t>
            </a:r>
            <a:endParaRPr lang="pt-BR" sz="2400" dirty="0"/>
          </a:p>
        </p:txBody>
      </p:sp>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3214" y="5109865"/>
            <a:ext cx="2196755" cy="71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2466" y="5823097"/>
            <a:ext cx="123825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5050409" y="4719935"/>
            <a:ext cx="3026791" cy="461665"/>
          </a:xfrm>
          <a:prstGeom prst="rect">
            <a:avLst/>
          </a:prstGeom>
          <a:noFill/>
        </p:spPr>
        <p:txBody>
          <a:bodyPr wrap="none" rtlCol="0">
            <a:spAutoFit/>
          </a:bodyPr>
          <a:lstStyle/>
          <a:p>
            <a:r>
              <a:rPr lang="pt-BR" sz="2400" dirty="0" smtClean="0"/>
              <a:t>Maximizar Esbelteza</a:t>
            </a:r>
            <a:endParaRPr lang="pt-BR" sz="2400" dirty="0"/>
          </a:p>
        </p:txBody>
      </p:sp>
      <p:graphicFrame>
        <p:nvGraphicFramePr>
          <p:cNvPr id="14" name="Tabela 13"/>
          <p:cNvGraphicFramePr>
            <a:graphicFrameLocks noGrp="1"/>
          </p:cNvGraphicFramePr>
          <p:nvPr>
            <p:extLst>
              <p:ext uri="{D42A27DB-BD31-4B8C-83A1-F6EECF244321}">
                <p14:modId xmlns:p14="http://schemas.microsoft.com/office/powerpoint/2010/main" val="3212304271"/>
              </p:ext>
            </p:extLst>
          </p:nvPr>
        </p:nvGraphicFramePr>
        <p:xfrm>
          <a:off x="400050" y="2206036"/>
          <a:ext cx="8449526" cy="250952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6.5 – Requisitos</a:t>
                      </a:r>
                      <a:r>
                        <a:rPr lang="pt-BR" sz="1200" baseline="0" dirty="0" smtClean="0"/>
                        <a:t> de Projeto para Pernas de Mesas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Coluna (suportar cargas de compressão)</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dirty="0" smtClean="0"/>
                        <a:t>Comprimento L</a:t>
                      </a:r>
                      <a:r>
                        <a:rPr lang="pt-BR" sz="1400" baseline="0" dirty="0" smtClean="0"/>
                        <a:t>  especificado </a:t>
                      </a:r>
                    </a:p>
                    <a:p>
                      <a:r>
                        <a:rPr lang="pt-BR" sz="1400" baseline="0" dirty="0" smtClean="0"/>
                        <a:t>Não deve sofrer flambagem sob cargas de projeto</a:t>
                      </a:r>
                    </a:p>
                    <a:p>
                      <a:r>
                        <a:rPr lang="pt-BR" sz="1400" baseline="0" dirty="0" smtClean="0"/>
                        <a:t>Não deve sofrer fratura por choques acidentais</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Minimizar a massa </a:t>
                      </a:r>
                      <a:r>
                        <a:rPr lang="pt-BR" sz="1400" i="1" dirty="0" smtClean="0"/>
                        <a:t>m</a:t>
                      </a:r>
                    </a:p>
                    <a:p>
                      <a:r>
                        <a:rPr lang="pt-BR" sz="1400" i="0" dirty="0" smtClean="0"/>
                        <a:t>Maximizar</a:t>
                      </a:r>
                      <a:r>
                        <a:rPr lang="pt-BR" sz="1400" i="0" baseline="0" dirty="0" smtClean="0"/>
                        <a:t> esbelteza</a:t>
                      </a:r>
                      <a:endParaRPr lang="en-US" sz="1400" i="0" dirty="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i="0" baseline="0" dirty="0" smtClean="0"/>
                        <a:t>Diâmetro das penas, 2</a:t>
                      </a:r>
                      <a:r>
                        <a:rPr lang="pt-BR" sz="1400" i="1" baseline="0" dirty="0" smtClean="0"/>
                        <a:t>r</a:t>
                      </a:r>
                    </a:p>
                    <a:p>
                      <a:r>
                        <a:rPr lang="pt-BR" sz="1400" baseline="0" dirty="0" smtClean="0"/>
                        <a:t>Escolha do material</a:t>
                      </a:r>
                      <a:endParaRPr lang="en-US" sz="1400" dirty="0"/>
                    </a:p>
                  </a:txBody>
                  <a:tcPr/>
                </a:tc>
              </a:tr>
            </a:tbl>
          </a:graphicData>
        </a:graphic>
      </p:graphicFrame>
    </p:spTree>
    <p:extLst>
      <p:ext uri="{BB962C8B-B14F-4D97-AF65-F5344CB8AC3E}">
        <p14:creationId xmlns:p14="http://schemas.microsoft.com/office/powerpoint/2010/main" val="20192302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677174" y="159146"/>
            <a:ext cx="5789645" cy="4234417"/>
            <a:chOff x="1677174" y="159146"/>
            <a:chExt cx="5789645" cy="4234417"/>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7174" y="159146"/>
              <a:ext cx="5789645"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92725" y="4147342"/>
              <a:ext cx="758541" cy="246221"/>
            </a:xfrm>
            <a:prstGeom prst="rect">
              <a:avLst/>
            </a:prstGeom>
            <a:noFill/>
          </p:spPr>
          <p:txBody>
            <a:bodyPr wrap="none" rtlCol="0">
              <a:spAutoFit/>
            </a:bodyPr>
            <a:lstStyle/>
            <a:p>
              <a:pPr algn="ctr"/>
              <a:r>
                <a:rPr lang="en-US" sz="1000" dirty="0" smtClean="0"/>
                <a:t>Figura 6.6</a:t>
              </a:r>
              <a:endParaRPr lang="en-US" sz="1000" dirty="0"/>
            </a:p>
          </p:txBody>
        </p:sp>
      </p:grpSp>
      <p:graphicFrame>
        <p:nvGraphicFramePr>
          <p:cNvPr id="7" name="Tabela 6"/>
          <p:cNvGraphicFramePr>
            <a:graphicFrameLocks noGrp="1"/>
          </p:cNvGraphicFramePr>
          <p:nvPr>
            <p:extLst>
              <p:ext uri="{D42A27DB-BD31-4B8C-83A1-F6EECF244321}">
                <p14:modId xmlns:p14="http://schemas.microsoft.com/office/powerpoint/2010/main" val="3567983932"/>
              </p:ext>
            </p:extLst>
          </p:nvPr>
        </p:nvGraphicFramePr>
        <p:xfrm>
          <a:off x="304799" y="4655820"/>
          <a:ext cx="8610601" cy="1744980"/>
        </p:xfrm>
        <a:graphic>
          <a:graphicData uri="http://schemas.openxmlformats.org/drawingml/2006/table">
            <a:tbl>
              <a:tblPr firstRow="1" bandRow="1">
                <a:tableStyleId>{68D230F3-CF80-4859-8CE7-A43EE81993B5}</a:tableStyleId>
              </a:tblPr>
              <a:tblGrid>
                <a:gridCol w="1143000"/>
                <a:gridCol w="1981200"/>
                <a:gridCol w="1371600"/>
                <a:gridCol w="4114801"/>
              </a:tblGrid>
              <a:tr h="487680">
                <a:tc gridSpan="4">
                  <a:txBody>
                    <a:bodyPr/>
                    <a:lstStyle/>
                    <a:p>
                      <a:r>
                        <a:rPr lang="pt-BR" sz="1400" dirty="0" smtClean="0">
                          <a:solidFill>
                            <a:srgbClr val="FFFF00"/>
                          </a:solidFill>
                        </a:rPr>
                        <a:t>Tabela 6.6 –  Materiais</a:t>
                      </a:r>
                      <a:r>
                        <a:rPr lang="pt-BR" sz="1400" baseline="0" dirty="0" smtClean="0">
                          <a:solidFill>
                            <a:srgbClr val="FFFF00"/>
                          </a:solidFill>
                        </a:rPr>
                        <a:t> para suporte de mesas</a:t>
                      </a:r>
                      <a:endParaRPr lang="pt-BR" sz="1200" baseline="0" dirty="0" smtClean="0"/>
                    </a:p>
                    <a:p>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100" baseline="0" dirty="0" smtClean="0"/>
                    </a:p>
                    <a:p>
                      <a:pPr algn="ctr"/>
                      <a:r>
                        <a:rPr lang="pt-BR" sz="1100" baseline="0" dirty="0" smtClean="0"/>
                        <a:t>GFRP</a:t>
                      </a:r>
                    </a:p>
                    <a:p>
                      <a:pPr algn="ctr"/>
                      <a:r>
                        <a:rPr lang="pt-BR" sz="1100" baseline="0" dirty="0" smtClean="0"/>
                        <a:t>Madeiras</a:t>
                      </a:r>
                    </a:p>
                    <a:p>
                      <a:pPr algn="ctr"/>
                      <a:r>
                        <a:rPr lang="pt-BR" sz="1100" baseline="0" dirty="0" smtClean="0"/>
                        <a:t>Cerâmicas</a:t>
                      </a:r>
                    </a:p>
                    <a:p>
                      <a:pPr algn="ctr"/>
                      <a:r>
                        <a:rPr lang="pt-BR" sz="1100" baseline="0" dirty="0" smtClean="0"/>
                        <a:t>CFRP</a:t>
                      </a:r>
                    </a:p>
                  </a:txBody>
                  <a:tcPr>
                    <a:solidFill>
                      <a:schemeClr val="accent1"/>
                    </a:solidFill>
                  </a:tcPr>
                </a:tc>
                <a:tc>
                  <a:txBody>
                    <a:bodyPr/>
                    <a:lstStyle/>
                    <a:p>
                      <a:pPr marL="0" algn="ctr" defTabSz="914400" rtl="0" eaLnBrk="1" latinLnBrk="0" hangingPunct="1"/>
                      <a:r>
                        <a:rPr lang="pt-BR" sz="1100" b="1" i="1" kern="1200" baseline="0" dirty="0" smtClean="0">
                          <a:solidFill>
                            <a:srgbClr val="FFFF00"/>
                          </a:solidFill>
                          <a:latin typeface="+mn-lt"/>
                          <a:ea typeface="+mn-ea"/>
                          <a:cs typeface="+mn-cs"/>
                        </a:rPr>
                        <a:t>M</a:t>
                      </a:r>
                      <a:r>
                        <a:rPr lang="pt-BR" sz="1100" b="1" i="1" kern="1200" baseline="-25000" dirty="0" smtClean="0">
                          <a:solidFill>
                            <a:srgbClr val="FFFF00"/>
                          </a:solidFill>
                          <a:latin typeface="+mn-lt"/>
                          <a:ea typeface="+mn-ea"/>
                          <a:cs typeface="+mn-cs"/>
                        </a:rPr>
                        <a:t>1</a:t>
                      </a:r>
                      <a:r>
                        <a:rPr lang="pt-BR" sz="1100" b="1" i="1" kern="1200" baseline="0" dirty="0" smtClean="0">
                          <a:solidFill>
                            <a:srgbClr val="FFFF00"/>
                          </a:solidFill>
                          <a:latin typeface="+mn-lt"/>
                          <a:ea typeface="+mn-ea"/>
                          <a:cs typeface="+mn-cs"/>
                        </a:rPr>
                        <a:t> </a:t>
                      </a:r>
                      <a:r>
                        <a:rPr lang="pt-BR" sz="1100" b="1" i="0" kern="1200" baseline="0" dirty="0" smtClean="0">
                          <a:solidFill>
                            <a:srgbClr val="FFFF00"/>
                          </a:solidFill>
                          <a:latin typeface="+mn-lt"/>
                          <a:ea typeface="+mn-ea"/>
                          <a:cs typeface="+mn-cs"/>
                        </a:rPr>
                        <a:t>Típico</a:t>
                      </a:r>
                      <a:r>
                        <a:rPr lang="pt-BR" sz="1100" b="1" i="1" kern="1200" baseline="0" dirty="0" smtClean="0">
                          <a:solidFill>
                            <a:srgbClr val="FFFF00"/>
                          </a:solidFill>
                          <a:latin typeface="+mn-lt"/>
                          <a:ea typeface="+mn-ea"/>
                          <a:cs typeface="+mn-cs"/>
                        </a:rPr>
                        <a:t> = </a:t>
                      </a:r>
                      <a:r>
                        <a:rPr lang="pt-BR" sz="1100" b="1" kern="1200" baseline="0" dirty="0" smtClean="0">
                          <a:solidFill>
                            <a:srgbClr val="FFFF00"/>
                          </a:solidFill>
                          <a:latin typeface="+mn-lt"/>
                          <a:ea typeface="+mn-ea"/>
                          <a:cs typeface="+mn-cs"/>
                        </a:rPr>
                        <a:t>(GPa</a:t>
                      </a:r>
                      <a:r>
                        <a:rPr lang="pt-BR" sz="1100" b="1" kern="1200" baseline="30000" dirty="0" smtClean="0">
                          <a:solidFill>
                            <a:srgbClr val="FFFF00"/>
                          </a:solidFill>
                          <a:latin typeface="+mn-lt"/>
                          <a:ea typeface="+mn-ea"/>
                          <a:cs typeface="+mn-cs"/>
                        </a:rPr>
                        <a:t>1/2</a:t>
                      </a:r>
                      <a:r>
                        <a:rPr lang="pt-BR" sz="1100" b="1" kern="1200" baseline="0" dirty="0" smtClean="0">
                          <a:solidFill>
                            <a:srgbClr val="FFFF00"/>
                          </a:solidFill>
                          <a:latin typeface="+mn-lt"/>
                          <a:ea typeface="+mn-ea"/>
                          <a:cs typeface="+mn-cs"/>
                        </a:rPr>
                        <a:t> m</a:t>
                      </a:r>
                      <a:r>
                        <a:rPr lang="pt-BR" sz="1100" b="1" kern="1200" baseline="30000" dirty="0" smtClean="0">
                          <a:solidFill>
                            <a:srgbClr val="FFFF00"/>
                          </a:solidFill>
                          <a:latin typeface="+mn-lt"/>
                          <a:ea typeface="+mn-ea"/>
                          <a:cs typeface="+mn-cs"/>
                        </a:rPr>
                        <a:t>3</a:t>
                      </a:r>
                      <a:r>
                        <a:rPr lang="pt-BR" sz="1100" b="1" kern="1200" baseline="0" dirty="0" smtClean="0">
                          <a:solidFill>
                            <a:srgbClr val="FFFF00"/>
                          </a:solidFill>
                          <a:latin typeface="+mn-lt"/>
                          <a:ea typeface="+mn-ea"/>
                          <a:cs typeface="+mn-cs"/>
                        </a:rPr>
                        <a:t>/Mg)</a:t>
                      </a:r>
                    </a:p>
                    <a:p>
                      <a:pPr algn="ctr"/>
                      <a:endParaRPr lang="pt-BR" sz="1050" b="1" baseline="0" dirty="0" smtClean="0">
                        <a:solidFill>
                          <a:srgbClr val="FFFF00"/>
                        </a:solidFill>
                      </a:endParaRPr>
                    </a:p>
                    <a:p>
                      <a:pPr marL="0" algn="ctr" defTabSz="914400" rtl="0" eaLnBrk="1" latinLnBrk="0" hangingPunct="1"/>
                      <a:r>
                        <a:rPr lang="pt-BR" sz="1100" kern="1200" baseline="0" dirty="0" smtClean="0">
                          <a:solidFill>
                            <a:schemeClr val="tx1"/>
                          </a:solidFill>
                          <a:latin typeface="+mn-lt"/>
                          <a:ea typeface="+mn-ea"/>
                          <a:cs typeface="+mn-cs"/>
                        </a:rPr>
                        <a:t>2,5</a:t>
                      </a:r>
                    </a:p>
                    <a:p>
                      <a:pPr marL="0" algn="ctr" defTabSz="914400" rtl="0" eaLnBrk="1" latinLnBrk="0" hangingPunct="1"/>
                      <a:r>
                        <a:rPr lang="pt-BR" sz="1100" kern="1200" baseline="0" dirty="0" smtClean="0">
                          <a:solidFill>
                            <a:schemeClr val="tx1"/>
                          </a:solidFill>
                          <a:latin typeface="+mn-lt"/>
                          <a:ea typeface="+mn-ea"/>
                          <a:cs typeface="+mn-cs"/>
                        </a:rPr>
                        <a:t>4,5</a:t>
                      </a:r>
                    </a:p>
                    <a:p>
                      <a:pPr marL="0" algn="ctr" defTabSz="914400" rtl="0" eaLnBrk="1" latinLnBrk="0" hangingPunct="1"/>
                      <a:r>
                        <a:rPr lang="pt-BR" sz="1100" kern="1200" baseline="0" dirty="0" smtClean="0">
                          <a:solidFill>
                            <a:schemeClr val="tx1"/>
                          </a:solidFill>
                          <a:latin typeface="+mn-lt"/>
                          <a:ea typeface="+mn-ea"/>
                          <a:cs typeface="+mn-cs"/>
                        </a:rPr>
                        <a:t>6,3</a:t>
                      </a:r>
                    </a:p>
                    <a:p>
                      <a:pPr marL="0" algn="ctr" defTabSz="914400" rtl="0" eaLnBrk="1" latinLnBrk="0" hangingPunct="1"/>
                      <a:r>
                        <a:rPr lang="pt-BR" sz="1100" kern="1200" baseline="0" dirty="0" smtClean="0">
                          <a:solidFill>
                            <a:schemeClr val="tx1"/>
                          </a:solidFill>
                          <a:latin typeface="+mn-lt"/>
                          <a:ea typeface="+mn-ea"/>
                          <a:cs typeface="+mn-cs"/>
                        </a:rPr>
                        <a:t>6,6</a:t>
                      </a:r>
                    </a:p>
                  </a:txBody>
                  <a:tcPr>
                    <a:solidFill>
                      <a:schemeClr val="accent1"/>
                    </a:solidFill>
                  </a:tcPr>
                </a:tc>
                <a:tc>
                  <a:txBody>
                    <a:bodyPr/>
                    <a:lstStyle/>
                    <a:p>
                      <a:pPr algn="ctr"/>
                      <a:r>
                        <a:rPr lang="pt-BR" sz="1050" b="1" baseline="0" dirty="0" smtClean="0">
                          <a:solidFill>
                            <a:srgbClr val="FFFF00"/>
                          </a:solidFill>
                        </a:rPr>
                        <a:t>M</a:t>
                      </a:r>
                      <a:r>
                        <a:rPr lang="pt-BR" sz="1050" b="1" baseline="-25000" dirty="0" smtClean="0">
                          <a:solidFill>
                            <a:srgbClr val="FFFF00"/>
                          </a:solidFill>
                        </a:rPr>
                        <a:t>2</a:t>
                      </a:r>
                      <a:r>
                        <a:rPr lang="pt-BR" sz="1050" b="1" baseline="0" dirty="0" smtClean="0">
                          <a:solidFill>
                            <a:srgbClr val="FFFF00"/>
                          </a:solidFill>
                        </a:rPr>
                        <a:t> Típico (</a:t>
                      </a:r>
                      <a:r>
                        <a:rPr lang="pt-BR" sz="1050" b="1" baseline="0" dirty="0" err="1" smtClean="0">
                          <a:solidFill>
                            <a:srgbClr val="FFFF00"/>
                          </a:solidFill>
                        </a:rPr>
                        <a:t>GPa</a:t>
                      </a:r>
                      <a:r>
                        <a:rPr lang="pt-BR" sz="1050" b="1" baseline="0" dirty="0" smtClean="0">
                          <a:solidFill>
                            <a:srgbClr val="FFFF00"/>
                          </a:solidFill>
                        </a:rPr>
                        <a:t>)</a:t>
                      </a:r>
                    </a:p>
                    <a:p>
                      <a:pPr algn="ctr"/>
                      <a:endParaRPr lang="pt-BR" sz="1050" b="1" baseline="0" dirty="0" smtClean="0">
                        <a:solidFill>
                          <a:srgbClr val="FFFF00"/>
                        </a:solidFill>
                      </a:endParaRPr>
                    </a:p>
                    <a:p>
                      <a:pPr algn="ctr"/>
                      <a:r>
                        <a:rPr lang="pt-BR" sz="1100" b="0" baseline="0" dirty="0" smtClean="0">
                          <a:solidFill>
                            <a:schemeClr val="tx1"/>
                          </a:solidFill>
                        </a:rPr>
                        <a:t>20</a:t>
                      </a:r>
                    </a:p>
                    <a:p>
                      <a:pPr algn="ctr"/>
                      <a:r>
                        <a:rPr lang="pt-BR" sz="1100" b="0" baseline="0" dirty="0" smtClean="0">
                          <a:solidFill>
                            <a:schemeClr val="tx1"/>
                          </a:solidFill>
                        </a:rPr>
                        <a:t>10</a:t>
                      </a:r>
                    </a:p>
                    <a:p>
                      <a:pPr algn="ctr"/>
                      <a:r>
                        <a:rPr lang="pt-BR" sz="1100" b="0" baseline="0" dirty="0" smtClean="0">
                          <a:solidFill>
                            <a:schemeClr val="tx1"/>
                          </a:solidFill>
                        </a:rPr>
                        <a:t>300</a:t>
                      </a:r>
                    </a:p>
                    <a:p>
                      <a:pPr algn="ctr"/>
                      <a:r>
                        <a:rPr lang="pt-BR" sz="1100" b="0" baseline="0" dirty="0" smtClean="0">
                          <a:solidFill>
                            <a:schemeClr val="tx1"/>
                          </a:solidFill>
                        </a:rPr>
                        <a:t>100</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rgbClr val="FFFF00"/>
                        </a:solidFill>
                      </a:endParaRPr>
                    </a:p>
                    <a:p>
                      <a:pPr algn="ctr"/>
                      <a:r>
                        <a:rPr lang="pt-BR" sz="1100" b="1" baseline="0" dirty="0" smtClean="0">
                          <a:solidFill>
                            <a:schemeClr val="tx1"/>
                          </a:solidFill>
                        </a:rPr>
                        <a:t>Menos caro que o CFRP, porém M</a:t>
                      </a:r>
                      <a:r>
                        <a:rPr lang="pt-BR" sz="1100" b="1" baseline="-25000" dirty="0" smtClean="0">
                          <a:solidFill>
                            <a:schemeClr val="tx1"/>
                          </a:solidFill>
                        </a:rPr>
                        <a:t>1</a:t>
                      </a:r>
                      <a:r>
                        <a:rPr lang="pt-BR" sz="1100" b="1" baseline="0" dirty="0" smtClean="0">
                          <a:solidFill>
                            <a:schemeClr val="tx1"/>
                          </a:solidFill>
                        </a:rPr>
                        <a:t> e M</a:t>
                      </a:r>
                      <a:r>
                        <a:rPr lang="pt-BR" sz="1100" b="1" baseline="-25000" dirty="0" smtClean="0">
                          <a:solidFill>
                            <a:schemeClr val="tx1"/>
                          </a:solidFill>
                        </a:rPr>
                        <a:t>2</a:t>
                      </a:r>
                      <a:r>
                        <a:rPr lang="pt-BR" sz="1100" b="1" baseline="0" dirty="0" smtClean="0">
                          <a:solidFill>
                            <a:schemeClr val="tx1"/>
                          </a:solidFill>
                        </a:rPr>
                        <a:t> mais baixos</a:t>
                      </a:r>
                    </a:p>
                    <a:p>
                      <a:pPr algn="ctr"/>
                      <a:r>
                        <a:rPr lang="pt-BR" sz="1100" b="1" baseline="0" dirty="0" smtClean="0">
                          <a:solidFill>
                            <a:schemeClr val="tx1"/>
                          </a:solidFill>
                        </a:rPr>
                        <a:t>M</a:t>
                      </a:r>
                      <a:r>
                        <a:rPr lang="pt-BR" sz="1100" b="1" baseline="-25000" dirty="0" smtClean="0">
                          <a:solidFill>
                            <a:schemeClr val="tx1"/>
                          </a:solidFill>
                        </a:rPr>
                        <a:t>1</a:t>
                      </a:r>
                      <a:r>
                        <a:rPr lang="pt-BR" sz="1100" b="1" baseline="0" dirty="0" smtClean="0">
                          <a:solidFill>
                            <a:schemeClr val="tx1"/>
                          </a:solidFill>
                        </a:rPr>
                        <a:t> notável e M</a:t>
                      </a:r>
                      <a:r>
                        <a:rPr lang="pt-BR" sz="1100" b="1" baseline="-25000" dirty="0" smtClean="0">
                          <a:solidFill>
                            <a:schemeClr val="tx1"/>
                          </a:solidFill>
                        </a:rPr>
                        <a:t>2</a:t>
                      </a:r>
                      <a:r>
                        <a:rPr lang="pt-BR" sz="1100" b="1" baseline="0" dirty="0" smtClean="0">
                          <a:solidFill>
                            <a:schemeClr val="tx1"/>
                          </a:solidFill>
                        </a:rPr>
                        <a:t> ruim</a:t>
                      </a:r>
                    </a:p>
                    <a:p>
                      <a:pPr algn="ctr"/>
                      <a:r>
                        <a:rPr lang="pt-BR" sz="1100" b="1" baseline="0" dirty="0" smtClean="0">
                          <a:solidFill>
                            <a:schemeClr val="tx1"/>
                          </a:solidFill>
                        </a:rPr>
                        <a:t>M1 e M2 notáveis, porém eliminadas pela fragilidade</a:t>
                      </a:r>
                    </a:p>
                    <a:p>
                      <a:pPr algn="ctr"/>
                      <a:r>
                        <a:rPr lang="pt-BR" sz="1100" b="1" baseline="0" dirty="0" smtClean="0">
                          <a:solidFill>
                            <a:schemeClr val="tx1"/>
                          </a:solidFill>
                        </a:rPr>
                        <a:t>M1 e M2 notáveis, porém caro</a:t>
                      </a:r>
                      <a:endParaRPr lang="pt-BR" sz="1050" b="1" baseline="0" dirty="0" smtClean="0">
                        <a:solidFill>
                          <a:schemeClr val="tx1"/>
                        </a:solidFill>
                      </a:endParaRPr>
                    </a:p>
                  </a:txBody>
                  <a:tcPr>
                    <a:solidFill>
                      <a:schemeClr val="accent1"/>
                    </a:solidFill>
                  </a:tcPr>
                </a:tc>
              </a:tr>
            </a:tbl>
          </a:graphicData>
        </a:graphic>
      </p:graphicFrame>
    </p:spTree>
    <p:extLst>
      <p:ext uri="{BB962C8B-B14F-4D97-AF65-F5344CB8AC3E}">
        <p14:creationId xmlns:p14="http://schemas.microsoft.com/office/powerpoint/2010/main" val="14960954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048000" y="228600"/>
            <a:ext cx="5791200" cy="1470025"/>
          </a:xfrm>
        </p:spPr>
        <p:txBody>
          <a:bodyPr>
            <a:normAutofit fontScale="90000"/>
          </a:bodyPr>
          <a:lstStyle/>
          <a:p>
            <a:r>
              <a:rPr lang="pt-BR" dirty="0" smtClean="0"/>
              <a:t>Custo: Materiais Estruturais para Edifícios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3" name="Grupo 2"/>
          <p:cNvGrpSpPr/>
          <p:nvPr/>
        </p:nvGrpSpPr>
        <p:grpSpPr>
          <a:xfrm>
            <a:off x="667058" y="228599"/>
            <a:ext cx="2303647" cy="1927510"/>
            <a:chOff x="667058" y="228599"/>
            <a:chExt cx="2303647" cy="192751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058" y="228599"/>
              <a:ext cx="2303647" cy="168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439612" y="1909888"/>
              <a:ext cx="758541" cy="246221"/>
            </a:xfrm>
            <a:prstGeom prst="rect">
              <a:avLst/>
            </a:prstGeom>
            <a:noFill/>
          </p:spPr>
          <p:txBody>
            <a:bodyPr wrap="none" rtlCol="0">
              <a:spAutoFit/>
            </a:bodyPr>
            <a:lstStyle/>
            <a:p>
              <a:pPr algn="ctr"/>
              <a:r>
                <a:rPr lang="en-US" sz="1000" dirty="0" smtClean="0"/>
                <a:t>Figura 6.7</a:t>
              </a:r>
              <a:endParaRPr lang="en-US" sz="1000" dirty="0"/>
            </a:p>
          </p:txBody>
        </p:sp>
      </p:gr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5999" y="4962523"/>
            <a:ext cx="1679762" cy="941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4953000"/>
            <a:ext cx="180022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 name="Tabela 9"/>
          <p:cNvGraphicFramePr>
            <a:graphicFrameLocks noGrp="1"/>
          </p:cNvGraphicFramePr>
          <p:nvPr>
            <p:extLst>
              <p:ext uri="{D42A27DB-BD31-4B8C-83A1-F6EECF244321}">
                <p14:modId xmlns:p14="http://schemas.microsoft.com/office/powerpoint/2010/main" val="2179554607"/>
              </p:ext>
            </p:extLst>
          </p:nvPr>
        </p:nvGraphicFramePr>
        <p:xfrm>
          <a:off x="381000" y="2438400"/>
          <a:ext cx="8449526" cy="236220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6.7 – Requisitos</a:t>
                      </a:r>
                      <a:r>
                        <a:rPr lang="pt-BR" sz="1200" baseline="0" dirty="0" smtClean="0"/>
                        <a:t> de projeto pata vigas de assoalho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Viga do assoalho</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dirty="0" smtClean="0"/>
                        <a:t>Comprimento L</a:t>
                      </a:r>
                      <a:r>
                        <a:rPr lang="pt-BR" sz="1400" baseline="0" dirty="0" smtClean="0"/>
                        <a:t>  especificado </a:t>
                      </a:r>
                    </a:p>
                    <a:p>
                      <a:r>
                        <a:rPr lang="pt-BR" sz="1400" baseline="0" dirty="0" smtClean="0"/>
                        <a:t>Rigidez: não deve sofrer demasiada flexão sob cargas de projeto</a:t>
                      </a:r>
                    </a:p>
                    <a:p>
                      <a:r>
                        <a:rPr lang="pt-BR" sz="1400" baseline="0" dirty="0" smtClean="0"/>
                        <a:t>Resistência: não deve falhar sob cargas de projeto</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Minimizar o custo</a:t>
                      </a:r>
                      <a:r>
                        <a:rPr lang="pt-BR" sz="1400" baseline="0" dirty="0" smtClean="0"/>
                        <a:t> do material, C</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i="0" baseline="0" dirty="0" smtClean="0"/>
                        <a:t>Área da seção transversal da viga, A</a:t>
                      </a:r>
                      <a:endParaRPr lang="pt-BR" sz="1400" i="1" baseline="0" dirty="0" smtClean="0"/>
                    </a:p>
                    <a:p>
                      <a:r>
                        <a:rPr lang="pt-BR" sz="1400" baseline="0" dirty="0" smtClean="0"/>
                        <a:t>Escolha do material</a:t>
                      </a:r>
                      <a:endParaRPr lang="en-US" sz="1400" dirty="0"/>
                    </a:p>
                  </a:txBody>
                  <a:tcPr/>
                </a:tc>
              </a:tr>
            </a:tbl>
          </a:graphicData>
        </a:graphic>
      </p:graphicFrame>
    </p:spTree>
    <p:extLst>
      <p:ext uri="{BB962C8B-B14F-4D97-AF65-F5344CB8AC3E}">
        <p14:creationId xmlns:p14="http://schemas.microsoft.com/office/powerpoint/2010/main" val="18630573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365931" y="76200"/>
            <a:ext cx="6400800" cy="1133669"/>
          </a:xfrm>
        </p:spPr>
        <p:txBody>
          <a:bodyPr>
            <a:normAutofit fontScale="92500"/>
          </a:bodyPr>
          <a:lstStyle/>
          <a:p>
            <a:r>
              <a:rPr lang="pt-BR" dirty="0" smtClean="0"/>
              <a:t>A seleção de materiais baratos e rígidos para estruturas de edifícios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371600" y="1114750"/>
            <a:ext cx="6400800" cy="5397482"/>
            <a:chOff x="1371600" y="1114750"/>
            <a:chExt cx="6400800" cy="5397482"/>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114750"/>
              <a:ext cx="6400800" cy="5151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08513" y="6266011"/>
              <a:ext cx="915636" cy="246221"/>
            </a:xfrm>
            <a:prstGeom prst="rect">
              <a:avLst/>
            </a:prstGeom>
            <a:noFill/>
          </p:spPr>
          <p:txBody>
            <a:bodyPr wrap="none" rtlCol="0">
              <a:spAutoFit/>
            </a:bodyPr>
            <a:lstStyle/>
            <a:p>
              <a:pPr algn="ctr"/>
              <a:r>
                <a:rPr lang="en-US" sz="1000" dirty="0" smtClean="0"/>
                <a:t>Figura 6.8(a)</a:t>
              </a:r>
              <a:endParaRPr lang="en-US" sz="1000" dirty="0"/>
            </a:p>
          </p:txBody>
        </p:sp>
      </p:grpSp>
    </p:spTree>
    <p:extLst>
      <p:ext uri="{BB962C8B-B14F-4D97-AF65-F5344CB8AC3E}">
        <p14:creationId xmlns:p14="http://schemas.microsoft.com/office/powerpoint/2010/main" val="14532179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81099" y="152400"/>
            <a:ext cx="6781800" cy="1129004"/>
          </a:xfrm>
        </p:spPr>
        <p:txBody>
          <a:bodyPr>
            <a:normAutofit fontScale="85000" lnSpcReduction="10000"/>
          </a:bodyPr>
          <a:lstStyle/>
          <a:p>
            <a:r>
              <a:rPr lang="pt-BR" dirty="0" smtClean="0"/>
              <a:t>Seleção de materiais baratos e resistentes para esqueletos estruturais de edifícios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371600" y="1086564"/>
            <a:ext cx="6400800" cy="5320222"/>
            <a:chOff x="1371600" y="1086564"/>
            <a:chExt cx="6400800" cy="5320222"/>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086564"/>
              <a:ext cx="6400800" cy="5074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14181" y="6160565"/>
              <a:ext cx="915636" cy="246221"/>
            </a:xfrm>
            <a:prstGeom prst="rect">
              <a:avLst/>
            </a:prstGeom>
            <a:noFill/>
          </p:spPr>
          <p:txBody>
            <a:bodyPr wrap="none" rtlCol="0">
              <a:spAutoFit/>
            </a:bodyPr>
            <a:lstStyle/>
            <a:p>
              <a:pPr algn="ctr"/>
              <a:r>
                <a:rPr lang="en-US" sz="1000" dirty="0" smtClean="0"/>
                <a:t>Figura 6.8(b)</a:t>
              </a:r>
              <a:endParaRPr lang="en-US" sz="1000" dirty="0"/>
            </a:p>
          </p:txBody>
        </p:sp>
      </p:grpSp>
    </p:spTree>
    <p:extLst>
      <p:ext uri="{BB962C8B-B14F-4D97-AF65-F5344CB8AC3E}">
        <p14:creationId xmlns:p14="http://schemas.microsoft.com/office/powerpoint/2010/main" val="6849180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aphicFrame>
        <p:nvGraphicFramePr>
          <p:cNvPr id="4" name="Tabela 3"/>
          <p:cNvGraphicFramePr>
            <a:graphicFrameLocks noGrp="1"/>
          </p:cNvGraphicFramePr>
          <p:nvPr>
            <p:extLst>
              <p:ext uri="{D42A27DB-BD31-4B8C-83A1-F6EECF244321}">
                <p14:modId xmlns:p14="http://schemas.microsoft.com/office/powerpoint/2010/main" val="3124728111"/>
              </p:ext>
            </p:extLst>
          </p:nvPr>
        </p:nvGraphicFramePr>
        <p:xfrm>
          <a:off x="304799" y="1219200"/>
          <a:ext cx="8610601" cy="2026920"/>
        </p:xfrm>
        <a:graphic>
          <a:graphicData uri="http://schemas.openxmlformats.org/drawingml/2006/table">
            <a:tbl>
              <a:tblPr firstRow="1" bandRow="1">
                <a:tableStyleId>{68D230F3-CF80-4859-8CE7-A43EE81993B5}</a:tableStyleId>
              </a:tblPr>
              <a:tblGrid>
                <a:gridCol w="1143000"/>
                <a:gridCol w="1600200"/>
                <a:gridCol w="1600200"/>
                <a:gridCol w="4267201"/>
              </a:tblGrid>
              <a:tr h="487680">
                <a:tc gridSpan="4">
                  <a:txBody>
                    <a:bodyPr/>
                    <a:lstStyle/>
                    <a:p>
                      <a:r>
                        <a:rPr lang="pt-BR" sz="1400" dirty="0" smtClean="0">
                          <a:solidFill>
                            <a:srgbClr val="FFFF00"/>
                          </a:solidFill>
                        </a:rPr>
                        <a:t>Tabela 6.8 – Materiais</a:t>
                      </a:r>
                      <a:r>
                        <a:rPr lang="pt-BR" sz="1400" baseline="0" dirty="0" smtClean="0">
                          <a:solidFill>
                            <a:srgbClr val="FFFF00"/>
                          </a:solidFill>
                        </a:rPr>
                        <a:t> estruturais para edifícios</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Concreto</a:t>
                      </a:r>
                    </a:p>
                    <a:p>
                      <a:pPr algn="ctr"/>
                      <a:r>
                        <a:rPr lang="pt-BR" sz="1050" baseline="0" dirty="0" smtClean="0"/>
                        <a:t>Tijolo</a:t>
                      </a:r>
                    </a:p>
                    <a:p>
                      <a:pPr algn="ctr"/>
                      <a:r>
                        <a:rPr lang="pt-BR" sz="1050" baseline="0" dirty="0" smtClean="0"/>
                        <a:t>Pedra</a:t>
                      </a:r>
                    </a:p>
                    <a:p>
                      <a:pPr algn="ctr"/>
                      <a:endParaRPr lang="pt-BR" sz="1050" baseline="0" dirty="0" smtClean="0"/>
                    </a:p>
                    <a:p>
                      <a:pPr algn="ctr"/>
                      <a:r>
                        <a:rPr lang="pt-BR" sz="1050" baseline="0" dirty="0" smtClean="0"/>
                        <a:t>Madeira</a:t>
                      </a:r>
                    </a:p>
                    <a:p>
                      <a:pPr algn="ctr"/>
                      <a:r>
                        <a:rPr lang="pt-BR" sz="1050" baseline="0" dirty="0" smtClean="0"/>
                        <a:t>Ferro fundido</a:t>
                      </a:r>
                    </a:p>
                    <a:p>
                      <a:pPr algn="ctr"/>
                      <a:r>
                        <a:rPr lang="pt-BR" sz="1050" baseline="0" dirty="0" smtClean="0"/>
                        <a:t>Aço</a:t>
                      </a:r>
                    </a:p>
                  </a:txBody>
                  <a:tcPr>
                    <a:solidFill>
                      <a:schemeClr val="accent1"/>
                    </a:solidFill>
                  </a:tcPr>
                </a:tc>
                <a:tc>
                  <a:txBody>
                    <a:bodyPr/>
                    <a:lstStyle/>
                    <a:p>
                      <a:pPr marL="0" algn="ctr" defTabSz="914400" rtl="0" eaLnBrk="1" latinLnBrk="0" hangingPunct="1"/>
                      <a:r>
                        <a:rPr lang="pt-BR" sz="1100" b="1" i="1" kern="1200" baseline="0" dirty="0" smtClean="0">
                          <a:solidFill>
                            <a:srgbClr val="FFFF00"/>
                          </a:solidFill>
                          <a:latin typeface="+mn-lt"/>
                          <a:ea typeface="+mn-ea"/>
                          <a:cs typeface="+mn-cs"/>
                        </a:rPr>
                        <a:t>M</a:t>
                      </a:r>
                      <a:r>
                        <a:rPr lang="pt-BR" sz="1100" b="1" i="1" kern="1200" baseline="-25000" dirty="0" smtClean="0">
                          <a:solidFill>
                            <a:srgbClr val="FFFF00"/>
                          </a:solidFill>
                          <a:latin typeface="+mn-lt"/>
                          <a:ea typeface="+mn-ea"/>
                          <a:cs typeface="+mn-cs"/>
                        </a:rPr>
                        <a:t>1</a:t>
                      </a:r>
                      <a:r>
                        <a:rPr lang="pt-BR" sz="1100" b="1" i="1" kern="1200" baseline="0" dirty="0" smtClean="0">
                          <a:solidFill>
                            <a:srgbClr val="FFFF00"/>
                          </a:solidFill>
                          <a:latin typeface="+mn-lt"/>
                          <a:ea typeface="+mn-ea"/>
                          <a:cs typeface="+mn-cs"/>
                        </a:rPr>
                        <a:t>  </a:t>
                      </a:r>
                      <a:r>
                        <a:rPr lang="pt-BR" sz="1100" b="1" kern="1200" baseline="0" dirty="0" smtClean="0">
                          <a:solidFill>
                            <a:srgbClr val="FFFF00"/>
                          </a:solidFill>
                          <a:latin typeface="+mn-lt"/>
                          <a:ea typeface="+mn-ea"/>
                          <a:cs typeface="+mn-cs"/>
                        </a:rPr>
                        <a:t>(GPa</a:t>
                      </a:r>
                      <a:r>
                        <a:rPr lang="pt-BR" sz="1100" b="1" kern="1200" baseline="30000" dirty="0" smtClean="0">
                          <a:solidFill>
                            <a:srgbClr val="FFFF00"/>
                          </a:solidFill>
                          <a:latin typeface="+mn-lt"/>
                          <a:ea typeface="+mn-ea"/>
                          <a:cs typeface="+mn-cs"/>
                        </a:rPr>
                        <a:t>1/2</a:t>
                      </a:r>
                      <a:r>
                        <a:rPr lang="pt-BR" sz="1100" b="1" kern="1200" baseline="0" dirty="0" smtClean="0">
                          <a:solidFill>
                            <a:srgbClr val="FFFF00"/>
                          </a:solidFill>
                          <a:latin typeface="+mn-lt"/>
                          <a:ea typeface="+mn-ea"/>
                          <a:cs typeface="+mn-cs"/>
                        </a:rPr>
                        <a:t> )/(kg/m</a:t>
                      </a:r>
                      <a:r>
                        <a:rPr lang="pt-BR" sz="1100" b="1" kern="1200" baseline="30000" dirty="0" smtClean="0">
                          <a:solidFill>
                            <a:srgbClr val="FFFF00"/>
                          </a:solidFill>
                          <a:latin typeface="+mn-lt"/>
                          <a:ea typeface="+mn-ea"/>
                          <a:cs typeface="+mn-cs"/>
                        </a:rPr>
                        <a:t>3</a:t>
                      </a:r>
                      <a:r>
                        <a:rPr lang="pt-BR" sz="1100" b="1" kern="1200" baseline="0" dirty="0" smtClean="0">
                          <a:solidFill>
                            <a:srgbClr val="FFFF00"/>
                          </a:solidFill>
                          <a:latin typeface="+mn-lt"/>
                          <a:ea typeface="+mn-ea"/>
                          <a:cs typeface="+mn-cs"/>
                        </a:rPr>
                        <a:t>)</a:t>
                      </a:r>
                    </a:p>
                    <a:p>
                      <a:pPr algn="ctr"/>
                      <a:endParaRPr lang="pt-BR" sz="1050" b="1" baseline="0" dirty="0" smtClean="0">
                        <a:solidFill>
                          <a:srgbClr val="FFFF00"/>
                        </a:solidFill>
                      </a:endParaRPr>
                    </a:p>
                    <a:p>
                      <a:pPr algn="ctr"/>
                      <a:r>
                        <a:rPr lang="pt-BR" sz="1050" b="0" baseline="0" dirty="0" smtClean="0">
                          <a:solidFill>
                            <a:schemeClr val="tx1"/>
                          </a:solidFill>
                        </a:rPr>
                        <a:t>160</a:t>
                      </a:r>
                    </a:p>
                    <a:p>
                      <a:pPr algn="ctr"/>
                      <a:r>
                        <a:rPr lang="pt-BR" sz="1050" b="0" baseline="0" dirty="0" smtClean="0">
                          <a:solidFill>
                            <a:schemeClr val="tx1"/>
                          </a:solidFill>
                        </a:rPr>
                        <a:t>12</a:t>
                      </a:r>
                    </a:p>
                    <a:p>
                      <a:pPr algn="ctr"/>
                      <a:r>
                        <a:rPr lang="pt-BR" sz="1050" b="0" baseline="0" dirty="0" smtClean="0">
                          <a:solidFill>
                            <a:schemeClr val="tx1"/>
                          </a:solidFill>
                        </a:rPr>
                        <a:t>9,3</a:t>
                      </a:r>
                    </a:p>
                    <a:p>
                      <a:pPr algn="ctr"/>
                      <a:endParaRPr lang="pt-BR" sz="1050" b="0" baseline="0" dirty="0" smtClean="0">
                        <a:solidFill>
                          <a:schemeClr val="tx1"/>
                        </a:solidFill>
                      </a:endParaRPr>
                    </a:p>
                    <a:p>
                      <a:pPr algn="ctr"/>
                      <a:r>
                        <a:rPr lang="pt-BR" sz="1050" b="0" baseline="0" dirty="0" smtClean="0">
                          <a:solidFill>
                            <a:schemeClr val="tx1"/>
                          </a:solidFill>
                        </a:rPr>
                        <a:t>21</a:t>
                      </a:r>
                    </a:p>
                    <a:p>
                      <a:pPr algn="ctr"/>
                      <a:r>
                        <a:rPr lang="pt-BR" sz="1050" b="0" baseline="0" dirty="0" smtClean="0">
                          <a:solidFill>
                            <a:schemeClr val="tx1"/>
                          </a:solidFill>
                        </a:rPr>
                        <a:t>17</a:t>
                      </a:r>
                    </a:p>
                    <a:p>
                      <a:pPr algn="ctr"/>
                      <a:r>
                        <a:rPr lang="pt-BR" sz="1050" b="0" baseline="0" dirty="0" smtClean="0">
                          <a:solidFill>
                            <a:schemeClr val="tx1"/>
                          </a:solidFill>
                        </a:rPr>
                        <a:t>14</a:t>
                      </a:r>
                    </a:p>
                  </a:txBody>
                  <a:tcPr>
                    <a:solidFill>
                      <a:schemeClr val="accent1"/>
                    </a:solidFill>
                  </a:tcPr>
                </a:tc>
                <a:tc>
                  <a:txBody>
                    <a:bodyPr/>
                    <a:lstStyle/>
                    <a:p>
                      <a:pPr algn="ctr"/>
                      <a:r>
                        <a:rPr lang="pt-BR" sz="1100" b="1" baseline="0" dirty="0" smtClean="0">
                          <a:solidFill>
                            <a:srgbClr val="FFFF00"/>
                          </a:solidFill>
                        </a:rPr>
                        <a:t>M</a:t>
                      </a:r>
                      <a:r>
                        <a:rPr lang="pt-BR" sz="1100" b="1" baseline="-25000" dirty="0" smtClean="0">
                          <a:solidFill>
                            <a:srgbClr val="FFFF00"/>
                          </a:solidFill>
                        </a:rPr>
                        <a:t>2</a:t>
                      </a:r>
                      <a:r>
                        <a:rPr lang="pt-BR" sz="1100" b="1" baseline="0" dirty="0" smtClean="0">
                          <a:solidFill>
                            <a:srgbClr val="FFFF00"/>
                          </a:solidFill>
                        </a:rPr>
                        <a:t> (MPa</a:t>
                      </a:r>
                      <a:r>
                        <a:rPr lang="pt-BR" sz="1100" b="1" baseline="30000" dirty="0" smtClean="0">
                          <a:solidFill>
                            <a:srgbClr val="FFFF00"/>
                          </a:solidFill>
                        </a:rPr>
                        <a:t>2/3</a:t>
                      </a:r>
                      <a:r>
                        <a:rPr lang="pt-BR" sz="1100" b="1" baseline="0" dirty="0" smtClean="0">
                          <a:solidFill>
                            <a:srgbClr val="FFFF00"/>
                          </a:solidFill>
                        </a:rPr>
                        <a:t>)/(kg/m</a:t>
                      </a:r>
                      <a:r>
                        <a:rPr lang="pt-BR" sz="1100" b="1" baseline="30000" dirty="0" smtClean="0">
                          <a:solidFill>
                            <a:srgbClr val="FFFF00"/>
                          </a:solidFill>
                        </a:rPr>
                        <a:t>3</a:t>
                      </a:r>
                      <a:r>
                        <a:rPr lang="pt-BR" sz="1100" b="1" baseline="0" dirty="0" smtClean="0">
                          <a:solidFill>
                            <a:srgbClr val="FFFF00"/>
                          </a:solidFill>
                        </a:rPr>
                        <a:t>)</a:t>
                      </a:r>
                    </a:p>
                    <a:p>
                      <a:pPr algn="ctr"/>
                      <a:endParaRPr lang="pt-BR" sz="1050" b="1" baseline="0" dirty="0" smtClean="0">
                        <a:solidFill>
                          <a:srgbClr val="FFFF00"/>
                        </a:solidFill>
                      </a:endParaRPr>
                    </a:p>
                    <a:p>
                      <a:pPr algn="ctr"/>
                      <a:r>
                        <a:rPr lang="pt-BR" sz="1050" b="0" baseline="0" dirty="0" smtClean="0">
                          <a:solidFill>
                            <a:schemeClr val="tx1"/>
                          </a:solidFill>
                        </a:rPr>
                        <a:t>14</a:t>
                      </a:r>
                    </a:p>
                    <a:p>
                      <a:pPr algn="ctr"/>
                      <a:r>
                        <a:rPr lang="pt-BR" sz="1050" b="0" baseline="0" dirty="0" smtClean="0">
                          <a:solidFill>
                            <a:schemeClr val="tx1"/>
                          </a:solidFill>
                        </a:rPr>
                        <a:t>12</a:t>
                      </a:r>
                    </a:p>
                    <a:p>
                      <a:pPr algn="ctr"/>
                      <a:r>
                        <a:rPr lang="pt-BR" sz="1050" b="0" baseline="0" dirty="0" smtClean="0">
                          <a:solidFill>
                            <a:schemeClr val="tx1"/>
                          </a:solidFill>
                        </a:rPr>
                        <a:t>12</a:t>
                      </a:r>
                    </a:p>
                    <a:p>
                      <a:pPr algn="ctr"/>
                      <a:endParaRPr lang="pt-BR" sz="1050" b="0" baseline="0" dirty="0" smtClean="0">
                        <a:solidFill>
                          <a:schemeClr val="tx1"/>
                        </a:solidFill>
                      </a:endParaRPr>
                    </a:p>
                    <a:p>
                      <a:pPr algn="ctr"/>
                      <a:r>
                        <a:rPr lang="pt-BR" sz="1050" b="0" baseline="0" dirty="0" smtClean="0">
                          <a:solidFill>
                            <a:schemeClr val="tx1"/>
                          </a:solidFill>
                        </a:rPr>
                        <a:t>90</a:t>
                      </a:r>
                    </a:p>
                    <a:p>
                      <a:pPr algn="ctr"/>
                      <a:r>
                        <a:rPr lang="pt-BR" sz="1050" b="0" baseline="0" dirty="0" smtClean="0">
                          <a:solidFill>
                            <a:schemeClr val="tx1"/>
                          </a:solidFill>
                        </a:rPr>
                        <a:t>90</a:t>
                      </a:r>
                    </a:p>
                    <a:p>
                      <a:pPr algn="ctr"/>
                      <a:r>
                        <a:rPr lang="pt-BR" sz="1050" b="0" baseline="0" dirty="0" smtClean="0">
                          <a:solidFill>
                            <a:schemeClr val="tx1"/>
                          </a:solidFill>
                        </a:rPr>
                        <a:t>45</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Uso somente em compressão</a:t>
                      </a:r>
                    </a:p>
                    <a:p>
                      <a:pPr algn="ctr"/>
                      <a:endParaRPr lang="pt-BR" sz="1050" b="1" baseline="0" dirty="0" smtClean="0">
                        <a:solidFill>
                          <a:schemeClr val="tx1"/>
                        </a:solidFill>
                      </a:endParaRPr>
                    </a:p>
                    <a:p>
                      <a:pPr algn="ct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Podem suportar  flexão e tração, bem como compressão, o que permite maior liberdade de forma</a:t>
                      </a:r>
                    </a:p>
                  </a:txBody>
                  <a:tcPr>
                    <a:solidFill>
                      <a:schemeClr val="accent1"/>
                    </a:solidFill>
                  </a:tcPr>
                </a:tc>
              </a:tr>
            </a:tbl>
          </a:graphicData>
        </a:graphic>
      </p:graphicFrame>
    </p:spTree>
    <p:extLst>
      <p:ext uri="{BB962C8B-B14F-4D97-AF65-F5344CB8AC3E}">
        <p14:creationId xmlns:p14="http://schemas.microsoft.com/office/powerpoint/2010/main" val="40263556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124200" y="304800"/>
            <a:ext cx="5181600" cy="1554162"/>
          </a:xfrm>
        </p:spPr>
        <p:txBody>
          <a:bodyPr>
            <a:normAutofit/>
          </a:bodyPr>
          <a:lstStyle/>
          <a:p>
            <a:r>
              <a:rPr lang="pt-BR" dirty="0" smtClean="0"/>
              <a:t>Materiais para Volantes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8" name="Grupo 7"/>
          <p:cNvGrpSpPr/>
          <p:nvPr/>
        </p:nvGrpSpPr>
        <p:grpSpPr>
          <a:xfrm>
            <a:off x="609601" y="152401"/>
            <a:ext cx="2209799" cy="2126412"/>
            <a:chOff x="685800" y="457200"/>
            <a:chExt cx="2408687" cy="2483539"/>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57200"/>
              <a:ext cx="2408687" cy="2237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510873" y="2694518"/>
              <a:ext cx="758541" cy="246221"/>
            </a:xfrm>
            <a:prstGeom prst="rect">
              <a:avLst/>
            </a:prstGeom>
            <a:noFill/>
          </p:spPr>
          <p:txBody>
            <a:bodyPr wrap="none" rtlCol="0">
              <a:spAutoFit/>
            </a:bodyPr>
            <a:lstStyle/>
            <a:p>
              <a:pPr algn="ctr"/>
              <a:r>
                <a:rPr lang="en-US" sz="1000" dirty="0" smtClean="0"/>
                <a:t>Figura 6.9</a:t>
              </a:r>
              <a:endParaRPr lang="en-US" sz="1000" dirty="0"/>
            </a:p>
          </p:txBody>
        </p:sp>
      </p:grpSp>
      <p:graphicFrame>
        <p:nvGraphicFramePr>
          <p:cNvPr id="9" name="Tabela 8"/>
          <p:cNvGraphicFramePr>
            <a:graphicFrameLocks noGrp="1"/>
          </p:cNvGraphicFramePr>
          <p:nvPr>
            <p:extLst>
              <p:ext uri="{D42A27DB-BD31-4B8C-83A1-F6EECF244321}">
                <p14:modId xmlns:p14="http://schemas.microsoft.com/office/powerpoint/2010/main" val="1940518919"/>
              </p:ext>
            </p:extLst>
          </p:nvPr>
        </p:nvGraphicFramePr>
        <p:xfrm>
          <a:off x="228600" y="2362200"/>
          <a:ext cx="8449526" cy="221488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6.9(a) – Requisitos</a:t>
                      </a:r>
                      <a:r>
                        <a:rPr lang="pt-BR" sz="1200" baseline="0" dirty="0" smtClean="0"/>
                        <a:t> de projeto para um volante de energia máxima</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Volante para armazenamento de energia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dirty="0" smtClean="0"/>
                        <a:t>Raio externo, </a:t>
                      </a:r>
                      <a:r>
                        <a:rPr lang="pt-BR" sz="1400" i="1" dirty="0" smtClean="0"/>
                        <a:t>R</a:t>
                      </a:r>
                      <a:r>
                        <a:rPr lang="pt-BR" sz="1400" dirty="0" smtClean="0"/>
                        <a:t>,</a:t>
                      </a:r>
                      <a:r>
                        <a:rPr lang="pt-BR" sz="1400" baseline="0" dirty="0" smtClean="0"/>
                        <a:t> fixo </a:t>
                      </a:r>
                    </a:p>
                    <a:p>
                      <a:r>
                        <a:rPr lang="pt-BR" sz="1400" baseline="0" dirty="0" smtClean="0"/>
                        <a:t>Não deve sofrer ruptura</a:t>
                      </a:r>
                    </a:p>
                    <a:p>
                      <a:r>
                        <a:rPr lang="pt-BR" sz="1400" baseline="0" dirty="0" smtClean="0"/>
                        <a:t>Tenacidade adequada para dar tolerância à trincadura</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 energia cinética</a:t>
                      </a:r>
                      <a:r>
                        <a:rPr lang="pt-BR" sz="1400" baseline="0" dirty="0" smtClean="0"/>
                        <a:t> por unidade de massa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p:graphicFrame>
        <p:nvGraphicFramePr>
          <p:cNvPr id="10" name="Tabela 9"/>
          <p:cNvGraphicFramePr>
            <a:graphicFrameLocks noGrp="1"/>
          </p:cNvGraphicFramePr>
          <p:nvPr>
            <p:extLst>
              <p:ext uri="{D42A27DB-BD31-4B8C-83A1-F6EECF244321}">
                <p14:modId xmlns:p14="http://schemas.microsoft.com/office/powerpoint/2010/main" val="3685411319"/>
              </p:ext>
            </p:extLst>
          </p:nvPr>
        </p:nvGraphicFramePr>
        <p:xfrm>
          <a:off x="228600" y="4699000"/>
          <a:ext cx="8449526" cy="1854200"/>
        </p:xfrm>
        <a:graphic>
          <a:graphicData uri="http://schemas.openxmlformats.org/drawingml/2006/table">
            <a:tbl>
              <a:tblPr firstRow="1" bandRow="1">
                <a:tableStyleId>{B301B821-A1FF-4177-AEE7-76D212191A09}</a:tableStyleId>
              </a:tblPr>
              <a:tblGrid>
                <a:gridCol w="1787919"/>
                <a:gridCol w="6661607"/>
              </a:tblGrid>
              <a:tr h="370840">
                <a:tc gridSpan="2">
                  <a:txBody>
                    <a:bodyPr/>
                    <a:lstStyle/>
                    <a:p>
                      <a:r>
                        <a:rPr lang="pt-BR" sz="1200" dirty="0" smtClean="0"/>
                        <a:t>Tabela 6.9(b) – Requisitos de projeto</a:t>
                      </a:r>
                      <a:r>
                        <a:rPr lang="pt-BR" sz="1200" baseline="0" dirty="0" smtClean="0"/>
                        <a:t> para velocidade fixa</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Volante para brinquedo</a:t>
                      </a:r>
                      <a:r>
                        <a:rPr lang="pt-BR" sz="1400" baseline="0" dirty="0" smtClean="0"/>
                        <a:t> de criança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dirty="0" smtClean="0"/>
                        <a:t>Raio externo, </a:t>
                      </a:r>
                      <a:r>
                        <a:rPr lang="pt-BR" sz="1400" i="1" dirty="0" smtClean="0"/>
                        <a:t>R</a:t>
                      </a:r>
                      <a:r>
                        <a:rPr lang="pt-BR" sz="1400" dirty="0" smtClean="0"/>
                        <a:t>,</a:t>
                      </a:r>
                      <a:r>
                        <a:rPr lang="pt-BR" sz="1400" baseline="0" dirty="0" smtClean="0"/>
                        <a:t> fixo </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 energia cinética</a:t>
                      </a:r>
                      <a:r>
                        <a:rPr lang="pt-BR" sz="1400" baseline="0" dirty="0" smtClean="0"/>
                        <a:t> por unidade de volume a uma velocidade angular fixa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p:spTree>
    <p:extLst>
      <p:ext uri="{BB962C8B-B14F-4D97-AF65-F5344CB8AC3E}">
        <p14:creationId xmlns:p14="http://schemas.microsoft.com/office/powerpoint/2010/main" val="17268892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p:cNvSpPr>
            <a:spLocks noGrp="1"/>
          </p:cNvSpPr>
          <p:nvPr>
            <p:ph type="subTitle" idx="1"/>
          </p:nvPr>
        </p:nvSpPr>
        <p:spPr>
          <a:xfrm>
            <a:off x="838200" y="152400"/>
            <a:ext cx="7391400" cy="1295399"/>
          </a:xfrm>
        </p:spPr>
        <p:txBody>
          <a:bodyPr>
            <a:normAutofit fontScale="70000" lnSpcReduction="20000"/>
          </a:bodyPr>
          <a:lstStyle/>
          <a:p>
            <a:r>
              <a:rPr lang="pt-BR" dirty="0" smtClean="0"/>
              <a:t>Materiais para volantes. Compósitos são as melhores escolhas. Chumbo e ferro fundido, tradicional para volantes, são bons quando o desempenho é limitado pela velocidade de rotação, não resistência.</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371600" y="1455151"/>
            <a:ext cx="6400800" cy="5059358"/>
            <a:chOff x="1371600" y="1455151"/>
            <a:chExt cx="6400800" cy="5059358"/>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455151"/>
              <a:ext cx="6400800" cy="4806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7461" y="6268288"/>
              <a:ext cx="829073" cy="246221"/>
            </a:xfrm>
            <a:prstGeom prst="rect">
              <a:avLst/>
            </a:prstGeom>
            <a:noFill/>
          </p:spPr>
          <p:txBody>
            <a:bodyPr wrap="none" rtlCol="0">
              <a:spAutoFit/>
            </a:bodyPr>
            <a:lstStyle/>
            <a:p>
              <a:pPr algn="ctr"/>
              <a:r>
                <a:rPr lang="en-US" sz="1000" dirty="0" smtClean="0"/>
                <a:t>Figura 6.10</a:t>
              </a:r>
              <a:endParaRPr lang="en-US" sz="1000" dirty="0"/>
            </a:p>
          </p:txBody>
        </p:sp>
      </p:grpSp>
    </p:spTree>
    <p:extLst>
      <p:ext uri="{BB962C8B-B14F-4D97-AF65-F5344CB8AC3E}">
        <p14:creationId xmlns:p14="http://schemas.microsoft.com/office/powerpoint/2010/main" val="8799094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aphicFrame>
        <p:nvGraphicFramePr>
          <p:cNvPr id="4" name="Tabela 3"/>
          <p:cNvGraphicFramePr>
            <a:graphicFrameLocks noGrp="1"/>
          </p:cNvGraphicFramePr>
          <p:nvPr>
            <p:extLst>
              <p:ext uri="{D42A27DB-BD31-4B8C-83A1-F6EECF244321}">
                <p14:modId xmlns:p14="http://schemas.microsoft.com/office/powerpoint/2010/main" val="2724089825"/>
              </p:ext>
            </p:extLst>
          </p:nvPr>
        </p:nvGraphicFramePr>
        <p:xfrm>
          <a:off x="457200" y="838200"/>
          <a:ext cx="8201026" cy="2659380"/>
        </p:xfrm>
        <a:graphic>
          <a:graphicData uri="http://schemas.openxmlformats.org/drawingml/2006/table">
            <a:tbl>
              <a:tblPr firstRow="1" bandRow="1">
                <a:tableStyleId>{68D230F3-CF80-4859-8CE7-A43EE81993B5}</a:tableStyleId>
              </a:tblPr>
              <a:tblGrid>
                <a:gridCol w="1800226"/>
                <a:gridCol w="2209800"/>
                <a:gridCol w="4191000"/>
              </a:tblGrid>
              <a:tr h="487680">
                <a:tc gridSpan="3">
                  <a:txBody>
                    <a:bodyPr/>
                    <a:lstStyle/>
                    <a:p>
                      <a:r>
                        <a:rPr lang="pt-BR" sz="1400" dirty="0" smtClean="0">
                          <a:solidFill>
                            <a:srgbClr val="FFFF00"/>
                          </a:solidFill>
                        </a:rPr>
                        <a:t>Tabela 6.10 – Densidade de energia de fontes de potência</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Gasolina</a:t>
                      </a:r>
                    </a:p>
                    <a:p>
                      <a:pPr algn="ctr"/>
                      <a:endParaRPr lang="pt-BR" sz="1050" baseline="0" dirty="0" smtClean="0"/>
                    </a:p>
                    <a:p>
                      <a:pPr algn="ctr"/>
                      <a:r>
                        <a:rPr lang="pt-BR" sz="1050" baseline="0" dirty="0" smtClean="0"/>
                        <a:t>Combustível de foguete</a:t>
                      </a:r>
                    </a:p>
                    <a:p>
                      <a:pPr algn="ctr"/>
                      <a:endParaRPr lang="pt-BR" sz="1050" baseline="0" dirty="0" smtClean="0"/>
                    </a:p>
                    <a:p>
                      <a:pPr algn="ctr"/>
                      <a:r>
                        <a:rPr lang="pt-BR" sz="1050" baseline="0" dirty="0" smtClean="0"/>
                        <a:t>Volantes</a:t>
                      </a:r>
                    </a:p>
                    <a:p>
                      <a:pPr algn="ctr"/>
                      <a:endParaRPr lang="pt-BR" sz="1050" baseline="0" dirty="0" smtClean="0"/>
                    </a:p>
                    <a:p>
                      <a:pPr algn="ctr"/>
                      <a:r>
                        <a:rPr lang="pt-BR" sz="1050" baseline="0" dirty="0" smtClean="0"/>
                        <a:t>Baterias de íons de lítio</a:t>
                      </a:r>
                    </a:p>
                    <a:p>
                      <a:pPr algn="ctr"/>
                      <a:r>
                        <a:rPr lang="pt-BR" sz="1050" baseline="0" dirty="0" smtClean="0"/>
                        <a:t>Bateria de níquel-cádmio</a:t>
                      </a:r>
                    </a:p>
                    <a:p>
                      <a:pPr algn="ctr"/>
                      <a:r>
                        <a:rPr lang="pt-BR" sz="1050" baseline="0" dirty="0" smtClean="0"/>
                        <a:t>Bateria ácida de chumbo</a:t>
                      </a:r>
                    </a:p>
                    <a:p>
                      <a:pPr algn="ctr"/>
                      <a:r>
                        <a:rPr lang="pt-BR" sz="1050" baseline="0" dirty="0" smtClean="0"/>
                        <a:t>Molas, tiras de borracha</a:t>
                      </a:r>
                    </a:p>
                  </a:txBody>
                  <a:tcPr>
                    <a:solidFill>
                      <a:schemeClr val="accent1"/>
                    </a:solidFill>
                  </a:tcPr>
                </a:tc>
                <a:tc>
                  <a:txBody>
                    <a:bodyPr/>
                    <a:lstStyle/>
                    <a:p>
                      <a:pPr marL="0" algn="ctr" defTabSz="914400" rtl="0" eaLnBrk="1" latinLnBrk="0" hangingPunct="1"/>
                      <a:r>
                        <a:rPr lang="pt-BR" sz="1100" b="1" i="1" kern="1200" baseline="0" dirty="0" smtClean="0">
                          <a:solidFill>
                            <a:srgbClr val="FFFF00"/>
                          </a:solidFill>
                          <a:latin typeface="+mn-lt"/>
                          <a:ea typeface="+mn-ea"/>
                          <a:cs typeface="+mn-cs"/>
                        </a:rPr>
                        <a:t>Densidade de Energia </a:t>
                      </a:r>
                      <a:r>
                        <a:rPr lang="pt-BR" sz="1100" b="1" i="1" kern="1200" baseline="0" dirty="0" err="1" smtClean="0">
                          <a:solidFill>
                            <a:srgbClr val="FFFF00"/>
                          </a:solidFill>
                          <a:latin typeface="+mn-lt"/>
                          <a:ea typeface="+mn-ea"/>
                          <a:cs typeface="+mn-cs"/>
                        </a:rPr>
                        <a:t>kJ</a:t>
                      </a:r>
                      <a:r>
                        <a:rPr lang="pt-BR" sz="1100" b="1" i="1" kern="1200" baseline="0" dirty="0" smtClean="0">
                          <a:solidFill>
                            <a:srgbClr val="FFFF00"/>
                          </a:solidFill>
                          <a:latin typeface="+mn-lt"/>
                          <a:ea typeface="+mn-ea"/>
                          <a:cs typeface="+mn-cs"/>
                        </a:rPr>
                        <a:t>/kg</a:t>
                      </a:r>
                      <a:endParaRPr lang="pt-BR" sz="1100" b="1" kern="1200" baseline="0" dirty="0" smtClean="0">
                        <a:solidFill>
                          <a:srgbClr val="FFFF00"/>
                        </a:solidFill>
                        <a:latin typeface="+mn-lt"/>
                        <a:ea typeface="+mn-ea"/>
                        <a:cs typeface="+mn-cs"/>
                      </a:endParaRPr>
                    </a:p>
                    <a:p>
                      <a:pPr algn="ctr"/>
                      <a:endParaRPr lang="pt-BR" sz="1050" b="1" baseline="0" dirty="0" smtClean="0">
                        <a:solidFill>
                          <a:srgbClr val="FFFF00"/>
                        </a:solidFill>
                      </a:endParaRPr>
                    </a:p>
                    <a:p>
                      <a:pPr algn="ctr"/>
                      <a:r>
                        <a:rPr lang="pt-BR" sz="1050" b="0" baseline="0" dirty="0" smtClean="0">
                          <a:solidFill>
                            <a:schemeClr val="tx1"/>
                          </a:solidFill>
                        </a:rPr>
                        <a:t>20.000</a:t>
                      </a:r>
                    </a:p>
                    <a:p>
                      <a:pPr algn="ctr"/>
                      <a:endParaRPr lang="pt-BR" sz="1050" b="0" baseline="0" dirty="0" smtClean="0">
                        <a:solidFill>
                          <a:schemeClr val="tx1"/>
                        </a:solidFill>
                      </a:endParaRPr>
                    </a:p>
                    <a:p>
                      <a:pPr algn="ctr"/>
                      <a:r>
                        <a:rPr lang="pt-BR" sz="1050" b="0" baseline="0" dirty="0" smtClean="0">
                          <a:solidFill>
                            <a:schemeClr val="tx1"/>
                          </a:solidFill>
                        </a:rPr>
                        <a:t>5.000</a:t>
                      </a:r>
                    </a:p>
                    <a:p>
                      <a:pPr algn="ctr"/>
                      <a:endParaRPr lang="pt-BR" sz="1050" b="0" baseline="0" dirty="0" smtClean="0">
                        <a:solidFill>
                          <a:schemeClr val="tx1"/>
                        </a:solidFill>
                      </a:endParaRPr>
                    </a:p>
                    <a:p>
                      <a:pPr algn="ctr"/>
                      <a:r>
                        <a:rPr lang="pt-BR" sz="1050" b="0" baseline="0" dirty="0" smtClean="0">
                          <a:solidFill>
                            <a:schemeClr val="tx1"/>
                          </a:solidFill>
                        </a:rPr>
                        <a:t>Até 400</a:t>
                      </a:r>
                    </a:p>
                    <a:p>
                      <a:pPr algn="ctr"/>
                      <a:endParaRPr lang="pt-BR" sz="1050" b="0" baseline="0" dirty="0" smtClean="0">
                        <a:solidFill>
                          <a:schemeClr val="tx1"/>
                        </a:solidFill>
                      </a:endParaRPr>
                    </a:p>
                    <a:p>
                      <a:pPr algn="ctr"/>
                      <a:r>
                        <a:rPr lang="pt-BR" sz="1050" b="0" baseline="0" dirty="0" smtClean="0">
                          <a:solidFill>
                            <a:schemeClr val="tx1"/>
                          </a:solidFill>
                        </a:rPr>
                        <a:t>Até 350</a:t>
                      </a:r>
                    </a:p>
                    <a:p>
                      <a:pPr algn="ctr"/>
                      <a:r>
                        <a:rPr lang="pt-BR" sz="1050" b="0" baseline="0" dirty="0" smtClean="0">
                          <a:solidFill>
                            <a:schemeClr val="tx1"/>
                          </a:solidFill>
                        </a:rPr>
                        <a:t>170-200</a:t>
                      </a:r>
                    </a:p>
                    <a:p>
                      <a:pPr algn="ctr"/>
                      <a:r>
                        <a:rPr lang="pt-BR" sz="1050" b="0" baseline="0" dirty="0" smtClean="0">
                          <a:solidFill>
                            <a:schemeClr val="tx1"/>
                          </a:solidFill>
                        </a:rPr>
                        <a:t>50-80</a:t>
                      </a:r>
                    </a:p>
                    <a:p>
                      <a:pPr algn="ctr"/>
                      <a:r>
                        <a:rPr lang="pt-BR" sz="1050" b="0" baseline="0" dirty="0" smtClean="0">
                          <a:solidFill>
                            <a:schemeClr val="tx1"/>
                          </a:solidFill>
                        </a:rPr>
                        <a:t>Até 5</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Oxidação de hidrocarboneto – massa de oxigênio não incluída</a:t>
                      </a:r>
                    </a:p>
                    <a:p>
                      <a:pPr algn="ctr"/>
                      <a:endParaRPr lang="pt-BR" sz="1050" b="1" baseline="0" dirty="0" smtClean="0">
                        <a:solidFill>
                          <a:schemeClr val="tx1"/>
                        </a:solidFill>
                      </a:endParaRPr>
                    </a:p>
                    <a:p>
                      <a:pPr algn="ctr"/>
                      <a:r>
                        <a:rPr lang="pt-BR" sz="1050" b="1" baseline="0" dirty="0" smtClean="0">
                          <a:solidFill>
                            <a:schemeClr val="tx1"/>
                          </a:solidFill>
                        </a:rPr>
                        <a:t>Menos do que hidrocarbonetos  porque o agente oxidante é parte do combustível</a:t>
                      </a:r>
                    </a:p>
                    <a:p>
                      <a:pPr algn="ctr"/>
                      <a:r>
                        <a:rPr lang="pt-BR" sz="1050" b="1" baseline="0" dirty="0" smtClean="0">
                          <a:solidFill>
                            <a:schemeClr val="tx1"/>
                          </a:solidFill>
                        </a:rPr>
                        <a:t>Atraentes mais ainda não comprovados</a:t>
                      </a:r>
                    </a:p>
                    <a:p>
                      <a:pPr algn="ctr"/>
                      <a:endParaRPr lang="pt-BR" sz="1050" b="1" baseline="0" dirty="0" smtClean="0">
                        <a:solidFill>
                          <a:schemeClr val="tx1"/>
                        </a:solidFill>
                      </a:endParaRPr>
                    </a:p>
                    <a:p>
                      <a:pPr algn="ctr"/>
                      <a:r>
                        <a:rPr lang="pt-BR" sz="1050" b="1" baseline="0" dirty="0" smtClean="0">
                          <a:solidFill>
                            <a:schemeClr val="tx1"/>
                          </a:solidFill>
                        </a:rPr>
                        <a:t>Cara vida limitada</a:t>
                      </a:r>
                    </a:p>
                    <a:p>
                      <a:pPr algn="ctr"/>
                      <a:r>
                        <a:rPr lang="pt-BR" sz="1050" b="1" baseline="0" dirty="0" smtClean="0">
                          <a:solidFill>
                            <a:schemeClr val="tx1"/>
                          </a:solidFill>
                        </a:rPr>
                        <a:t>Menos cara do que a de íons lítio</a:t>
                      </a:r>
                    </a:p>
                    <a:p>
                      <a:pPr algn="ctr"/>
                      <a:r>
                        <a:rPr lang="pt-BR" sz="1050" b="1" baseline="0" dirty="0" smtClean="0">
                          <a:solidFill>
                            <a:schemeClr val="tx1"/>
                          </a:solidFill>
                        </a:rPr>
                        <a:t>Peso grande para a faixa aceitável</a:t>
                      </a:r>
                    </a:p>
                    <a:p>
                      <a:pPr algn="ctr"/>
                      <a:r>
                        <a:rPr lang="pt-BR" sz="1050" b="1" baseline="0" dirty="0" smtClean="0">
                          <a:solidFill>
                            <a:schemeClr val="tx1"/>
                          </a:solidFill>
                        </a:rPr>
                        <a:t>Método de armazenamento de energia muito menos eficiente do que volantes</a:t>
                      </a:r>
                    </a:p>
                  </a:txBody>
                  <a:tcPr>
                    <a:solidFill>
                      <a:schemeClr val="accent1"/>
                    </a:solidFill>
                  </a:tcPr>
                </a:tc>
              </a:tr>
            </a:tbl>
          </a:graphicData>
        </a:graphic>
      </p:graphicFrame>
    </p:spTree>
    <p:extLst>
      <p:ext uri="{BB962C8B-B14F-4D97-AF65-F5344CB8AC3E}">
        <p14:creationId xmlns:p14="http://schemas.microsoft.com/office/powerpoint/2010/main" val="3883833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229600" cy="1143000"/>
          </a:xfrm>
        </p:spPr>
        <p:txBody>
          <a:bodyPr/>
          <a:lstStyle/>
          <a:p>
            <a:r>
              <a:rPr lang="pt-BR" dirty="0" smtClean="0"/>
              <a:t>Materiais para molas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3" name="Group 2"/>
          <p:cNvGrpSpPr/>
          <p:nvPr/>
        </p:nvGrpSpPr>
        <p:grpSpPr>
          <a:xfrm>
            <a:off x="1905000" y="3545568"/>
            <a:ext cx="1600200" cy="2851198"/>
            <a:chOff x="2991333" y="685800"/>
            <a:chExt cx="3161333" cy="5103124"/>
          </a:xfrm>
        </p:grpSpPr>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1333" y="685800"/>
              <a:ext cx="3161333" cy="46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717150" y="5348233"/>
              <a:ext cx="1637905" cy="440691"/>
            </a:xfrm>
            <a:prstGeom prst="rect">
              <a:avLst/>
            </a:prstGeom>
            <a:noFill/>
          </p:spPr>
          <p:txBody>
            <a:bodyPr wrap="none" rtlCol="0">
              <a:spAutoFit/>
            </a:bodyPr>
            <a:lstStyle/>
            <a:p>
              <a:pPr algn="ctr"/>
              <a:r>
                <a:rPr lang="en-US" sz="1000" dirty="0" smtClean="0"/>
                <a:t>Figura 6.11</a:t>
              </a:r>
              <a:endParaRPr lang="en-US" sz="1000" dirty="0"/>
            </a:p>
          </p:txBody>
        </p:sp>
      </p:gr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545568"/>
            <a:ext cx="16954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1445" y="4724400"/>
            <a:ext cx="1691640" cy="934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10" name="Tabela 9"/>
              <p:cNvGraphicFramePr>
                <a:graphicFrameLocks noGrp="1"/>
              </p:cNvGraphicFramePr>
              <p:nvPr>
                <p:extLst>
                  <p:ext uri="{D42A27DB-BD31-4B8C-83A1-F6EECF244321}">
                    <p14:modId xmlns:p14="http://schemas.microsoft.com/office/powerpoint/2010/main" val="2390004973"/>
                  </p:ext>
                </p:extLst>
              </p:nvPr>
            </p:nvGraphicFramePr>
            <p:xfrm>
              <a:off x="228600" y="1143000"/>
              <a:ext cx="8686800" cy="200152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6.11 –</a:t>
                          </a:r>
                          <a:r>
                            <a:rPr lang="pt-BR" sz="1200" baseline="0" dirty="0" smtClean="0"/>
                            <a:t> Requisitos de projeto para molas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Mola elástica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Não pode falhar, o que significa </a:t>
                          </a:r>
                          <a14:m>
                            <m:oMath xmlns:m="http://schemas.openxmlformats.org/officeDocument/2006/math">
                              <m:r>
                                <a:rPr lang="pt-BR" sz="1400" i="1" baseline="0" smtClean="0">
                                  <a:latin typeface="Cambria Math"/>
                                  <a:ea typeface="Cambria Math"/>
                                </a:rPr>
                                <m:t>𝜎</m:t>
                              </m:r>
                              <m:r>
                                <a:rPr lang="pt-BR" sz="1400" b="0" i="1" baseline="0" smtClean="0">
                                  <a:latin typeface="Cambria Math"/>
                                  <a:ea typeface="Cambria Math"/>
                                </a:rPr>
                                <m:t>&lt;</m:t>
                              </m:r>
                              <m:sSub>
                                <m:sSubPr>
                                  <m:ctrlPr>
                                    <a:rPr lang="pt-BR" sz="1400" b="0" i="1" baseline="0" smtClean="0">
                                      <a:latin typeface="Cambria Math"/>
                                      <a:ea typeface="Cambria Math"/>
                                    </a:rPr>
                                  </m:ctrlPr>
                                </m:sSubPr>
                                <m:e>
                                  <m:r>
                                    <a:rPr lang="pt-BR" sz="1400" b="0" i="1" baseline="0" smtClean="0">
                                      <a:latin typeface="Cambria Math"/>
                                      <a:ea typeface="Cambria Math"/>
                                    </a:rPr>
                                    <m:t>𝜎</m:t>
                                  </m:r>
                                </m:e>
                                <m:sub>
                                  <m:r>
                                    <a:rPr lang="pt-BR" sz="1400" b="0" i="1" baseline="0" smtClean="0">
                                      <a:latin typeface="Cambria Math"/>
                                      <a:ea typeface="Cambria Math"/>
                                    </a:rPr>
                                    <m:t>𝑓</m:t>
                                  </m:r>
                                </m:sub>
                              </m:sSub>
                            </m:oMath>
                          </a14:m>
                          <a:r>
                            <a:rPr lang="pt-BR" sz="1400" baseline="0" dirty="0" smtClean="0"/>
                            <a:t> em toda a mola </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a:t>
                          </a:r>
                          <a:r>
                            <a:rPr lang="pt-BR" sz="1400" baseline="0" dirty="0" smtClean="0"/>
                            <a:t> energia elástica armazenada por unidade de volume ou máxima energia elástica armazenada por unidade de peso</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mc:Choice>
        <mc:Fallback xmlns="">
          <p:graphicFrame>
            <p:nvGraphicFramePr>
              <p:cNvPr id="10" name="Tabela 9"/>
              <p:cNvGraphicFramePr>
                <a:graphicFrameLocks noGrp="1"/>
              </p:cNvGraphicFramePr>
              <p:nvPr>
                <p:extLst>
                  <p:ext uri="{D42A27DB-BD31-4B8C-83A1-F6EECF244321}">
                    <p14:modId xmlns:p14="http://schemas.microsoft.com/office/powerpoint/2010/main" val="2390004973"/>
                  </p:ext>
                </p:extLst>
              </p:nvPr>
            </p:nvGraphicFramePr>
            <p:xfrm>
              <a:off x="228600" y="1143000"/>
              <a:ext cx="8686800" cy="200152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a:t>
                          </a:r>
                          <a:r>
                            <a:rPr lang="pt-BR" sz="1200" dirty="0" smtClean="0"/>
                            <a:t>6.11 –</a:t>
                          </a:r>
                          <a:r>
                            <a:rPr lang="pt-BR" sz="1200" baseline="0" dirty="0" smtClean="0"/>
                            <a:t> Requisitos de projeto para molas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Mola elástica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5"/>
                          <a:stretch>
                            <a:fillRect l="-26981" t="-205000" b="-243333"/>
                          </a:stretch>
                        </a:blipFill>
                      </a:tcPr>
                    </a:tc>
                  </a:tr>
                  <a:tr h="51816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a:t>
                          </a:r>
                          <a:r>
                            <a:rPr lang="pt-BR" sz="1400" baseline="0" dirty="0" smtClean="0"/>
                            <a:t> energia elástica armazenada por unidade de volume ou máxima energia elástica armazenada por unidade de peso</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a:t>
                          </a:r>
                          <a:r>
                            <a:rPr lang="pt-BR" sz="1400" baseline="0" dirty="0" smtClean="0"/>
                            <a:t>do material</a:t>
                          </a:r>
                          <a:endParaRPr lang="en-US" sz="1400" dirty="0"/>
                        </a:p>
                      </a:txBody>
                      <a:tcPr/>
                    </a:tc>
                  </a:tr>
                </a:tbl>
              </a:graphicData>
            </a:graphic>
          </p:graphicFrame>
        </mc:Fallback>
      </mc:AlternateContent>
    </p:spTree>
    <p:extLst>
      <p:ext uri="{BB962C8B-B14F-4D97-AF65-F5344CB8AC3E}">
        <p14:creationId xmlns:p14="http://schemas.microsoft.com/office/powerpoint/2010/main" val="5174391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7776"/>
            <a:ext cx="7772400" cy="1470025"/>
          </a:xfrm>
        </p:spPr>
        <p:txBody>
          <a:bodyPr/>
          <a:lstStyle/>
          <a:p>
            <a:r>
              <a:rPr lang="pt-BR" dirty="0" smtClean="0"/>
              <a:t>Materiais para Molas Pequenas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7" name="Grupo 6"/>
          <p:cNvGrpSpPr/>
          <p:nvPr/>
        </p:nvGrpSpPr>
        <p:grpSpPr>
          <a:xfrm>
            <a:off x="1371600" y="1219200"/>
            <a:ext cx="6400800" cy="5312357"/>
            <a:chOff x="1371600" y="1219200"/>
            <a:chExt cx="6400800" cy="5312357"/>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19200"/>
              <a:ext cx="6400800" cy="5059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087732" y="6285336"/>
              <a:ext cx="986168" cy="246221"/>
            </a:xfrm>
            <a:prstGeom prst="rect">
              <a:avLst/>
            </a:prstGeom>
            <a:noFill/>
          </p:spPr>
          <p:txBody>
            <a:bodyPr wrap="none" rtlCol="0">
              <a:spAutoFit/>
            </a:bodyPr>
            <a:lstStyle/>
            <a:p>
              <a:pPr algn="ctr"/>
              <a:r>
                <a:rPr lang="en-US" sz="1000" dirty="0" smtClean="0"/>
                <a:t>Figura 6.12(a)</a:t>
              </a:r>
              <a:endParaRPr lang="en-US" sz="1000" dirty="0"/>
            </a:p>
          </p:txBody>
        </p:sp>
      </p:grpSp>
    </p:spTree>
    <p:extLst>
      <p:ext uri="{BB962C8B-B14F-4D97-AF65-F5344CB8AC3E}">
        <p14:creationId xmlns:p14="http://schemas.microsoft.com/office/powerpoint/2010/main" val="22234395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solidFill>
            <a:schemeClr val="accent5">
              <a:lumMod val="75000"/>
            </a:schemeClr>
          </a:solidFill>
        </p:spPr>
        <p:txBody>
          <a:bodyPr>
            <a:normAutofit fontScale="77500" lnSpcReduction="20000"/>
          </a:bodyPr>
          <a:lstStyle/>
          <a:p>
            <a:r>
              <a:rPr lang="pt-BR" dirty="0" smtClean="0"/>
              <a:t>Aços de alta resistência são bons. Vidro, e todos o GFRP, sob certas circunstâncias, fazem boas molas. Elastômeros são excelentes. Cerâmicas devem ser eliminadas pela baixa resistência a tração.</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3679960773"/>
                  </p:ext>
                </p:extLst>
              </p:nvPr>
            </p:nvGraphicFramePr>
            <p:xfrm>
              <a:off x="533400" y="685800"/>
              <a:ext cx="8201026" cy="2392426"/>
            </p:xfrm>
            <a:graphic>
              <a:graphicData uri="http://schemas.openxmlformats.org/drawingml/2006/table">
                <a:tbl>
                  <a:tblPr firstRow="1" bandRow="1">
                    <a:tableStyleId>{68D230F3-CF80-4859-8CE7-A43EE81993B5}</a:tableStyleId>
                  </a:tblPr>
                  <a:tblGrid>
                    <a:gridCol w="1800226"/>
                    <a:gridCol w="1919288"/>
                    <a:gridCol w="4481512"/>
                  </a:tblGrid>
                  <a:tr h="487680">
                    <a:tc gridSpan="3">
                      <a:txBody>
                        <a:bodyPr/>
                        <a:lstStyle/>
                        <a:p>
                          <a:r>
                            <a:rPr lang="pt-BR" sz="1400" dirty="0" smtClean="0">
                              <a:solidFill>
                                <a:srgbClr val="FFFF00"/>
                              </a:solidFill>
                            </a:rPr>
                            <a:t>Tabela 6.12(a) – Materiais para pequenas</a:t>
                          </a:r>
                          <a:r>
                            <a:rPr lang="pt-BR" sz="1400" baseline="0" dirty="0" smtClean="0">
                              <a:solidFill>
                                <a:srgbClr val="FFFF00"/>
                              </a:solidFill>
                            </a:rPr>
                            <a:t> molas eficientes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Ligas de Ti</a:t>
                          </a:r>
                        </a:p>
                        <a:p>
                          <a:pPr algn="ctr"/>
                          <a:endParaRPr lang="pt-BR" sz="1050" baseline="0" dirty="0" smtClean="0"/>
                        </a:p>
                        <a:p>
                          <a:pPr algn="ctr"/>
                          <a:r>
                            <a:rPr lang="pt-BR" sz="1050" baseline="0" dirty="0" smtClean="0"/>
                            <a:t>CFRP</a:t>
                          </a:r>
                        </a:p>
                        <a:p>
                          <a:pPr algn="ctr"/>
                          <a:endParaRPr lang="pt-BR" sz="1050" baseline="0" dirty="0" smtClean="0"/>
                        </a:p>
                        <a:p>
                          <a:pPr algn="ctr"/>
                          <a:r>
                            <a:rPr lang="pt-BR" sz="1050" baseline="0" dirty="0" smtClean="0"/>
                            <a:t>Aço de molas</a:t>
                          </a:r>
                        </a:p>
                        <a:p>
                          <a:pPr algn="ctr"/>
                          <a:endParaRPr lang="pt-BR" sz="1050" baseline="0" dirty="0" smtClean="0"/>
                        </a:p>
                        <a:p>
                          <a:pPr algn="ctr"/>
                          <a:r>
                            <a:rPr lang="pt-BR" sz="1050" baseline="0" dirty="0" err="1" smtClean="0"/>
                            <a:t>Nailón</a:t>
                          </a:r>
                          <a:endParaRPr lang="pt-BR" sz="1050" baseline="0" dirty="0" smtClean="0"/>
                        </a:p>
                        <a:p>
                          <a:pPr algn="ctr"/>
                          <a:endParaRPr lang="pt-BR" sz="1050" baseline="0" dirty="0" smtClean="0"/>
                        </a:p>
                        <a:p>
                          <a:pPr algn="ctr"/>
                          <a:r>
                            <a:rPr lang="pt-BR" sz="1050" baseline="0" dirty="0" smtClean="0"/>
                            <a:t>Borracha</a:t>
                          </a:r>
                        </a:p>
                      </a:txBody>
                      <a:tcPr>
                        <a:solidFill>
                          <a:schemeClr val="accent1"/>
                        </a:solidFill>
                      </a:tcPr>
                    </a:tc>
                    <a:tc>
                      <a:txBody>
                        <a:bodyPr/>
                        <a:lstStyle/>
                        <a:p>
                          <a:pPr marL="0" algn="ctr" defTabSz="914400" rtl="0" eaLnBrk="1" latinLnBrk="0" hangingPunct="1"/>
                          <a14:m>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sSub>
                                    <m:sSubPr>
                                      <m:ctrlPr>
                                        <a:rPr lang="pt-BR" sz="1100" b="1" i="1" kern="1200" baseline="0" smtClean="0">
                                          <a:solidFill>
                                            <a:srgbClr val="FFFF00"/>
                                          </a:solidFill>
                                          <a:latin typeface="Cambria Math"/>
                                          <a:ea typeface="+mn-ea"/>
                                          <a:cs typeface="+mn-cs"/>
                                        </a:rPr>
                                      </m:ctrlPr>
                                    </m:sSubPr>
                                    <m:e>
                                      <m:sSubSup>
                                        <m:sSubSupPr>
                                          <m:ctrlPr>
                                            <a:rPr lang="pt-BR" sz="1100" b="1" i="1" kern="1200" baseline="0" smtClean="0">
                                              <a:solidFill>
                                                <a:srgbClr val="FFFF00"/>
                                              </a:solidFill>
                                              <a:latin typeface="Cambria Math"/>
                                              <a:ea typeface="+mn-ea"/>
                                              <a:cs typeface="+mn-cs"/>
                                            </a:rPr>
                                          </m:ctrlPr>
                                        </m:sSubSupPr>
                                        <m:e>
                                          <m:r>
                                            <a:rPr lang="pt-BR" sz="1100" b="1" i="1" kern="1200" baseline="0" smtClean="0">
                                              <a:solidFill>
                                                <a:srgbClr val="FFFF00"/>
                                              </a:solidFill>
                                              <a:latin typeface="Cambria Math"/>
                                              <a:ea typeface="Cambria Math"/>
                                              <a:cs typeface="+mn-cs"/>
                                            </a:rPr>
                                            <m:t>𝝈</m:t>
                                          </m:r>
                                        </m:e>
                                        <m:sub/>
                                        <m:sup>
                                          <m:r>
                                            <a:rPr lang="pt-BR" sz="1100" b="1" i="1" kern="1200" baseline="0" smtClean="0">
                                              <a:solidFill>
                                                <a:srgbClr val="FFFF00"/>
                                              </a:solidFill>
                                              <a:latin typeface="Cambria Math"/>
                                              <a:ea typeface="+mn-ea"/>
                                              <a:cs typeface="+mn-cs"/>
                                            </a:rPr>
                                            <m:t>𝟐</m:t>
                                          </m:r>
                                        </m:sup>
                                      </m:sSubSup>
                                    </m:e>
                                    <m:sub>
                                      <m:r>
                                        <a:rPr lang="pt-BR" sz="1100" b="1" i="1" kern="1200" baseline="0" smtClean="0">
                                          <a:solidFill>
                                            <a:srgbClr val="FFFF00"/>
                                          </a:solidFill>
                                          <a:latin typeface="Cambria Math"/>
                                          <a:ea typeface="+mn-ea"/>
                                          <a:cs typeface="+mn-cs"/>
                                        </a:rPr>
                                        <m:t>𝒇</m:t>
                                      </m:r>
                                    </m:sub>
                                  </m:sSub>
                                </m:num>
                                <m:den>
                                  <m:r>
                                    <a:rPr lang="pt-BR" sz="1100" b="1" i="1" kern="1200" baseline="0" smtClean="0">
                                      <a:solidFill>
                                        <a:srgbClr val="FFFF00"/>
                                      </a:solidFill>
                                      <a:latin typeface="Cambria Math"/>
                                      <a:ea typeface="+mn-ea"/>
                                      <a:cs typeface="+mn-cs"/>
                                    </a:rPr>
                                    <m:t>𝑬</m:t>
                                  </m:r>
                                  <m:r>
                                    <a:rPr lang="pt-BR" sz="1100" b="1" i="1" kern="1200" baseline="0" smtClean="0">
                                      <a:solidFill>
                                        <a:srgbClr val="FFFF00"/>
                                      </a:solidFill>
                                      <a:latin typeface="Cambria Math"/>
                                      <a:ea typeface="+mn-ea"/>
                                      <a:cs typeface="+mn-cs"/>
                                    </a:rPr>
                                    <m:t> </m:t>
                                  </m:r>
                                </m:den>
                              </m:f>
                            </m:oMath>
                          </a14:m>
                          <a:r>
                            <a:rPr lang="pt-BR" sz="1100" b="1" kern="1200" baseline="0" dirty="0" smtClean="0">
                              <a:solidFill>
                                <a:srgbClr val="FFFF00"/>
                              </a:solidFill>
                              <a:latin typeface="+mn-lt"/>
                              <a:ea typeface="+mn-ea"/>
                              <a:cs typeface="+mn-cs"/>
                            </a:rPr>
                            <a:t>(MJ/m</a:t>
                          </a:r>
                          <a:r>
                            <a:rPr lang="pt-BR" sz="1100" b="1" kern="1200" baseline="30000" dirty="0" smtClean="0">
                              <a:solidFill>
                                <a:srgbClr val="FFFF00"/>
                              </a:solidFill>
                              <a:latin typeface="+mn-lt"/>
                              <a:ea typeface="+mn-ea"/>
                              <a:cs typeface="+mn-cs"/>
                            </a:rPr>
                            <a:t>3</a:t>
                          </a:r>
                          <a:r>
                            <a:rPr lang="pt-BR" sz="1100" b="1" kern="1200" baseline="0" dirty="0" smtClean="0">
                              <a:solidFill>
                                <a:srgbClr val="FFFF00"/>
                              </a:solidFill>
                              <a:latin typeface="+mn-lt"/>
                              <a:ea typeface="+mn-ea"/>
                              <a:cs typeface="+mn-cs"/>
                            </a:rPr>
                            <a:t>)</a:t>
                          </a:r>
                        </a:p>
                        <a:p>
                          <a:pPr algn="ctr"/>
                          <a:endParaRPr lang="pt-BR" sz="1050" b="1" baseline="0" dirty="0" smtClean="0">
                            <a:solidFill>
                              <a:srgbClr val="FFFF00"/>
                            </a:solidFill>
                          </a:endParaRPr>
                        </a:p>
                        <a:p>
                          <a:pPr algn="ctr"/>
                          <a:r>
                            <a:rPr lang="pt-BR" sz="1050" b="0" baseline="0" dirty="0" smtClean="0">
                              <a:solidFill>
                                <a:schemeClr val="tx1"/>
                              </a:solidFill>
                            </a:rPr>
                            <a:t>4-12</a:t>
                          </a:r>
                        </a:p>
                        <a:p>
                          <a:pPr algn="ctr"/>
                          <a:endParaRPr lang="pt-BR" sz="1050" b="0" baseline="0" dirty="0" smtClean="0">
                            <a:solidFill>
                              <a:schemeClr val="tx1"/>
                            </a:solidFill>
                          </a:endParaRPr>
                        </a:p>
                        <a:p>
                          <a:pPr algn="ctr"/>
                          <a:r>
                            <a:rPr lang="pt-BR" sz="1050" b="0" baseline="0" dirty="0" smtClean="0">
                              <a:solidFill>
                                <a:schemeClr val="tx1"/>
                              </a:solidFill>
                            </a:rPr>
                            <a:t>6-10</a:t>
                          </a:r>
                        </a:p>
                        <a:p>
                          <a:pPr algn="ctr"/>
                          <a:endParaRPr lang="pt-BR" sz="1050" b="0" baseline="0" dirty="0" smtClean="0">
                            <a:solidFill>
                              <a:schemeClr val="tx1"/>
                            </a:solidFill>
                          </a:endParaRPr>
                        </a:p>
                        <a:p>
                          <a:pPr algn="ctr"/>
                          <a:r>
                            <a:rPr lang="pt-BR" sz="1050" b="0" baseline="0" dirty="0" smtClean="0">
                              <a:solidFill>
                                <a:schemeClr val="tx1"/>
                              </a:solidFill>
                            </a:rPr>
                            <a:t>3-7</a:t>
                          </a:r>
                        </a:p>
                        <a:p>
                          <a:pPr algn="ctr"/>
                          <a:endParaRPr lang="pt-BR" sz="1050" b="0" baseline="0" dirty="0" smtClean="0">
                            <a:solidFill>
                              <a:schemeClr val="tx1"/>
                            </a:solidFill>
                          </a:endParaRPr>
                        </a:p>
                        <a:p>
                          <a:pPr algn="ctr"/>
                          <a:r>
                            <a:rPr lang="pt-BR" sz="1050" b="0" baseline="0" dirty="0" smtClean="0">
                              <a:solidFill>
                                <a:schemeClr val="tx1"/>
                              </a:solidFill>
                            </a:rPr>
                            <a:t>1,5-2,5</a:t>
                          </a:r>
                        </a:p>
                        <a:p>
                          <a:pPr algn="ctr"/>
                          <a:endParaRPr lang="pt-BR" sz="1050" b="0" baseline="0" dirty="0" smtClean="0">
                            <a:solidFill>
                              <a:schemeClr val="tx1"/>
                            </a:solidFill>
                          </a:endParaRPr>
                        </a:p>
                        <a:p>
                          <a:pPr algn="ctr"/>
                          <a:r>
                            <a:rPr lang="pt-BR" sz="1050" b="0" baseline="0" dirty="0" smtClean="0">
                              <a:solidFill>
                                <a:schemeClr val="tx1"/>
                              </a:solidFill>
                            </a:rPr>
                            <a:t>20-50</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Caras, resistentes à corrosão</a:t>
                          </a:r>
                        </a:p>
                        <a:p>
                          <a:pPr algn="ctr"/>
                          <a:endParaRPr lang="pt-BR" sz="1050" b="1" baseline="0" dirty="0" smtClean="0">
                            <a:solidFill>
                              <a:schemeClr val="tx1"/>
                            </a:solidFill>
                          </a:endParaRPr>
                        </a:p>
                        <a:p>
                          <a:pPr algn="ctr"/>
                          <a:r>
                            <a:rPr lang="pt-BR" sz="1050" b="1" baseline="0" dirty="0" smtClean="0">
                              <a:solidFill>
                                <a:schemeClr val="tx1"/>
                              </a:solidFill>
                            </a:rPr>
                            <a:t>Desempenho comparável ao do aço; caro</a:t>
                          </a:r>
                        </a:p>
                        <a:p>
                          <a:pPr algn="ctr"/>
                          <a:endParaRPr lang="pt-BR" sz="1050" b="1" baseline="0" dirty="0" smtClean="0">
                            <a:solidFill>
                              <a:schemeClr val="tx1"/>
                            </a:solidFill>
                          </a:endParaRPr>
                        </a:p>
                        <a:p>
                          <a:pPr algn="ctr"/>
                          <a:r>
                            <a:rPr lang="pt-BR" sz="1050" b="1" baseline="0" dirty="0" smtClean="0">
                              <a:solidFill>
                                <a:schemeClr val="tx1"/>
                              </a:solidFill>
                            </a:rPr>
                            <a:t>A escolha tradicional: fácil de conformar e de tratar termicamente</a:t>
                          </a:r>
                        </a:p>
                        <a:p>
                          <a:pPr algn="ctr"/>
                          <a:endParaRPr lang="pt-BR" sz="1050" b="1" baseline="0" dirty="0" smtClean="0">
                            <a:solidFill>
                              <a:schemeClr val="tx1"/>
                            </a:solidFill>
                          </a:endParaRPr>
                        </a:p>
                        <a:p>
                          <a:pPr algn="ctr"/>
                          <a:r>
                            <a:rPr lang="pt-BR" sz="1050" b="1" baseline="0" dirty="0" smtClean="0">
                              <a:solidFill>
                                <a:schemeClr val="tx1"/>
                              </a:solidFill>
                            </a:rPr>
                            <a:t>Barato e fácil de conformar, porém tem alto fator de perda</a:t>
                          </a:r>
                        </a:p>
                        <a:p>
                          <a:pPr algn="ctr"/>
                          <a:endParaRPr lang="pt-BR" sz="1050" b="1" baseline="0" dirty="0" smtClean="0">
                            <a:solidFill>
                              <a:schemeClr val="tx1"/>
                            </a:solidFill>
                          </a:endParaRPr>
                        </a:p>
                        <a:p>
                          <a:pPr algn="ctr"/>
                          <a:r>
                            <a:rPr lang="pt-BR" sz="1050" b="1" baseline="0" dirty="0" smtClean="0">
                              <a:solidFill>
                                <a:schemeClr val="tx1"/>
                              </a:solidFill>
                            </a:rPr>
                            <a:t>Melhor que o aço de molas, porém tem alto fator de perda</a:t>
                          </a: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3679960773"/>
                  </p:ext>
                </p:extLst>
              </p:nvPr>
            </p:nvGraphicFramePr>
            <p:xfrm>
              <a:off x="533400" y="685800"/>
              <a:ext cx="8201026" cy="2392426"/>
            </p:xfrm>
            <a:graphic>
              <a:graphicData uri="http://schemas.openxmlformats.org/drawingml/2006/table">
                <a:tbl>
                  <a:tblPr firstRow="1" bandRow="1">
                    <a:tableStyleId>{68D230F3-CF80-4859-8CE7-A43EE81993B5}</a:tableStyleId>
                  </a:tblPr>
                  <a:tblGrid>
                    <a:gridCol w="1800226"/>
                    <a:gridCol w="1919288"/>
                    <a:gridCol w="4481512"/>
                  </a:tblGrid>
                  <a:tr h="487680">
                    <a:tc gridSpan="3">
                      <a:txBody>
                        <a:bodyPr/>
                        <a:lstStyle/>
                        <a:p>
                          <a:r>
                            <a:rPr lang="pt-BR" sz="1400" dirty="0" smtClean="0">
                              <a:solidFill>
                                <a:srgbClr val="FFFF00"/>
                              </a:solidFill>
                            </a:rPr>
                            <a:t>Tabela </a:t>
                          </a:r>
                          <a:r>
                            <a:rPr lang="pt-BR" sz="1400" dirty="0" smtClean="0">
                              <a:solidFill>
                                <a:srgbClr val="FFFF00"/>
                              </a:solidFill>
                            </a:rPr>
                            <a:t>6.12(a) </a:t>
                          </a:r>
                          <a:r>
                            <a:rPr lang="pt-BR" sz="1400" dirty="0" smtClean="0">
                              <a:solidFill>
                                <a:srgbClr val="FFFF00"/>
                              </a:solidFill>
                            </a:rPr>
                            <a:t>– </a:t>
                          </a:r>
                          <a:r>
                            <a:rPr lang="pt-BR" sz="1400" dirty="0" smtClean="0">
                              <a:solidFill>
                                <a:srgbClr val="FFFF00"/>
                              </a:solidFill>
                            </a:rPr>
                            <a:t>Materiais para pequenas</a:t>
                          </a:r>
                          <a:r>
                            <a:rPr lang="pt-BR" sz="1400" baseline="0" dirty="0" smtClean="0">
                              <a:solidFill>
                                <a:srgbClr val="FFFF00"/>
                              </a:solidFill>
                            </a:rPr>
                            <a:t> molas eficientes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1904746">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Ligas de Ti</a:t>
                          </a:r>
                        </a:p>
                        <a:p>
                          <a:pPr algn="ctr"/>
                          <a:endParaRPr lang="pt-BR" sz="1050" baseline="0" dirty="0" smtClean="0"/>
                        </a:p>
                        <a:p>
                          <a:pPr algn="ctr"/>
                          <a:r>
                            <a:rPr lang="pt-BR" sz="1050" baseline="0" dirty="0" smtClean="0"/>
                            <a:t>CFRP</a:t>
                          </a:r>
                        </a:p>
                        <a:p>
                          <a:pPr algn="ctr"/>
                          <a:endParaRPr lang="pt-BR" sz="1050" baseline="0" dirty="0" smtClean="0"/>
                        </a:p>
                        <a:p>
                          <a:pPr algn="ctr"/>
                          <a:r>
                            <a:rPr lang="pt-BR" sz="1050" baseline="0" dirty="0" smtClean="0"/>
                            <a:t>Aço de molas</a:t>
                          </a:r>
                        </a:p>
                        <a:p>
                          <a:pPr algn="ctr"/>
                          <a:endParaRPr lang="pt-BR" sz="1050" baseline="0" dirty="0" smtClean="0"/>
                        </a:p>
                        <a:p>
                          <a:pPr algn="ctr"/>
                          <a:r>
                            <a:rPr lang="pt-BR" sz="1050" baseline="0" dirty="0" err="1" smtClean="0"/>
                            <a:t>Nailón</a:t>
                          </a:r>
                          <a:endParaRPr lang="pt-BR" sz="1050" baseline="0" dirty="0" smtClean="0"/>
                        </a:p>
                        <a:p>
                          <a:pPr algn="ctr"/>
                          <a:endParaRPr lang="pt-BR" sz="1050" baseline="0" dirty="0" smtClean="0"/>
                        </a:p>
                        <a:p>
                          <a:pPr algn="ctr"/>
                          <a:r>
                            <a:rPr lang="pt-BR" sz="1050" baseline="0" dirty="0" smtClean="0"/>
                            <a:t>Borracha</a:t>
                          </a:r>
                        </a:p>
                      </a:txBody>
                      <a:tcPr>
                        <a:solidFill>
                          <a:schemeClr val="accent1"/>
                        </a:solidFill>
                      </a:tcPr>
                    </a:tc>
                    <a:tc>
                      <a:txBody>
                        <a:bodyPr/>
                        <a:lstStyle/>
                        <a:p>
                          <a:endParaRPr lang="en-US"/>
                        </a:p>
                      </a:txBody>
                      <a:tcPr>
                        <a:blipFill rotWithShape="1">
                          <a:blip r:embed="rId2"/>
                          <a:stretch>
                            <a:fillRect l="-93968" t="-25962" r="-233333" b="-1603"/>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Caras, resistentes à corrosão</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Desempenho comparável ao do aço; caro</a:t>
                          </a:r>
                        </a:p>
                        <a:p>
                          <a:pPr algn="ctr"/>
                          <a:endParaRPr lang="pt-BR" sz="1050" b="1" baseline="0" dirty="0" smtClean="0">
                            <a:solidFill>
                              <a:schemeClr val="tx1"/>
                            </a:solidFill>
                          </a:endParaRPr>
                        </a:p>
                        <a:p>
                          <a:pPr algn="ctr"/>
                          <a:r>
                            <a:rPr lang="pt-BR" sz="1050" b="1" baseline="0" dirty="0" smtClean="0">
                              <a:solidFill>
                                <a:schemeClr val="tx1"/>
                              </a:solidFill>
                            </a:rPr>
                            <a:t>A escolha tradicional: fácil de conformar e de tratar termicamente</a:t>
                          </a:r>
                        </a:p>
                        <a:p>
                          <a:pPr algn="ctr"/>
                          <a:endParaRPr lang="pt-BR" sz="1050" b="1" baseline="0" dirty="0" smtClean="0">
                            <a:solidFill>
                              <a:schemeClr val="tx1"/>
                            </a:solidFill>
                          </a:endParaRPr>
                        </a:p>
                        <a:p>
                          <a:pPr algn="ctr"/>
                          <a:r>
                            <a:rPr lang="pt-BR" sz="1050" b="1" baseline="0" dirty="0" smtClean="0">
                              <a:solidFill>
                                <a:schemeClr val="tx1"/>
                              </a:solidFill>
                            </a:rPr>
                            <a:t>Barato e fácil de conformar, porém tem alto fator de perda</a:t>
                          </a:r>
                        </a:p>
                        <a:p>
                          <a:pPr algn="ctr"/>
                          <a:endParaRPr lang="pt-BR" sz="1050" b="1" baseline="0" dirty="0" smtClean="0">
                            <a:solidFill>
                              <a:schemeClr val="tx1"/>
                            </a:solidFill>
                          </a:endParaRPr>
                        </a:p>
                        <a:p>
                          <a:pPr algn="ctr"/>
                          <a:r>
                            <a:rPr lang="pt-BR" sz="1050" b="1" baseline="0" dirty="0" smtClean="0">
                              <a:solidFill>
                                <a:schemeClr val="tx1"/>
                              </a:solidFill>
                            </a:rPr>
                            <a:t>Melhor que o aço de molas, porém tem alto fator de perda</a:t>
                          </a:r>
                        </a:p>
                      </a:txBody>
                      <a:tcPr>
                        <a:solidFill>
                          <a:schemeClr val="accent1"/>
                        </a:solidFill>
                      </a:tcPr>
                    </a:tc>
                  </a:tr>
                </a:tbl>
              </a:graphicData>
            </a:graphic>
          </p:graphicFrame>
        </mc:Fallback>
      </mc:AlternateContent>
    </p:spTree>
    <p:extLst>
      <p:ext uri="{BB962C8B-B14F-4D97-AF65-F5344CB8AC3E}">
        <p14:creationId xmlns:p14="http://schemas.microsoft.com/office/powerpoint/2010/main" val="10888494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1143000"/>
          </a:xfrm>
        </p:spPr>
        <p:txBody>
          <a:bodyPr/>
          <a:lstStyle/>
          <a:p>
            <a:r>
              <a:rPr lang="pt-BR" dirty="0" smtClean="0"/>
              <a:t>Materiais para Molas Leves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219200" y="1057274"/>
            <a:ext cx="6705600" cy="5570175"/>
            <a:chOff x="1219200" y="1057274"/>
            <a:chExt cx="6705600" cy="5570175"/>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057274"/>
              <a:ext cx="6705600" cy="532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072317" y="6381228"/>
              <a:ext cx="986168" cy="246221"/>
            </a:xfrm>
            <a:prstGeom prst="rect">
              <a:avLst/>
            </a:prstGeom>
            <a:noFill/>
          </p:spPr>
          <p:txBody>
            <a:bodyPr wrap="none" rtlCol="0">
              <a:spAutoFit/>
            </a:bodyPr>
            <a:lstStyle/>
            <a:p>
              <a:pPr algn="ctr"/>
              <a:r>
                <a:rPr lang="en-US" sz="1000" dirty="0" smtClean="0"/>
                <a:t>Figura 6.12(b)</a:t>
              </a:r>
              <a:endParaRPr lang="en-US" sz="1000" dirty="0"/>
            </a:p>
          </p:txBody>
        </p:sp>
      </p:grpSp>
    </p:spTree>
    <p:extLst>
      <p:ext uri="{BB962C8B-B14F-4D97-AF65-F5344CB8AC3E}">
        <p14:creationId xmlns:p14="http://schemas.microsoft.com/office/powerpoint/2010/main" val="38194502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1336532180"/>
                  </p:ext>
                </p:extLst>
              </p:nvPr>
            </p:nvGraphicFramePr>
            <p:xfrm>
              <a:off x="609600" y="533400"/>
              <a:ext cx="8201026" cy="3139440"/>
            </p:xfrm>
            <a:graphic>
              <a:graphicData uri="http://schemas.openxmlformats.org/drawingml/2006/table">
                <a:tbl>
                  <a:tblPr firstRow="1" bandRow="1">
                    <a:tableStyleId>{68D230F3-CF80-4859-8CE7-A43EE81993B5}</a:tableStyleId>
                  </a:tblPr>
                  <a:tblGrid>
                    <a:gridCol w="1800226"/>
                    <a:gridCol w="1919288"/>
                    <a:gridCol w="4481512"/>
                  </a:tblGrid>
                  <a:tr h="487680">
                    <a:tc gridSpan="3">
                      <a:txBody>
                        <a:bodyPr/>
                        <a:lstStyle/>
                        <a:p>
                          <a:r>
                            <a:rPr lang="pt-BR" sz="1400" dirty="0" smtClean="0">
                              <a:solidFill>
                                <a:srgbClr val="FFFF00"/>
                              </a:solidFill>
                            </a:rPr>
                            <a:t>Tabela 6.12 (b)– Materiais para pequenas</a:t>
                          </a:r>
                          <a:r>
                            <a:rPr lang="pt-BR" sz="1400" baseline="0" dirty="0" smtClean="0">
                              <a:solidFill>
                                <a:srgbClr val="FFFF00"/>
                              </a:solidFill>
                            </a:rPr>
                            <a:t> molas leves eficientes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Ligas de Ti</a:t>
                          </a:r>
                        </a:p>
                        <a:p>
                          <a:pPr algn="ctr"/>
                          <a:endParaRPr lang="pt-BR" sz="1050" baseline="0" dirty="0" smtClean="0"/>
                        </a:p>
                        <a:p>
                          <a:pPr algn="ctr"/>
                          <a:r>
                            <a:rPr lang="pt-BR" sz="1050" baseline="0" dirty="0" smtClean="0"/>
                            <a:t>CFRP</a:t>
                          </a:r>
                        </a:p>
                        <a:p>
                          <a:pPr algn="ctr"/>
                          <a:endParaRPr lang="pt-BR" sz="1050" baseline="0" dirty="0" smtClean="0"/>
                        </a:p>
                        <a:p>
                          <a:pPr algn="ctr"/>
                          <a:r>
                            <a:rPr lang="pt-BR" sz="1050" baseline="0" dirty="0" smtClean="0"/>
                            <a:t>GFRP</a:t>
                          </a:r>
                        </a:p>
                        <a:p>
                          <a:pPr algn="ctr"/>
                          <a:endParaRPr lang="pt-BR" sz="1050" baseline="0" dirty="0" smtClean="0"/>
                        </a:p>
                        <a:p>
                          <a:pPr algn="ctr"/>
                          <a:r>
                            <a:rPr lang="pt-BR" sz="1050" baseline="0" dirty="0" smtClean="0"/>
                            <a:t>Aços molas</a:t>
                          </a:r>
                        </a:p>
                        <a:p>
                          <a:pPr algn="ctr"/>
                          <a:endParaRPr lang="pt-BR" sz="1050" baseline="0" dirty="0" smtClean="0"/>
                        </a:p>
                        <a:p>
                          <a:pPr algn="ctr"/>
                          <a:r>
                            <a:rPr lang="pt-BR" sz="1050" baseline="0" dirty="0" smtClean="0"/>
                            <a:t>Madeira</a:t>
                          </a:r>
                        </a:p>
                        <a:p>
                          <a:pPr algn="ctr"/>
                          <a:endParaRPr lang="pt-BR" sz="1050" baseline="0" dirty="0" smtClean="0"/>
                        </a:p>
                        <a:p>
                          <a:pPr algn="ctr"/>
                          <a:r>
                            <a:rPr lang="pt-BR" sz="1050" baseline="0" dirty="0" smtClean="0"/>
                            <a:t>Náilon</a:t>
                          </a:r>
                        </a:p>
                        <a:p>
                          <a:pPr algn="ctr"/>
                          <a:endParaRPr lang="pt-BR" sz="1050" baseline="0" dirty="0" smtClean="0"/>
                        </a:p>
                        <a:p>
                          <a:pPr algn="ctr"/>
                          <a:r>
                            <a:rPr lang="pt-BR" sz="1050" baseline="0" dirty="0" smtClean="0"/>
                            <a:t>Borracha</a:t>
                          </a:r>
                        </a:p>
                      </a:txBody>
                      <a:tcPr>
                        <a:solidFill>
                          <a:schemeClr val="accent1"/>
                        </a:solidFill>
                      </a:tcPr>
                    </a:tc>
                    <a:tc>
                      <a:txBody>
                        <a:bodyPr/>
                        <a:lstStyle/>
                        <a:p>
                          <a:pPr marL="0" algn="ctr" defTabSz="914400" rtl="0" eaLnBrk="1" latinLnBrk="0" hangingPunct="1"/>
                          <a14:m>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sSub>
                                    <m:sSubPr>
                                      <m:ctrlPr>
                                        <a:rPr lang="pt-BR" sz="1100" b="1" i="1" kern="1200" baseline="0" smtClean="0">
                                          <a:solidFill>
                                            <a:srgbClr val="FFFF00"/>
                                          </a:solidFill>
                                          <a:latin typeface="Cambria Math"/>
                                          <a:ea typeface="+mn-ea"/>
                                          <a:cs typeface="+mn-cs"/>
                                        </a:rPr>
                                      </m:ctrlPr>
                                    </m:sSubPr>
                                    <m:e>
                                      <m:sSubSup>
                                        <m:sSubSupPr>
                                          <m:ctrlPr>
                                            <a:rPr lang="pt-BR" sz="1100" b="1" i="1" kern="1200" baseline="0" smtClean="0">
                                              <a:solidFill>
                                                <a:srgbClr val="FFFF00"/>
                                              </a:solidFill>
                                              <a:latin typeface="Cambria Math"/>
                                              <a:ea typeface="+mn-ea"/>
                                              <a:cs typeface="+mn-cs"/>
                                            </a:rPr>
                                          </m:ctrlPr>
                                        </m:sSubSupPr>
                                        <m:e>
                                          <m:r>
                                            <a:rPr lang="pt-BR" sz="1100" b="1" i="1" kern="1200" baseline="0" smtClean="0">
                                              <a:solidFill>
                                                <a:srgbClr val="FFFF00"/>
                                              </a:solidFill>
                                              <a:latin typeface="Cambria Math"/>
                                              <a:ea typeface="Cambria Math"/>
                                              <a:cs typeface="+mn-cs"/>
                                            </a:rPr>
                                            <m:t>𝝈</m:t>
                                          </m:r>
                                        </m:e>
                                        <m:sub/>
                                        <m:sup>
                                          <m:r>
                                            <a:rPr lang="pt-BR" sz="1100" b="1" i="1" kern="1200" baseline="0" smtClean="0">
                                              <a:solidFill>
                                                <a:srgbClr val="FFFF00"/>
                                              </a:solidFill>
                                              <a:latin typeface="Cambria Math"/>
                                              <a:ea typeface="+mn-ea"/>
                                              <a:cs typeface="+mn-cs"/>
                                            </a:rPr>
                                            <m:t>𝟐</m:t>
                                          </m:r>
                                        </m:sup>
                                      </m:sSubSup>
                                    </m:e>
                                    <m:sub>
                                      <m:r>
                                        <a:rPr lang="pt-BR" sz="1100" b="1" i="1" kern="1200" baseline="0" smtClean="0">
                                          <a:solidFill>
                                            <a:srgbClr val="FFFF00"/>
                                          </a:solidFill>
                                          <a:latin typeface="Cambria Math"/>
                                          <a:ea typeface="+mn-ea"/>
                                          <a:cs typeface="+mn-cs"/>
                                        </a:rPr>
                                        <m:t>𝒇</m:t>
                                      </m:r>
                                    </m:sub>
                                  </m:sSub>
                                </m:num>
                                <m:den>
                                  <m:r>
                                    <a:rPr lang="pt-BR" sz="1100" b="1" i="1" kern="1200" baseline="0" smtClean="0">
                                      <a:solidFill>
                                        <a:srgbClr val="FFFF00"/>
                                      </a:solidFill>
                                      <a:latin typeface="Cambria Math"/>
                                      <a:ea typeface="Cambria Math"/>
                                      <a:cs typeface="+mn-cs"/>
                                    </a:rPr>
                                    <m:t>𝝆</m:t>
                                  </m:r>
                                  <m:r>
                                    <a:rPr lang="pt-BR" sz="1100" b="1" i="1" kern="1200" baseline="0" smtClean="0">
                                      <a:solidFill>
                                        <a:srgbClr val="FFFF00"/>
                                      </a:solidFill>
                                      <a:latin typeface="Cambria Math"/>
                                      <a:ea typeface="+mn-ea"/>
                                      <a:cs typeface="+mn-cs"/>
                                    </a:rPr>
                                    <m:t>𝑬</m:t>
                                  </m:r>
                                  <m:r>
                                    <a:rPr lang="pt-BR" sz="1100" b="1" i="1" kern="1200" baseline="0" smtClean="0">
                                      <a:solidFill>
                                        <a:srgbClr val="FFFF00"/>
                                      </a:solidFill>
                                      <a:latin typeface="Cambria Math"/>
                                      <a:ea typeface="+mn-ea"/>
                                      <a:cs typeface="+mn-cs"/>
                                    </a:rPr>
                                    <m:t> </m:t>
                                  </m:r>
                                </m:den>
                              </m:f>
                            </m:oMath>
                          </a14:m>
                          <a:r>
                            <a:rPr lang="pt-BR" sz="1100" b="1" kern="1200" baseline="0" dirty="0" smtClean="0">
                              <a:solidFill>
                                <a:srgbClr val="FFFF00"/>
                              </a:solidFill>
                              <a:latin typeface="+mn-lt"/>
                              <a:ea typeface="+mn-ea"/>
                              <a:cs typeface="+mn-cs"/>
                            </a:rPr>
                            <a:t>(kJ/kg)</a:t>
                          </a:r>
                        </a:p>
                        <a:p>
                          <a:pPr algn="ctr"/>
                          <a:endParaRPr lang="pt-BR" sz="1050" b="1" baseline="0" dirty="0" smtClean="0">
                            <a:solidFill>
                              <a:srgbClr val="FFFF00"/>
                            </a:solidFill>
                          </a:endParaRPr>
                        </a:p>
                        <a:p>
                          <a:pPr algn="ctr"/>
                          <a:r>
                            <a:rPr lang="pt-BR" sz="1050" b="0" baseline="0" dirty="0" smtClean="0">
                              <a:solidFill>
                                <a:schemeClr val="tx1"/>
                              </a:solidFill>
                            </a:rPr>
                            <a:t>0,9-2,6</a:t>
                          </a:r>
                        </a:p>
                        <a:p>
                          <a:pPr algn="ctr"/>
                          <a:endParaRPr lang="pt-BR" sz="1050" b="0" baseline="0" dirty="0" smtClean="0">
                            <a:solidFill>
                              <a:schemeClr val="tx1"/>
                            </a:solidFill>
                          </a:endParaRPr>
                        </a:p>
                        <a:p>
                          <a:pPr algn="ctr"/>
                          <a:r>
                            <a:rPr lang="pt-BR" sz="1050" b="0" baseline="0" dirty="0" smtClean="0">
                              <a:solidFill>
                                <a:schemeClr val="tx1"/>
                              </a:solidFill>
                            </a:rPr>
                            <a:t>3,9-6,5</a:t>
                          </a:r>
                        </a:p>
                        <a:p>
                          <a:pPr algn="ctr"/>
                          <a:endParaRPr lang="pt-BR" sz="1050" b="0" baseline="0" dirty="0" smtClean="0">
                            <a:solidFill>
                              <a:schemeClr val="tx1"/>
                            </a:solidFill>
                          </a:endParaRPr>
                        </a:p>
                        <a:p>
                          <a:pPr algn="ctr"/>
                          <a:r>
                            <a:rPr lang="pt-BR" sz="1050" b="0" baseline="0" dirty="0" smtClean="0">
                              <a:solidFill>
                                <a:schemeClr val="tx1"/>
                              </a:solidFill>
                            </a:rPr>
                            <a:t>1,0-1,8</a:t>
                          </a:r>
                        </a:p>
                        <a:p>
                          <a:pPr algn="ctr"/>
                          <a:endParaRPr lang="pt-BR" sz="1050" b="0" baseline="0" dirty="0" smtClean="0">
                            <a:solidFill>
                              <a:schemeClr val="tx1"/>
                            </a:solidFill>
                          </a:endParaRPr>
                        </a:p>
                        <a:p>
                          <a:pPr algn="ctr"/>
                          <a:r>
                            <a:rPr lang="pt-BR" sz="1050" b="0" baseline="0" dirty="0" smtClean="0">
                              <a:solidFill>
                                <a:schemeClr val="tx1"/>
                              </a:solidFill>
                            </a:rPr>
                            <a:t>0,4-0,9</a:t>
                          </a:r>
                        </a:p>
                        <a:p>
                          <a:pPr algn="ctr"/>
                          <a:endParaRPr lang="pt-BR" sz="1050" b="0" baseline="0" dirty="0" smtClean="0">
                            <a:solidFill>
                              <a:schemeClr val="tx1"/>
                            </a:solidFill>
                          </a:endParaRPr>
                        </a:p>
                        <a:p>
                          <a:pPr algn="ctr"/>
                          <a:r>
                            <a:rPr lang="pt-BR" sz="1050" b="0" baseline="0" dirty="0" smtClean="0">
                              <a:solidFill>
                                <a:schemeClr val="tx1"/>
                              </a:solidFill>
                            </a:rPr>
                            <a:t>0,3-0,7</a:t>
                          </a:r>
                        </a:p>
                        <a:p>
                          <a:pPr algn="ctr"/>
                          <a:endParaRPr lang="pt-BR" sz="1050" b="0" baseline="0" dirty="0" smtClean="0">
                            <a:solidFill>
                              <a:schemeClr val="tx1"/>
                            </a:solidFill>
                          </a:endParaRPr>
                        </a:p>
                        <a:p>
                          <a:pPr algn="ctr"/>
                          <a:r>
                            <a:rPr lang="pt-BR" sz="1050" b="0" baseline="0" dirty="0" smtClean="0">
                              <a:solidFill>
                                <a:schemeClr val="tx1"/>
                              </a:solidFill>
                            </a:rPr>
                            <a:t>1,3-2,1</a:t>
                          </a:r>
                        </a:p>
                        <a:p>
                          <a:pPr algn="ctr"/>
                          <a:endParaRPr lang="pt-BR" sz="1050" b="0" baseline="0" dirty="0" smtClean="0">
                            <a:solidFill>
                              <a:schemeClr val="tx1"/>
                            </a:solidFill>
                          </a:endParaRPr>
                        </a:p>
                        <a:p>
                          <a:pPr algn="ctr"/>
                          <a:r>
                            <a:rPr lang="pt-BR" sz="1050" b="0" baseline="0" dirty="0" smtClean="0">
                              <a:solidFill>
                                <a:schemeClr val="tx1"/>
                              </a:solidFill>
                            </a:rPr>
                            <a:t>18-45</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Melhores do que aço; resistentes à corrosão; caras</a:t>
                          </a:r>
                        </a:p>
                        <a:p>
                          <a:pPr algn="ctr"/>
                          <a:endParaRPr lang="pt-BR" sz="1050" b="1" baseline="0" dirty="0" smtClean="0">
                            <a:solidFill>
                              <a:schemeClr val="tx1"/>
                            </a:solidFill>
                          </a:endParaRPr>
                        </a:p>
                        <a:p>
                          <a:pPr algn="ctr"/>
                          <a:r>
                            <a:rPr lang="pt-BR" sz="1050" b="1" baseline="0" dirty="0" smtClean="0">
                              <a:solidFill>
                                <a:schemeClr val="tx1"/>
                              </a:solidFill>
                            </a:rPr>
                            <a:t>Melhor do que aço; caro</a:t>
                          </a:r>
                        </a:p>
                        <a:p>
                          <a:pPr algn="ctr"/>
                          <a:endParaRPr lang="pt-BR" sz="1050" b="1" baseline="0" dirty="0" smtClean="0">
                            <a:solidFill>
                              <a:schemeClr val="tx1"/>
                            </a:solidFill>
                          </a:endParaRPr>
                        </a:p>
                        <a:p>
                          <a:pPr algn="ctr"/>
                          <a:r>
                            <a:rPr lang="pt-BR" sz="1050" b="1" baseline="0" dirty="0" smtClean="0">
                              <a:solidFill>
                                <a:schemeClr val="tx1"/>
                              </a:solidFill>
                            </a:rPr>
                            <a:t>Melhor do que aço molas; menos caro do que CFRP</a:t>
                          </a:r>
                        </a:p>
                        <a:p>
                          <a:pPr algn="ctr"/>
                          <a:endParaRPr lang="pt-BR" sz="1050" b="1" baseline="0" dirty="0" smtClean="0">
                            <a:solidFill>
                              <a:schemeClr val="tx1"/>
                            </a:solidFill>
                          </a:endParaRPr>
                        </a:p>
                        <a:p>
                          <a:pPr algn="ctr"/>
                          <a:r>
                            <a:rPr lang="pt-BR" sz="1050" b="1" baseline="0" dirty="0" smtClean="0">
                              <a:solidFill>
                                <a:schemeClr val="tx1"/>
                              </a:solidFill>
                            </a:rPr>
                            <a:t>Ruim, em razão da elevada massa específica</a:t>
                          </a:r>
                        </a:p>
                        <a:p>
                          <a:pPr algn="ctr"/>
                          <a:endParaRPr lang="pt-BR" sz="1050" b="1" baseline="0" dirty="0" smtClean="0">
                            <a:solidFill>
                              <a:schemeClr val="tx1"/>
                            </a:solidFill>
                          </a:endParaRPr>
                        </a:p>
                        <a:p>
                          <a:pPr algn="ctr"/>
                          <a:r>
                            <a:rPr lang="pt-BR" sz="1050" b="1" baseline="0" dirty="0" smtClean="0">
                              <a:solidFill>
                                <a:schemeClr val="tx1"/>
                              </a:solidFill>
                            </a:rPr>
                            <a:t>Em relação ao peso, madeiras dão boas molas</a:t>
                          </a:r>
                        </a:p>
                        <a:p>
                          <a:pPr algn="ctr"/>
                          <a:endParaRPr lang="pt-BR" sz="1050" b="1" baseline="0" dirty="0" smtClean="0">
                            <a:solidFill>
                              <a:schemeClr val="tx1"/>
                            </a:solidFill>
                          </a:endParaRPr>
                        </a:p>
                        <a:p>
                          <a:pPr algn="ctr"/>
                          <a:r>
                            <a:rPr lang="pt-BR" sz="1050" b="1" baseline="0" dirty="0" smtClean="0">
                              <a:solidFill>
                                <a:schemeClr val="tx1"/>
                              </a:solidFill>
                            </a:rPr>
                            <a:t>Tão bom quanto o aço, porém com alto teor de perda</a:t>
                          </a:r>
                        </a:p>
                        <a:p>
                          <a:pPr algn="ctr"/>
                          <a:endParaRPr lang="pt-BR" sz="1050" b="1" baseline="0" dirty="0" smtClean="0">
                            <a:solidFill>
                              <a:schemeClr val="tx1"/>
                            </a:solidFill>
                          </a:endParaRPr>
                        </a:p>
                        <a:p>
                          <a:pPr algn="ctr"/>
                          <a:r>
                            <a:rPr lang="pt-BR" sz="1050" b="1" baseline="0" dirty="0" smtClean="0">
                              <a:solidFill>
                                <a:schemeClr val="tx1"/>
                              </a:solidFill>
                            </a:rPr>
                            <a:t>Notável; 20 vezes melhor que aço molas; porém apresenta elevado fator de perda</a:t>
                          </a: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1336532180"/>
                  </p:ext>
                </p:extLst>
              </p:nvPr>
            </p:nvGraphicFramePr>
            <p:xfrm>
              <a:off x="609600" y="533400"/>
              <a:ext cx="8201026" cy="3139440"/>
            </p:xfrm>
            <a:graphic>
              <a:graphicData uri="http://schemas.openxmlformats.org/drawingml/2006/table">
                <a:tbl>
                  <a:tblPr firstRow="1" bandRow="1">
                    <a:tableStyleId>{68D230F3-CF80-4859-8CE7-A43EE81993B5}</a:tableStyleId>
                  </a:tblPr>
                  <a:tblGrid>
                    <a:gridCol w="1800226"/>
                    <a:gridCol w="1919288"/>
                    <a:gridCol w="4481512"/>
                  </a:tblGrid>
                  <a:tr h="487680">
                    <a:tc gridSpan="3">
                      <a:txBody>
                        <a:bodyPr/>
                        <a:lstStyle/>
                        <a:p>
                          <a:r>
                            <a:rPr lang="pt-BR" sz="1400" dirty="0" smtClean="0">
                              <a:solidFill>
                                <a:srgbClr val="FFFF00"/>
                              </a:solidFill>
                            </a:rPr>
                            <a:t>Tabela 6.12 (b)– Materiais para pequenas</a:t>
                          </a:r>
                          <a:r>
                            <a:rPr lang="pt-BR" sz="1400" baseline="0" dirty="0" smtClean="0">
                              <a:solidFill>
                                <a:srgbClr val="FFFF00"/>
                              </a:solidFill>
                            </a:rPr>
                            <a:t> molas leves eficientes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265176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Ligas de Ti</a:t>
                          </a:r>
                        </a:p>
                        <a:p>
                          <a:pPr algn="ctr"/>
                          <a:endParaRPr lang="pt-BR" sz="1050" baseline="0" dirty="0" smtClean="0"/>
                        </a:p>
                        <a:p>
                          <a:pPr algn="ctr"/>
                          <a:r>
                            <a:rPr lang="pt-BR" sz="1050" baseline="0" dirty="0" smtClean="0"/>
                            <a:t>CFRP</a:t>
                          </a:r>
                        </a:p>
                        <a:p>
                          <a:pPr algn="ctr"/>
                          <a:endParaRPr lang="pt-BR" sz="1050" baseline="0" dirty="0" smtClean="0"/>
                        </a:p>
                        <a:p>
                          <a:pPr algn="ctr"/>
                          <a:r>
                            <a:rPr lang="pt-BR" sz="1050" baseline="0" dirty="0" smtClean="0"/>
                            <a:t>GFRP</a:t>
                          </a:r>
                        </a:p>
                        <a:p>
                          <a:pPr algn="ctr"/>
                          <a:endParaRPr lang="pt-BR" sz="1050" baseline="0" dirty="0" smtClean="0"/>
                        </a:p>
                        <a:p>
                          <a:pPr algn="ctr"/>
                          <a:r>
                            <a:rPr lang="pt-BR" sz="1050" baseline="0" dirty="0" smtClean="0"/>
                            <a:t>Aços molas</a:t>
                          </a:r>
                        </a:p>
                        <a:p>
                          <a:pPr algn="ctr"/>
                          <a:endParaRPr lang="pt-BR" sz="1050" baseline="0" dirty="0" smtClean="0"/>
                        </a:p>
                        <a:p>
                          <a:pPr algn="ctr"/>
                          <a:r>
                            <a:rPr lang="pt-BR" sz="1050" baseline="0" dirty="0" smtClean="0"/>
                            <a:t>Madeira</a:t>
                          </a:r>
                        </a:p>
                        <a:p>
                          <a:pPr algn="ctr"/>
                          <a:endParaRPr lang="pt-BR" sz="1050" baseline="0" dirty="0" smtClean="0"/>
                        </a:p>
                        <a:p>
                          <a:pPr algn="ctr"/>
                          <a:r>
                            <a:rPr lang="pt-BR" sz="1050" baseline="0" dirty="0" smtClean="0"/>
                            <a:t>Náilon</a:t>
                          </a:r>
                        </a:p>
                        <a:p>
                          <a:pPr algn="ctr"/>
                          <a:endParaRPr lang="pt-BR" sz="1050" baseline="0" dirty="0" smtClean="0"/>
                        </a:p>
                        <a:p>
                          <a:pPr algn="ctr"/>
                          <a:r>
                            <a:rPr lang="pt-BR" sz="1050" baseline="0" dirty="0" smtClean="0"/>
                            <a:t>Borracha</a:t>
                          </a:r>
                        </a:p>
                      </a:txBody>
                      <a:tcPr>
                        <a:solidFill>
                          <a:schemeClr val="accent1"/>
                        </a:solidFill>
                      </a:tcPr>
                    </a:tc>
                    <a:tc>
                      <a:txBody>
                        <a:bodyPr/>
                        <a:lstStyle/>
                        <a:p>
                          <a:endParaRPr lang="en-US"/>
                        </a:p>
                      </a:txBody>
                      <a:tcPr>
                        <a:blipFill rotWithShape="1">
                          <a:blip r:embed="rId2"/>
                          <a:stretch>
                            <a:fillRect l="-93651" t="-18621" r="-233651" b="-1149"/>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Melhores do que aço; resistentes à corrosão; caras</a:t>
                          </a:r>
                        </a:p>
                        <a:p>
                          <a:pPr algn="ctr"/>
                          <a:endParaRPr lang="pt-BR" sz="1050" b="1" baseline="0" dirty="0" smtClean="0">
                            <a:solidFill>
                              <a:schemeClr val="tx1"/>
                            </a:solidFill>
                          </a:endParaRPr>
                        </a:p>
                        <a:p>
                          <a:pPr algn="ctr"/>
                          <a:r>
                            <a:rPr lang="pt-BR" sz="1050" b="1" baseline="0" dirty="0" smtClean="0">
                              <a:solidFill>
                                <a:schemeClr val="tx1"/>
                              </a:solidFill>
                            </a:rPr>
                            <a:t>Melhor do que aço; caro</a:t>
                          </a:r>
                        </a:p>
                        <a:p>
                          <a:pPr algn="ctr"/>
                          <a:endParaRPr lang="pt-BR" sz="1050" b="1" baseline="0" dirty="0" smtClean="0">
                            <a:solidFill>
                              <a:schemeClr val="tx1"/>
                            </a:solidFill>
                          </a:endParaRPr>
                        </a:p>
                        <a:p>
                          <a:pPr algn="ctr"/>
                          <a:r>
                            <a:rPr lang="pt-BR" sz="1050" b="1" baseline="0" dirty="0" smtClean="0">
                              <a:solidFill>
                                <a:schemeClr val="tx1"/>
                              </a:solidFill>
                            </a:rPr>
                            <a:t>Melhor do que aço molas; menos caro do que CFRP</a:t>
                          </a:r>
                        </a:p>
                        <a:p>
                          <a:pPr algn="ctr"/>
                          <a:endParaRPr lang="pt-BR" sz="1050" b="1" baseline="0" dirty="0" smtClean="0">
                            <a:solidFill>
                              <a:schemeClr val="tx1"/>
                            </a:solidFill>
                          </a:endParaRPr>
                        </a:p>
                        <a:p>
                          <a:pPr algn="ctr"/>
                          <a:r>
                            <a:rPr lang="pt-BR" sz="1050" b="1" baseline="0" dirty="0" smtClean="0">
                              <a:solidFill>
                                <a:schemeClr val="tx1"/>
                              </a:solidFill>
                            </a:rPr>
                            <a:t>Ruim, em razão da elevada massa específica</a:t>
                          </a:r>
                        </a:p>
                        <a:p>
                          <a:pPr algn="ctr"/>
                          <a:endParaRPr lang="pt-BR" sz="1050" b="1" baseline="0" dirty="0" smtClean="0">
                            <a:solidFill>
                              <a:schemeClr val="tx1"/>
                            </a:solidFill>
                          </a:endParaRPr>
                        </a:p>
                        <a:p>
                          <a:pPr algn="ctr"/>
                          <a:r>
                            <a:rPr lang="pt-BR" sz="1050" b="1" baseline="0" dirty="0" smtClean="0">
                              <a:solidFill>
                                <a:schemeClr val="tx1"/>
                              </a:solidFill>
                            </a:rPr>
                            <a:t>Em relação ao peso, madeiras dão boas molas</a:t>
                          </a:r>
                        </a:p>
                        <a:p>
                          <a:pPr algn="ctr"/>
                          <a:endParaRPr lang="pt-BR" sz="1050" b="1" baseline="0" dirty="0" smtClean="0">
                            <a:solidFill>
                              <a:schemeClr val="tx1"/>
                            </a:solidFill>
                          </a:endParaRPr>
                        </a:p>
                        <a:p>
                          <a:pPr algn="ctr"/>
                          <a:r>
                            <a:rPr lang="pt-BR" sz="1050" b="1" baseline="0" dirty="0" smtClean="0">
                              <a:solidFill>
                                <a:schemeClr val="tx1"/>
                              </a:solidFill>
                            </a:rPr>
                            <a:t>Tão bom quanto o aço, porém com alto teor de perda</a:t>
                          </a:r>
                        </a:p>
                        <a:p>
                          <a:pPr algn="ctr"/>
                          <a:endParaRPr lang="pt-BR" sz="1050" b="1" baseline="0" dirty="0" smtClean="0">
                            <a:solidFill>
                              <a:schemeClr val="tx1"/>
                            </a:solidFill>
                          </a:endParaRPr>
                        </a:p>
                        <a:p>
                          <a:pPr algn="ctr"/>
                          <a:r>
                            <a:rPr lang="pt-BR" sz="1050" b="1" baseline="0" dirty="0" smtClean="0">
                              <a:solidFill>
                                <a:schemeClr val="tx1"/>
                              </a:solidFill>
                            </a:rPr>
                            <a:t>Notável; 20 vezes melhor que aço molas; porém apresenta elevado fator de perda</a:t>
                          </a:r>
                        </a:p>
                      </a:txBody>
                      <a:tcPr>
                        <a:solidFill>
                          <a:schemeClr val="accent1"/>
                        </a:solidFill>
                      </a:tcPr>
                    </a:tc>
                  </a:tr>
                </a:tbl>
              </a:graphicData>
            </a:graphic>
          </p:graphicFrame>
        </mc:Fallback>
      </mc:AlternateContent>
      <p:sp>
        <p:nvSpPr>
          <p:cNvPr id="6" name="Subtitle 3"/>
          <p:cNvSpPr>
            <a:spLocks noGrp="1"/>
          </p:cNvSpPr>
          <p:nvPr>
            <p:ph type="subTitle" idx="1"/>
          </p:nvPr>
        </p:nvSpPr>
        <p:spPr>
          <a:xfrm>
            <a:off x="1371600" y="4419600"/>
            <a:ext cx="6400800" cy="1752600"/>
          </a:xfrm>
          <a:solidFill>
            <a:schemeClr val="accent5">
              <a:lumMod val="75000"/>
            </a:schemeClr>
          </a:solidFill>
        </p:spPr>
        <p:txBody>
          <a:bodyPr>
            <a:normAutofit fontScale="85000" lnSpcReduction="10000"/>
          </a:bodyPr>
          <a:lstStyle/>
          <a:p>
            <a:r>
              <a:rPr lang="pt-BR" dirty="0" smtClean="0"/>
              <a:t>Metais apresentam desvantagem pelas suas elevadas massas específicas. Compósitos são bons; assim é a madeira. Elastômeros são excelentes.</a:t>
            </a:r>
            <a:endParaRPr lang="pt-BR" dirty="0"/>
          </a:p>
        </p:txBody>
      </p:sp>
    </p:spTree>
    <p:extLst>
      <p:ext uri="{BB962C8B-B14F-4D97-AF65-F5344CB8AC3E}">
        <p14:creationId xmlns:p14="http://schemas.microsoft.com/office/powerpoint/2010/main" val="7564848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76300" y="228600"/>
            <a:ext cx="7391400" cy="1143000"/>
          </a:xfrm>
        </p:spPr>
        <p:txBody>
          <a:bodyPr>
            <a:normAutofit fontScale="90000"/>
          </a:bodyPr>
          <a:lstStyle/>
          <a:p>
            <a:r>
              <a:rPr lang="pt-BR" dirty="0" smtClean="0"/>
              <a:t>Dobradiças e Acoplamentos Elásticos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3" name="Group 2"/>
          <p:cNvGrpSpPr/>
          <p:nvPr/>
        </p:nvGrpSpPr>
        <p:grpSpPr>
          <a:xfrm>
            <a:off x="1053407" y="3499726"/>
            <a:ext cx="2971800" cy="2739698"/>
            <a:chOff x="2556736" y="228600"/>
            <a:chExt cx="4049577" cy="407110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736" y="228600"/>
              <a:ext cx="4049577"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007123" y="3933824"/>
              <a:ext cx="1129751" cy="365876"/>
            </a:xfrm>
            <a:prstGeom prst="rect">
              <a:avLst/>
            </a:prstGeom>
            <a:noFill/>
          </p:spPr>
          <p:txBody>
            <a:bodyPr wrap="none" rtlCol="0">
              <a:spAutoFit/>
            </a:bodyPr>
            <a:lstStyle/>
            <a:p>
              <a:pPr algn="ctr"/>
              <a:r>
                <a:rPr lang="en-US" sz="1000" dirty="0" smtClean="0"/>
                <a:t>Figura 6.13</a:t>
              </a:r>
              <a:endParaRPr lang="en-US" sz="1000" dirty="0"/>
            </a:p>
          </p:txBody>
        </p:sp>
      </p:gr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25" y="4886113"/>
            <a:ext cx="14097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25" y="3806889"/>
            <a:ext cx="1408176" cy="899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10" name="Tabela 9"/>
              <p:cNvGraphicFramePr>
                <a:graphicFrameLocks noGrp="1"/>
              </p:cNvGraphicFramePr>
              <p:nvPr>
                <p:extLst>
                  <p:ext uri="{D42A27DB-BD31-4B8C-83A1-F6EECF244321}">
                    <p14:modId xmlns:p14="http://schemas.microsoft.com/office/powerpoint/2010/main" val="777342703"/>
                  </p:ext>
                </p:extLst>
              </p:nvPr>
            </p:nvGraphicFramePr>
            <p:xfrm>
              <a:off x="228600" y="1371600"/>
              <a:ext cx="8686800" cy="185420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6.13 –</a:t>
                          </a:r>
                          <a:r>
                            <a:rPr lang="pt-BR" sz="1200" baseline="0" dirty="0" smtClean="0"/>
                            <a:t> Requisitos de projeto para dobradiças elásticas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Dobradiça elástica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Não pode falhar, o que significa </a:t>
                          </a:r>
                          <a14:m>
                            <m:oMath xmlns:m="http://schemas.openxmlformats.org/officeDocument/2006/math">
                              <m:r>
                                <a:rPr lang="pt-BR" sz="1400" i="1" baseline="0" smtClean="0">
                                  <a:latin typeface="Cambria Math"/>
                                  <a:ea typeface="Cambria Math"/>
                                </a:rPr>
                                <m:t>𝜎</m:t>
                              </m:r>
                              <m:r>
                                <a:rPr lang="pt-BR" sz="1400" b="0" i="1" baseline="0" smtClean="0">
                                  <a:latin typeface="Cambria Math"/>
                                  <a:ea typeface="Cambria Math"/>
                                </a:rPr>
                                <m:t>&lt;</m:t>
                              </m:r>
                              <m:sSub>
                                <m:sSubPr>
                                  <m:ctrlPr>
                                    <a:rPr lang="pt-BR" sz="1400" b="0" i="1" baseline="0" smtClean="0">
                                      <a:latin typeface="Cambria Math"/>
                                      <a:ea typeface="Cambria Math"/>
                                    </a:rPr>
                                  </m:ctrlPr>
                                </m:sSubPr>
                                <m:e>
                                  <m:r>
                                    <a:rPr lang="pt-BR" sz="1400" b="0" i="1" baseline="0" smtClean="0">
                                      <a:latin typeface="Cambria Math"/>
                                      <a:ea typeface="Cambria Math"/>
                                    </a:rPr>
                                    <m:t>𝜎</m:t>
                                  </m:r>
                                </m:e>
                                <m:sub>
                                  <m:r>
                                    <a:rPr lang="pt-BR" sz="1400" b="0" i="1" baseline="0" smtClean="0">
                                      <a:latin typeface="Cambria Math"/>
                                      <a:ea typeface="Cambria Math"/>
                                    </a:rPr>
                                    <m:t>𝑓</m:t>
                                  </m:r>
                                </m:sub>
                              </m:sSub>
                            </m:oMath>
                          </a14:m>
                          <a:r>
                            <a:rPr lang="pt-BR" sz="1400" baseline="0" dirty="0" smtClean="0"/>
                            <a:t> em toda a dobradiça</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a:t>
                          </a:r>
                          <a:r>
                            <a:rPr lang="pt-BR" sz="1400" baseline="0" dirty="0" smtClean="0"/>
                            <a:t> flexão elástica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mc:Choice>
        <mc:Fallback xmlns="">
          <p:graphicFrame>
            <p:nvGraphicFramePr>
              <p:cNvPr id="10" name="Tabela 9"/>
              <p:cNvGraphicFramePr>
                <a:graphicFrameLocks noGrp="1"/>
              </p:cNvGraphicFramePr>
              <p:nvPr>
                <p:extLst>
                  <p:ext uri="{D42A27DB-BD31-4B8C-83A1-F6EECF244321}">
                    <p14:modId xmlns:p14="http://schemas.microsoft.com/office/powerpoint/2010/main" val="777342703"/>
                  </p:ext>
                </p:extLst>
              </p:nvPr>
            </p:nvGraphicFramePr>
            <p:xfrm>
              <a:off x="228600" y="1371600"/>
              <a:ext cx="8686800" cy="185420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a:t>
                          </a:r>
                          <a:r>
                            <a:rPr lang="pt-BR" sz="1200" dirty="0" smtClean="0"/>
                            <a:t>6.13 </a:t>
                          </a:r>
                          <a:r>
                            <a:rPr lang="pt-BR" sz="1200" dirty="0" smtClean="0"/>
                            <a:t>–</a:t>
                          </a:r>
                          <a:r>
                            <a:rPr lang="pt-BR" sz="1200" baseline="0" dirty="0" smtClean="0"/>
                            <a:t> Requisitos </a:t>
                          </a:r>
                          <a:r>
                            <a:rPr lang="pt-BR" sz="1200" baseline="0" dirty="0" smtClean="0"/>
                            <a:t>de </a:t>
                          </a:r>
                          <a:r>
                            <a:rPr lang="pt-BR" sz="1200" baseline="0" dirty="0" smtClean="0"/>
                            <a:t>projeto </a:t>
                          </a:r>
                          <a:r>
                            <a:rPr lang="pt-BR" sz="1200" baseline="0" dirty="0" smtClean="0"/>
                            <a:t>para dobradiças elásticas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Dobradiça elástica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5"/>
                          <a:stretch>
                            <a:fillRect l="-26981" t="-205000" b="-205000"/>
                          </a:stretch>
                        </a:blipFill>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a:t>
                          </a:r>
                          <a:r>
                            <a:rPr lang="pt-BR" sz="1400" baseline="0" dirty="0" smtClean="0"/>
                            <a:t> flexão elástica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mc:Fallback>
      </mc:AlternateContent>
    </p:spTree>
    <p:extLst>
      <p:ext uri="{BB962C8B-B14F-4D97-AF65-F5344CB8AC3E}">
        <p14:creationId xmlns:p14="http://schemas.microsoft.com/office/powerpoint/2010/main" val="20549604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78382" y="26437"/>
            <a:ext cx="7772400" cy="1470025"/>
          </a:xfrm>
        </p:spPr>
        <p:txBody>
          <a:bodyPr/>
          <a:lstStyle/>
          <a:p>
            <a:r>
              <a:rPr lang="pt-BR" dirty="0" smtClean="0"/>
              <a:t>Materiais para Dobradiças Elásticas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7" name="Grupo 6"/>
          <p:cNvGrpSpPr/>
          <p:nvPr/>
        </p:nvGrpSpPr>
        <p:grpSpPr>
          <a:xfrm>
            <a:off x="1385596" y="1457325"/>
            <a:ext cx="6400800" cy="4936557"/>
            <a:chOff x="1385596" y="1457325"/>
            <a:chExt cx="6400800" cy="4936557"/>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596" y="1457325"/>
              <a:ext cx="6400800" cy="4699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0046" y="6147661"/>
              <a:ext cx="829073" cy="246221"/>
            </a:xfrm>
            <a:prstGeom prst="rect">
              <a:avLst/>
            </a:prstGeom>
            <a:noFill/>
          </p:spPr>
          <p:txBody>
            <a:bodyPr wrap="none" rtlCol="0">
              <a:spAutoFit/>
            </a:bodyPr>
            <a:lstStyle/>
            <a:p>
              <a:pPr algn="ctr"/>
              <a:r>
                <a:rPr lang="en-US" sz="1000" dirty="0" smtClean="0"/>
                <a:t>Figura 6.14</a:t>
              </a:r>
              <a:endParaRPr lang="en-US" sz="1000" dirty="0"/>
            </a:p>
          </p:txBody>
        </p:sp>
      </p:grpSp>
    </p:spTree>
    <p:extLst>
      <p:ext uri="{BB962C8B-B14F-4D97-AF65-F5344CB8AC3E}">
        <p14:creationId xmlns:p14="http://schemas.microsoft.com/office/powerpoint/2010/main" val="7235568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219200" y="4038600"/>
            <a:ext cx="6553200" cy="1752600"/>
          </a:xfrm>
          <a:solidFill>
            <a:schemeClr val="accent5">
              <a:lumMod val="75000"/>
            </a:schemeClr>
          </a:solidFill>
        </p:spPr>
        <p:txBody>
          <a:bodyPr>
            <a:normAutofit fontScale="70000" lnSpcReduction="20000"/>
          </a:bodyPr>
          <a:lstStyle/>
          <a:p>
            <a:r>
              <a:rPr lang="pt-BR" dirty="0" smtClean="0"/>
              <a:t>Elastômeros são melhores, mas não são tão rígido o suficiente para atender outros requisitos de projeto. Polímeros tais como o náilon, PTFE e PE são melhores. Aços mola não são tão bons, todavia são mais resistentes.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2160049297"/>
                  </p:ext>
                </p:extLst>
              </p:nvPr>
            </p:nvGraphicFramePr>
            <p:xfrm>
              <a:off x="533400" y="533400"/>
              <a:ext cx="8201026" cy="2850579"/>
            </p:xfrm>
            <a:graphic>
              <a:graphicData uri="http://schemas.openxmlformats.org/drawingml/2006/table">
                <a:tbl>
                  <a:tblPr firstRow="1" bandRow="1">
                    <a:tableStyleId>{68D230F3-CF80-4859-8CE7-A43EE81993B5}</a:tableStyleId>
                  </a:tblPr>
                  <a:tblGrid>
                    <a:gridCol w="2195513"/>
                    <a:gridCol w="1524001"/>
                    <a:gridCol w="4481512"/>
                  </a:tblGrid>
                  <a:tr h="487680">
                    <a:tc gridSpan="3">
                      <a:txBody>
                        <a:bodyPr/>
                        <a:lstStyle/>
                        <a:p>
                          <a:r>
                            <a:rPr lang="pt-BR" sz="1400" dirty="0" smtClean="0">
                              <a:solidFill>
                                <a:srgbClr val="FFFF00"/>
                              </a:solidFill>
                            </a:rPr>
                            <a:t>Tabela 6.14</a:t>
                          </a:r>
                          <a:r>
                            <a:rPr lang="pt-BR" sz="1400" baseline="0" dirty="0" smtClean="0">
                              <a:solidFill>
                                <a:srgbClr val="FFFF00"/>
                              </a:solidFill>
                            </a:rPr>
                            <a:t> </a:t>
                          </a:r>
                          <a:r>
                            <a:rPr lang="pt-BR" sz="1400" dirty="0" smtClean="0">
                              <a:solidFill>
                                <a:srgbClr val="FFFF00"/>
                              </a:solidFill>
                            </a:rPr>
                            <a:t>– Materiais para dobradiças</a:t>
                          </a:r>
                          <a:r>
                            <a:rPr lang="pt-BR" sz="1400" baseline="0" dirty="0" smtClean="0">
                              <a:solidFill>
                                <a:srgbClr val="FFFF00"/>
                              </a:solidFill>
                            </a:rPr>
                            <a:t> elásticas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Polietileno</a:t>
                          </a:r>
                        </a:p>
                        <a:p>
                          <a:pPr algn="ctr"/>
                          <a:endParaRPr lang="pt-BR" sz="1050" baseline="0" dirty="0" smtClean="0"/>
                        </a:p>
                        <a:p>
                          <a:pPr algn="ctr"/>
                          <a:r>
                            <a:rPr lang="pt-BR" sz="1050" baseline="0" dirty="0" smtClean="0"/>
                            <a:t>Polipropileno</a:t>
                          </a:r>
                        </a:p>
                        <a:p>
                          <a:pPr algn="ctr"/>
                          <a:endParaRPr lang="pt-BR" sz="1050" baseline="0" dirty="0" smtClean="0"/>
                        </a:p>
                        <a:p>
                          <a:pPr algn="ctr"/>
                          <a:r>
                            <a:rPr lang="pt-BR" sz="1050" baseline="0" dirty="0" smtClean="0"/>
                            <a:t>Náilon</a:t>
                          </a:r>
                        </a:p>
                        <a:p>
                          <a:pPr algn="ctr"/>
                          <a:endParaRPr lang="pt-BR" sz="1050" baseline="0" dirty="0" smtClean="0"/>
                        </a:p>
                        <a:p>
                          <a:pPr algn="ctr"/>
                          <a:r>
                            <a:rPr lang="pt-BR" sz="1050" baseline="0" dirty="0" smtClean="0"/>
                            <a:t>PTFE</a:t>
                          </a:r>
                        </a:p>
                        <a:p>
                          <a:pPr algn="ctr"/>
                          <a:endParaRPr lang="pt-BR" sz="1050" baseline="0" dirty="0" smtClean="0"/>
                        </a:p>
                        <a:p>
                          <a:pPr algn="ctr"/>
                          <a:r>
                            <a:rPr lang="pt-BR" sz="1050" baseline="0" dirty="0" smtClean="0"/>
                            <a:t>Ligas de Cu de alta Resistência</a:t>
                          </a:r>
                        </a:p>
                        <a:p>
                          <a:pPr algn="ctr"/>
                          <a:endParaRPr lang="pt-BR" sz="1050" baseline="0" dirty="0" smtClean="0"/>
                        </a:p>
                        <a:p>
                          <a:pPr algn="ctr"/>
                          <a:r>
                            <a:rPr lang="pt-BR" sz="1050" baseline="0" dirty="0" smtClean="0"/>
                            <a:t>Aços molas</a:t>
                          </a:r>
                        </a:p>
                        <a:p>
                          <a:pPr algn="ctr"/>
                          <a:endParaRPr lang="pt-BR" sz="1050" baseline="0" dirty="0" smtClean="0"/>
                        </a:p>
                      </a:txBody>
                      <a:tcPr>
                        <a:solidFill>
                          <a:schemeClr val="accent1"/>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Cambria Math"/>
                                            <a:cs typeface="+mn-cs"/>
                                          </a:rPr>
                                          <m:t>𝝈</m:t>
                                        </m:r>
                                      </m:e>
                                      <m:sub>
                                        <m:r>
                                          <a:rPr lang="pt-BR" sz="1100" b="1" i="1" kern="1200" baseline="0" smtClean="0">
                                            <a:solidFill>
                                              <a:srgbClr val="FFFF00"/>
                                            </a:solidFill>
                                            <a:latin typeface="Cambria Math"/>
                                            <a:ea typeface="+mn-ea"/>
                                            <a:cs typeface="+mn-cs"/>
                                          </a:rPr>
                                          <m:t>𝒇</m:t>
                                        </m:r>
                                      </m:sub>
                                    </m:sSub>
                                  </m:num>
                                  <m:den>
                                    <m:r>
                                      <a:rPr lang="pt-BR" sz="1100" b="1" i="1" kern="1200" baseline="0" smtClean="0">
                                        <a:solidFill>
                                          <a:srgbClr val="FFFF00"/>
                                        </a:solidFill>
                                        <a:latin typeface="Cambria Math"/>
                                        <a:ea typeface="+mn-ea"/>
                                        <a:cs typeface="+mn-cs"/>
                                      </a:rPr>
                                      <m:t>𝑬</m:t>
                                    </m:r>
                                    <m:r>
                                      <a:rPr lang="pt-BR" sz="1100" b="1" i="1" kern="1200" baseline="0" smtClean="0">
                                        <a:solidFill>
                                          <a:srgbClr val="FFFF00"/>
                                        </a:solidFill>
                                        <a:latin typeface="Cambria Math"/>
                                        <a:ea typeface="+mn-ea"/>
                                        <a:cs typeface="+mn-cs"/>
                                      </a:rPr>
                                      <m:t> </m:t>
                                    </m:r>
                                  </m:den>
                                </m:f>
                                <m:r>
                                  <a:rPr lang="pt-BR" sz="1100" b="1" i="0" kern="1200" baseline="0" dirty="0" smtClean="0">
                                    <a:solidFill>
                                      <a:srgbClr val="FFFF00"/>
                                    </a:solidFill>
                                    <a:latin typeface="Cambria Math"/>
                                    <a:ea typeface="+mn-ea"/>
                                    <a:cs typeface="+mn-cs"/>
                                  </a:rPr>
                                  <m:t>×</m:t>
                                </m:r>
                                <m:sSup>
                                  <m:sSupPr>
                                    <m:ctrlPr>
                                      <a:rPr lang="pt-BR" sz="1100" b="1" i="1" kern="1200" baseline="0" dirty="0" smtClean="0">
                                        <a:solidFill>
                                          <a:srgbClr val="FFFF00"/>
                                        </a:solidFill>
                                        <a:latin typeface="Cambria Math"/>
                                        <a:ea typeface="+mn-ea"/>
                                        <a:cs typeface="+mn-cs"/>
                                      </a:rPr>
                                    </m:ctrlPr>
                                  </m:sSupPr>
                                  <m:e>
                                    <m:r>
                                      <a:rPr lang="pt-BR" sz="1100" b="1" i="0" kern="1200" baseline="0" dirty="0" smtClean="0">
                                        <a:solidFill>
                                          <a:srgbClr val="FFFF00"/>
                                        </a:solidFill>
                                        <a:latin typeface="Cambria Math"/>
                                        <a:ea typeface="+mn-ea"/>
                                        <a:cs typeface="+mn-cs"/>
                                      </a:rPr>
                                      <m:t>𝟏𝟎</m:t>
                                    </m:r>
                                  </m:e>
                                  <m:sup>
                                    <m:r>
                                      <a:rPr lang="pt-BR" sz="1100" b="1" i="1" kern="1200" baseline="0" dirty="0" smtClean="0">
                                        <a:solidFill>
                                          <a:srgbClr val="FFFF00"/>
                                        </a:solidFill>
                                        <a:latin typeface="Cambria Math"/>
                                        <a:ea typeface="+mn-ea"/>
                                        <a:cs typeface="+mn-cs"/>
                                      </a:rPr>
                                      <m:t>−</m:t>
                                    </m:r>
                                    <m:r>
                                      <a:rPr lang="pt-BR" sz="1100" b="1" i="1" kern="1200" baseline="0" dirty="0" smtClean="0">
                                        <a:solidFill>
                                          <a:srgbClr val="FFFF00"/>
                                        </a:solidFill>
                                        <a:latin typeface="Cambria Math"/>
                                        <a:ea typeface="+mn-ea"/>
                                        <a:cs typeface="+mn-cs"/>
                                      </a:rPr>
                                      <m:t>𝟑</m:t>
                                    </m:r>
                                  </m:sup>
                                </m:sSup>
                              </m:oMath>
                            </m:oMathPara>
                          </a14:m>
                          <a:endParaRPr lang="pt-BR" sz="1100" b="1" kern="1200" baseline="0" dirty="0" smtClean="0">
                            <a:solidFill>
                              <a:srgbClr val="FFFF00"/>
                            </a:solidFill>
                            <a:latin typeface="+mn-lt"/>
                            <a:ea typeface="+mn-ea"/>
                            <a:cs typeface="+mn-cs"/>
                          </a:endParaRPr>
                        </a:p>
                        <a:p>
                          <a:pPr algn="ctr"/>
                          <a:endParaRPr lang="pt-BR" sz="1050" b="1" baseline="0" dirty="0" smtClean="0">
                            <a:solidFill>
                              <a:srgbClr val="FFFF00"/>
                            </a:solidFill>
                          </a:endParaRPr>
                        </a:p>
                        <a:p>
                          <a:pPr algn="ctr"/>
                          <a:r>
                            <a:rPr lang="pt-BR" sz="1050" b="0" baseline="0" dirty="0" smtClean="0">
                              <a:solidFill>
                                <a:schemeClr val="tx1"/>
                              </a:solidFill>
                            </a:rPr>
                            <a:t>32</a:t>
                          </a:r>
                        </a:p>
                        <a:p>
                          <a:pPr algn="ctr"/>
                          <a:endParaRPr lang="pt-BR" sz="1050" b="0" baseline="0" dirty="0" smtClean="0">
                            <a:solidFill>
                              <a:schemeClr val="tx1"/>
                            </a:solidFill>
                          </a:endParaRPr>
                        </a:p>
                        <a:p>
                          <a:pPr algn="ctr"/>
                          <a:r>
                            <a:rPr lang="pt-BR" sz="1050" b="0" baseline="0" dirty="0" smtClean="0">
                              <a:solidFill>
                                <a:schemeClr val="tx1"/>
                              </a:solidFill>
                            </a:rPr>
                            <a:t>30</a:t>
                          </a:r>
                        </a:p>
                        <a:p>
                          <a:pPr algn="ctr"/>
                          <a:endParaRPr lang="pt-BR" sz="1050" b="0" baseline="0" dirty="0" smtClean="0">
                            <a:solidFill>
                              <a:schemeClr val="tx1"/>
                            </a:solidFill>
                          </a:endParaRPr>
                        </a:p>
                        <a:p>
                          <a:pPr algn="ctr"/>
                          <a:r>
                            <a:rPr lang="pt-BR" sz="1050" b="0" baseline="0" dirty="0" smtClean="0">
                              <a:solidFill>
                                <a:schemeClr val="tx1"/>
                              </a:solidFill>
                            </a:rPr>
                            <a:t>35</a:t>
                          </a:r>
                        </a:p>
                        <a:p>
                          <a:pPr algn="ctr"/>
                          <a:endParaRPr lang="pt-BR" sz="1050" b="0" baseline="0" dirty="0" smtClean="0">
                            <a:solidFill>
                              <a:schemeClr val="tx1"/>
                            </a:solidFill>
                          </a:endParaRPr>
                        </a:p>
                        <a:p>
                          <a:pPr algn="ctr"/>
                          <a:r>
                            <a:rPr lang="pt-BR" sz="1050" b="0" baseline="0" dirty="0" smtClean="0">
                              <a:solidFill>
                                <a:schemeClr val="tx1"/>
                              </a:solidFill>
                            </a:rPr>
                            <a:t>100-1000</a:t>
                          </a:r>
                        </a:p>
                        <a:p>
                          <a:pPr algn="ctr"/>
                          <a:endParaRPr lang="pt-BR" sz="1050" b="0" baseline="0" dirty="0" smtClean="0">
                            <a:solidFill>
                              <a:schemeClr val="tx1"/>
                            </a:solidFill>
                          </a:endParaRPr>
                        </a:p>
                        <a:p>
                          <a:pPr algn="ctr"/>
                          <a:r>
                            <a:rPr lang="pt-BR" sz="1050" b="0" baseline="0" dirty="0" smtClean="0">
                              <a:solidFill>
                                <a:schemeClr val="tx1"/>
                              </a:solidFill>
                            </a:rPr>
                            <a:t>4</a:t>
                          </a:r>
                        </a:p>
                        <a:p>
                          <a:pPr algn="ctr"/>
                          <a:endParaRPr lang="pt-BR" sz="1050" b="0" baseline="0" dirty="0" smtClean="0">
                            <a:solidFill>
                              <a:schemeClr val="tx1"/>
                            </a:solidFill>
                          </a:endParaRPr>
                        </a:p>
                        <a:p>
                          <a:pPr algn="ctr"/>
                          <a:r>
                            <a:rPr lang="pt-BR" sz="1050" b="0" baseline="0" dirty="0" smtClean="0">
                              <a:solidFill>
                                <a:schemeClr val="tx1"/>
                              </a:solidFill>
                            </a:rPr>
                            <a:t>6</a:t>
                          </a:r>
                        </a:p>
                        <a:p>
                          <a:pPr algn="ctr"/>
                          <a:endParaRPr lang="pt-BR" sz="1050" b="0" baseline="0" dirty="0" smtClean="0">
                            <a:solidFill>
                              <a:schemeClr val="tx1"/>
                            </a:solidFill>
                          </a:endParaRP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Amplamente usado para tampas de garrafas com dobradiça</a:t>
                          </a:r>
                        </a:p>
                        <a:p>
                          <a:pPr algn="ctr"/>
                          <a:endParaRPr lang="pt-BR" sz="1050" b="1" baseline="0" dirty="0" smtClean="0">
                            <a:solidFill>
                              <a:schemeClr val="tx1"/>
                            </a:solidFill>
                          </a:endParaRPr>
                        </a:p>
                        <a:p>
                          <a:pPr algn="ctr"/>
                          <a:r>
                            <a:rPr lang="pt-BR" sz="1050" b="1" baseline="0" dirty="0" smtClean="0">
                              <a:solidFill>
                                <a:schemeClr val="tx1"/>
                              </a:solidFill>
                            </a:rPr>
                            <a:t>Mais rígido que o polietileno; fácil de moldar</a:t>
                          </a:r>
                        </a:p>
                        <a:p>
                          <a:pPr algn="ctr"/>
                          <a:endParaRPr lang="pt-BR" sz="1050" b="1" baseline="0" dirty="0" smtClean="0">
                            <a:solidFill>
                              <a:schemeClr val="tx1"/>
                            </a:solidFill>
                          </a:endParaRPr>
                        </a:p>
                        <a:p>
                          <a:pPr algn="ctr"/>
                          <a:r>
                            <a:rPr lang="pt-BR" sz="1050" b="1" baseline="0" dirty="0" smtClean="0">
                              <a:solidFill>
                                <a:schemeClr val="tx1"/>
                              </a:solidFill>
                            </a:rPr>
                            <a:t>Mais rígido que o polietileno; fácil de moldar</a:t>
                          </a:r>
                        </a:p>
                        <a:p>
                          <a:pPr algn="ctr"/>
                          <a:endParaRPr lang="pt-BR" sz="1050" b="1" baseline="0" dirty="0" smtClean="0">
                            <a:solidFill>
                              <a:schemeClr val="tx1"/>
                            </a:solidFill>
                          </a:endParaRPr>
                        </a:p>
                        <a:p>
                          <a:pPr algn="ctr"/>
                          <a:r>
                            <a:rPr lang="pt-BR" sz="1050" b="1" baseline="0" dirty="0" smtClean="0">
                              <a:solidFill>
                                <a:schemeClr val="tx1"/>
                              </a:solidFill>
                            </a:rPr>
                            <a:t>Muito durável; mais caro que PE, PP</a:t>
                          </a:r>
                        </a:p>
                        <a:p>
                          <a:pPr algn="ctr"/>
                          <a:endParaRPr lang="pt-BR" sz="1050" b="1" baseline="0" dirty="0" smtClean="0">
                            <a:solidFill>
                              <a:schemeClr val="tx1"/>
                            </a:solidFill>
                          </a:endParaRPr>
                        </a:p>
                        <a:p>
                          <a:pPr algn="ctr"/>
                          <a:r>
                            <a:rPr lang="pt-BR" sz="1050" b="1" baseline="0" dirty="0" smtClean="0">
                              <a:solidFill>
                                <a:schemeClr val="tx1"/>
                              </a:solidFill>
                            </a:rPr>
                            <a:t>Notável, porém tem módulo baixo</a:t>
                          </a:r>
                        </a:p>
                        <a:p>
                          <a:pPr algn="ctr"/>
                          <a:endParaRPr lang="pt-BR" sz="1050" b="1" baseline="0" dirty="0" smtClean="0">
                            <a:solidFill>
                              <a:schemeClr val="tx1"/>
                            </a:solidFill>
                          </a:endParaRPr>
                        </a:p>
                        <a:p>
                          <a:pPr algn="ctr"/>
                          <a:r>
                            <a:rPr lang="pt-BR" sz="1050" b="1" baseline="0" dirty="0" smtClean="0">
                              <a:solidFill>
                                <a:schemeClr val="tx1"/>
                              </a:solidFill>
                            </a:rPr>
                            <a:t>M não tão bom quanto os de polímeros; use quando é exigida alta rigidez sob tração</a:t>
                          </a: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2160049297"/>
                  </p:ext>
                </p:extLst>
              </p:nvPr>
            </p:nvGraphicFramePr>
            <p:xfrm>
              <a:off x="533400" y="533400"/>
              <a:ext cx="8201026" cy="2850579"/>
            </p:xfrm>
            <a:graphic>
              <a:graphicData uri="http://schemas.openxmlformats.org/drawingml/2006/table">
                <a:tbl>
                  <a:tblPr firstRow="1" bandRow="1">
                    <a:tableStyleId>{68D230F3-CF80-4859-8CE7-A43EE81993B5}</a:tableStyleId>
                  </a:tblPr>
                  <a:tblGrid>
                    <a:gridCol w="2195513"/>
                    <a:gridCol w="1524001"/>
                    <a:gridCol w="4481512"/>
                  </a:tblGrid>
                  <a:tr h="487680">
                    <a:tc gridSpan="3">
                      <a:txBody>
                        <a:bodyPr/>
                        <a:lstStyle/>
                        <a:p>
                          <a:r>
                            <a:rPr lang="pt-BR" sz="1400" dirty="0" smtClean="0">
                              <a:solidFill>
                                <a:srgbClr val="FFFF00"/>
                              </a:solidFill>
                            </a:rPr>
                            <a:t>Tabela </a:t>
                          </a:r>
                          <a:r>
                            <a:rPr lang="pt-BR" sz="1400" dirty="0" smtClean="0">
                              <a:solidFill>
                                <a:srgbClr val="FFFF00"/>
                              </a:solidFill>
                            </a:rPr>
                            <a:t>6.14</a:t>
                          </a:r>
                          <a:r>
                            <a:rPr lang="pt-BR" sz="1400" baseline="0" dirty="0" smtClean="0">
                              <a:solidFill>
                                <a:srgbClr val="FFFF00"/>
                              </a:solidFill>
                            </a:rPr>
                            <a:t> </a:t>
                          </a:r>
                          <a:r>
                            <a:rPr lang="pt-BR" sz="1400" dirty="0" smtClean="0">
                              <a:solidFill>
                                <a:srgbClr val="FFFF00"/>
                              </a:solidFill>
                            </a:rPr>
                            <a:t>– </a:t>
                          </a:r>
                          <a:r>
                            <a:rPr lang="pt-BR" sz="1400" dirty="0" smtClean="0">
                              <a:solidFill>
                                <a:srgbClr val="FFFF00"/>
                              </a:solidFill>
                            </a:rPr>
                            <a:t>Materiais para </a:t>
                          </a:r>
                          <a:r>
                            <a:rPr lang="pt-BR" sz="1400" dirty="0" smtClean="0">
                              <a:solidFill>
                                <a:srgbClr val="FFFF00"/>
                              </a:solidFill>
                            </a:rPr>
                            <a:t>dobradiças</a:t>
                          </a:r>
                          <a:r>
                            <a:rPr lang="pt-BR" sz="1400" baseline="0" dirty="0" smtClean="0">
                              <a:solidFill>
                                <a:srgbClr val="FFFF00"/>
                              </a:solidFill>
                            </a:rPr>
                            <a:t> elásticas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2362899">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Polietileno</a:t>
                          </a:r>
                          <a:endParaRPr lang="pt-BR" sz="1050" baseline="0" dirty="0" smtClean="0"/>
                        </a:p>
                        <a:p>
                          <a:pPr algn="ctr"/>
                          <a:endParaRPr lang="pt-BR" sz="1050" baseline="0" dirty="0" smtClean="0"/>
                        </a:p>
                        <a:p>
                          <a:pPr algn="ctr"/>
                          <a:r>
                            <a:rPr lang="pt-BR" sz="1050" baseline="0" dirty="0" smtClean="0"/>
                            <a:t>Polipropileno</a:t>
                          </a:r>
                          <a:endParaRPr lang="pt-BR" sz="1050" baseline="0" dirty="0" smtClean="0"/>
                        </a:p>
                        <a:p>
                          <a:pPr algn="ctr"/>
                          <a:endParaRPr lang="pt-BR" sz="1050" baseline="0" dirty="0" smtClean="0"/>
                        </a:p>
                        <a:p>
                          <a:pPr algn="ctr"/>
                          <a:r>
                            <a:rPr lang="pt-BR" sz="1050" baseline="0" dirty="0" smtClean="0"/>
                            <a:t>Náilon</a:t>
                          </a:r>
                          <a:endParaRPr lang="pt-BR" sz="1050" baseline="0" dirty="0" smtClean="0"/>
                        </a:p>
                        <a:p>
                          <a:pPr algn="ctr"/>
                          <a:endParaRPr lang="pt-BR" sz="1050" baseline="0" dirty="0" smtClean="0"/>
                        </a:p>
                        <a:p>
                          <a:pPr algn="ctr"/>
                          <a:r>
                            <a:rPr lang="pt-BR" sz="1050" baseline="0" dirty="0" smtClean="0"/>
                            <a:t>PTFE</a:t>
                          </a:r>
                          <a:endParaRPr lang="pt-BR" sz="1050" baseline="0" dirty="0" smtClean="0"/>
                        </a:p>
                        <a:p>
                          <a:pPr algn="ctr"/>
                          <a:endParaRPr lang="pt-BR" sz="1050" baseline="0" dirty="0" smtClean="0"/>
                        </a:p>
                        <a:p>
                          <a:pPr algn="ctr"/>
                          <a:r>
                            <a:rPr lang="pt-BR" sz="1050" baseline="0" dirty="0" smtClean="0"/>
                            <a:t>Ligas de Cu de alta Resistência</a:t>
                          </a:r>
                          <a:endParaRPr lang="pt-BR" sz="1050" baseline="0" dirty="0" smtClean="0"/>
                        </a:p>
                        <a:p>
                          <a:pPr algn="ctr"/>
                          <a:endParaRPr lang="pt-BR" sz="1050" baseline="0" dirty="0" smtClean="0"/>
                        </a:p>
                        <a:p>
                          <a:pPr algn="ctr"/>
                          <a:r>
                            <a:rPr lang="pt-BR" sz="1050" baseline="0" dirty="0" smtClean="0"/>
                            <a:t>Aços molas</a:t>
                          </a:r>
                          <a:endParaRPr lang="pt-BR" sz="1050" baseline="0" dirty="0" smtClean="0"/>
                        </a:p>
                        <a:p>
                          <a:pPr algn="ctr"/>
                          <a:endParaRPr lang="pt-BR" sz="1050" baseline="0" dirty="0" smtClean="0"/>
                        </a:p>
                      </a:txBody>
                      <a:tcPr>
                        <a:solidFill>
                          <a:schemeClr val="accent1"/>
                        </a:solidFill>
                      </a:tcPr>
                    </a:tc>
                    <a:tc>
                      <a:txBody>
                        <a:bodyPr/>
                        <a:lstStyle/>
                        <a:p>
                          <a:endParaRPr lang="en-US"/>
                        </a:p>
                      </a:txBody>
                      <a:tcPr>
                        <a:blipFill rotWithShape="1">
                          <a:blip r:embed="rId2"/>
                          <a:stretch>
                            <a:fillRect l="-144400" t="-20930" r="-294000" b="-258"/>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Amplamente usado para tampas de garrafas com dobradiça</a:t>
                          </a:r>
                        </a:p>
                        <a:p>
                          <a:pPr algn="ctr"/>
                          <a:endParaRPr lang="pt-BR" sz="1050" b="1" baseline="0" dirty="0" smtClean="0">
                            <a:solidFill>
                              <a:schemeClr val="tx1"/>
                            </a:solidFill>
                          </a:endParaRPr>
                        </a:p>
                        <a:p>
                          <a:pPr algn="ctr"/>
                          <a:r>
                            <a:rPr lang="pt-BR" sz="1050" b="1" baseline="0" dirty="0" smtClean="0">
                              <a:solidFill>
                                <a:schemeClr val="tx1"/>
                              </a:solidFill>
                            </a:rPr>
                            <a:t>Mais rígido que o polietileno; fácil de moldar</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Mais rígido que o polietileno; fácil de moldar</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Muito durável; mais caro que PE, PP</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Notável, porém tem módulo baixo</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M não tão bom quanto os de polímeros; use quando é exigida alta rigidez sob tração</a:t>
                          </a:r>
                          <a:endParaRPr lang="pt-BR" sz="1050" b="1" baseline="0" dirty="0" smtClean="0">
                            <a:solidFill>
                              <a:schemeClr val="tx1"/>
                            </a:solidFill>
                          </a:endParaRPr>
                        </a:p>
                      </a:txBody>
                      <a:tcPr>
                        <a:solidFill>
                          <a:schemeClr val="accent1"/>
                        </a:solidFill>
                      </a:tcPr>
                    </a:tc>
                  </a:tr>
                </a:tbl>
              </a:graphicData>
            </a:graphic>
          </p:graphicFrame>
        </mc:Fallback>
      </mc:AlternateContent>
    </p:spTree>
    <p:extLst>
      <p:ext uri="{BB962C8B-B14F-4D97-AF65-F5344CB8AC3E}">
        <p14:creationId xmlns:p14="http://schemas.microsoft.com/office/powerpoint/2010/main" val="29902644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4241"/>
            <a:ext cx="8229600" cy="1143000"/>
          </a:xfrm>
        </p:spPr>
        <p:txBody>
          <a:bodyPr/>
          <a:lstStyle/>
          <a:p>
            <a:r>
              <a:rPr lang="pt-BR" dirty="0" smtClean="0"/>
              <a:t>Vedações Elástica</a:t>
            </a:r>
            <a:endParaRPr lang="en-US"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790700" y="1217241"/>
            <a:ext cx="5372100" cy="2360461"/>
            <a:chOff x="1790700" y="1217241"/>
            <a:chExt cx="5372100" cy="2360461"/>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1217241"/>
              <a:ext cx="5372100" cy="2114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157463" y="3331481"/>
              <a:ext cx="829073" cy="246221"/>
            </a:xfrm>
            <a:prstGeom prst="rect">
              <a:avLst/>
            </a:prstGeom>
            <a:noFill/>
          </p:spPr>
          <p:txBody>
            <a:bodyPr wrap="none" rtlCol="0">
              <a:spAutoFit/>
            </a:bodyPr>
            <a:lstStyle/>
            <a:p>
              <a:pPr algn="ctr"/>
              <a:r>
                <a:rPr lang="en-US" sz="1000" dirty="0" smtClean="0"/>
                <a:t>Figura 6.15</a:t>
              </a:r>
              <a:endParaRPr lang="en-US" sz="1000" dirty="0"/>
            </a:p>
          </p:txBody>
        </p:sp>
      </p:gr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5800725"/>
            <a:ext cx="13811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251" y="5800725"/>
            <a:ext cx="25622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 name="Tabela 9"/>
          <p:cNvGraphicFramePr>
            <a:graphicFrameLocks noGrp="1"/>
          </p:cNvGraphicFramePr>
          <p:nvPr>
            <p:extLst>
              <p:ext uri="{D42A27DB-BD31-4B8C-83A1-F6EECF244321}">
                <p14:modId xmlns:p14="http://schemas.microsoft.com/office/powerpoint/2010/main" val="3896167800"/>
              </p:ext>
            </p:extLst>
          </p:nvPr>
        </p:nvGraphicFramePr>
        <p:xfrm>
          <a:off x="228599" y="3657600"/>
          <a:ext cx="8686800" cy="200152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6.15 –</a:t>
                      </a:r>
                      <a:r>
                        <a:rPr lang="pt-BR" sz="1200" baseline="0" dirty="0" smtClean="0"/>
                        <a:t> Requisitos de projeto para vedações elásticas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Vedação elástica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Limite a pressão de contato</a:t>
                      </a:r>
                    </a:p>
                    <a:p>
                      <a:r>
                        <a:rPr lang="pt-BR" sz="1400" baseline="0" dirty="0" smtClean="0"/>
                        <a:t>Baixo custo</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a:t>
                      </a:r>
                      <a:r>
                        <a:rPr lang="pt-BR" sz="1400" baseline="0" dirty="0" smtClean="0"/>
                        <a:t> a conformabilidade à superfície</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p:spTree>
    <p:extLst>
      <p:ext uri="{BB962C8B-B14F-4D97-AF65-F5344CB8AC3E}">
        <p14:creationId xmlns:p14="http://schemas.microsoft.com/office/powerpoint/2010/main" val="36085452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pt-BR" dirty="0" smtClean="0"/>
              <a:t>Materiais para Vedações Reutilizáveis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371600" y="1371600"/>
            <a:ext cx="6400800" cy="5083167"/>
            <a:chOff x="1371600" y="1371600"/>
            <a:chExt cx="6400800" cy="5083167"/>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71600"/>
              <a:ext cx="6400800" cy="4836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78874" y="6208546"/>
              <a:ext cx="829073" cy="246221"/>
            </a:xfrm>
            <a:prstGeom prst="rect">
              <a:avLst/>
            </a:prstGeom>
            <a:noFill/>
          </p:spPr>
          <p:txBody>
            <a:bodyPr wrap="none" rtlCol="0">
              <a:spAutoFit/>
            </a:bodyPr>
            <a:lstStyle/>
            <a:p>
              <a:pPr algn="ctr"/>
              <a:r>
                <a:rPr lang="en-US" sz="1000" dirty="0" smtClean="0"/>
                <a:t>Figura 6.16</a:t>
              </a:r>
              <a:endParaRPr lang="en-US" sz="1000" dirty="0"/>
            </a:p>
          </p:txBody>
        </p:sp>
      </p:grpSp>
    </p:spTree>
    <p:extLst>
      <p:ext uri="{BB962C8B-B14F-4D97-AF65-F5344CB8AC3E}">
        <p14:creationId xmlns:p14="http://schemas.microsoft.com/office/powerpoint/2010/main" val="37558161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371600" y="4800600"/>
            <a:ext cx="6400800" cy="1371600"/>
          </a:xfrm>
          <a:solidFill>
            <a:schemeClr val="accent5">
              <a:lumMod val="75000"/>
            </a:schemeClr>
          </a:solidFill>
        </p:spPr>
        <p:txBody>
          <a:bodyPr>
            <a:normAutofit fontScale="92500"/>
          </a:bodyPr>
          <a:lstStyle/>
          <a:p>
            <a:r>
              <a:rPr lang="pt-BR" dirty="0" smtClean="0"/>
              <a:t>Elastômeros, polímeros compatíveis e espumas fazem bons selos.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3143094369"/>
                  </p:ext>
                </p:extLst>
              </p:nvPr>
            </p:nvGraphicFramePr>
            <p:xfrm>
              <a:off x="304800" y="609600"/>
              <a:ext cx="8534400" cy="3803015"/>
            </p:xfrm>
            <a:graphic>
              <a:graphicData uri="http://schemas.openxmlformats.org/drawingml/2006/table">
                <a:tbl>
                  <a:tblPr firstRow="1" bandRow="1">
                    <a:tableStyleId>{68D230F3-CF80-4859-8CE7-A43EE81993B5}</a:tableStyleId>
                  </a:tblPr>
                  <a:tblGrid>
                    <a:gridCol w="2284761"/>
                    <a:gridCol w="1220439"/>
                    <a:gridCol w="5029200"/>
                  </a:tblGrid>
                  <a:tr h="487680">
                    <a:tc gridSpan="3">
                      <a:txBody>
                        <a:bodyPr/>
                        <a:lstStyle/>
                        <a:p>
                          <a:r>
                            <a:rPr lang="pt-BR" sz="1400" dirty="0" smtClean="0">
                              <a:solidFill>
                                <a:srgbClr val="FFFF00"/>
                              </a:solidFill>
                            </a:rPr>
                            <a:t>Tabela 6.16</a:t>
                          </a:r>
                          <a:r>
                            <a:rPr lang="pt-BR" sz="1400" baseline="0" dirty="0" smtClean="0">
                              <a:solidFill>
                                <a:srgbClr val="FFFF00"/>
                              </a:solidFill>
                            </a:rPr>
                            <a:t> </a:t>
                          </a:r>
                          <a:r>
                            <a:rPr lang="pt-BR" sz="1400" dirty="0" smtClean="0">
                              <a:solidFill>
                                <a:srgbClr val="FFFF00"/>
                              </a:solidFill>
                            </a:rPr>
                            <a:t>– Materiais para vedações reutilizáveis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EVA </a:t>
                          </a:r>
                          <a:r>
                            <a:rPr lang="pt-BR" sz="1050" baseline="0" dirty="0" err="1" smtClean="0"/>
                            <a:t>elastomérico</a:t>
                          </a:r>
                          <a:endParaRPr lang="pt-BR" sz="1050" baseline="0" dirty="0" smtClean="0"/>
                        </a:p>
                        <a:p>
                          <a:pPr algn="ctr"/>
                          <a:endParaRPr lang="pt-BR" sz="1050" baseline="0" dirty="0" smtClean="0"/>
                        </a:p>
                        <a:p>
                          <a:pPr algn="ctr"/>
                          <a:r>
                            <a:rPr lang="pt-BR" sz="1050" baseline="0" dirty="0" smtClean="0"/>
                            <a:t>poliuretano</a:t>
                          </a:r>
                        </a:p>
                        <a:p>
                          <a:pPr algn="ctr"/>
                          <a:endParaRPr lang="pt-BR" sz="1050" baseline="0" dirty="0" smtClean="0"/>
                        </a:p>
                        <a:p>
                          <a:pPr algn="ctr"/>
                          <a:r>
                            <a:rPr lang="pt-BR" sz="1050" baseline="0" dirty="0" smtClean="0"/>
                            <a:t>Borracha de silicone</a:t>
                          </a:r>
                        </a:p>
                        <a:p>
                          <a:pPr algn="ctr"/>
                          <a:endParaRPr lang="pt-BR" sz="1050" baseline="0" dirty="0" smtClean="0"/>
                        </a:p>
                        <a:p>
                          <a:pPr algn="ctr"/>
                          <a:endParaRPr lang="pt-BR" sz="1050" baseline="0" dirty="0" smtClean="0"/>
                        </a:p>
                        <a:p>
                          <a:pPr algn="ctr"/>
                          <a:r>
                            <a:rPr lang="pt-BR" sz="1050" baseline="0" dirty="0" smtClean="0"/>
                            <a:t>PTFE</a:t>
                          </a:r>
                        </a:p>
                        <a:p>
                          <a:pPr algn="ctr"/>
                          <a:endParaRPr lang="pt-BR" sz="1050" baseline="0" dirty="0" smtClean="0"/>
                        </a:p>
                        <a:p>
                          <a:pPr algn="ctr"/>
                          <a:r>
                            <a:rPr lang="pt-BR" sz="1050" baseline="0" dirty="0" smtClean="0"/>
                            <a:t>Polietileno</a:t>
                          </a:r>
                        </a:p>
                        <a:p>
                          <a:pPr algn="ctr"/>
                          <a:endParaRPr lang="pt-BR" sz="1050" baseline="0" dirty="0" smtClean="0"/>
                        </a:p>
                        <a:p>
                          <a:pPr algn="ctr"/>
                          <a:r>
                            <a:rPr lang="pt-BR" sz="1050" baseline="0" dirty="0" smtClean="0"/>
                            <a:t>Polipropileno</a:t>
                          </a:r>
                        </a:p>
                        <a:p>
                          <a:pPr algn="ctr"/>
                          <a:endParaRPr lang="pt-BR" sz="1050" baseline="0" dirty="0" smtClean="0"/>
                        </a:p>
                        <a:p>
                          <a:pPr algn="ctr"/>
                          <a:r>
                            <a:rPr lang="pt-BR" sz="1050" baseline="0" dirty="0" smtClean="0"/>
                            <a:t>Náilon</a:t>
                          </a:r>
                        </a:p>
                        <a:p>
                          <a:pPr algn="ctr"/>
                          <a:endParaRPr lang="pt-BR" sz="1050" baseline="0" dirty="0" smtClean="0"/>
                        </a:p>
                        <a:p>
                          <a:pPr algn="ctr"/>
                          <a:r>
                            <a:rPr lang="pt-BR" sz="1050" baseline="0" dirty="0" smtClean="0"/>
                            <a:t>Cortiça</a:t>
                          </a:r>
                        </a:p>
                        <a:p>
                          <a:pPr algn="ctr"/>
                          <a:endParaRPr lang="pt-BR" sz="1050" baseline="0" dirty="0" smtClean="0"/>
                        </a:p>
                        <a:p>
                          <a:pPr algn="ctr"/>
                          <a:r>
                            <a:rPr lang="pt-BR" sz="1050" baseline="0" dirty="0" smtClean="0"/>
                            <a:t>Espuma rígida de polímeros</a:t>
                          </a:r>
                        </a:p>
                      </a:txBody>
                      <a:tcPr>
                        <a:solidFill>
                          <a:schemeClr val="accent1"/>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Cambria Math"/>
                                            <a:cs typeface="+mn-cs"/>
                                          </a:rPr>
                                          <m:t>𝝈</m:t>
                                        </m:r>
                                      </m:e>
                                      <m:sub>
                                        <m:r>
                                          <a:rPr lang="pt-BR" sz="1100" b="1" i="1" kern="1200" baseline="0" smtClean="0">
                                            <a:solidFill>
                                              <a:srgbClr val="FFFF00"/>
                                            </a:solidFill>
                                            <a:latin typeface="Cambria Math"/>
                                            <a:ea typeface="+mn-ea"/>
                                            <a:cs typeface="+mn-cs"/>
                                          </a:rPr>
                                          <m:t>𝒇</m:t>
                                        </m:r>
                                      </m:sub>
                                    </m:sSub>
                                  </m:num>
                                  <m:den>
                                    <m:r>
                                      <a:rPr lang="pt-BR" sz="1100" b="1" i="1" kern="1200" baseline="0" smtClean="0">
                                        <a:solidFill>
                                          <a:srgbClr val="FFFF00"/>
                                        </a:solidFill>
                                        <a:latin typeface="Cambria Math"/>
                                        <a:ea typeface="+mn-ea"/>
                                        <a:cs typeface="+mn-cs"/>
                                      </a:rPr>
                                      <m:t>𝑬</m:t>
                                    </m:r>
                                    <m:r>
                                      <a:rPr lang="pt-BR" sz="1100" b="1" i="1" kern="1200" baseline="0" smtClean="0">
                                        <a:solidFill>
                                          <a:srgbClr val="FFFF00"/>
                                        </a:solidFill>
                                        <a:latin typeface="Cambria Math"/>
                                        <a:ea typeface="+mn-ea"/>
                                        <a:cs typeface="+mn-cs"/>
                                      </a:rPr>
                                      <m:t> </m:t>
                                    </m:r>
                                  </m:den>
                                </m:f>
                              </m:oMath>
                            </m:oMathPara>
                          </a14:m>
                          <a:endParaRPr lang="pt-BR" sz="1100" b="1" kern="1200" baseline="0" dirty="0" smtClean="0">
                            <a:solidFill>
                              <a:srgbClr val="FFFF00"/>
                            </a:solidFill>
                            <a:latin typeface="+mn-lt"/>
                            <a:ea typeface="+mn-ea"/>
                            <a:cs typeface="+mn-cs"/>
                          </a:endParaRPr>
                        </a:p>
                        <a:p>
                          <a:pPr algn="ctr"/>
                          <a:endParaRPr lang="pt-BR" sz="1050" b="1" baseline="0" dirty="0" smtClean="0">
                            <a:solidFill>
                              <a:srgbClr val="FFFF00"/>
                            </a:solidFill>
                          </a:endParaRPr>
                        </a:p>
                        <a:p>
                          <a:pPr algn="ctr"/>
                          <a:r>
                            <a:rPr lang="pt-BR" sz="1050" b="0" baseline="0" dirty="0" smtClean="0">
                              <a:solidFill>
                                <a:schemeClr val="tx1"/>
                              </a:solidFill>
                            </a:rPr>
                            <a:t>0,7-1</a:t>
                          </a:r>
                        </a:p>
                        <a:p>
                          <a:pPr algn="ctr"/>
                          <a:endParaRPr lang="pt-BR" sz="1050" b="0" baseline="0" dirty="0" smtClean="0">
                            <a:solidFill>
                              <a:schemeClr val="tx1"/>
                            </a:solidFill>
                          </a:endParaRPr>
                        </a:p>
                        <a:p>
                          <a:pPr algn="ctr"/>
                          <a:r>
                            <a:rPr lang="pt-BR" sz="1050" b="0" baseline="0" dirty="0" smtClean="0">
                              <a:solidFill>
                                <a:schemeClr val="tx1"/>
                              </a:solidFill>
                            </a:rPr>
                            <a:t>2-5</a:t>
                          </a:r>
                        </a:p>
                        <a:p>
                          <a:pPr algn="ctr"/>
                          <a:endParaRPr lang="pt-BR" sz="1050" b="0" baseline="0" dirty="0" smtClean="0">
                            <a:solidFill>
                              <a:schemeClr val="tx1"/>
                            </a:solidFill>
                          </a:endParaRPr>
                        </a:p>
                        <a:p>
                          <a:pPr algn="ctr"/>
                          <a:r>
                            <a:rPr lang="pt-BR" sz="1050" b="0" baseline="0" dirty="0" smtClean="0">
                              <a:solidFill>
                                <a:schemeClr val="tx1"/>
                              </a:solidFill>
                            </a:rPr>
                            <a:t>0,2-0,1</a:t>
                          </a: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0,05-0,1</a:t>
                          </a:r>
                        </a:p>
                        <a:p>
                          <a:pPr algn="ctr"/>
                          <a:endParaRPr lang="pt-BR" sz="1050" b="0" baseline="0" dirty="0" smtClean="0">
                            <a:solidFill>
                              <a:schemeClr val="tx1"/>
                            </a:solidFill>
                          </a:endParaRPr>
                        </a:p>
                        <a:p>
                          <a:pPr algn="ctr"/>
                          <a:r>
                            <a:rPr lang="pt-BR" sz="1050" b="0" baseline="0" dirty="0" smtClean="0">
                              <a:solidFill>
                                <a:schemeClr val="tx1"/>
                              </a:solidFill>
                            </a:rPr>
                            <a:t>0,02-0,05</a:t>
                          </a:r>
                        </a:p>
                        <a:p>
                          <a:pPr algn="ctr"/>
                          <a:endParaRPr lang="pt-BR" sz="1050" b="0" baseline="0" dirty="0" smtClean="0">
                            <a:solidFill>
                              <a:schemeClr val="tx1"/>
                            </a:solidFill>
                          </a:endParaRPr>
                        </a:p>
                        <a:p>
                          <a:pPr algn="ctr"/>
                          <a:r>
                            <a:rPr lang="pt-BR" sz="1050" b="0" baseline="0" dirty="0" smtClean="0">
                              <a:solidFill>
                                <a:schemeClr val="tx1"/>
                              </a:solidFill>
                            </a:rPr>
                            <a:t>0,2-0,04</a:t>
                          </a:r>
                        </a:p>
                        <a:p>
                          <a:pPr algn="ctr"/>
                          <a:endParaRPr lang="pt-BR" sz="1050" b="0" baseline="0" dirty="0" smtClean="0">
                            <a:solidFill>
                              <a:schemeClr val="tx1"/>
                            </a:solidFill>
                          </a:endParaRPr>
                        </a:p>
                        <a:p>
                          <a:pPr algn="ctr"/>
                          <a:r>
                            <a:rPr lang="pt-BR" sz="1050" b="0" baseline="0" dirty="0" smtClean="0">
                              <a:solidFill>
                                <a:schemeClr val="tx1"/>
                              </a:solidFill>
                            </a:rPr>
                            <a:t>0,02-0,03</a:t>
                          </a:r>
                        </a:p>
                        <a:p>
                          <a:pPr algn="ctr"/>
                          <a:endParaRPr lang="pt-BR" sz="1050" b="0" baseline="0" dirty="0" smtClean="0">
                            <a:solidFill>
                              <a:schemeClr val="tx1"/>
                            </a:solidFill>
                          </a:endParaRPr>
                        </a:p>
                        <a:p>
                          <a:pPr algn="ctr"/>
                          <a:r>
                            <a:rPr lang="pt-BR" sz="1050" b="0" baseline="0" dirty="0" smtClean="0">
                              <a:solidFill>
                                <a:schemeClr val="tx1"/>
                              </a:solidFill>
                            </a:rPr>
                            <a:t>0,03-0,06</a:t>
                          </a:r>
                        </a:p>
                        <a:p>
                          <a:pPr algn="ctr"/>
                          <a:endParaRPr lang="pt-BR" sz="1050" b="0" baseline="0" dirty="0" smtClean="0">
                            <a:solidFill>
                              <a:schemeClr val="tx1"/>
                            </a:solidFill>
                          </a:endParaRPr>
                        </a:p>
                        <a:p>
                          <a:pPr algn="ctr"/>
                          <a:r>
                            <a:rPr lang="pt-BR" sz="1050" b="0" baseline="0" dirty="0" smtClean="0">
                              <a:solidFill>
                                <a:schemeClr val="tx1"/>
                              </a:solidFill>
                            </a:rPr>
                            <a:t>Até 0,03</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A escolha natural; baixa resistência ao calor e alguns solventes</a:t>
                          </a:r>
                        </a:p>
                        <a:p>
                          <a:pPr algn="ctr"/>
                          <a:endParaRPr lang="pt-BR" sz="1050" b="1" baseline="0" dirty="0" smtClean="0">
                            <a:solidFill>
                              <a:schemeClr val="tx1"/>
                            </a:solidFill>
                          </a:endParaRPr>
                        </a:p>
                        <a:p>
                          <a:pPr algn="ctr"/>
                          <a:r>
                            <a:rPr lang="pt-BR" sz="1050" b="1" baseline="0" dirty="0" smtClean="0">
                              <a:solidFill>
                                <a:schemeClr val="tx1"/>
                              </a:solidFill>
                            </a:rPr>
                            <a:t>Amplamente usado para vedações</a:t>
                          </a:r>
                        </a:p>
                        <a:p>
                          <a:pPr algn="ctr"/>
                          <a:endParaRPr lang="pt-BR" sz="1050" b="1" baseline="0" dirty="0" smtClean="0">
                            <a:solidFill>
                              <a:schemeClr val="tx1"/>
                            </a:solidFill>
                          </a:endParaRPr>
                        </a:p>
                        <a:p>
                          <a:pPr algn="ctr"/>
                          <a:r>
                            <a:rPr lang="pt-BR" sz="1050" b="1" baseline="0" dirty="0" smtClean="0">
                              <a:solidFill>
                                <a:schemeClr val="tx1"/>
                              </a:solidFill>
                            </a:rPr>
                            <a:t>Capacidade à temperatura mais alta do que a dos elastômeros de cadeia de carbono, quimicamente inertes</a:t>
                          </a:r>
                        </a:p>
                        <a:p>
                          <a:pPr algn="ctr"/>
                          <a:endParaRPr lang="pt-BR" sz="1050" b="1" baseline="0" dirty="0" smtClean="0">
                            <a:solidFill>
                              <a:schemeClr val="tx1"/>
                            </a:solidFill>
                          </a:endParaRPr>
                        </a:p>
                        <a:p>
                          <a:pPr algn="ctr"/>
                          <a:r>
                            <a:rPr lang="pt-BR" sz="1050" b="1" baseline="0" dirty="0" smtClean="0">
                              <a:solidFill>
                                <a:schemeClr val="tx1"/>
                              </a:solidFill>
                            </a:rPr>
                            <a:t>Caro, porém quimicamente estável e com capacidade a alta temperatura</a:t>
                          </a:r>
                        </a:p>
                        <a:p>
                          <a:pPr algn="ctr"/>
                          <a:endParaRPr lang="pt-BR" sz="1050" b="1" baseline="0" dirty="0" smtClean="0">
                            <a:solidFill>
                              <a:schemeClr val="tx1"/>
                            </a:solidFill>
                          </a:endParaRPr>
                        </a:p>
                        <a:p>
                          <a:pPr algn="ctr"/>
                          <a:r>
                            <a:rPr lang="pt-BR" sz="1050" b="1" baseline="0" dirty="0" smtClean="0">
                              <a:solidFill>
                                <a:schemeClr val="tx1"/>
                              </a:solidFill>
                            </a:rPr>
                            <a:t>Baratos porém sujeitos a adquirir deformação permanente</a:t>
                          </a:r>
                        </a:p>
                        <a:p>
                          <a:pPr algn="ctr"/>
                          <a:endParaRPr lang="pt-BR" sz="1050" b="1" baseline="0" dirty="0" smtClean="0">
                            <a:solidFill>
                              <a:schemeClr val="tx1"/>
                            </a:solidFill>
                          </a:endParaRPr>
                        </a:p>
                        <a:p>
                          <a:pPr algn="ctr"/>
                          <a:r>
                            <a:rPr lang="pt-BR" sz="1050" b="1" baseline="0" dirty="0" smtClean="0">
                              <a:solidFill>
                                <a:schemeClr val="tx1"/>
                              </a:solidFill>
                            </a:rPr>
                            <a:t>Baratos porém sujeitos a adquirir deformação permanente</a:t>
                          </a:r>
                        </a:p>
                        <a:p>
                          <a:pPr algn="ctr"/>
                          <a:endParaRPr lang="pt-BR" sz="1050" b="1" baseline="0" dirty="0" smtClean="0">
                            <a:solidFill>
                              <a:schemeClr val="tx1"/>
                            </a:solidFill>
                          </a:endParaRPr>
                        </a:p>
                        <a:p>
                          <a:pPr algn="ctr"/>
                          <a:r>
                            <a:rPr lang="pt-BR" sz="1050" b="1" baseline="0" dirty="0" smtClean="0">
                              <a:solidFill>
                                <a:schemeClr val="tx1"/>
                              </a:solidFill>
                            </a:rPr>
                            <a:t>Próximos do limite superior para a pressão de contato</a:t>
                          </a:r>
                        </a:p>
                        <a:p>
                          <a:pPr algn="ctr"/>
                          <a:endParaRPr lang="pt-BR" sz="1050" b="1" baseline="0" dirty="0" smtClean="0">
                            <a:solidFill>
                              <a:schemeClr val="tx1"/>
                            </a:solidFill>
                          </a:endParaRPr>
                        </a:p>
                        <a:p>
                          <a:pPr algn="ctr"/>
                          <a:r>
                            <a:rPr lang="pt-BR" sz="1050" b="1" baseline="0" dirty="0" smtClean="0">
                              <a:solidFill>
                                <a:schemeClr val="tx1"/>
                              </a:solidFill>
                            </a:rPr>
                            <a:t>Baixa tensão de contato; quimicamente estável</a:t>
                          </a:r>
                        </a:p>
                        <a:p>
                          <a:pPr algn="ctr"/>
                          <a:endParaRPr lang="pt-BR" sz="1050" b="1" baseline="0" dirty="0" smtClean="0">
                            <a:solidFill>
                              <a:schemeClr val="tx1"/>
                            </a:solidFill>
                          </a:endParaRPr>
                        </a:p>
                        <a:p>
                          <a:pPr algn="ctr"/>
                          <a:r>
                            <a:rPr lang="pt-BR" sz="1050" b="1" baseline="0" dirty="0" smtClean="0">
                              <a:solidFill>
                                <a:schemeClr val="tx1"/>
                              </a:solidFill>
                            </a:rPr>
                            <a:t>Pressão de contato muito baixa; vedações delicadas</a:t>
                          </a: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3143094369"/>
                  </p:ext>
                </p:extLst>
              </p:nvPr>
            </p:nvGraphicFramePr>
            <p:xfrm>
              <a:off x="304800" y="609600"/>
              <a:ext cx="8534400" cy="3803015"/>
            </p:xfrm>
            <a:graphic>
              <a:graphicData uri="http://schemas.openxmlformats.org/drawingml/2006/table">
                <a:tbl>
                  <a:tblPr firstRow="1" bandRow="1">
                    <a:tableStyleId>{68D230F3-CF80-4859-8CE7-A43EE81993B5}</a:tableStyleId>
                  </a:tblPr>
                  <a:tblGrid>
                    <a:gridCol w="2284761"/>
                    <a:gridCol w="1220439"/>
                    <a:gridCol w="5029200"/>
                  </a:tblGrid>
                  <a:tr h="487680">
                    <a:tc gridSpan="3">
                      <a:txBody>
                        <a:bodyPr/>
                        <a:lstStyle/>
                        <a:p>
                          <a:r>
                            <a:rPr lang="pt-BR" sz="1400" dirty="0" smtClean="0">
                              <a:solidFill>
                                <a:srgbClr val="FFFF00"/>
                              </a:solidFill>
                            </a:rPr>
                            <a:t>Tabela </a:t>
                          </a:r>
                          <a:r>
                            <a:rPr lang="pt-BR" sz="1400" dirty="0" smtClean="0">
                              <a:solidFill>
                                <a:srgbClr val="FFFF00"/>
                              </a:solidFill>
                            </a:rPr>
                            <a:t>6.16</a:t>
                          </a:r>
                          <a:r>
                            <a:rPr lang="pt-BR" sz="1400" baseline="0" dirty="0" smtClean="0">
                              <a:solidFill>
                                <a:srgbClr val="FFFF00"/>
                              </a:solidFill>
                            </a:rPr>
                            <a:t> </a:t>
                          </a:r>
                          <a:r>
                            <a:rPr lang="pt-BR" sz="1400" dirty="0" smtClean="0">
                              <a:solidFill>
                                <a:srgbClr val="FFFF00"/>
                              </a:solidFill>
                            </a:rPr>
                            <a:t>– Materiais para vedações reutilizáveis</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315335">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EVA </a:t>
                          </a:r>
                          <a:r>
                            <a:rPr lang="pt-BR" sz="1050" baseline="0" dirty="0" err="1" smtClean="0"/>
                            <a:t>elastomérico</a:t>
                          </a:r>
                          <a:endParaRPr lang="pt-BR" sz="1050" baseline="0" dirty="0" smtClean="0"/>
                        </a:p>
                        <a:p>
                          <a:pPr algn="ctr"/>
                          <a:endParaRPr lang="pt-BR" sz="1050" baseline="0" dirty="0" smtClean="0"/>
                        </a:p>
                        <a:p>
                          <a:pPr algn="ctr"/>
                          <a:r>
                            <a:rPr lang="pt-BR" sz="1050" baseline="0" dirty="0" smtClean="0"/>
                            <a:t>poliuretano</a:t>
                          </a:r>
                          <a:endParaRPr lang="pt-BR" sz="1050" baseline="0" dirty="0" smtClean="0"/>
                        </a:p>
                        <a:p>
                          <a:pPr algn="ctr"/>
                          <a:endParaRPr lang="pt-BR" sz="1050" baseline="0" dirty="0" smtClean="0"/>
                        </a:p>
                        <a:p>
                          <a:pPr algn="ctr"/>
                          <a:r>
                            <a:rPr lang="pt-BR" sz="1050" baseline="0" dirty="0" smtClean="0"/>
                            <a:t>Borracha de silicone</a:t>
                          </a:r>
                          <a:endParaRPr lang="pt-BR" sz="1050" baseline="0" dirty="0" smtClean="0"/>
                        </a:p>
                        <a:p>
                          <a:pPr algn="ctr"/>
                          <a:endParaRPr lang="pt-BR" sz="1050" baseline="0" dirty="0" smtClean="0"/>
                        </a:p>
                        <a:p>
                          <a:pPr algn="ctr"/>
                          <a:endParaRPr lang="pt-BR" sz="1050" baseline="0" dirty="0" smtClean="0"/>
                        </a:p>
                        <a:p>
                          <a:pPr algn="ctr"/>
                          <a:r>
                            <a:rPr lang="pt-BR" sz="1050" baseline="0" dirty="0" smtClean="0"/>
                            <a:t>PTFE</a:t>
                          </a:r>
                          <a:endParaRPr lang="pt-BR" sz="1050" baseline="0" dirty="0" smtClean="0"/>
                        </a:p>
                        <a:p>
                          <a:pPr algn="ctr"/>
                          <a:endParaRPr lang="pt-BR" sz="1050" baseline="0" dirty="0" smtClean="0"/>
                        </a:p>
                        <a:p>
                          <a:pPr algn="ctr"/>
                          <a:r>
                            <a:rPr lang="pt-BR" sz="1050" baseline="0" dirty="0" smtClean="0"/>
                            <a:t>Polietileno</a:t>
                          </a:r>
                          <a:endParaRPr lang="pt-BR" sz="1050" baseline="0" dirty="0" smtClean="0"/>
                        </a:p>
                        <a:p>
                          <a:pPr algn="ctr"/>
                          <a:endParaRPr lang="pt-BR" sz="1050" baseline="0" dirty="0" smtClean="0"/>
                        </a:p>
                        <a:p>
                          <a:pPr algn="ctr"/>
                          <a:r>
                            <a:rPr lang="pt-BR" sz="1050" baseline="0" dirty="0" smtClean="0"/>
                            <a:t>Polipropileno</a:t>
                          </a:r>
                        </a:p>
                        <a:p>
                          <a:pPr algn="ctr"/>
                          <a:endParaRPr lang="pt-BR" sz="1050" baseline="0" dirty="0" smtClean="0"/>
                        </a:p>
                        <a:p>
                          <a:pPr algn="ctr"/>
                          <a:r>
                            <a:rPr lang="pt-BR" sz="1050" baseline="0" dirty="0" smtClean="0"/>
                            <a:t>Náilon</a:t>
                          </a:r>
                        </a:p>
                        <a:p>
                          <a:pPr algn="ctr"/>
                          <a:endParaRPr lang="pt-BR" sz="1050" baseline="0" dirty="0" smtClean="0"/>
                        </a:p>
                        <a:p>
                          <a:pPr algn="ctr"/>
                          <a:r>
                            <a:rPr lang="pt-BR" sz="1050" baseline="0" dirty="0" smtClean="0"/>
                            <a:t>Cortiça</a:t>
                          </a:r>
                        </a:p>
                        <a:p>
                          <a:pPr algn="ctr"/>
                          <a:endParaRPr lang="pt-BR" sz="1050" baseline="0" dirty="0" smtClean="0"/>
                        </a:p>
                        <a:p>
                          <a:pPr algn="ctr"/>
                          <a:r>
                            <a:rPr lang="pt-BR" sz="1050" baseline="0" dirty="0" smtClean="0"/>
                            <a:t>Espuma rígida de polímeros</a:t>
                          </a:r>
                          <a:endParaRPr lang="pt-BR" sz="1050" baseline="0" dirty="0" smtClean="0"/>
                        </a:p>
                      </a:txBody>
                      <a:tcPr>
                        <a:solidFill>
                          <a:schemeClr val="accent1"/>
                        </a:solidFill>
                      </a:tcPr>
                    </a:tc>
                    <a:tc>
                      <a:txBody>
                        <a:bodyPr/>
                        <a:lstStyle/>
                        <a:p>
                          <a:endParaRPr lang="en-US"/>
                        </a:p>
                      </a:txBody>
                      <a:tcPr>
                        <a:blipFill rotWithShape="1">
                          <a:blip r:embed="rId2"/>
                          <a:stretch>
                            <a:fillRect l="-187500" t="-14890" r="-412500" b="-1103"/>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A escolha natural; baixa resistência ao calor e alguns solventes</a:t>
                          </a:r>
                        </a:p>
                        <a:p>
                          <a:pPr algn="ctr"/>
                          <a:endParaRPr lang="pt-BR" sz="1050" b="1" baseline="0" dirty="0" smtClean="0">
                            <a:solidFill>
                              <a:schemeClr val="tx1"/>
                            </a:solidFill>
                          </a:endParaRPr>
                        </a:p>
                        <a:p>
                          <a:pPr algn="ctr"/>
                          <a:r>
                            <a:rPr lang="pt-BR" sz="1050" b="1" baseline="0" dirty="0" smtClean="0">
                              <a:solidFill>
                                <a:schemeClr val="tx1"/>
                              </a:solidFill>
                            </a:rPr>
                            <a:t>Amplamente usado para vedações</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Capacidade à temperatura mais alta do que a dos elastômeros de cadeia de carbono, quimicamente inertes</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Caro, porém quimicamente estável e com capacidade a alta temperatura</a:t>
                          </a:r>
                        </a:p>
                        <a:p>
                          <a:pPr algn="ctr"/>
                          <a:endParaRPr lang="pt-BR" sz="1050" b="1" baseline="0" dirty="0" smtClean="0">
                            <a:solidFill>
                              <a:schemeClr val="tx1"/>
                            </a:solidFill>
                          </a:endParaRPr>
                        </a:p>
                        <a:p>
                          <a:pPr algn="ctr"/>
                          <a:r>
                            <a:rPr lang="pt-BR" sz="1050" b="1" baseline="0" dirty="0" smtClean="0">
                              <a:solidFill>
                                <a:schemeClr val="tx1"/>
                              </a:solidFill>
                            </a:rPr>
                            <a:t>Baratos porém sujeitos a adquirir deformação permanente</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Baratos porém sujeitos a adquirir deformação permanente</a:t>
                          </a:r>
                        </a:p>
                        <a:p>
                          <a:pPr algn="ctr"/>
                          <a:endParaRPr lang="pt-BR" sz="1050" b="1" baseline="0" dirty="0" smtClean="0">
                            <a:solidFill>
                              <a:schemeClr val="tx1"/>
                            </a:solidFill>
                          </a:endParaRPr>
                        </a:p>
                        <a:p>
                          <a:pPr algn="ctr"/>
                          <a:r>
                            <a:rPr lang="pt-BR" sz="1050" b="1" baseline="0" dirty="0" smtClean="0">
                              <a:solidFill>
                                <a:schemeClr val="tx1"/>
                              </a:solidFill>
                            </a:rPr>
                            <a:t>Próximos do limite superior para a pressão de contato</a:t>
                          </a:r>
                        </a:p>
                        <a:p>
                          <a:pPr algn="ctr"/>
                          <a:endParaRPr lang="pt-BR" sz="1050" b="1" baseline="0" dirty="0" smtClean="0">
                            <a:solidFill>
                              <a:schemeClr val="tx1"/>
                            </a:solidFill>
                          </a:endParaRPr>
                        </a:p>
                        <a:p>
                          <a:pPr algn="ctr"/>
                          <a:r>
                            <a:rPr lang="pt-BR" sz="1050" b="1" baseline="0" dirty="0" smtClean="0">
                              <a:solidFill>
                                <a:schemeClr val="tx1"/>
                              </a:solidFill>
                            </a:rPr>
                            <a:t>Baixa tensão de contato; quimicamente estável</a:t>
                          </a:r>
                        </a:p>
                        <a:p>
                          <a:pPr algn="ctr"/>
                          <a:endParaRPr lang="pt-BR" sz="1050" b="1" baseline="0" dirty="0" smtClean="0">
                            <a:solidFill>
                              <a:schemeClr val="tx1"/>
                            </a:solidFill>
                          </a:endParaRPr>
                        </a:p>
                        <a:p>
                          <a:pPr algn="ctr"/>
                          <a:r>
                            <a:rPr lang="pt-BR" sz="1050" b="1" baseline="0" dirty="0" smtClean="0">
                              <a:solidFill>
                                <a:schemeClr val="tx1"/>
                              </a:solidFill>
                            </a:rPr>
                            <a:t>Pressão de contato muito baixa; vedações delicadas</a:t>
                          </a:r>
                          <a:endParaRPr lang="pt-BR" sz="1050" b="1" baseline="0" dirty="0" smtClean="0">
                            <a:solidFill>
                              <a:schemeClr val="tx1"/>
                            </a:solidFill>
                          </a:endParaRPr>
                        </a:p>
                      </a:txBody>
                      <a:tcPr>
                        <a:solidFill>
                          <a:schemeClr val="accent1"/>
                        </a:solidFill>
                      </a:tcPr>
                    </a:tc>
                  </a:tr>
                </a:tbl>
              </a:graphicData>
            </a:graphic>
          </p:graphicFrame>
        </mc:Fallback>
      </mc:AlternateContent>
    </p:spTree>
    <p:extLst>
      <p:ext uri="{BB962C8B-B14F-4D97-AF65-F5344CB8AC3E}">
        <p14:creationId xmlns:p14="http://schemas.microsoft.com/office/powerpoint/2010/main" val="8132830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1143000"/>
          </a:xfrm>
        </p:spPr>
        <p:txBody>
          <a:bodyPr>
            <a:normAutofit fontScale="90000"/>
          </a:bodyPr>
          <a:lstStyle/>
          <a:p>
            <a:r>
              <a:rPr lang="pt-BR" dirty="0" smtClean="0"/>
              <a:t>Projeto Limitado por Deflexão com Polímeros Frágeis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3" name="Group 2"/>
          <p:cNvGrpSpPr/>
          <p:nvPr/>
        </p:nvGrpSpPr>
        <p:grpSpPr>
          <a:xfrm>
            <a:off x="1981200" y="1143000"/>
            <a:ext cx="5257800" cy="2209800"/>
            <a:chOff x="1371600" y="314244"/>
            <a:chExt cx="6400800" cy="2855119"/>
          </a:xfrm>
        </p:grpSpPr>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14244"/>
              <a:ext cx="6400800" cy="25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067346" y="2851239"/>
              <a:ext cx="1009306" cy="318124"/>
            </a:xfrm>
            <a:prstGeom prst="rect">
              <a:avLst/>
            </a:prstGeom>
            <a:noFill/>
          </p:spPr>
          <p:txBody>
            <a:bodyPr wrap="none" rtlCol="0">
              <a:spAutoFit/>
            </a:bodyPr>
            <a:lstStyle/>
            <a:p>
              <a:pPr algn="ctr"/>
              <a:r>
                <a:rPr lang="en-US" sz="1000" dirty="0" smtClean="0"/>
                <a:t>Figura 6.17</a:t>
              </a:r>
              <a:endParaRPr lang="en-US" sz="1000" dirty="0"/>
            </a:p>
          </p:txBody>
        </p:sp>
      </p:gr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5711952"/>
            <a:ext cx="1477577" cy="84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6187" y="5716741"/>
            <a:ext cx="1647825" cy="836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1725" y="5724525"/>
            <a:ext cx="15906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 name="Tabela 10"/>
          <p:cNvGraphicFramePr>
            <a:graphicFrameLocks noGrp="1"/>
          </p:cNvGraphicFramePr>
          <p:nvPr>
            <p:extLst>
              <p:ext uri="{D42A27DB-BD31-4B8C-83A1-F6EECF244321}">
                <p14:modId xmlns:p14="http://schemas.microsoft.com/office/powerpoint/2010/main" val="3108294568"/>
              </p:ext>
            </p:extLst>
          </p:nvPr>
        </p:nvGraphicFramePr>
        <p:xfrm>
          <a:off x="152400" y="3423920"/>
          <a:ext cx="8686800" cy="221488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6.17 –</a:t>
                      </a:r>
                      <a:r>
                        <a:rPr lang="pt-BR" sz="1200" baseline="0" dirty="0" smtClean="0"/>
                        <a:t> Requisitos de projeto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Resistir a fratura frágil</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Carga de projeto especificada ou</a:t>
                      </a:r>
                    </a:p>
                    <a:p>
                      <a:r>
                        <a:rPr lang="pt-BR" sz="1400" baseline="0" dirty="0" smtClean="0"/>
                        <a:t>Energia de projeto especificada ou</a:t>
                      </a:r>
                    </a:p>
                    <a:p>
                      <a:r>
                        <a:rPr lang="pt-BR" sz="1400" baseline="0" dirty="0" smtClean="0"/>
                        <a:t>Deflexão de projeto especificada</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a:t>
                      </a:r>
                      <a:r>
                        <a:rPr lang="pt-BR" sz="1400" baseline="0" dirty="0" smtClean="0"/>
                        <a:t> volume (massa, custo)</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p:spTree>
    <p:extLst>
      <p:ext uri="{BB962C8B-B14F-4D97-AF65-F5344CB8AC3E}">
        <p14:creationId xmlns:p14="http://schemas.microsoft.com/office/powerpoint/2010/main" val="35014519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4" name="Grupo 3"/>
          <p:cNvGrpSpPr/>
          <p:nvPr/>
        </p:nvGrpSpPr>
        <p:grpSpPr>
          <a:xfrm>
            <a:off x="1181101" y="762000"/>
            <a:ext cx="6781798" cy="5162201"/>
            <a:chOff x="1181101" y="762000"/>
            <a:chExt cx="6781798" cy="5162201"/>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1" y="762000"/>
              <a:ext cx="6781798" cy="4897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157463" y="5677980"/>
              <a:ext cx="829073" cy="246221"/>
            </a:xfrm>
            <a:prstGeom prst="rect">
              <a:avLst/>
            </a:prstGeom>
            <a:noFill/>
          </p:spPr>
          <p:txBody>
            <a:bodyPr wrap="none" rtlCol="0">
              <a:spAutoFit/>
            </a:bodyPr>
            <a:lstStyle/>
            <a:p>
              <a:pPr algn="ctr"/>
              <a:r>
                <a:rPr lang="en-US" sz="1000" dirty="0" smtClean="0"/>
                <a:t>Figura 6.18</a:t>
              </a:r>
              <a:endParaRPr lang="en-US" sz="1000" dirty="0"/>
            </a:p>
          </p:txBody>
        </p:sp>
      </p:grpSp>
    </p:spTree>
    <p:extLst>
      <p:ext uri="{BB962C8B-B14F-4D97-AF65-F5344CB8AC3E}">
        <p14:creationId xmlns:p14="http://schemas.microsoft.com/office/powerpoint/2010/main" val="39581103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295400" y="3352800"/>
            <a:ext cx="6400800" cy="1752600"/>
          </a:xfrm>
          <a:solidFill>
            <a:schemeClr val="accent5">
              <a:lumMod val="75000"/>
            </a:schemeClr>
          </a:solidFill>
        </p:spPr>
        <p:txBody>
          <a:bodyPr>
            <a:normAutofit fontScale="70000" lnSpcReduction="20000"/>
          </a:bodyPr>
          <a:lstStyle/>
          <a:p>
            <a:r>
              <a:rPr lang="pt-BR" dirty="0" smtClean="0"/>
              <a:t>A seleção de materiais para projetos limitados por carregamento, deflexão e energia. No projeto limitado por deflexão, polímeros são tão bons quanto metais, apesar de apresentarem baixos valores de tenacidade a fratura</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1897440966"/>
                  </p:ext>
                </p:extLst>
              </p:nvPr>
            </p:nvGraphicFramePr>
            <p:xfrm>
              <a:off x="533400" y="838200"/>
              <a:ext cx="7976917" cy="1965960"/>
            </p:xfrm>
            <a:graphic>
              <a:graphicData uri="http://schemas.openxmlformats.org/drawingml/2006/table">
                <a:tbl>
                  <a:tblPr firstRow="1" bandRow="1">
                    <a:tableStyleId>{68D230F3-CF80-4859-8CE7-A43EE81993B5}</a:tableStyleId>
                  </a:tblPr>
                  <a:tblGrid>
                    <a:gridCol w="3821772"/>
                    <a:gridCol w="4155145"/>
                  </a:tblGrid>
                  <a:tr h="487680">
                    <a:tc gridSpan="2">
                      <a:txBody>
                        <a:bodyPr/>
                        <a:lstStyle/>
                        <a:p>
                          <a:r>
                            <a:rPr lang="pt-BR" sz="1400" dirty="0" smtClean="0">
                              <a:solidFill>
                                <a:srgbClr val="FFFF00"/>
                              </a:solidFill>
                            </a:rPr>
                            <a:t>Tabela 6.18</a:t>
                          </a:r>
                          <a:r>
                            <a:rPr lang="pt-BR" sz="1400" baseline="0" dirty="0" smtClean="0">
                              <a:solidFill>
                                <a:srgbClr val="FFFF00"/>
                              </a:solidFill>
                            </a:rPr>
                            <a:t> </a:t>
                          </a:r>
                          <a:r>
                            <a:rPr lang="pt-BR" sz="1400" dirty="0" smtClean="0">
                              <a:solidFill>
                                <a:srgbClr val="FFFF00"/>
                              </a:solidFill>
                            </a:rPr>
                            <a:t>– Materiais para projeto limitado por fratura</a:t>
                          </a:r>
                          <a:endParaRPr lang="pt-BR" sz="1200" baseline="0" dirty="0" smtClean="0"/>
                        </a:p>
                      </a:txBody>
                      <a:tcPr>
                        <a:solidFill>
                          <a:schemeClr val="accent1"/>
                        </a:solidFill>
                      </a:tcPr>
                    </a:tc>
                    <a:tc hMerge="1">
                      <a:txBody>
                        <a:bodyPr/>
                        <a:lstStyle/>
                        <a:p>
                          <a:endParaRPr lang="en-US"/>
                        </a:p>
                      </a:txBody>
                      <a:tcPr/>
                    </a:tc>
                  </a:tr>
                  <a:tr h="370840">
                    <a:tc>
                      <a:txBody>
                        <a:bodyPr/>
                        <a:lstStyle/>
                        <a:p>
                          <a:pPr algn="ctr"/>
                          <a:r>
                            <a:rPr lang="pt-BR" sz="1100" b="1" baseline="0" dirty="0" smtClean="0">
                              <a:solidFill>
                                <a:srgbClr val="FFFF00"/>
                              </a:solidFill>
                            </a:rPr>
                            <a:t>Tipo de projeto e Regra prática</a:t>
                          </a:r>
                        </a:p>
                        <a:p>
                          <a:pPr algn="ctr"/>
                          <a:endParaRPr lang="pt-BR" sz="1050" baseline="0" dirty="0" smtClean="0"/>
                        </a:p>
                        <a:p>
                          <a:pPr algn="ctr"/>
                          <a:r>
                            <a:rPr lang="pt-BR" sz="1050" baseline="0" dirty="0" smtClean="0"/>
                            <a:t>Projeto limitado por carga  </a:t>
                          </a:r>
                          <a14:m>
                            <m:oMath xmlns:m="http://schemas.openxmlformats.org/officeDocument/2006/math">
                              <m:sSub>
                                <m:sSubPr>
                                  <m:ctrlPr>
                                    <a:rPr lang="pt-BR" sz="1050" b="0" i="1" baseline="0" smtClean="0">
                                      <a:latin typeface="Cambria Math"/>
                                    </a:rPr>
                                  </m:ctrlPr>
                                </m:sSubPr>
                                <m:e>
                                  <m:r>
                                    <a:rPr lang="pt-BR" sz="1050" b="0" i="1" baseline="0" smtClean="0">
                                      <a:latin typeface="Cambria Math"/>
                                    </a:rPr>
                                    <m:t>𝐾</m:t>
                                  </m:r>
                                  <m:r>
                                    <m:rPr>
                                      <m:nor/>
                                    </m:rPr>
                                    <a:rPr lang="pt-BR" sz="1050" baseline="0" dirty="0" smtClean="0"/>
                                    <m:t> </m:t>
                                  </m:r>
                                </m:e>
                                <m:sub>
                                  <m:r>
                                    <a:rPr lang="pt-BR" sz="1050" b="0" i="1" baseline="0" smtClean="0">
                                      <a:latin typeface="Cambria Math"/>
                                    </a:rPr>
                                    <m:t>1</m:t>
                                  </m:r>
                                  <m:r>
                                    <a:rPr lang="pt-BR" sz="1050" b="0" i="1" baseline="0" smtClean="0">
                                      <a:latin typeface="Cambria Math"/>
                                    </a:rPr>
                                    <m:t>𝐶</m:t>
                                  </m:r>
                                </m:sub>
                              </m:sSub>
                              <m:r>
                                <a:rPr lang="pt-BR" sz="1050" b="0" i="1" baseline="0" smtClean="0">
                                  <a:latin typeface="Cambria Math"/>
                                </a:rPr>
                                <m:t>&gt;15 </m:t>
                              </m:r>
                              <m:r>
                                <a:rPr lang="pt-BR" sz="1050" b="0" i="1" baseline="0" smtClean="0">
                                  <a:latin typeface="Cambria Math"/>
                                </a:rPr>
                                <m:t>𝑀𝑃𝑎</m:t>
                              </m:r>
                              <m:r>
                                <a:rPr lang="pt-BR" sz="1050" b="0" i="1" baseline="0" smtClean="0">
                                  <a:latin typeface="Cambria Math"/>
                                </a:rPr>
                                <m:t>.</m:t>
                              </m:r>
                              <m:sSup>
                                <m:sSupPr>
                                  <m:ctrlPr>
                                    <a:rPr lang="pt-BR" sz="1050" b="0" i="1" baseline="0" smtClean="0">
                                      <a:latin typeface="Cambria Math"/>
                                    </a:rPr>
                                  </m:ctrlPr>
                                </m:sSupPr>
                                <m:e>
                                  <m:r>
                                    <a:rPr lang="pt-BR" sz="1050" b="0" i="1" baseline="0" smtClean="0">
                                      <a:latin typeface="Cambria Math"/>
                                    </a:rPr>
                                    <m:t>𝑚</m:t>
                                  </m:r>
                                  <m:r>
                                    <m:rPr>
                                      <m:nor/>
                                    </m:rPr>
                                    <a:rPr lang="pt-BR" sz="1050" baseline="0" dirty="0" smtClean="0"/>
                                    <m:t> </m:t>
                                  </m:r>
                                </m:e>
                                <m:sup>
                                  <m:f>
                                    <m:fPr>
                                      <m:type m:val="skw"/>
                                      <m:ctrlPr>
                                        <a:rPr lang="pt-BR" sz="1050" b="0" i="1" baseline="0" smtClean="0">
                                          <a:latin typeface="Cambria Math"/>
                                        </a:rPr>
                                      </m:ctrlPr>
                                    </m:fPr>
                                    <m:num>
                                      <m:r>
                                        <a:rPr lang="pt-BR" sz="1050" b="0" i="1" baseline="0" smtClean="0">
                                          <a:latin typeface="Cambria Math"/>
                                        </a:rPr>
                                        <m:t>1</m:t>
                                      </m:r>
                                    </m:num>
                                    <m:den>
                                      <m:r>
                                        <a:rPr lang="pt-BR" sz="1050" b="0" i="1" baseline="0" smtClean="0">
                                          <a:latin typeface="Cambria Math"/>
                                        </a:rPr>
                                        <m:t>2</m:t>
                                      </m:r>
                                    </m:den>
                                  </m:f>
                                </m:sup>
                              </m:sSup>
                            </m:oMath>
                          </a14:m>
                          <a:endParaRPr lang="pt-BR" sz="1050" baseline="0" dirty="0" smtClean="0"/>
                        </a:p>
                        <a:p>
                          <a:pPr algn="ctr"/>
                          <a:endParaRPr lang="pt-BR" sz="1050" baseline="0" dirty="0" smtClean="0"/>
                        </a:p>
                        <a:p>
                          <a:pPr algn="ctr"/>
                          <a:r>
                            <a:rPr lang="pt-BR" sz="1050" baseline="0" dirty="0" smtClean="0"/>
                            <a:t>Projeto limitado por energia  </a:t>
                          </a:r>
                          <a14:m>
                            <m:oMath xmlns:m="http://schemas.openxmlformats.org/officeDocument/2006/math">
                              <m:sSub>
                                <m:sSubPr>
                                  <m:ctrlPr>
                                    <a:rPr lang="pt-BR" sz="1050" b="0" i="1" baseline="0" smtClean="0">
                                      <a:latin typeface="Cambria Math"/>
                                    </a:rPr>
                                  </m:ctrlPr>
                                </m:sSubPr>
                                <m:e>
                                  <m:r>
                                    <a:rPr lang="pt-BR" sz="1050" b="0" i="1" baseline="0" smtClean="0">
                                      <a:latin typeface="Cambria Math"/>
                                    </a:rPr>
                                    <m:t>𝐽</m:t>
                                  </m:r>
                                </m:e>
                                <m:sub>
                                  <m:r>
                                    <a:rPr lang="pt-BR" sz="1050" b="0" i="1" baseline="0" smtClean="0">
                                      <a:latin typeface="Cambria Math"/>
                                    </a:rPr>
                                    <m:t>𝐶</m:t>
                                  </m:r>
                                </m:sub>
                              </m:sSub>
                              <m:r>
                                <a:rPr lang="pt-BR" sz="1050" b="0" i="1" baseline="0" smtClean="0">
                                  <a:latin typeface="Cambria Math"/>
                                </a:rPr>
                                <m:t>&gt;1 </m:t>
                              </m:r>
                              <m:r>
                                <a:rPr lang="pt-BR" sz="1050" b="0" i="1" baseline="0" smtClean="0">
                                  <a:latin typeface="Cambria Math"/>
                                </a:rPr>
                                <m:t>𝑘𝐽</m:t>
                              </m:r>
                              <m:r>
                                <a:rPr lang="pt-BR" sz="1050" b="0" i="1" baseline="0" smtClean="0">
                                  <a:latin typeface="Cambria Math"/>
                                </a:rPr>
                                <m:t>. </m:t>
                              </m:r>
                              <m:sSup>
                                <m:sSupPr>
                                  <m:ctrlPr>
                                    <a:rPr lang="pt-BR" sz="1050" b="0" i="1" baseline="0" smtClean="0">
                                      <a:latin typeface="Cambria Math"/>
                                    </a:rPr>
                                  </m:ctrlPr>
                                </m:sSupPr>
                                <m:e>
                                  <m:r>
                                    <a:rPr lang="pt-BR" sz="1050" b="0" i="1" baseline="0" smtClean="0">
                                      <a:latin typeface="Cambria Math"/>
                                    </a:rPr>
                                    <m:t>𝑚</m:t>
                                  </m:r>
                                </m:e>
                                <m:sup>
                                  <m:r>
                                    <a:rPr lang="pt-BR" sz="1050" b="0" i="1" baseline="0" smtClean="0">
                                      <a:latin typeface="Cambria Math"/>
                                    </a:rPr>
                                    <m:t>−2</m:t>
                                  </m:r>
                                </m:sup>
                              </m:sSup>
                            </m:oMath>
                          </a14:m>
                          <a:endParaRPr lang="pt-BR" sz="1050" baseline="0" dirty="0" smtClean="0"/>
                        </a:p>
                        <a:p>
                          <a:pPr algn="ctr"/>
                          <a:endParaRPr lang="pt-BR" sz="1050" baseline="0" dirty="0" smtClean="0"/>
                        </a:p>
                        <a:p>
                          <a:pPr algn="ctr"/>
                          <a:r>
                            <a:rPr lang="pt-BR" sz="1050" baseline="0" dirty="0" smtClean="0"/>
                            <a:t>Projeto limitado por deslocamento </a:t>
                          </a:r>
                          <a14:m>
                            <m:oMath xmlns:m="http://schemas.openxmlformats.org/officeDocument/2006/math">
                              <m:f>
                                <m:fPr>
                                  <m:type m:val="lin"/>
                                  <m:ctrlPr>
                                    <a:rPr lang="pt-BR" sz="1050" b="0" i="1" baseline="0" smtClean="0">
                                      <a:latin typeface="Cambria Math"/>
                                    </a:rPr>
                                  </m:ctrlPr>
                                </m:fPr>
                                <m:num>
                                  <m:sSub>
                                    <m:sSubPr>
                                      <m:ctrlPr>
                                        <a:rPr lang="pt-BR" sz="1050" b="0" i="1" baseline="0" smtClean="0">
                                          <a:latin typeface="Cambria Math"/>
                                        </a:rPr>
                                      </m:ctrlPr>
                                    </m:sSubPr>
                                    <m:e>
                                      <m:r>
                                        <a:rPr lang="pt-BR" sz="1050" b="0" i="1" baseline="0" smtClean="0">
                                          <a:latin typeface="Cambria Math"/>
                                        </a:rPr>
                                        <m:t>𝐾</m:t>
                                      </m:r>
                                    </m:e>
                                    <m:sub>
                                      <m:r>
                                        <a:rPr lang="pt-BR" sz="1050" b="0" i="1" baseline="0" smtClean="0">
                                          <a:latin typeface="Cambria Math"/>
                                        </a:rPr>
                                        <m:t>1</m:t>
                                      </m:r>
                                      <m:r>
                                        <a:rPr lang="pt-BR" sz="1050" b="0" i="1" baseline="0" smtClean="0">
                                          <a:latin typeface="Cambria Math"/>
                                        </a:rPr>
                                        <m:t>𝑐</m:t>
                                      </m:r>
                                    </m:sub>
                                  </m:sSub>
                                </m:num>
                                <m:den>
                                  <m:r>
                                    <a:rPr lang="pt-BR" sz="1050" b="0" i="1" baseline="0" smtClean="0">
                                      <a:latin typeface="Cambria Math"/>
                                    </a:rPr>
                                    <m:t>𝐸</m:t>
                                  </m:r>
                                </m:den>
                              </m:f>
                              <m:r>
                                <a:rPr lang="pt-BR" sz="1050" b="0" i="1" baseline="0" smtClean="0">
                                  <a:latin typeface="Cambria Math"/>
                                </a:rPr>
                                <m:t>&gt;</m:t>
                              </m:r>
                              <m:sSup>
                                <m:sSupPr>
                                  <m:ctrlPr>
                                    <a:rPr lang="pt-BR" sz="1050" b="0" i="1" baseline="0" smtClean="0">
                                      <a:latin typeface="Cambria Math"/>
                                    </a:rPr>
                                  </m:ctrlPr>
                                </m:sSupPr>
                                <m:e>
                                  <m:r>
                                    <a:rPr lang="pt-BR" sz="1050" b="0" i="1" baseline="0" smtClean="0">
                                      <a:latin typeface="Cambria Math"/>
                                    </a:rPr>
                                    <m:t>10</m:t>
                                  </m:r>
                                  <m:r>
                                    <m:rPr>
                                      <m:nor/>
                                    </m:rPr>
                                    <a:rPr lang="pt-BR" sz="1050" baseline="0" dirty="0" smtClean="0"/>
                                    <m:t> </m:t>
                                  </m:r>
                                </m:e>
                                <m:sup>
                                  <m:r>
                                    <a:rPr lang="pt-BR" sz="1050" b="0" i="1" baseline="0" smtClean="0">
                                      <a:latin typeface="Cambria Math"/>
                                    </a:rPr>
                                    <m:t>−3</m:t>
                                  </m:r>
                                </m:sup>
                              </m:sSup>
                              <m:sSup>
                                <m:sSupPr>
                                  <m:ctrlPr>
                                    <a:rPr lang="pt-BR" sz="1050" b="0" i="1" baseline="0" smtClean="0">
                                      <a:latin typeface="Cambria Math"/>
                                    </a:rPr>
                                  </m:ctrlPr>
                                </m:sSupPr>
                                <m:e>
                                  <m:r>
                                    <m:rPr>
                                      <m:sty m:val="p"/>
                                    </m:rPr>
                                    <a:rPr lang="pt-BR" sz="1050" b="0" i="0" baseline="0" smtClean="0">
                                      <a:latin typeface="Cambria Math"/>
                                    </a:rPr>
                                    <m:t>m</m:t>
                                  </m:r>
                                </m:e>
                                <m:sup>
                                  <m:f>
                                    <m:fPr>
                                      <m:ctrlPr>
                                        <a:rPr lang="pt-BR" sz="1050" b="0" i="1" baseline="0" smtClean="0">
                                          <a:latin typeface="Cambria Math"/>
                                        </a:rPr>
                                      </m:ctrlPr>
                                    </m:fPr>
                                    <m:num>
                                      <m:r>
                                        <a:rPr lang="pt-BR" sz="1050" b="0" i="1" baseline="0" smtClean="0">
                                          <a:latin typeface="Cambria Math"/>
                                        </a:rPr>
                                        <m:t>1</m:t>
                                      </m:r>
                                    </m:num>
                                    <m:den>
                                      <m:r>
                                        <a:rPr lang="pt-BR" sz="1050" b="0" i="1" baseline="0" smtClean="0">
                                          <a:latin typeface="Cambria Math"/>
                                        </a:rPr>
                                        <m:t>2</m:t>
                                      </m:r>
                                    </m:den>
                                  </m:f>
                                </m:sup>
                              </m:sSup>
                            </m:oMath>
                          </a14:m>
                          <a:endParaRPr lang="pt-BR" sz="1050" baseline="0" dirty="0" smtClean="0"/>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00" baseline="0" dirty="0" smtClean="0">
                              <a:solidFill>
                                <a:schemeClr val="tx1"/>
                              </a:solidFill>
                            </a:rPr>
                            <a:t>Metais, compósitos em matriz de polímeros</a:t>
                          </a:r>
                        </a:p>
                        <a:p>
                          <a:pPr algn="ctr"/>
                          <a:endParaRPr lang="pt-BR" sz="1000" baseline="0" dirty="0" smtClean="0">
                            <a:solidFill>
                              <a:schemeClr val="tx1"/>
                            </a:solidFill>
                          </a:endParaRPr>
                        </a:p>
                        <a:p>
                          <a:pPr algn="ctr"/>
                          <a:r>
                            <a:rPr lang="pt-BR" sz="1000" baseline="0" dirty="0" smtClean="0">
                              <a:solidFill>
                                <a:schemeClr val="tx1"/>
                              </a:solidFill>
                            </a:rPr>
                            <a:t>Metais, compósitos e alguns polímeros</a:t>
                          </a:r>
                        </a:p>
                        <a:p>
                          <a:pPr algn="ctr"/>
                          <a:endParaRPr lang="pt-BR" sz="1000" baseline="0" dirty="0" smtClean="0">
                            <a:solidFill>
                              <a:schemeClr val="tx1"/>
                            </a:solidFill>
                          </a:endParaRPr>
                        </a:p>
                        <a:p>
                          <a:pPr algn="ctr"/>
                          <a:endParaRPr lang="pt-BR" sz="1000" baseline="0" dirty="0" smtClean="0">
                            <a:solidFill>
                              <a:schemeClr val="tx1"/>
                            </a:solidFill>
                          </a:endParaRPr>
                        </a:p>
                        <a:p>
                          <a:pPr algn="ctr"/>
                          <a:r>
                            <a:rPr lang="pt-BR" sz="1000" baseline="0" dirty="0" smtClean="0">
                              <a:solidFill>
                                <a:schemeClr val="tx1"/>
                              </a:solidFill>
                            </a:rPr>
                            <a:t>Polímeros, elastômeros e os metais mais rijos</a:t>
                          </a:r>
                        </a:p>
                        <a:p>
                          <a:pPr algn="ctr"/>
                          <a:endParaRPr lang="pt-BR" sz="1000" baseline="0" dirty="0" smtClean="0">
                            <a:solidFill>
                              <a:schemeClr val="tx1"/>
                            </a:solidFill>
                          </a:endParaRP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1897440966"/>
                  </p:ext>
                </p:extLst>
              </p:nvPr>
            </p:nvGraphicFramePr>
            <p:xfrm>
              <a:off x="533400" y="838200"/>
              <a:ext cx="7976917" cy="1965960"/>
            </p:xfrm>
            <a:graphic>
              <a:graphicData uri="http://schemas.openxmlformats.org/drawingml/2006/table">
                <a:tbl>
                  <a:tblPr firstRow="1" bandRow="1">
                    <a:tableStyleId>{68D230F3-CF80-4859-8CE7-A43EE81993B5}</a:tableStyleId>
                  </a:tblPr>
                  <a:tblGrid>
                    <a:gridCol w="3821772"/>
                    <a:gridCol w="4155145"/>
                  </a:tblGrid>
                  <a:tr h="487680">
                    <a:tc gridSpan="2">
                      <a:txBody>
                        <a:bodyPr/>
                        <a:lstStyle/>
                        <a:p>
                          <a:r>
                            <a:rPr lang="pt-BR" sz="1400" dirty="0" smtClean="0">
                              <a:solidFill>
                                <a:srgbClr val="FFFF00"/>
                              </a:solidFill>
                            </a:rPr>
                            <a:t>Tabela </a:t>
                          </a:r>
                          <a:r>
                            <a:rPr lang="pt-BR" sz="1400" dirty="0" smtClean="0">
                              <a:solidFill>
                                <a:srgbClr val="FFFF00"/>
                              </a:solidFill>
                            </a:rPr>
                            <a:t>6.18</a:t>
                          </a:r>
                          <a:r>
                            <a:rPr lang="pt-BR" sz="1400" baseline="0" dirty="0" smtClean="0">
                              <a:solidFill>
                                <a:srgbClr val="FFFF00"/>
                              </a:solidFill>
                            </a:rPr>
                            <a:t> </a:t>
                          </a:r>
                          <a:r>
                            <a:rPr lang="pt-BR" sz="1400" dirty="0" smtClean="0">
                              <a:solidFill>
                                <a:srgbClr val="FFFF00"/>
                              </a:solidFill>
                            </a:rPr>
                            <a:t>– Materiais para projeto limitado por fratura</a:t>
                          </a:r>
                          <a:endParaRPr lang="pt-BR" sz="1200" baseline="0" dirty="0" smtClean="0"/>
                        </a:p>
                      </a:txBody>
                      <a:tcPr>
                        <a:solidFill>
                          <a:schemeClr val="accent1"/>
                        </a:solidFill>
                      </a:tcPr>
                    </a:tc>
                    <a:tc hMerge="1">
                      <a:txBody>
                        <a:bodyPr/>
                        <a:lstStyle/>
                        <a:p>
                          <a:endParaRPr lang="en-US"/>
                        </a:p>
                      </a:txBody>
                      <a:tcPr/>
                    </a:tc>
                  </a:tr>
                  <a:tr h="1478280">
                    <a:tc>
                      <a:txBody>
                        <a:bodyPr/>
                        <a:lstStyle/>
                        <a:p>
                          <a:endParaRPr lang="en-US"/>
                        </a:p>
                      </a:txBody>
                      <a:tcPr>
                        <a:blipFill rotWithShape="1">
                          <a:blip r:embed="rId2"/>
                          <a:stretch>
                            <a:fillRect l="-159" t="-33471" r="-108772" b="-12397"/>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00" baseline="0" dirty="0" smtClean="0">
                              <a:solidFill>
                                <a:schemeClr val="tx1"/>
                              </a:solidFill>
                            </a:rPr>
                            <a:t>Metais, compósitos em matriz de polímeros</a:t>
                          </a:r>
                        </a:p>
                        <a:p>
                          <a:pPr algn="ctr"/>
                          <a:endParaRPr lang="pt-BR" sz="1000" baseline="0" dirty="0" smtClean="0">
                            <a:solidFill>
                              <a:schemeClr val="tx1"/>
                            </a:solidFill>
                          </a:endParaRPr>
                        </a:p>
                        <a:p>
                          <a:pPr algn="ctr"/>
                          <a:r>
                            <a:rPr lang="pt-BR" sz="1000" baseline="0" dirty="0" smtClean="0">
                              <a:solidFill>
                                <a:schemeClr val="tx1"/>
                              </a:solidFill>
                            </a:rPr>
                            <a:t>Metais, compósitos e alguns polímeros</a:t>
                          </a:r>
                        </a:p>
                        <a:p>
                          <a:pPr algn="ctr"/>
                          <a:endParaRPr lang="pt-BR" sz="1000" baseline="0" dirty="0" smtClean="0">
                            <a:solidFill>
                              <a:schemeClr val="tx1"/>
                            </a:solidFill>
                          </a:endParaRPr>
                        </a:p>
                        <a:p>
                          <a:pPr algn="ctr"/>
                          <a:endParaRPr lang="pt-BR" sz="1000" baseline="0" dirty="0" smtClean="0">
                            <a:solidFill>
                              <a:schemeClr val="tx1"/>
                            </a:solidFill>
                          </a:endParaRPr>
                        </a:p>
                        <a:p>
                          <a:pPr algn="ctr"/>
                          <a:r>
                            <a:rPr lang="pt-BR" sz="1000" baseline="0" dirty="0" smtClean="0">
                              <a:solidFill>
                                <a:schemeClr val="tx1"/>
                              </a:solidFill>
                            </a:rPr>
                            <a:t>Polímeros, elastômeros e os metais mais rijos</a:t>
                          </a:r>
                        </a:p>
                        <a:p>
                          <a:pPr algn="ctr"/>
                          <a:endParaRPr lang="pt-BR" sz="1000" baseline="0" dirty="0" smtClean="0">
                            <a:solidFill>
                              <a:schemeClr val="tx1"/>
                            </a:solidFill>
                          </a:endParaRPr>
                        </a:p>
                      </a:txBody>
                      <a:tcPr>
                        <a:solidFill>
                          <a:schemeClr val="accent1"/>
                        </a:solidFill>
                      </a:tcPr>
                    </a:tc>
                  </a:tr>
                </a:tbl>
              </a:graphicData>
            </a:graphic>
          </p:graphicFrame>
        </mc:Fallback>
      </mc:AlternateContent>
    </p:spTree>
    <p:extLst>
      <p:ext uri="{BB962C8B-B14F-4D97-AF65-F5344CB8AC3E}">
        <p14:creationId xmlns:p14="http://schemas.microsoft.com/office/powerpoint/2010/main" val="10158748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229600" cy="1143000"/>
          </a:xfrm>
        </p:spPr>
        <p:txBody>
          <a:bodyPr/>
          <a:lstStyle/>
          <a:p>
            <a:r>
              <a:rPr lang="pt-BR" dirty="0" smtClean="0"/>
              <a:t>Vasos de Pressão Seguros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3" name="Group 2"/>
          <p:cNvGrpSpPr/>
          <p:nvPr/>
        </p:nvGrpSpPr>
        <p:grpSpPr>
          <a:xfrm>
            <a:off x="2628900" y="1165745"/>
            <a:ext cx="3314700" cy="2263255"/>
            <a:chOff x="1828800" y="304800"/>
            <a:chExt cx="5486400" cy="3661210"/>
          </a:xfrm>
        </p:grpSpPr>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04800"/>
              <a:ext cx="5486400" cy="3398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7463" y="3719789"/>
              <a:ext cx="829073" cy="246221"/>
            </a:xfrm>
            <a:prstGeom prst="rect">
              <a:avLst/>
            </a:prstGeom>
            <a:noFill/>
          </p:spPr>
          <p:txBody>
            <a:bodyPr wrap="none" rtlCol="0">
              <a:spAutoFit/>
            </a:bodyPr>
            <a:lstStyle/>
            <a:p>
              <a:pPr algn="ctr"/>
              <a:r>
                <a:rPr lang="en-US" sz="1000" dirty="0" smtClean="0"/>
                <a:t>Figure 6.19</a:t>
              </a:r>
              <a:endParaRPr lang="en-US" sz="1000" dirty="0"/>
            </a:p>
          </p:txBody>
        </p:sp>
      </p:gr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584598"/>
            <a:ext cx="1360879" cy="758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6764" y="5606369"/>
            <a:ext cx="1272586" cy="758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574" y="5576013"/>
            <a:ext cx="1342761" cy="758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8175" y="5576012"/>
            <a:ext cx="1368251" cy="758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 name="Tabela 11"/>
          <p:cNvGraphicFramePr>
            <a:graphicFrameLocks noGrp="1"/>
          </p:cNvGraphicFramePr>
          <p:nvPr>
            <p:extLst>
              <p:ext uri="{D42A27DB-BD31-4B8C-83A1-F6EECF244321}">
                <p14:modId xmlns:p14="http://schemas.microsoft.com/office/powerpoint/2010/main" val="2415297456"/>
              </p:ext>
            </p:extLst>
          </p:nvPr>
        </p:nvGraphicFramePr>
        <p:xfrm>
          <a:off x="228600" y="3581400"/>
          <a:ext cx="8686800" cy="185420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6.19 –</a:t>
                      </a:r>
                      <a:r>
                        <a:rPr lang="pt-BR" sz="1200" baseline="0" dirty="0" smtClean="0"/>
                        <a:t> Requisitos de projeto para vasos de pressão seguros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Vasos de pressão (contém a</a:t>
                      </a:r>
                      <a:r>
                        <a:rPr lang="pt-BR" sz="1400" baseline="0" dirty="0" smtClean="0"/>
                        <a:t> pressão </a:t>
                      </a:r>
                      <a:r>
                        <a:rPr lang="pt-BR" sz="1400" i="1" baseline="0" dirty="0" smtClean="0"/>
                        <a:t>p</a:t>
                      </a:r>
                      <a:r>
                        <a:rPr lang="pt-BR" sz="1400" baseline="0" dirty="0" smtClean="0"/>
                        <a:t> com segurança)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Raio </a:t>
                      </a:r>
                      <a:r>
                        <a:rPr lang="pt-BR" sz="1400" i="1" baseline="0" dirty="0" smtClean="0"/>
                        <a:t>R</a:t>
                      </a:r>
                      <a:r>
                        <a:rPr lang="pt-BR" sz="1400" baseline="0" dirty="0" smtClean="0"/>
                        <a:t> especificado</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dirty="0" smtClean="0"/>
                        <a:t>Maximizar segurança usando</a:t>
                      </a:r>
                      <a:r>
                        <a:rPr lang="pt-BR" sz="1400" baseline="0" dirty="0" smtClean="0"/>
                        <a:t> o critério escoar antes de sofrer fratura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endParaRPr lang="en-US" sz="1400" dirty="0"/>
                    </a:p>
                  </a:txBody>
                  <a:tcPr/>
                </a:tc>
              </a:tr>
            </a:tbl>
          </a:graphicData>
        </a:graphic>
      </p:graphicFrame>
    </p:spTree>
    <p:extLst>
      <p:ext uri="{BB962C8B-B14F-4D97-AF65-F5344CB8AC3E}">
        <p14:creationId xmlns:p14="http://schemas.microsoft.com/office/powerpoint/2010/main" val="10896867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199" y="76200"/>
            <a:ext cx="8229600" cy="1143000"/>
          </a:xfrm>
        </p:spPr>
        <p:txBody>
          <a:bodyPr>
            <a:normAutofit fontScale="90000"/>
          </a:bodyPr>
          <a:lstStyle/>
          <a:p>
            <a:r>
              <a:rPr lang="pt-BR" dirty="0" smtClean="0"/>
              <a:t>Materiais para Vasos de Pressão Seguros</a:t>
            </a:r>
            <a:endParaRPr lang="en-US"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104899" y="1219200"/>
            <a:ext cx="6934201" cy="5360988"/>
            <a:chOff x="1104899" y="1295400"/>
            <a:chExt cx="6934201" cy="5360988"/>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899" y="1295400"/>
              <a:ext cx="6934201" cy="511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7462" y="6410167"/>
              <a:ext cx="829073" cy="246221"/>
            </a:xfrm>
            <a:prstGeom prst="rect">
              <a:avLst/>
            </a:prstGeom>
            <a:noFill/>
          </p:spPr>
          <p:txBody>
            <a:bodyPr wrap="none" rtlCol="0">
              <a:spAutoFit/>
            </a:bodyPr>
            <a:lstStyle/>
            <a:p>
              <a:pPr algn="ctr"/>
              <a:r>
                <a:rPr lang="en-US" sz="1000" dirty="0" smtClean="0"/>
                <a:t>Figura 6.20</a:t>
              </a:r>
              <a:endParaRPr lang="en-US" sz="1000" dirty="0"/>
            </a:p>
          </p:txBody>
        </p:sp>
      </p:grpSp>
    </p:spTree>
    <p:extLst>
      <p:ext uri="{BB962C8B-B14F-4D97-AF65-F5344CB8AC3E}">
        <p14:creationId xmlns:p14="http://schemas.microsoft.com/office/powerpoint/2010/main" val="157464813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219200" y="3505200"/>
            <a:ext cx="6705600" cy="1905000"/>
          </a:xfrm>
          <a:solidFill>
            <a:schemeClr val="accent5">
              <a:lumMod val="75000"/>
            </a:schemeClr>
          </a:solidFill>
        </p:spPr>
        <p:txBody>
          <a:bodyPr>
            <a:normAutofit fontScale="62500" lnSpcReduction="20000"/>
          </a:bodyPr>
          <a:lstStyle/>
          <a:p>
            <a:pPr algn="just"/>
            <a:r>
              <a:rPr lang="pt-BR" dirty="0" smtClean="0"/>
              <a:t>Aços, ligas de cobre, e alumínio melhor satisfazem o critério de escoar antes da ruptura. Além do mais, uma pressão elevada de escoamento permite uma pressão de trabalho mais elevada. Os materiais na “região de busca” são as melhores escolhas. O critério vazar antes da ruptura conduz essencialmente a mesma seleção</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5652013"/>
            <a:ext cx="1276350"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838200" y="5797417"/>
            <a:ext cx="4852226" cy="461665"/>
          </a:xfrm>
          <a:prstGeom prst="rect">
            <a:avLst/>
          </a:prstGeom>
          <a:noFill/>
        </p:spPr>
        <p:txBody>
          <a:bodyPr wrap="none" rtlCol="0">
            <a:spAutoFit/>
          </a:bodyPr>
          <a:lstStyle/>
          <a:p>
            <a:r>
              <a:rPr lang="pt-BR" sz="2400" dirty="0" smtClean="0"/>
              <a:t>Critério vazar-antes-sofrer ruptura</a:t>
            </a:r>
            <a:endParaRPr lang="pt-BR" sz="2400" dirty="0"/>
          </a:p>
        </p:txBody>
      </p:sp>
      <mc:AlternateContent xmlns:mc="http://schemas.openxmlformats.org/markup-compatibility/2006" xmlns:a14="http://schemas.microsoft.com/office/drawing/2010/main">
        <mc:Choice Requires="a14">
          <p:graphicFrame>
            <p:nvGraphicFramePr>
              <p:cNvPr id="7" name="Tabela 6"/>
              <p:cNvGraphicFramePr>
                <a:graphicFrameLocks noGrp="1"/>
              </p:cNvGraphicFramePr>
              <p:nvPr>
                <p:extLst>
                  <p:ext uri="{D42A27DB-BD31-4B8C-83A1-F6EECF244321}">
                    <p14:modId xmlns:p14="http://schemas.microsoft.com/office/powerpoint/2010/main" val="2856344236"/>
                  </p:ext>
                </p:extLst>
              </p:nvPr>
            </p:nvGraphicFramePr>
            <p:xfrm>
              <a:off x="123825" y="695198"/>
              <a:ext cx="8915400" cy="2362327"/>
            </p:xfrm>
            <a:graphic>
              <a:graphicData uri="http://schemas.openxmlformats.org/drawingml/2006/table">
                <a:tbl>
                  <a:tblPr firstRow="1" bandRow="1">
                    <a:tableStyleId>{68D230F3-CF80-4859-8CE7-A43EE81993B5}</a:tableStyleId>
                  </a:tblPr>
                  <a:tblGrid>
                    <a:gridCol w="1341254"/>
                    <a:gridCol w="1554346"/>
                    <a:gridCol w="1207062"/>
                    <a:gridCol w="4812738"/>
                  </a:tblGrid>
                  <a:tr h="487680">
                    <a:tc gridSpan="4">
                      <a:txBody>
                        <a:bodyPr/>
                        <a:lstStyle/>
                        <a:p>
                          <a:r>
                            <a:rPr lang="pt-BR" sz="1400" dirty="0" smtClean="0">
                              <a:solidFill>
                                <a:srgbClr val="FFFF00"/>
                              </a:solidFill>
                            </a:rPr>
                            <a:t>Tabela 6.20 – Materiais</a:t>
                          </a:r>
                          <a:r>
                            <a:rPr lang="pt-BR" sz="1400" baseline="0" dirty="0" smtClean="0">
                              <a:solidFill>
                                <a:srgbClr val="FFFF00"/>
                              </a:solidFill>
                            </a:rPr>
                            <a:t> para Vasos de Pressão Seguros</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Aços inoxidáveis</a:t>
                          </a:r>
                        </a:p>
                        <a:p>
                          <a:pPr algn="ctr"/>
                          <a:endParaRPr lang="pt-BR" sz="1050" baseline="0" dirty="0" smtClean="0"/>
                        </a:p>
                        <a:p>
                          <a:pPr algn="ctr"/>
                          <a:r>
                            <a:rPr lang="pt-BR" sz="1050" baseline="0" dirty="0" smtClean="0"/>
                            <a:t>Aços de baixa liga</a:t>
                          </a:r>
                        </a:p>
                        <a:p>
                          <a:pPr algn="ctr"/>
                          <a:endParaRPr lang="pt-BR" sz="1050" baseline="0" dirty="0" smtClean="0"/>
                        </a:p>
                        <a:p>
                          <a:pPr algn="ctr"/>
                          <a:r>
                            <a:rPr lang="pt-BR" sz="1050" baseline="0" dirty="0" smtClean="0"/>
                            <a:t>Cobre</a:t>
                          </a:r>
                        </a:p>
                        <a:p>
                          <a:pPr algn="ctr"/>
                          <a:endParaRPr lang="pt-BR" sz="1050" baseline="0" dirty="0" smtClean="0"/>
                        </a:p>
                        <a:p>
                          <a:pPr algn="ctr"/>
                          <a:r>
                            <a:rPr lang="pt-BR" sz="1050" baseline="0" dirty="0" smtClean="0"/>
                            <a:t>Ligas de alumínio</a:t>
                          </a:r>
                        </a:p>
                        <a:p>
                          <a:pPr algn="ctr"/>
                          <a:endParaRPr lang="pt-BR" sz="1050" baseline="0" dirty="0" smtClean="0"/>
                        </a:p>
                        <a:p>
                          <a:pPr algn="ctr"/>
                          <a:r>
                            <a:rPr lang="pt-BR" sz="1050" baseline="0" dirty="0" smtClean="0"/>
                            <a:t>Ligas de titânio</a:t>
                          </a:r>
                        </a:p>
                      </a:txBody>
                      <a:tcPr>
                        <a:solidFill>
                          <a:schemeClr val="accent1"/>
                        </a:solidFill>
                      </a:tcPr>
                    </a:tc>
                    <a:tc>
                      <a:txBody>
                        <a:bodyPr/>
                        <a:lstStyle/>
                        <a:p>
                          <a:pPr marL="0" algn="ctr" defTabSz="914400" rtl="0" eaLnBrk="1" latinLnBrk="0" hangingPunct="1"/>
                          <a14:m>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𝑲</m:t>
                                      </m:r>
                                    </m:e>
                                    <m:sub>
                                      <m:r>
                                        <a:rPr lang="pt-BR" sz="1100" b="1" i="1" kern="1200" baseline="0" smtClean="0">
                                          <a:solidFill>
                                            <a:srgbClr val="FFFF00"/>
                                          </a:solidFill>
                                          <a:latin typeface="Cambria Math"/>
                                          <a:ea typeface="+mn-ea"/>
                                          <a:cs typeface="+mn-cs"/>
                                        </a:rPr>
                                        <m:t>𝟏</m:t>
                                      </m:r>
                                      <m:r>
                                        <a:rPr lang="pt-BR" sz="1100" b="1" i="1" kern="1200" baseline="0" smtClean="0">
                                          <a:solidFill>
                                            <a:srgbClr val="FFFF00"/>
                                          </a:solidFill>
                                          <a:latin typeface="Cambria Math"/>
                                          <a:ea typeface="+mn-ea"/>
                                          <a:cs typeface="+mn-cs"/>
                                        </a:rPr>
                                        <m:t>𝒄</m:t>
                                      </m:r>
                                    </m:sub>
                                  </m:sSub>
                                </m:num>
                                <m:den>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Cambria Math"/>
                                          <a:cs typeface="+mn-cs"/>
                                        </a:rPr>
                                        <m:t>𝝈</m:t>
                                      </m:r>
                                    </m:e>
                                    <m:sub>
                                      <m:r>
                                        <a:rPr lang="pt-BR" sz="1100" b="1" i="1" kern="1200" baseline="0" smtClean="0">
                                          <a:solidFill>
                                            <a:srgbClr val="FFFF00"/>
                                          </a:solidFill>
                                          <a:latin typeface="Cambria Math"/>
                                          <a:ea typeface="+mn-ea"/>
                                          <a:cs typeface="+mn-cs"/>
                                        </a:rPr>
                                        <m:t>𝒀</m:t>
                                      </m:r>
                                    </m:sub>
                                  </m:sSub>
                                </m:den>
                              </m:f>
                            </m:oMath>
                          </a14:m>
                          <a:r>
                            <a:rPr lang="pt-BR" sz="1100" b="1" kern="1200" baseline="0" dirty="0" smtClean="0">
                              <a:solidFill>
                                <a:srgbClr val="FFFF00"/>
                              </a:solidFill>
                              <a:latin typeface="+mn-lt"/>
                              <a:ea typeface="+mn-ea"/>
                              <a:cs typeface="+mn-cs"/>
                            </a:rPr>
                            <a:t> (m</a:t>
                          </a:r>
                          <a:r>
                            <a:rPr lang="pt-BR" sz="1100" b="1" kern="1200" baseline="30000" dirty="0" smtClean="0">
                              <a:solidFill>
                                <a:srgbClr val="FFFF00"/>
                              </a:solidFill>
                              <a:latin typeface="+mn-lt"/>
                              <a:ea typeface="+mn-ea"/>
                              <a:cs typeface="+mn-cs"/>
                            </a:rPr>
                            <a:t>1/2</a:t>
                          </a:r>
                          <a:r>
                            <a:rPr lang="pt-BR" sz="1100" b="1" kern="1200" baseline="0" dirty="0" smtClean="0">
                              <a:solidFill>
                                <a:srgbClr val="FFFF00"/>
                              </a:solidFill>
                              <a:latin typeface="+mn-lt"/>
                              <a:ea typeface="+mn-ea"/>
                              <a:cs typeface="+mn-cs"/>
                            </a:rPr>
                            <a:t>)</a:t>
                          </a:r>
                        </a:p>
                        <a:p>
                          <a:pPr algn="ctr"/>
                          <a:endParaRPr lang="pt-BR" sz="1050" b="1" baseline="0" dirty="0" smtClean="0">
                            <a:solidFill>
                              <a:srgbClr val="FFFF00"/>
                            </a:solidFill>
                          </a:endParaRPr>
                        </a:p>
                        <a:p>
                          <a:pPr algn="ctr"/>
                          <a:r>
                            <a:rPr lang="pt-BR" sz="1050" b="0" baseline="0" dirty="0" smtClean="0">
                              <a:solidFill>
                                <a:schemeClr val="tx1"/>
                              </a:solidFill>
                            </a:rPr>
                            <a:t>0,35</a:t>
                          </a:r>
                        </a:p>
                        <a:p>
                          <a:pPr algn="ctr"/>
                          <a:endParaRPr lang="pt-BR" sz="1050" b="0" baseline="0" dirty="0" smtClean="0">
                            <a:solidFill>
                              <a:schemeClr val="tx1"/>
                            </a:solidFill>
                          </a:endParaRPr>
                        </a:p>
                        <a:p>
                          <a:pPr algn="ctr"/>
                          <a:r>
                            <a:rPr lang="pt-BR" sz="1050" b="0" baseline="0" dirty="0" smtClean="0">
                              <a:solidFill>
                                <a:schemeClr val="tx1"/>
                              </a:solidFill>
                            </a:rPr>
                            <a:t>0,2</a:t>
                          </a:r>
                        </a:p>
                        <a:p>
                          <a:pPr algn="ctr"/>
                          <a:endParaRPr lang="pt-BR" sz="1050" b="0" baseline="0" dirty="0" smtClean="0">
                            <a:solidFill>
                              <a:schemeClr val="tx1"/>
                            </a:solidFill>
                          </a:endParaRPr>
                        </a:p>
                        <a:p>
                          <a:pPr algn="ctr"/>
                          <a:r>
                            <a:rPr lang="pt-BR" sz="1050" b="0" baseline="0" dirty="0" smtClean="0">
                              <a:solidFill>
                                <a:schemeClr val="tx1"/>
                              </a:solidFill>
                            </a:rPr>
                            <a:t>0,5</a:t>
                          </a:r>
                        </a:p>
                        <a:p>
                          <a:pPr algn="ctr"/>
                          <a:endParaRPr lang="pt-BR" sz="1050" b="0" baseline="0" dirty="0" smtClean="0">
                            <a:solidFill>
                              <a:schemeClr val="tx1"/>
                            </a:solidFill>
                          </a:endParaRPr>
                        </a:p>
                        <a:p>
                          <a:pPr algn="ctr"/>
                          <a:r>
                            <a:rPr lang="pt-BR" sz="1050" b="0" baseline="0" dirty="0" smtClean="0">
                              <a:solidFill>
                                <a:schemeClr val="tx1"/>
                              </a:solidFill>
                            </a:rPr>
                            <a:t>0,15</a:t>
                          </a:r>
                        </a:p>
                        <a:p>
                          <a:pPr algn="ctr"/>
                          <a:endParaRPr lang="pt-BR" sz="1050" b="0" baseline="0" dirty="0" smtClean="0">
                            <a:solidFill>
                              <a:schemeClr val="tx1"/>
                            </a:solidFill>
                          </a:endParaRPr>
                        </a:p>
                        <a:p>
                          <a:pPr algn="ctr"/>
                          <a:r>
                            <a:rPr lang="pt-BR" sz="1050" b="0" baseline="0" dirty="0" smtClean="0">
                              <a:solidFill>
                                <a:schemeClr val="tx1"/>
                              </a:solidFill>
                            </a:rPr>
                            <a:t>0,13</a:t>
                          </a:r>
                        </a:p>
                      </a:txBody>
                      <a:tcPr>
                        <a:solidFill>
                          <a:schemeClr val="accent1"/>
                        </a:solidFill>
                      </a:tcPr>
                    </a:tc>
                    <a:tc>
                      <a:txBody>
                        <a:bodyPr/>
                        <a:lstStyle/>
                        <a:p>
                          <a:pPr algn="ctr"/>
                          <a14:m>
                            <m:oMath xmlns:m="http://schemas.openxmlformats.org/officeDocument/2006/math">
                              <m:sSub>
                                <m:sSubPr>
                                  <m:ctrlPr>
                                    <a:rPr lang="pt-BR" sz="1100" b="1" i="1" baseline="0" smtClean="0">
                                      <a:solidFill>
                                        <a:srgbClr val="FFFF00"/>
                                      </a:solidFill>
                                      <a:latin typeface="Cambria Math"/>
                                    </a:rPr>
                                  </m:ctrlPr>
                                </m:sSubPr>
                                <m:e>
                                  <m:r>
                                    <a:rPr lang="pt-BR" sz="1100" b="1" i="1" baseline="0" smtClean="0">
                                      <a:solidFill>
                                        <a:srgbClr val="FFFF00"/>
                                      </a:solidFill>
                                      <a:latin typeface="Cambria Math"/>
                                    </a:rPr>
                                    <m:t>𝑴</m:t>
                                  </m:r>
                                </m:e>
                                <m:sub>
                                  <m:r>
                                    <a:rPr lang="pt-BR" sz="1100" b="1" i="1" baseline="0" smtClean="0">
                                      <a:solidFill>
                                        <a:srgbClr val="FFFF00"/>
                                      </a:solidFill>
                                      <a:latin typeface="Cambria Math"/>
                                    </a:rPr>
                                    <m:t>𝟑</m:t>
                                  </m:r>
                                </m:sub>
                              </m:sSub>
                              <m:r>
                                <a:rPr lang="pt-BR" sz="1100" b="1" i="1" baseline="0" smtClean="0">
                                  <a:solidFill>
                                    <a:srgbClr val="FFFF00"/>
                                  </a:solidFill>
                                  <a:latin typeface="Cambria Math"/>
                                </a:rPr>
                                <m:t>=</m:t>
                              </m:r>
                              <m:sSub>
                                <m:sSubPr>
                                  <m:ctrlPr>
                                    <a:rPr lang="pt-BR" sz="1100" b="1" i="1" baseline="0" smtClean="0">
                                      <a:solidFill>
                                        <a:srgbClr val="FFFF00"/>
                                      </a:solidFill>
                                      <a:latin typeface="Cambria Math"/>
                                    </a:rPr>
                                  </m:ctrlPr>
                                </m:sSubPr>
                                <m:e>
                                  <m:r>
                                    <a:rPr lang="pt-BR" sz="1100" b="1" i="1" baseline="0" smtClean="0">
                                      <a:solidFill>
                                        <a:srgbClr val="FFFF00"/>
                                      </a:solidFill>
                                      <a:latin typeface="Cambria Math"/>
                                      <a:ea typeface="Cambria Math"/>
                                    </a:rPr>
                                    <m:t>𝝈</m:t>
                                  </m:r>
                                </m:e>
                                <m:sub>
                                  <m:r>
                                    <a:rPr lang="pt-BR" sz="1100" b="1" i="1" baseline="0" smtClean="0">
                                      <a:solidFill>
                                        <a:srgbClr val="FFFF00"/>
                                      </a:solidFill>
                                      <a:latin typeface="Cambria Math"/>
                                    </a:rPr>
                                    <m:t>𝒚</m:t>
                                  </m:r>
                                </m:sub>
                              </m:sSub>
                            </m:oMath>
                          </a14:m>
                          <a:r>
                            <a:rPr lang="pt-BR" sz="1100" b="1" baseline="0" dirty="0" smtClean="0">
                              <a:solidFill>
                                <a:srgbClr val="FFFF00"/>
                              </a:solidFill>
                            </a:rPr>
                            <a:t> (MPa)</a:t>
                          </a:r>
                        </a:p>
                        <a:p>
                          <a:pPr algn="ctr"/>
                          <a:endParaRPr lang="pt-BR" sz="1050" b="1" baseline="0" dirty="0" smtClean="0">
                            <a:solidFill>
                              <a:srgbClr val="FFFF00"/>
                            </a:solidFill>
                          </a:endParaRPr>
                        </a:p>
                        <a:p>
                          <a:pPr algn="ctr"/>
                          <a:r>
                            <a:rPr lang="pt-BR" sz="1050" b="0" baseline="0" dirty="0" smtClean="0">
                              <a:solidFill>
                                <a:schemeClr val="tx1"/>
                              </a:solidFill>
                            </a:rPr>
                            <a:t>300</a:t>
                          </a:r>
                        </a:p>
                        <a:p>
                          <a:pPr algn="ctr"/>
                          <a:endParaRPr lang="pt-BR" sz="1050" b="0" baseline="0" dirty="0" smtClean="0">
                            <a:solidFill>
                              <a:schemeClr val="tx1"/>
                            </a:solidFill>
                          </a:endParaRPr>
                        </a:p>
                        <a:p>
                          <a:pPr algn="ctr"/>
                          <a:r>
                            <a:rPr lang="pt-BR" sz="1050" b="0" baseline="0" dirty="0" smtClean="0">
                              <a:solidFill>
                                <a:schemeClr val="tx1"/>
                              </a:solidFill>
                            </a:rPr>
                            <a:t>800</a:t>
                          </a:r>
                        </a:p>
                        <a:p>
                          <a:pPr algn="ctr"/>
                          <a:endParaRPr lang="pt-BR" sz="1050" b="0" baseline="0" dirty="0" smtClean="0">
                            <a:solidFill>
                              <a:schemeClr val="tx1"/>
                            </a:solidFill>
                          </a:endParaRPr>
                        </a:p>
                        <a:p>
                          <a:pPr algn="ctr"/>
                          <a:r>
                            <a:rPr lang="pt-BR" sz="1050" b="0" baseline="0" dirty="0" smtClean="0">
                              <a:solidFill>
                                <a:schemeClr val="tx1"/>
                              </a:solidFill>
                            </a:rPr>
                            <a:t>200</a:t>
                          </a:r>
                        </a:p>
                        <a:p>
                          <a:pPr algn="ctr"/>
                          <a:endParaRPr lang="pt-BR" sz="1050" b="0" baseline="0" dirty="0" smtClean="0">
                            <a:solidFill>
                              <a:schemeClr val="tx1"/>
                            </a:solidFill>
                          </a:endParaRPr>
                        </a:p>
                        <a:p>
                          <a:pPr algn="ctr"/>
                          <a:r>
                            <a:rPr lang="pt-BR" sz="1050" b="0" baseline="0" dirty="0" smtClean="0">
                              <a:solidFill>
                                <a:schemeClr val="tx1"/>
                              </a:solidFill>
                            </a:rPr>
                            <a:t>200</a:t>
                          </a:r>
                        </a:p>
                        <a:p>
                          <a:pPr algn="ctr"/>
                          <a:endParaRPr lang="pt-BR" sz="1050" b="0" baseline="0" dirty="0" smtClean="0">
                            <a:solidFill>
                              <a:schemeClr val="tx1"/>
                            </a:solidFill>
                          </a:endParaRPr>
                        </a:p>
                        <a:p>
                          <a:pPr algn="ctr"/>
                          <a:r>
                            <a:rPr lang="pt-BR" sz="1050" b="0" baseline="0" dirty="0" smtClean="0">
                              <a:solidFill>
                                <a:schemeClr val="tx1"/>
                              </a:solidFill>
                            </a:rPr>
                            <a:t>800</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Vasos de pressão nucleares são feitos de aço inoxidável grau 316</a:t>
                          </a:r>
                        </a:p>
                        <a:p>
                          <a:pPr algn="ctr"/>
                          <a:endParaRPr lang="pt-BR" sz="1050" b="1" baseline="0" dirty="0" smtClean="0">
                            <a:solidFill>
                              <a:schemeClr val="tx1"/>
                            </a:solidFill>
                          </a:endParaRPr>
                        </a:p>
                        <a:p>
                          <a:pPr algn="ctr"/>
                          <a:r>
                            <a:rPr lang="pt-BR" sz="1050" b="1" baseline="0" dirty="0" smtClean="0">
                              <a:solidFill>
                                <a:schemeClr val="tx1"/>
                              </a:solidFill>
                            </a:rPr>
                            <a:t>São o padrão para essa aplicação</a:t>
                          </a:r>
                        </a:p>
                        <a:p>
                          <a:pPr algn="ctr"/>
                          <a:endParaRPr lang="pt-BR" sz="1050" b="1" baseline="0" dirty="0" smtClean="0">
                            <a:solidFill>
                              <a:schemeClr val="tx1"/>
                            </a:solidFill>
                          </a:endParaRPr>
                        </a:p>
                        <a:p>
                          <a:pPr algn="ctr"/>
                          <a:r>
                            <a:rPr lang="pt-BR" sz="1050" b="1" baseline="0" dirty="0" smtClean="0">
                              <a:solidFill>
                                <a:schemeClr val="tx1"/>
                              </a:solidFill>
                            </a:rPr>
                            <a:t>Cobre estirado a frio é usado para pequena caldeiras e vasos de pressão</a:t>
                          </a:r>
                        </a:p>
                        <a:p>
                          <a:pPr algn="ctr"/>
                          <a:r>
                            <a:rPr lang="pt-BR" sz="1050" b="1" baseline="0" dirty="0" smtClean="0">
                              <a:solidFill>
                                <a:schemeClr val="tx1"/>
                              </a:solidFill>
                            </a:rPr>
                            <a:t>Tanques de pressão de foguete são  de alumínio</a:t>
                          </a:r>
                        </a:p>
                        <a:p>
                          <a:pPr algn="ctr"/>
                          <a:endParaRPr lang="pt-BR" sz="1050" b="1" baseline="0" dirty="0" smtClean="0">
                            <a:solidFill>
                              <a:schemeClr val="tx1"/>
                            </a:solidFill>
                          </a:endParaRPr>
                        </a:p>
                        <a:p>
                          <a:pPr algn="ctr"/>
                          <a:r>
                            <a:rPr lang="pt-BR" sz="1050" b="1" baseline="0" dirty="0" smtClean="0">
                              <a:solidFill>
                                <a:schemeClr val="tx1"/>
                              </a:solidFill>
                            </a:rPr>
                            <a:t>Boas para vasos de pressão leves, porém caras</a:t>
                          </a:r>
                        </a:p>
                      </a:txBody>
                      <a:tcPr>
                        <a:solidFill>
                          <a:schemeClr val="accent1"/>
                        </a:solidFill>
                      </a:tcPr>
                    </a:tc>
                  </a:tr>
                </a:tbl>
              </a:graphicData>
            </a:graphic>
          </p:graphicFrame>
        </mc:Choice>
        <mc:Fallback xmlns="">
          <p:graphicFrame>
            <p:nvGraphicFramePr>
              <p:cNvPr id="7" name="Tabela 6"/>
              <p:cNvGraphicFramePr>
                <a:graphicFrameLocks noGrp="1"/>
              </p:cNvGraphicFramePr>
              <p:nvPr>
                <p:extLst>
                  <p:ext uri="{D42A27DB-BD31-4B8C-83A1-F6EECF244321}">
                    <p14:modId xmlns:p14="http://schemas.microsoft.com/office/powerpoint/2010/main" val="2856344236"/>
                  </p:ext>
                </p:extLst>
              </p:nvPr>
            </p:nvGraphicFramePr>
            <p:xfrm>
              <a:off x="123825" y="695198"/>
              <a:ext cx="8915400" cy="2362327"/>
            </p:xfrm>
            <a:graphic>
              <a:graphicData uri="http://schemas.openxmlformats.org/drawingml/2006/table">
                <a:tbl>
                  <a:tblPr firstRow="1" bandRow="1">
                    <a:tableStyleId>{68D230F3-CF80-4859-8CE7-A43EE81993B5}</a:tableStyleId>
                  </a:tblPr>
                  <a:tblGrid>
                    <a:gridCol w="1341254"/>
                    <a:gridCol w="1554346"/>
                    <a:gridCol w="1207062"/>
                    <a:gridCol w="4812738"/>
                  </a:tblGrid>
                  <a:tr h="487680">
                    <a:tc gridSpan="4">
                      <a:txBody>
                        <a:bodyPr/>
                        <a:lstStyle/>
                        <a:p>
                          <a:r>
                            <a:rPr lang="pt-BR" sz="1400" dirty="0" smtClean="0">
                              <a:solidFill>
                                <a:srgbClr val="FFFF00"/>
                              </a:solidFill>
                            </a:rPr>
                            <a:t>Tabela </a:t>
                          </a:r>
                          <a:r>
                            <a:rPr lang="pt-BR" sz="1400" dirty="0" smtClean="0">
                              <a:solidFill>
                                <a:srgbClr val="FFFF00"/>
                              </a:solidFill>
                            </a:rPr>
                            <a:t>6.20 </a:t>
                          </a:r>
                          <a:r>
                            <a:rPr lang="pt-BR" sz="1400" dirty="0" smtClean="0">
                              <a:solidFill>
                                <a:srgbClr val="FFFF00"/>
                              </a:solidFill>
                            </a:rPr>
                            <a:t>– Materiais</a:t>
                          </a:r>
                          <a:r>
                            <a:rPr lang="pt-BR" sz="1400" baseline="0" dirty="0" smtClean="0">
                              <a:solidFill>
                                <a:srgbClr val="FFFF00"/>
                              </a:solidFill>
                            </a:rPr>
                            <a:t> </a:t>
                          </a:r>
                          <a:r>
                            <a:rPr lang="pt-BR" sz="1400" baseline="0" dirty="0" smtClean="0">
                              <a:solidFill>
                                <a:srgbClr val="FFFF00"/>
                              </a:solidFill>
                            </a:rPr>
                            <a:t>para Vasos de Pressão Seguros</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1874647">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Aços inoxidáveis</a:t>
                          </a:r>
                          <a:endParaRPr lang="pt-BR" sz="1050" baseline="0" dirty="0" smtClean="0"/>
                        </a:p>
                        <a:p>
                          <a:pPr algn="ctr"/>
                          <a:endParaRPr lang="pt-BR" sz="1050" baseline="0" dirty="0" smtClean="0"/>
                        </a:p>
                        <a:p>
                          <a:pPr algn="ctr"/>
                          <a:r>
                            <a:rPr lang="pt-BR" sz="1050" baseline="0" dirty="0" smtClean="0"/>
                            <a:t>Aços de baixa liga</a:t>
                          </a:r>
                          <a:endParaRPr lang="pt-BR" sz="1050" baseline="0" dirty="0" smtClean="0"/>
                        </a:p>
                        <a:p>
                          <a:pPr algn="ctr"/>
                          <a:endParaRPr lang="pt-BR" sz="1050" baseline="0" dirty="0" smtClean="0"/>
                        </a:p>
                        <a:p>
                          <a:pPr algn="ctr"/>
                          <a:r>
                            <a:rPr lang="pt-BR" sz="1050" baseline="0" dirty="0" smtClean="0"/>
                            <a:t>Cobre</a:t>
                          </a:r>
                        </a:p>
                        <a:p>
                          <a:pPr algn="ctr"/>
                          <a:endParaRPr lang="pt-BR" sz="1050" baseline="0" dirty="0" smtClean="0"/>
                        </a:p>
                        <a:p>
                          <a:pPr algn="ctr"/>
                          <a:r>
                            <a:rPr lang="pt-BR" sz="1050" baseline="0" dirty="0" smtClean="0"/>
                            <a:t>Ligas de alumínio</a:t>
                          </a:r>
                          <a:endParaRPr lang="pt-BR" sz="1050" baseline="0" dirty="0" smtClean="0"/>
                        </a:p>
                        <a:p>
                          <a:pPr algn="ctr"/>
                          <a:endParaRPr lang="pt-BR" sz="1050" baseline="0" dirty="0" smtClean="0"/>
                        </a:p>
                        <a:p>
                          <a:pPr algn="ctr"/>
                          <a:r>
                            <a:rPr lang="pt-BR" sz="1050" baseline="0" dirty="0" smtClean="0"/>
                            <a:t>Ligas de titânio</a:t>
                          </a:r>
                          <a:endParaRPr lang="pt-BR" sz="1050" baseline="0" dirty="0" smtClean="0"/>
                        </a:p>
                      </a:txBody>
                      <a:tcPr>
                        <a:solidFill>
                          <a:schemeClr val="accent1"/>
                        </a:solidFill>
                      </a:tcPr>
                    </a:tc>
                    <a:tc>
                      <a:txBody>
                        <a:bodyPr/>
                        <a:lstStyle/>
                        <a:p>
                          <a:endParaRPr lang="en-US"/>
                        </a:p>
                      </a:txBody>
                      <a:tcPr>
                        <a:blipFill rotWithShape="1">
                          <a:blip r:embed="rId3"/>
                          <a:stretch>
                            <a:fillRect l="-86275" t="-26299" r="-387451" b="-1948"/>
                          </a:stretch>
                        </a:blipFill>
                      </a:tcPr>
                    </a:tc>
                    <a:tc>
                      <a:txBody>
                        <a:bodyPr/>
                        <a:lstStyle/>
                        <a:p>
                          <a:endParaRPr lang="en-US"/>
                        </a:p>
                      </a:txBody>
                      <a:tcPr>
                        <a:blipFill rotWithShape="1">
                          <a:blip r:embed="rId3"/>
                          <a:stretch>
                            <a:fillRect l="-239899" t="-26299" r="-398990" b="-1948"/>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50" b="1" baseline="0" dirty="0" smtClean="0">
                              <a:solidFill>
                                <a:schemeClr val="tx1"/>
                              </a:solidFill>
                            </a:rPr>
                            <a:t>Vasos de pressão nucleares são feitos de aço inoxidável grau 316</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São o padrão para essa aplicação</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Cobre estirado a frio é usado para pequena caldeiras e vasos de pressão</a:t>
                          </a:r>
                        </a:p>
                        <a:p>
                          <a:pPr algn="ctr"/>
                          <a:r>
                            <a:rPr lang="pt-BR" sz="1050" b="1" baseline="0" dirty="0" smtClean="0">
                              <a:solidFill>
                                <a:schemeClr val="tx1"/>
                              </a:solidFill>
                            </a:rPr>
                            <a:t>Tanques de pressão de foguete são  de alumínio</a:t>
                          </a:r>
                        </a:p>
                        <a:p>
                          <a:pPr algn="ctr"/>
                          <a:endParaRPr lang="pt-BR" sz="1050" b="1" baseline="0" dirty="0" smtClean="0">
                            <a:solidFill>
                              <a:schemeClr val="tx1"/>
                            </a:solidFill>
                          </a:endParaRPr>
                        </a:p>
                        <a:p>
                          <a:pPr algn="ctr"/>
                          <a:r>
                            <a:rPr lang="pt-BR" sz="1050" b="1" baseline="0" dirty="0" smtClean="0">
                              <a:solidFill>
                                <a:schemeClr val="tx1"/>
                              </a:solidFill>
                            </a:rPr>
                            <a:t>Boas para vasos de pressão leves, porém caras</a:t>
                          </a:r>
                          <a:endParaRPr lang="pt-BR" sz="1050" b="1" baseline="0" dirty="0" smtClean="0">
                            <a:solidFill>
                              <a:schemeClr val="tx1"/>
                            </a:solidFill>
                          </a:endParaRPr>
                        </a:p>
                      </a:txBody>
                      <a:tcPr>
                        <a:solidFill>
                          <a:schemeClr val="accent1"/>
                        </a:solidFill>
                      </a:tcPr>
                    </a:tc>
                  </a:tr>
                </a:tbl>
              </a:graphicData>
            </a:graphic>
          </p:graphicFrame>
        </mc:Fallback>
      </mc:AlternateContent>
    </p:spTree>
    <p:extLst>
      <p:ext uri="{BB962C8B-B14F-4D97-AF65-F5344CB8AC3E}">
        <p14:creationId xmlns:p14="http://schemas.microsoft.com/office/powerpoint/2010/main" val="22791294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8911"/>
            <a:ext cx="2500745" cy="2082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ctrTitle"/>
          </p:nvPr>
        </p:nvSpPr>
        <p:spPr>
          <a:xfrm>
            <a:off x="3276600" y="443204"/>
            <a:ext cx="5562600" cy="1470025"/>
          </a:xfrm>
        </p:spPr>
        <p:txBody>
          <a:bodyPr>
            <a:normAutofit fontScale="90000"/>
          </a:bodyPr>
          <a:lstStyle/>
          <a:p>
            <a:r>
              <a:rPr lang="pt-BR" dirty="0" smtClean="0"/>
              <a:t>Materiais Rígidos de Alto Amortecimento para Mesas Vibratórias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5" name="TextBox 4"/>
          <p:cNvSpPr txBox="1"/>
          <p:nvPr/>
        </p:nvSpPr>
        <p:spPr>
          <a:xfrm>
            <a:off x="1445436" y="2343191"/>
            <a:ext cx="829073" cy="246221"/>
          </a:xfrm>
          <a:prstGeom prst="rect">
            <a:avLst/>
          </a:prstGeom>
          <a:noFill/>
        </p:spPr>
        <p:txBody>
          <a:bodyPr wrap="none" rtlCol="0">
            <a:spAutoFit/>
          </a:bodyPr>
          <a:lstStyle/>
          <a:p>
            <a:pPr algn="ctr"/>
            <a:r>
              <a:rPr lang="en-US" sz="1000" dirty="0" smtClean="0"/>
              <a:t>Figura 6.21</a:t>
            </a:r>
            <a:endParaRPr lang="en-US" sz="1000"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8345" y="5486400"/>
            <a:ext cx="15240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5486400"/>
            <a:ext cx="1566618" cy="80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 name="Tabela 10"/>
          <p:cNvGraphicFramePr>
            <a:graphicFrameLocks noGrp="1"/>
          </p:cNvGraphicFramePr>
          <p:nvPr>
            <p:extLst>
              <p:ext uri="{D42A27DB-BD31-4B8C-83A1-F6EECF244321}">
                <p14:modId xmlns:p14="http://schemas.microsoft.com/office/powerpoint/2010/main" val="1288292534"/>
              </p:ext>
            </p:extLst>
          </p:nvPr>
        </p:nvGraphicFramePr>
        <p:xfrm>
          <a:off x="304800" y="2621891"/>
          <a:ext cx="8686800" cy="278892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6.21 –</a:t>
                      </a:r>
                      <a:r>
                        <a:rPr lang="pt-BR" sz="1200" baseline="0" dirty="0" smtClean="0"/>
                        <a:t> Requisitos de projeto para mesas vibratórias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Mesa para teste de vibração</a:t>
                      </a:r>
                      <a:r>
                        <a:rPr lang="pt-BR" sz="1400" baseline="0" dirty="0" smtClean="0"/>
                        <a:t> (“mesa vibratória”)</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Raio </a:t>
                      </a:r>
                      <a:r>
                        <a:rPr lang="pt-BR" sz="1400" i="1" baseline="0" dirty="0" smtClean="0"/>
                        <a:t>R</a:t>
                      </a:r>
                      <a:r>
                        <a:rPr lang="pt-BR" sz="1400" baseline="0" dirty="0" smtClean="0"/>
                        <a:t> especificado</a:t>
                      </a:r>
                    </a:p>
                    <a:p>
                      <a:r>
                        <a:rPr lang="pt-BR" sz="1400" baseline="0" dirty="0" smtClean="0"/>
                        <a:t>Deve ser rígida o suficiente para evitar distorção por forças de aperto</a:t>
                      </a:r>
                    </a:p>
                    <a:p>
                      <a:r>
                        <a:rPr lang="pt-BR" sz="1400" baseline="0" dirty="0" smtClean="0"/>
                        <a:t>Frequências naturais acima da frequência de operação máxima (evitar ressonância)</a:t>
                      </a:r>
                    </a:p>
                    <a:p>
                      <a:r>
                        <a:rPr lang="pt-BR" sz="1400" baseline="0" dirty="0" smtClean="0"/>
                        <a:t>Alto amortecimento para suprimir ressonância e vibrações naturais</a:t>
                      </a:r>
                    </a:p>
                    <a:p>
                      <a:r>
                        <a:rPr lang="pt-BR" sz="1400" baseline="0" dirty="0" smtClean="0"/>
                        <a:t>Tenaz o suficiente para suportar má utilização e choque</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Minimizar</a:t>
                      </a:r>
                      <a:r>
                        <a:rPr lang="pt-BR" sz="1400" i="0" baseline="0" dirty="0" smtClean="0"/>
                        <a:t> consumo de potência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p>
                    <a:p>
                      <a:r>
                        <a:rPr lang="pt-BR" sz="1400" baseline="0" dirty="0" smtClean="0"/>
                        <a:t>Espessura da mesa t</a:t>
                      </a:r>
                      <a:endParaRPr lang="en-US" sz="1400" dirty="0"/>
                    </a:p>
                  </a:txBody>
                  <a:tcPr/>
                </a:tc>
              </a:tr>
            </a:tbl>
          </a:graphicData>
        </a:graphic>
      </p:graphicFrame>
    </p:spTree>
    <p:extLst>
      <p:ext uri="{BB962C8B-B14F-4D97-AF65-F5344CB8AC3E}">
        <p14:creationId xmlns:p14="http://schemas.microsoft.com/office/powerpoint/2010/main" val="41556845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9547"/>
            <a:ext cx="8229600" cy="1143000"/>
          </a:xfrm>
        </p:spPr>
        <p:txBody>
          <a:bodyPr/>
          <a:lstStyle/>
          <a:p>
            <a:r>
              <a:rPr lang="pt-BR" dirty="0" smtClean="0"/>
              <a:t>Materiais para Mesas Vibratórias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228221" y="1143000"/>
            <a:ext cx="6721712" cy="5181600"/>
            <a:chOff x="1660288" y="850864"/>
            <a:chExt cx="5812074" cy="4595091"/>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288" y="850864"/>
              <a:ext cx="5812074" cy="434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3"/>
            <p:cNvSpPr txBox="1"/>
            <p:nvPr/>
          </p:nvSpPr>
          <p:spPr>
            <a:xfrm>
              <a:off x="4192729" y="5199734"/>
              <a:ext cx="758541" cy="246221"/>
            </a:xfrm>
            <a:prstGeom prst="rect">
              <a:avLst/>
            </a:prstGeom>
            <a:noFill/>
          </p:spPr>
          <p:txBody>
            <a:bodyPr wrap="none" rtlCol="0">
              <a:spAutoFit/>
            </a:bodyPr>
            <a:lstStyle/>
            <a:p>
              <a:pPr algn="ctr"/>
              <a:r>
                <a:rPr lang="en-US" sz="1000" dirty="0" smtClean="0"/>
                <a:t>Figura 6.4</a:t>
              </a:r>
              <a:endParaRPr lang="en-US" sz="1000" dirty="0"/>
            </a:p>
          </p:txBody>
        </p:sp>
      </p:grpSp>
    </p:spTree>
    <p:extLst>
      <p:ext uri="{BB962C8B-B14F-4D97-AF65-F5344CB8AC3E}">
        <p14:creationId xmlns:p14="http://schemas.microsoft.com/office/powerpoint/2010/main" val="202910378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088571"/>
            <a:ext cx="6934199" cy="515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p:cNvSpPr>
            <a:spLocks noGrp="1"/>
          </p:cNvSpPr>
          <p:nvPr>
            <p:ph type="title"/>
          </p:nvPr>
        </p:nvSpPr>
        <p:spPr>
          <a:xfrm>
            <a:off x="457200" y="29547"/>
            <a:ext cx="8229600" cy="1143000"/>
          </a:xfrm>
        </p:spPr>
        <p:txBody>
          <a:bodyPr/>
          <a:lstStyle/>
          <a:p>
            <a:r>
              <a:rPr lang="pt-BR" dirty="0" smtClean="0"/>
              <a:t>Materiais para Mesas Vibratórias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4" name="TextBox 3"/>
          <p:cNvSpPr txBox="1"/>
          <p:nvPr/>
        </p:nvSpPr>
        <p:spPr>
          <a:xfrm>
            <a:off x="4157462" y="6241045"/>
            <a:ext cx="829073" cy="246221"/>
          </a:xfrm>
          <a:prstGeom prst="rect">
            <a:avLst/>
          </a:prstGeom>
          <a:noFill/>
        </p:spPr>
        <p:txBody>
          <a:bodyPr wrap="none" rtlCol="0">
            <a:spAutoFit/>
          </a:bodyPr>
          <a:lstStyle/>
          <a:p>
            <a:pPr algn="ctr"/>
            <a:r>
              <a:rPr lang="en-US" sz="1000" dirty="0" smtClean="0"/>
              <a:t>Figura 6.22</a:t>
            </a:r>
            <a:endParaRPr lang="en-US" sz="1000" dirty="0"/>
          </a:p>
        </p:txBody>
      </p:sp>
    </p:spTree>
    <p:extLst>
      <p:ext uri="{BB962C8B-B14F-4D97-AF65-F5344CB8AC3E}">
        <p14:creationId xmlns:p14="http://schemas.microsoft.com/office/powerpoint/2010/main" val="20291037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371600" y="4114800"/>
            <a:ext cx="6400800" cy="1752600"/>
          </a:xfrm>
          <a:solidFill>
            <a:schemeClr val="accent5">
              <a:lumMod val="75000"/>
            </a:schemeClr>
          </a:solidFill>
        </p:spPr>
        <p:txBody>
          <a:bodyPr>
            <a:normAutofit fontScale="92500" lnSpcReduction="10000"/>
          </a:bodyPr>
          <a:lstStyle/>
          <a:p>
            <a:r>
              <a:rPr lang="pt-BR" dirty="0" smtClean="0"/>
              <a:t>Ligas de Mg, ferros fundidos, GFRP, Concreto e as ligas de elevado amortecimento Mn-Cu são os melhores candidatos.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3624189940"/>
                  </p:ext>
                </p:extLst>
              </p:nvPr>
            </p:nvGraphicFramePr>
            <p:xfrm>
              <a:off x="152400" y="762000"/>
              <a:ext cx="8915401" cy="2979420"/>
            </p:xfrm>
            <a:graphic>
              <a:graphicData uri="http://schemas.openxmlformats.org/drawingml/2006/table">
                <a:tbl>
                  <a:tblPr firstRow="1" bandRow="1">
                    <a:tableStyleId>{68D230F3-CF80-4859-8CE7-A43EE81993B5}</a:tableStyleId>
                  </a:tblPr>
                  <a:tblGrid>
                    <a:gridCol w="1295400"/>
                    <a:gridCol w="1254912"/>
                    <a:gridCol w="1063125"/>
                    <a:gridCol w="1644363"/>
                    <a:gridCol w="3657601"/>
                  </a:tblGrid>
                  <a:tr h="487680">
                    <a:tc gridSpan="5">
                      <a:txBody>
                        <a:bodyPr/>
                        <a:lstStyle/>
                        <a:p>
                          <a:r>
                            <a:rPr lang="pt-BR" sz="1400" dirty="0" smtClean="0">
                              <a:solidFill>
                                <a:srgbClr val="FFFF00"/>
                              </a:solidFill>
                            </a:rPr>
                            <a:t>Tabela 6.22 – Materiais</a:t>
                          </a:r>
                          <a:r>
                            <a:rPr lang="pt-BR" sz="1400" baseline="0" dirty="0" smtClean="0">
                              <a:solidFill>
                                <a:srgbClr val="FFFF00"/>
                              </a:solidFill>
                            </a:rPr>
                            <a:t> para Mesas Vibratórias</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Ligas de Mg</a:t>
                          </a:r>
                        </a:p>
                        <a:p>
                          <a:pPr algn="ctr"/>
                          <a:endParaRPr lang="pt-BR" sz="1050" baseline="0" dirty="0" smtClean="0"/>
                        </a:p>
                        <a:p>
                          <a:pPr algn="ctr"/>
                          <a:r>
                            <a:rPr lang="pt-BR" sz="1050" baseline="0" dirty="0" smtClean="0"/>
                            <a:t>Ligas de Al</a:t>
                          </a:r>
                        </a:p>
                        <a:p>
                          <a:pPr algn="ctr"/>
                          <a:endParaRPr lang="pt-BR" sz="1050" baseline="0" dirty="0" smtClean="0"/>
                        </a:p>
                        <a:p>
                          <a:pPr algn="ctr"/>
                          <a:r>
                            <a:rPr lang="pt-BR" sz="1050" baseline="0" dirty="0" smtClean="0"/>
                            <a:t>Ligas de Ti</a:t>
                          </a:r>
                        </a:p>
                        <a:p>
                          <a:pPr algn="ctr"/>
                          <a:endParaRPr lang="pt-BR" sz="1050" baseline="0" dirty="0" smtClean="0"/>
                        </a:p>
                        <a:p>
                          <a:pPr algn="ctr"/>
                          <a:r>
                            <a:rPr lang="pt-BR" sz="1050" baseline="0" dirty="0" smtClean="0"/>
                            <a:t>CFRP</a:t>
                          </a:r>
                        </a:p>
                        <a:p>
                          <a:pPr algn="ctr"/>
                          <a:endParaRPr lang="pt-BR" sz="1050" baseline="0" dirty="0" smtClean="0"/>
                        </a:p>
                        <a:p>
                          <a:pPr algn="ctr"/>
                          <a:r>
                            <a:rPr lang="pt-BR" sz="1050" baseline="0" dirty="0" smtClean="0"/>
                            <a:t>Várias Cerâmicas</a:t>
                          </a:r>
                        </a:p>
                        <a:p>
                          <a:pPr algn="ctr"/>
                          <a:endParaRPr lang="pt-BR" sz="1050" baseline="0" dirty="0" smtClean="0"/>
                        </a:p>
                        <a:p>
                          <a:pPr algn="ctr"/>
                          <a:r>
                            <a:rPr lang="pt-BR" sz="1050" baseline="0" dirty="0" smtClean="0"/>
                            <a:t>Várias Espumas</a:t>
                          </a:r>
                        </a:p>
                      </a:txBody>
                      <a:tcPr>
                        <a:solidFill>
                          <a:schemeClr val="accent1"/>
                        </a:solidFill>
                      </a:tcPr>
                    </a:tc>
                    <a:tc>
                      <a:txBody>
                        <a:bodyPr/>
                        <a:lstStyle/>
                        <a:p>
                          <a:pPr marL="0" algn="ctr" defTabSz="914400" rtl="0" eaLnBrk="1" latinLnBrk="0" hangingPunct="1"/>
                          <a14:m>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sSup>
                                    <m:sSupPr>
                                      <m:ctrlPr>
                                        <a:rPr lang="pt-BR" sz="1100" b="1" i="1" kern="1200" baseline="0" smtClean="0">
                                          <a:solidFill>
                                            <a:srgbClr val="FFFF00"/>
                                          </a:solidFill>
                                          <a:latin typeface="Cambria Math"/>
                                          <a:ea typeface="+mn-ea"/>
                                          <a:cs typeface="+mn-cs"/>
                                        </a:rPr>
                                      </m:ctrlPr>
                                    </m:sSupPr>
                                    <m:e>
                                      <m:r>
                                        <a:rPr lang="pt-BR" sz="1100" b="1" i="1" kern="1200" baseline="0" smtClean="0">
                                          <a:solidFill>
                                            <a:srgbClr val="FFFF00"/>
                                          </a:solidFill>
                                          <a:latin typeface="Cambria Math"/>
                                          <a:ea typeface="+mn-ea"/>
                                          <a:cs typeface="+mn-cs"/>
                                        </a:rPr>
                                        <m:t>𝑬</m:t>
                                      </m:r>
                                    </m:e>
                                    <m:sup>
                                      <m:f>
                                        <m:fPr>
                                          <m:type m:val="lin"/>
                                          <m:ctrlPr>
                                            <a:rPr lang="pt-BR" sz="1100" b="1" i="1" kern="1200" baseline="0" smtClean="0">
                                              <a:solidFill>
                                                <a:srgbClr val="FFFF00"/>
                                              </a:solidFill>
                                              <a:latin typeface="Cambria Math"/>
                                              <a:ea typeface="+mn-ea"/>
                                              <a:cs typeface="+mn-cs"/>
                                            </a:rPr>
                                          </m:ctrlPr>
                                        </m:fPr>
                                        <m:num>
                                          <m:r>
                                            <a:rPr lang="pt-BR" sz="1100" b="1" i="1" kern="1200" baseline="0" smtClean="0">
                                              <a:solidFill>
                                                <a:srgbClr val="FFFF00"/>
                                              </a:solidFill>
                                              <a:latin typeface="Cambria Math"/>
                                              <a:ea typeface="+mn-ea"/>
                                              <a:cs typeface="+mn-cs"/>
                                            </a:rPr>
                                            <m:t>𝟏</m:t>
                                          </m:r>
                                        </m:num>
                                        <m:den>
                                          <m:r>
                                            <a:rPr lang="pt-BR" sz="1100" b="1" i="1" kern="1200" baseline="0" smtClean="0">
                                              <a:solidFill>
                                                <a:srgbClr val="FFFF00"/>
                                              </a:solidFill>
                                              <a:latin typeface="Cambria Math"/>
                                              <a:ea typeface="+mn-ea"/>
                                              <a:cs typeface="+mn-cs"/>
                                            </a:rPr>
                                            <m:t>𝟑</m:t>
                                          </m:r>
                                        </m:den>
                                      </m:f>
                                    </m:sup>
                                  </m:sSup>
                                </m:num>
                                <m:den>
                                  <m:r>
                                    <a:rPr lang="pt-BR" sz="1100" b="1" i="1" kern="1200" baseline="0" smtClean="0">
                                      <a:solidFill>
                                        <a:srgbClr val="FFFF00"/>
                                      </a:solidFill>
                                      <a:latin typeface="Cambria Math"/>
                                      <a:ea typeface="Cambria Math"/>
                                      <a:cs typeface="+mn-cs"/>
                                    </a:rPr>
                                    <m:t>𝝆</m:t>
                                  </m:r>
                                </m:den>
                              </m:f>
                            </m:oMath>
                          </a14:m>
                          <a:r>
                            <a:rPr lang="pt-BR" sz="1100" b="1" kern="1200" baseline="0" dirty="0" smtClean="0">
                              <a:solidFill>
                                <a:srgbClr val="FFFF00"/>
                              </a:solidFill>
                              <a:latin typeface="+mn-lt"/>
                              <a:ea typeface="+mn-ea"/>
                              <a:cs typeface="+mn-cs"/>
                            </a:rPr>
                            <a:t> GPa</a:t>
                          </a:r>
                          <a:r>
                            <a:rPr lang="pt-BR" sz="1100" b="1" kern="1200" baseline="30000" dirty="0" smtClean="0">
                              <a:solidFill>
                                <a:srgbClr val="FFFF00"/>
                              </a:solidFill>
                              <a:latin typeface="+mn-lt"/>
                              <a:ea typeface="+mn-ea"/>
                              <a:cs typeface="+mn-cs"/>
                            </a:rPr>
                            <a:t>1/3</a:t>
                          </a:r>
                          <a:r>
                            <a:rPr lang="pt-BR" sz="1100" b="1" kern="1200" baseline="0" dirty="0" smtClean="0">
                              <a:solidFill>
                                <a:srgbClr val="FFFF00"/>
                              </a:solidFill>
                              <a:latin typeface="+mn-lt"/>
                              <a:ea typeface="+mn-ea"/>
                              <a:cs typeface="+mn-cs"/>
                            </a:rPr>
                            <a:t>(Mg/m</a:t>
                          </a:r>
                          <a:r>
                            <a:rPr lang="pt-BR" sz="1100" b="1" kern="1200" baseline="30000" dirty="0" smtClean="0">
                              <a:solidFill>
                                <a:srgbClr val="FFFF00"/>
                              </a:solidFill>
                              <a:latin typeface="+mn-lt"/>
                              <a:ea typeface="+mn-ea"/>
                              <a:cs typeface="+mn-cs"/>
                            </a:rPr>
                            <a:t>3</a:t>
                          </a:r>
                          <a:r>
                            <a:rPr lang="pt-BR" sz="1100" b="1" kern="1200" baseline="0" dirty="0" smtClean="0">
                              <a:solidFill>
                                <a:srgbClr val="FFFF00"/>
                              </a:solidFill>
                              <a:latin typeface="+mn-lt"/>
                              <a:ea typeface="+mn-ea"/>
                              <a:cs typeface="+mn-cs"/>
                            </a:rPr>
                            <a:t>)</a:t>
                          </a:r>
                        </a:p>
                        <a:p>
                          <a:pPr algn="ctr"/>
                          <a:endParaRPr lang="pt-BR" sz="1050" b="1" baseline="0" dirty="0" smtClean="0">
                            <a:solidFill>
                              <a:srgbClr val="FFFF00"/>
                            </a:solidFill>
                          </a:endParaRPr>
                        </a:p>
                        <a:p>
                          <a:pPr algn="ctr"/>
                          <a:r>
                            <a:rPr lang="pt-BR" sz="1050" b="0" baseline="0" dirty="0" smtClean="0">
                              <a:solidFill>
                                <a:schemeClr val="tx1"/>
                              </a:solidFill>
                            </a:rPr>
                            <a:t>Até 2,3</a:t>
                          </a:r>
                        </a:p>
                        <a:p>
                          <a:pPr algn="ctr"/>
                          <a:endParaRPr lang="pt-BR" sz="1050" b="0" baseline="0" dirty="0" smtClean="0">
                            <a:solidFill>
                              <a:schemeClr val="tx1"/>
                            </a:solidFill>
                          </a:endParaRPr>
                        </a:p>
                        <a:p>
                          <a:pPr algn="ctr"/>
                          <a:r>
                            <a:rPr lang="pt-BR" sz="1050" b="0" baseline="0" dirty="0" smtClean="0">
                              <a:solidFill>
                                <a:schemeClr val="tx1"/>
                              </a:solidFill>
                            </a:rPr>
                            <a:t>Até 1,7</a:t>
                          </a:r>
                        </a:p>
                        <a:p>
                          <a:pPr algn="ctr"/>
                          <a:endParaRPr lang="pt-BR" sz="1050" b="0" baseline="0" dirty="0" smtClean="0">
                            <a:solidFill>
                              <a:schemeClr val="tx1"/>
                            </a:solidFill>
                          </a:endParaRPr>
                        </a:p>
                        <a:p>
                          <a:pPr algn="ctr"/>
                          <a:r>
                            <a:rPr lang="pt-BR" sz="1050" b="0" baseline="0" dirty="0" smtClean="0">
                              <a:solidFill>
                                <a:schemeClr val="tx1"/>
                              </a:solidFill>
                            </a:rPr>
                            <a:t>Até 1,1</a:t>
                          </a:r>
                        </a:p>
                        <a:p>
                          <a:pPr algn="ctr"/>
                          <a:endParaRPr lang="pt-BR" sz="1050" b="0" baseline="0" dirty="0" smtClean="0">
                            <a:solidFill>
                              <a:schemeClr val="tx1"/>
                            </a:solidFill>
                          </a:endParaRPr>
                        </a:p>
                        <a:p>
                          <a:pPr algn="ctr"/>
                          <a:r>
                            <a:rPr lang="pt-BR" sz="1050" b="0" baseline="0" dirty="0" smtClean="0">
                              <a:solidFill>
                                <a:schemeClr val="tx1"/>
                              </a:solidFill>
                            </a:rPr>
                            <a:t>Até 3,4</a:t>
                          </a:r>
                        </a:p>
                        <a:p>
                          <a:pPr algn="ctr"/>
                          <a:endParaRPr lang="pt-BR" sz="1050" b="0" baseline="0" dirty="0" smtClean="0">
                            <a:solidFill>
                              <a:schemeClr val="tx1"/>
                            </a:solidFill>
                          </a:endParaRPr>
                        </a:p>
                        <a:p>
                          <a:pPr algn="ctr"/>
                          <a:r>
                            <a:rPr lang="pt-BR" sz="1050" b="0" baseline="0" dirty="0" smtClean="0">
                              <a:solidFill>
                                <a:schemeClr val="tx1"/>
                              </a:solidFill>
                            </a:rPr>
                            <a:t>Até 3,0</a:t>
                          </a:r>
                        </a:p>
                        <a:p>
                          <a:pPr algn="ctr"/>
                          <a:endParaRPr lang="pt-BR" sz="1050" b="0" baseline="0" dirty="0" smtClean="0">
                            <a:solidFill>
                              <a:schemeClr val="tx1"/>
                            </a:solidFill>
                          </a:endParaRPr>
                        </a:p>
                        <a:p>
                          <a:pPr algn="ctr"/>
                          <a:r>
                            <a:rPr lang="pt-BR" sz="1050" b="0" baseline="0" dirty="0" smtClean="0">
                              <a:solidFill>
                                <a:schemeClr val="tx1"/>
                              </a:solidFill>
                            </a:rPr>
                            <a:t>Até 10</a:t>
                          </a:r>
                        </a:p>
                      </a:txBody>
                      <a:tcPr>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r>
                                  <a:rPr lang="pt-BR" sz="1100" b="1" i="1" baseline="0" smtClean="0">
                                    <a:solidFill>
                                      <a:srgbClr val="FFFF00"/>
                                    </a:solidFill>
                                    <a:latin typeface="Cambria Math"/>
                                  </a:rPr>
                                  <m:t>𝑪𝒐𝒆𝒇</m:t>
                                </m:r>
                                <m:r>
                                  <a:rPr lang="pt-BR" sz="1100" b="1" i="1" baseline="0" smtClean="0">
                                    <a:solidFill>
                                      <a:srgbClr val="FFFF00"/>
                                    </a:solidFill>
                                    <a:latin typeface="Cambria Math"/>
                                  </a:rPr>
                                  <m:t>. </m:t>
                                </m:r>
                                <m:r>
                                  <a:rPr lang="pt-BR" sz="1100" b="1" i="1" baseline="0" smtClean="0">
                                    <a:solidFill>
                                      <a:srgbClr val="FFFF00"/>
                                    </a:solidFill>
                                    <a:latin typeface="Cambria Math"/>
                                  </a:rPr>
                                  <m:t>𝑷𝒆𝒓𝒅𝒂</m:t>
                                </m:r>
                                <m:r>
                                  <a:rPr lang="pt-BR" sz="1100" b="1" i="1" baseline="0" smtClean="0">
                                    <a:solidFill>
                                      <a:srgbClr val="FFFF00"/>
                                    </a:solidFill>
                                    <a:latin typeface="Cambria Math"/>
                                  </a:rPr>
                                  <m:t>, </m:t>
                                </m:r>
                                <m:r>
                                  <a:rPr lang="pt-BR" sz="1100" b="1" i="1" baseline="0" smtClean="0">
                                    <a:solidFill>
                                      <a:srgbClr val="FFFF00"/>
                                    </a:solidFill>
                                    <a:latin typeface="Cambria Math"/>
                                    <a:ea typeface="Cambria Math"/>
                                  </a:rPr>
                                  <m:t>𝜼</m:t>
                                </m:r>
                                <m:r>
                                  <a:rPr lang="pt-BR" sz="1100" b="1" i="1" baseline="0" smtClean="0">
                                    <a:solidFill>
                                      <a:srgbClr val="FFFF00"/>
                                    </a:solidFill>
                                    <a:latin typeface="Cambria Math"/>
                                  </a:rPr>
                                  <m:t> </m:t>
                                </m:r>
                              </m:oMath>
                            </m:oMathPara>
                          </a14:m>
                          <a:endParaRPr lang="pt-BR" sz="1100" b="1" baseline="0" dirty="0" smtClean="0">
                            <a:solidFill>
                              <a:srgbClr val="FFFF00"/>
                            </a:solidFill>
                          </a:endParaRP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Até 0,03</a:t>
                          </a:r>
                        </a:p>
                        <a:p>
                          <a:pPr algn="ctr"/>
                          <a:endParaRPr lang="pt-BR" sz="1050" b="0" baseline="0" dirty="0" smtClean="0">
                            <a:solidFill>
                              <a:schemeClr val="tx1"/>
                            </a:solidFill>
                          </a:endParaRPr>
                        </a:p>
                        <a:p>
                          <a:pPr algn="ctr"/>
                          <a:r>
                            <a:rPr lang="pt-BR" sz="1050" b="0" baseline="0" dirty="0" smtClean="0">
                              <a:solidFill>
                                <a:schemeClr val="tx1"/>
                              </a:solidFill>
                            </a:rPr>
                            <a:t>Até 0,002</a:t>
                          </a:r>
                        </a:p>
                        <a:p>
                          <a:pPr algn="ctr"/>
                          <a:endParaRPr lang="pt-BR" sz="1050" b="0" baseline="0" dirty="0" smtClean="0">
                            <a:solidFill>
                              <a:schemeClr val="tx1"/>
                            </a:solidFill>
                          </a:endParaRPr>
                        </a:p>
                        <a:p>
                          <a:pPr algn="ctr"/>
                          <a:r>
                            <a:rPr lang="pt-BR" sz="1050" b="0" baseline="0" dirty="0" smtClean="0">
                              <a:solidFill>
                                <a:schemeClr val="tx1"/>
                              </a:solidFill>
                            </a:rPr>
                            <a:t>Até 0,003</a:t>
                          </a:r>
                        </a:p>
                        <a:p>
                          <a:pPr algn="ctr"/>
                          <a:endParaRPr lang="pt-BR" sz="1050" b="0" baseline="0" dirty="0" smtClean="0">
                            <a:solidFill>
                              <a:schemeClr val="tx1"/>
                            </a:solidFill>
                          </a:endParaRPr>
                        </a:p>
                        <a:p>
                          <a:pPr algn="ctr"/>
                          <a:r>
                            <a:rPr lang="pt-BR" sz="1050" b="0" baseline="0" dirty="0" smtClean="0">
                              <a:solidFill>
                                <a:schemeClr val="tx1"/>
                              </a:solidFill>
                            </a:rPr>
                            <a:t>Até 0,003</a:t>
                          </a:r>
                        </a:p>
                        <a:p>
                          <a:pPr algn="ctr"/>
                          <a:endParaRPr lang="pt-BR" sz="1050" b="0" baseline="0" dirty="0" smtClean="0">
                            <a:solidFill>
                              <a:schemeClr val="tx1"/>
                            </a:solidFill>
                          </a:endParaRPr>
                        </a:p>
                        <a:p>
                          <a:pPr algn="ctr"/>
                          <a14:m>
                            <m:oMath xmlns:m="http://schemas.openxmlformats.org/officeDocument/2006/math">
                              <m:r>
                                <a:rPr lang="pt-BR" sz="1050" b="0" i="1" baseline="0" smtClean="0">
                                  <a:solidFill>
                                    <a:schemeClr val="tx1"/>
                                  </a:solidFill>
                                  <a:latin typeface="Cambria Math"/>
                                  <a:ea typeface="Cambria Math"/>
                                </a:rPr>
                                <m:t>~</m:t>
                              </m:r>
                            </m:oMath>
                          </a14:m>
                          <a:r>
                            <a:rPr lang="pt-BR" sz="1050" b="0" baseline="0" dirty="0" smtClean="0">
                              <a:solidFill>
                                <a:schemeClr val="tx1"/>
                              </a:solidFill>
                            </a:rPr>
                            <a:t>0,0002</a:t>
                          </a:r>
                        </a:p>
                        <a:p>
                          <a:pPr algn="ctr"/>
                          <a:endParaRPr lang="pt-BR" sz="1050" b="0" baseline="0" dirty="0" smtClean="0">
                            <a:solidFill>
                              <a:schemeClr val="tx1"/>
                            </a:solidFill>
                          </a:endParaRPr>
                        </a:p>
                        <a:p>
                          <a:pPr algn="ctr"/>
                          <a:r>
                            <a:rPr lang="pt-BR" sz="1050" b="0" baseline="0" dirty="0" smtClean="0">
                              <a:solidFill>
                                <a:schemeClr val="tx1"/>
                              </a:solidFill>
                            </a:rPr>
                            <a:t>Até 0,5</a:t>
                          </a:r>
                        </a:p>
                      </a:txBody>
                      <a:tcPr>
                        <a:solidFill>
                          <a:schemeClr val="accent1"/>
                        </a:solidFill>
                      </a:tcPr>
                    </a:tc>
                    <a:tc>
                      <a:txBody>
                        <a:bodyPr/>
                        <a:lstStyle/>
                        <a:p>
                          <a:pPr marL="0" algn="ctr" defTabSz="914400" rtl="0" eaLnBrk="1" latinLnBrk="0" hangingPunct="1"/>
                          <a:r>
                            <a:rPr lang="pt-BR" sz="1100" b="1" i="1" kern="1200" baseline="0" dirty="0" smtClean="0">
                              <a:solidFill>
                                <a:srgbClr val="FFFF00"/>
                              </a:solidFill>
                              <a:latin typeface="+mn-lt"/>
                              <a:ea typeface="+mn-ea"/>
                              <a:cs typeface="+mn-cs"/>
                            </a:rPr>
                            <a:t>Tenacidade  à Fratura</a:t>
                          </a:r>
                        </a:p>
                        <a:p>
                          <a:pPr marL="0" algn="ctr" defTabSz="914400" rtl="0" eaLnBrk="1" latinLnBrk="0" hangingPunct="1"/>
                          <a14:m>
                            <m:oMathPara xmlns:m="http://schemas.openxmlformats.org/officeDocument/2006/math">
                              <m:oMathParaPr>
                                <m:jc m:val="centerGroup"/>
                              </m:oMathParaPr>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𝑲</m:t>
                                    </m:r>
                                  </m:e>
                                  <m:sub>
                                    <m:r>
                                      <a:rPr lang="pt-BR" sz="1100" b="1" i="1" kern="1200" baseline="0" smtClean="0">
                                        <a:solidFill>
                                          <a:srgbClr val="FFFF00"/>
                                        </a:solidFill>
                                        <a:latin typeface="Cambria Math"/>
                                        <a:ea typeface="+mn-ea"/>
                                        <a:cs typeface="+mn-cs"/>
                                      </a:rPr>
                                      <m:t>𝟏</m:t>
                                    </m:r>
                                    <m:r>
                                      <a:rPr lang="pt-BR" sz="1100" b="1" i="1" kern="1200" baseline="0" smtClean="0">
                                        <a:solidFill>
                                          <a:srgbClr val="FFFF00"/>
                                        </a:solidFill>
                                        <a:latin typeface="Cambria Math"/>
                                        <a:ea typeface="+mn-ea"/>
                                        <a:cs typeface="+mn-cs"/>
                                      </a:rPr>
                                      <m:t>𝑪</m:t>
                                    </m:r>
                                  </m:sub>
                                </m:sSub>
                                <m:r>
                                  <a:rPr lang="pt-BR" sz="1100" b="1" i="1" kern="1200" baseline="0" smtClean="0">
                                    <a:solidFill>
                                      <a:srgbClr val="FFFF00"/>
                                    </a:solidFill>
                                    <a:latin typeface="Cambria Math"/>
                                    <a:ea typeface="+mn-ea"/>
                                    <a:cs typeface="+mn-cs"/>
                                  </a:rPr>
                                  <m:t> </m:t>
                                </m:r>
                                <m:r>
                                  <a:rPr lang="pt-BR" sz="1100" b="1" i="1" kern="1200" baseline="0" smtClean="0">
                                    <a:solidFill>
                                      <a:srgbClr val="FFFF00"/>
                                    </a:solidFill>
                                    <a:latin typeface="Cambria Math"/>
                                    <a:ea typeface="+mn-ea"/>
                                    <a:cs typeface="+mn-cs"/>
                                  </a:rPr>
                                  <m:t>𝑴𝑷𝒂</m:t>
                                </m:r>
                                <m:r>
                                  <a:rPr lang="pt-BR" sz="1100" b="1" i="1" kern="1200" baseline="0" smtClean="0">
                                    <a:solidFill>
                                      <a:srgbClr val="FFFF00"/>
                                    </a:solidFill>
                                    <a:latin typeface="Cambria Math"/>
                                    <a:ea typeface="+mn-ea"/>
                                    <a:cs typeface="+mn-cs"/>
                                  </a:rPr>
                                  <m:t>. </m:t>
                                </m:r>
                                <m:sSup>
                                  <m:sSupPr>
                                    <m:ctrlPr>
                                      <a:rPr lang="pt-BR" sz="1100" b="1" i="1" kern="1200" baseline="0" smtClean="0">
                                        <a:solidFill>
                                          <a:srgbClr val="FFFF00"/>
                                        </a:solidFill>
                                        <a:latin typeface="Cambria Math"/>
                                        <a:ea typeface="+mn-ea"/>
                                        <a:cs typeface="+mn-cs"/>
                                      </a:rPr>
                                    </m:ctrlPr>
                                  </m:sSupPr>
                                  <m:e>
                                    <m:r>
                                      <a:rPr lang="pt-BR" sz="1100" b="1" i="1" kern="1200" baseline="0" smtClean="0">
                                        <a:solidFill>
                                          <a:srgbClr val="FFFF00"/>
                                        </a:solidFill>
                                        <a:latin typeface="Cambria Math"/>
                                        <a:ea typeface="+mn-ea"/>
                                        <a:cs typeface="+mn-cs"/>
                                      </a:rPr>
                                      <m:t>𝒎</m:t>
                                    </m:r>
                                  </m:e>
                                  <m:sup>
                                    <m:r>
                                      <a:rPr lang="pt-BR" sz="1100" b="1" i="1" kern="1200" baseline="0" smtClean="0">
                                        <a:solidFill>
                                          <a:srgbClr val="FFFF00"/>
                                        </a:solidFill>
                                        <a:latin typeface="Cambria Math"/>
                                        <a:ea typeface="+mn-ea"/>
                                        <a:cs typeface="+mn-cs"/>
                                      </a:rPr>
                                      <m:t>𝟏</m:t>
                                    </m:r>
                                    <m:r>
                                      <a:rPr lang="pt-BR" sz="1100" b="1" i="1" kern="1200" baseline="0" smtClean="0">
                                        <a:solidFill>
                                          <a:srgbClr val="FFFF00"/>
                                        </a:solidFill>
                                        <a:latin typeface="Cambria Math"/>
                                        <a:ea typeface="+mn-ea"/>
                                        <a:cs typeface="+mn-cs"/>
                                      </a:rPr>
                                      <m:t>/</m:t>
                                    </m:r>
                                    <m:r>
                                      <a:rPr lang="pt-BR" sz="1100" b="1" i="1" kern="1200" baseline="0" smtClean="0">
                                        <a:solidFill>
                                          <a:srgbClr val="FFFF00"/>
                                        </a:solidFill>
                                        <a:latin typeface="Cambria Math"/>
                                        <a:ea typeface="+mn-ea"/>
                                        <a:cs typeface="+mn-cs"/>
                                      </a:rPr>
                                      <m:t>𝟐</m:t>
                                    </m:r>
                                  </m:sup>
                                </m:sSup>
                              </m:oMath>
                            </m:oMathPara>
                          </a14:m>
                          <a:endParaRPr lang="pt-BR" sz="1100" b="1" kern="1200" baseline="0" dirty="0" smtClean="0">
                            <a:solidFill>
                              <a:srgbClr val="FFFF00"/>
                            </a:solidFill>
                            <a:latin typeface="+mn-lt"/>
                            <a:ea typeface="+mn-ea"/>
                            <a:cs typeface="+mn-cs"/>
                          </a:endParaRPr>
                        </a:p>
                        <a:p>
                          <a:pPr algn="ctr"/>
                          <a:endParaRPr lang="pt-BR" sz="1050" b="1" baseline="0" dirty="0" smtClean="0">
                            <a:solidFill>
                              <a:srgbClr val="FFFF00"/>
                            </a:solidFill>
                          </a:endParaRPr>
                        </a:p>
                        <a:p>
                          <a:pPr algn="ctr"/>
                          <a:r>
                            <a:rPr lang="pt-BR" sz="1050" b="0" baseline="0" dirty="0" smtClean="0">
                              <a:solidFill>
                                <a:schemeClr val="tx1"/>
                              </a:solidFill>
                            </a:rPr>
                            <a:t>15</a:t>
                          </a:r>
                        </a:p>
                        <a:p>
                          <a:pPr algn="ctr"/>
                          <a:endParaRPr lang="pt-BR" sz="1050" b="0" baseline="0" dirty="0" smtClean="0">
                            <a:solidFill>
                              <a:schemeClr val="tx1"/>
                            </a:solidFill>
                          </a:endParaRPr>
                        </a:p>
                        <a:p>
                          <a:pPr algn="ctr"/>
                          <a:r>
                            <a:rPr lang="pt-BR" sz="1050" b="0" baseline="0" dirty="0" smtClean="0">
                              <a:solidFill>
                                <a:schemeClr val="tx1"/>
                              </a:solidFill>
                            </a:rPr>
                            <a:t>30</a:t>
                          </a:r>
                        </a:p>
                        <a:p>
                          <a:pPr algn="ctr"/>
                          <a:endParaRPr lang="pt-BR" sz="1050" b="0" baseline="0" dirty="0" smtClean="0">
                            <a:solidFill>
                              <a:schemeClr val="tx1"/>
                            </a:solidFill>
                          </a:endParaRPr>
                        </a:p>
                        <a:p>
                          <a:pPr algn="ctr"/>
                          <a:r>
                            <a:rPr lang="pt-BR" sz="1050" b="0" baseline="0" dirty="0" smtClean="0">
                              <a:solidFill>
                                <a:schemeClr val="tx1"/>
                              </a:solidFill>
                            </a:rPr>
                            <a:t>60</a:t>
                          </a:r>
                        </a:p>
                        <a:p>
                          <a:pPr algn="ctr"/>
                          <a:endParaRPr lang="pt-BR" sz="1050" b="0" baseline="0" dirty="0" smtClean="0">
                            <a:solidFill>
                              <a:schemeClr val="tx1"/>
                            </a:solidFill>
                          </a:endParaRPr>
                        </a:p>
                        <a:p>
                          <a:pPr algn="ctr"/>
                          <a:r>
                            <a:rPr lang="pt-BR" sz="1050" b="0" baseline="0" dirty="0" smtClean="0">
                              <a:solidFill>
                                <a:schemeClr val="tx1"/>
                              </a:solidFill>
                            </a:rPr>
                            <a:t>15</a:t>
                          </a:r>
                        </a:p>
                        <a:p>
                          <a:pPr algn="ctr"/>
                          <a:endParaRPr lang="pt-BR" sz="1050" b="0" baseline="0" dirty="0" smtClean="0">
                            <a:solidFill>
                              <a:schemeClr val="tx1"/>
                            </a:solidFill>
                          </a:endParaRPr>
                        </a:p>
                        <a:p>
                          <a:pPr algn="ctr"/>
                          <a:r>
                            <a:rPr lang="pt-BR" sz="1050" b="0" baseline="0" dirty="0" smtClean="0">
                              <a:solidFill>
                                <a:schemeClr val="tx1"/>
                              </a:solidFill>
                            </a:rPr>
                            <a:t>3</a:t>
                          </a:r>
                        </a:p>
                        <a:p>
                          <a:pPr algn="ctr"/>
                          <a:endParaRPr lang="pt-BR" sz="1050" b="0" baseline="0" dirty="0" smtClean="0">
                            <a:solidFill>
                              <a:schemeClr val="tx1"/>
                            </a:solidFill>
                          </a:endParaRPr>
                        </a:p>
                        <a:p>
                          <a:pPr algn="ctr"/>
                          <a:r>
                            <a:rPr lang="pt-BR" sz="1050" b="0" baseline="0" dirty="0" smtClean="0">
                              <a:solidFill>
                                <a:schemeClr val="tx1"/>
                              </a:solidFill>
                            </a:rPr>
                            <a:t>0,1</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baseline="0" dirty="0" smtClean="0">
                              <a:solidFill>
                                <a:schemeClr val="tx1"/>
                              </a:solidFill>
                            </a:rPr>
                            <a:t>A melhor combinação de propriedades</a:t>
                          </a:r>
                        </a:p>
                        <a:p>
                          <a:pPr algn="ctr"/>
                          <a:endParaRPr lang="pt-BR" sz="1050" b="1" baseline="0" dirty="0" smtClean="0">
                            <a:solidFill>
                              <a:schemeClr val="tx1"/>
                            </a:solidFill>
                          </a:endParaRPr>
                        </a:p>
                        <a:p>
                          <a:pPr algn="ctr"/>
                          <a:r>
                            <a:rPr lang="pt-BR" sz="1050" b="1" baseline="0" dirty="0" smtClean="0">
                              <a:solidFill>
                                <a:schemeClr val="tx1"/>
                              </a:solidFill>
                            </a:rPr>
                            <a:t>Menos amortecimento que o Mg e o Ti</a:t>
                          </a:r>
                        </a:p>
                        <a:p>
                          <a:pPr algn="ctr"/>
                          <a:endParaRPr lang="pt-BR" sz="1050" b="1" baseline="0" dirty="0" smtClean="0">
                            <a:solidFill>
                              <a:schemeClr val="tx1"/>
                            </a:solidFill>
                          </a:endParaRPr>
                        </a:p>
                        <a:p>
                          <a:pPr algn="ctr"/>
                          <a:r>
                            <a:rPr lang="pt-BR" sz="1050" b="1" baseline="0" dirty="0" smtClean="0">
                              <a:solidFill>
                                <a:schemeClr val="tx1"/>
                              </a:solidFill>
                            </a:rPr>
                            <a:t>Bom amortecimento, porém caras</a:t>
                          </a:r>
                        </a:p>
                        <a:p>
                          <a:pPr algn="ctr"/>
                          <a:endParaRPr lang="pt-BR" sz="1050" b="1" baseline="0" dirty="0" smtClean="0">
                            <a:solidFill>
                              <a:schemeClr val="tx1"/>
                            </a:solidFill>
                          </a:endParaRPr>
                        </a:p>
                        <a:p>
                          <a:pPr algn="ctr"/>
                          <a:r>
                            <a:rPr lang="pt-BR" sz="1050" b="1" baseline="0" dirty="0" smtClean="0">
                              <a:solidFill>
                                <a:schemeClr val="tx1"/>
                              </a:solidFill>
                            </a:rPr>
                            <a:t>Menos amortecimento do que o Mg, mas possível</a:t>
                          </a:r>
                        </a:p>
                        <a:p>
                          <a:pPr algn="ctr"/>
                          <a:endParaRPr lang="pt-BR" sz="1050" b="1" baseline="0" dirty="0" smtClean="0">
                            <a:solidFill>
                              <a:schemeClr val="tx1"/>
                            </a:solidFill>
                          </a:endParaRPr>
                        </a:p>
                        <a:p>
                          <a:pPr algn="ctr"/>
                          <a:r>
                            <a:rPr lang="pt-BR" sz="1050" b="1" baseline="0" dirty="0" smtClean="0">
                              <a:solidFill>
                                <a:schemeClr val="tx1"/>
                              </a:solidFill>
                            </a:rPr>
                            <a:t>Descartadas por baixos amortecimento e tenacidade</a:t>
                          </a:r>
                        </a:p>
                        <a:p>
                          <a:pPr algn="ctr"/>
                          <a:endParaRPr lang="pt-BR" sz="1050" b="1" baseline="0" dirty="0" smtClean="0">
                            <a:solidFill>
                              <a:schemeClr val="tx1"/>
                            </a:solidFill>
                          </a:endParaRPr>
                        </a:p>
                        <a:p>
                          <a:pPr algn="ctr"/>
                          <a:r>
                            <a:rPr lang="pt-BR" sz="1050" b="1" baseline="0" dirty="0" smtClean="0">
                              <a:solidFill>
                                <a:schemeClr val="tx1"/>
                              </a:solidFill>
                            </a:rPr>
                            <a:t>Não têm resistência e tenacidade para suportar carga de serviço</a:t>
                          </a: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3624189940"/>
                  </p:ext>
                </p:extLst>
              </p:nvPr>
            </p:nvGraphicFramePr>
            <p:xfrm>
              <a:off x="152400" y="762000"/>
              <a:ext cx="8915401" cy="2979420"/>
            </p:xfrm>
            <a:graphic>
              <a:graphicData uri="http://schemas.openxmlformats.org/drawingml/2006/table">
                <a:tbl>
                  <a:tblPr firstRow="1" bandRow="1">
                    <a:tableStyleId>{68D230F3-CF80-4859-8CE7-A43EE81993B5}</a:tableStyleId>
                  </a:tblPr>
                  <a:tblGrid>
                    <a:gridCol w="1295400"/>
                    <a:gridCol w="1254912"/>
                    <a:gridCol w="1063125"/>
                    <a:gridCol w="1644363"/>
                    <a:gridCol w="3657601"/>
                  </a:tblGrid>
                  <a:tr h="487680">
                    <a:tc gridSpan="5">
                      <a:txBody>
                        <a:bodyPr/>
                        <a:lstStyle/>
                        <a:p>
                          <a:r>
                            <a:rPr lang="pt-BR" sz="1400" dirty="0" smtClean="0">
                              <a:solidFill>
                                <a:srgbClr val="FFFF00"/>
                              </a:solidFill>
                            </a:rPr>
                            <a:t>Tabela </a:t>
                          </a:r>
                          <a:r>
                            <a:rPr lang="pt-BR" sz="1400" dirty="0" smtClean="0">
                              <a:solidFill>
                                <a:srgbClr val="FFFF00"/>
                              </a:solidFill>
                            </a:rPr>
                            <a:t>6.22 </a:t>
                          </a:r>
                          <a:r>
                            <a:rPr lang="pt-BR" sz="1400" dirty="0" smtClean="0">
                              <a:solidFill>
                                <a:srgbClr val="FFFF00"/>
                              </a:solidFill>
                            </a:rPr>
                            <a:t>– Materiais</a:t>
                          </a:r>
                          <a:r>
                            <a:rPr lang="pt-BR" sz="1400" baseline="0" dirty="0" smtClean="0">
                              <a:solidFill>
                                <a:srgbClr val="FFFF00"/>
                              </a:solidFill>
                            </a:rPr>
                            <a:t> para </a:t>
                          </a:r>
                          <a:r>
                            <a:rPr lang="pt-BR" sz="1400" baseline="0" dirty="0" smtClean="0">
                              <a:solidFill>
                                <a:srgbClr val="FFFF00"/>
                              </a:solidFill>
                            </a:rPr>
                            <a:t>Mesas Vibratórias</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24917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Ligas de Mg</a:t>
                          </a:r>
                          <a:endParaRPr lang="pt-BR" sz="1050" baseline="0" dirty="0" smtClean="0"/>
                        </a:p>
                        <a:p>
                          <a:pPr algn="ctr"/>
                          <a:endParaRPr lang="pt-BR" sz="1050" baseline="0" dirty="0" smtClean="0"/>
                        </a:p>
                        <a:p>
                          <a:pPr algn="ctr"/>
                          <a:r>
                            <a:rPr lang="pt-BR" sz="1050" baseline="0" dirty="0" smtClean="0"/>
                            <a:t>Ligas de Al</a:t>
                          </a:r>
                          <a:endParaRPr lang="pt-BR" sz="1050" baseline="0" dirty="0" smtClean="0"/>
                        </a:p>
                        <a:p>
                          <a:pPr algn="ctr"/>
                          <a:endParaRPr lang="pt-BR" sz="1050" baseline="0" dirty="0" smtClean="0"/>
                        </a:p>
                        <a:p>
                          <a:pPr algn="ctr"/>
                          <a:r>
                            <a:rPr lang="pt-BR" sz="1050" baseline="0" dirty="0" smtClean="0"/>
                            <a:t>Ligas de Ti</a:t>
                          </a:r>
                          <a:endParaRPr lang="pt-BR" sz="1050" baseline="0" dirty="0" smtClean="0"/>
                        </a:p>
                        <a:p>
                          <a:pPr algn="ctr"/>
                          <a:endParaRPr lang="pt-BR" sz="1050" baseline="0" dirty="0" smtClean="0"/>
                        </a:p>
                        <a:p>
                          <a:pPr algn="ctr"/>
                          <a:r>
                            <a:rPr lang="pt-BR" sz="1050" baseline="0" dirty="0" smtClean="0"/>
                            <a:t>CFRP</a:t>
                          </a:r>
                          <a:endParaRPr lang="pt-BR" sz="1050" baseline="0" dirty="0" smtClean="0"/>
                        </a:p>
                        <a:p>
                          <a:pPr algn="ctr"/>
                          <a:endParaRPr lang="pt-BR" sz="1050" baseline="0" dirty="0" smtClean="0"/>
                        </a:p>
                        <a:p>
                          <a:pPr algn="ctr"/>
                          <a:r>
                            <a:rPr lang="pt-BR" sz="1050" baseline="0" dirty="0" smtClean="0"/>
                            <a:t>Várias Cerâmicas</a:t>
                          </a:r>
                        </a:p>
                        <a:p>
                          <a:pPr algn="ctr"/>
                          <a:endParaRPr lang="pt-BR" sz="1050" baseline="0" dirty="0" smtClean="0"/>
                        </a:p>
                        <a:p>
                          <a:pPr algn="ctr"/>
                          <a:r>
                            <a:rPr lang="pt-BR" sz="1050" baseline="0" dirty="0" smtClean="0"/>
                            <a:t>Várias Espumas</a:t>
                          </a:r>
                          <a:endParaRPr lang="pt-BR" sz="1050" baseline="0" dirty="0" smtClean="0"/>
                        </a:p>
                      </a:txBody>
                      <a:tcPr>
                        <a:solidFill>
                          <a:schemeClr val="accent1"/>
                        </a:solidFill>
                      </a:tcPr>
                    </a:tc>
                    <a:tc>
                      <a:txBody>
                        <a:bodyPr/>
                        <a:lstStyle/>
                        <a:p>
                          <a:endParaRPr lang="en-US"/>
                        </a:p>
                      </a:txBody>
                      <a:tcPr>
                        <a:blipFill rotWithShape="1">
                          <a:blip r:embed="rId2"/>
                          <a:stretch>
                            <a:fillRect l="-103398" t="-19804" r="-506796" b="-1467"/>
                          </a:stretch>
                        </a:blipFill>
                      </a:tcPr>
                    </a:tc>
                    <a:tc>
                      <a:txBody>
                        <a:bodyPr/>
                        <a:lstStyle/>
                        <a:p>
                          <a:endParaRPr lang="en-US"/>
                        </a:p>
                      </a:txBody>
                      <a:tcPr>
                        <a:blipFill rotWithShape="1">
                          <a:blip r:embed="rId2"/>
                          <a:stretch>
                            <a:fillRect l="-240805" t="-19804" r="-500000" b="-1467"/>
                          </a:stretch>
                        </a:blipFill>
                      </a:tcPr>
                    </a:tc>
                    <a:tc>
                      <a:txBody>
                        <a:bodyPr/>
                        <a:lstStyle/>
                        <a:p>
                          <a:endParaRPr lang="en-US"/>
                        </a:p>
                      </a:txBody>
                      <a:tcPr>
                        <a:blipFill rotWithShape="1">
                          <a:blip r:embed="rId2"/>
                          <a:stretch>
                            <a:fillRect l="-219630" t="-19804" r="-222222" b="-1467"/>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baseline="0" dirty="0" smtClean="0">
                              <a:solidFill>
                                <a:schemeClr val="tx1"/>
                              </a:solidFill>
                            </a:rPr>
                            <a:t>A melhor combinação de propriedades</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Menos amortecimento que o Mg e o Ti</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Bom amortecimento, porém caras</a:t>
                          </a:r>
                        </a:p>
                        <a:p>
                          <a:pPr algn="ctr"/>
                          <a:endParaRPr lang="pt-BR" sz="1050" b="1" baseline="0" dirty="0" smtClean="0">
                            <a:solidFill>
                              <a:schemeClr val="tx1"/>
                            </a:solidFill>
                          </a:endParaRPr>
                        </a:p>
                        <a:p>
                          <a:pPr algn="ctr"/>
                          <a:r>
                            <a:rPr lang="pt-BR" sz="1050" b="1" baseline="0" dirty="0" smtClean="0">
                              <a:solidFill>
                                <a:schemeClr val="tx1"/>
                              </a:solidFill>
                            </a:rPr>
                            <a:t>Menos amortecimento do que o Mg, mas possível</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Descartadas por baixos amortecimento e tenacidade</a:t>
                          </a:r>
                        </a:p>
                        <a:p>
                          <a:pPr algn="ctr"/>
                          <a:endParaRPr lang="pt-BR" sz="1050" b="1" baseline="0" dirty="0" smtClean="0">
                            <a:solidFill>
                              <a:schemeClr val="tx1"/>
                            </a:solidFill>
                          </a:endParaRPr>
                        </a:p>
                        <a:p>
                          <a:pPr algn="ctr"/>
                          <a:r>
                            <a:rPr lang="pt-BR" sz="1050" b="1" baseline="0" dirty="0" smtClean="0">
                              <a:solidFill>
                                <a:schemeClr val="tx1"/>
                              </a:solidFill>
                            </a:rPr>
                            <a:t>Não têm resistência e tenacidade para suportar carga de serviço</a:t>
                          </a:r>
                          <a:endParaRPr lang="pt-BR" sz="1050" b="1" baseline="0" dirty="0" smtClean="0">
                            <a:solidFill>
                              <a:schemeClr val="tx1"/>
                            </a:solidFill>
                          </a:endParaRPr>
                        </a:p>
                      </a:txBody>
                      <a:tcPr>
                        <a:solidFill>
                          <a:schemeClr val="accent1"/>
                        </a:solidFill>
                      </a:tcPr>
                    </a:tc>
                  </a:tr>
                </a:tbl>
              </a:graphicData>
            </a:graphic>
          </p:graphicFrame>
        </mc:Fallback>
      </mc:AlternateContent>
    </p:spTree>
    <p:extLst>
      <p:ext uri="{BB962C8B-B14F-4D97-AF65-F5344CB8AC3E}">
        <p14:creationId xmlns:p14="http://schemas.microsoft.com/office/powerpoint/2010/main" val="42324783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pt-BR" dirty="0" smtClean="0"/>
              <a:t>Isolamentos para Recipientes Isotérmicos de Curto Prazo</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676400" y="3897052"/>
            <a:ext cx="2362200" cy="2486641"/>
            <a:chOff x="1676400" y="3897052"/>
            <a:chExt cx="2362200" cy="2486641"/>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897052"/>
              <a:ext cx="2362200" cy="2240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442964" y="6137472"/>
              <a:ext cx="829073" cy="246221"/>
            </a:xfrm>
            <a:prstGeom prst="rect">
              <a:avLst/>
            </a:prstGeom>
            <a:noFill/>
          </p:spPr>
          <p:txBody>
            <a:bodyPr wrap="none" rtlCol="0">
              <a:spAutoFit/>
            </a:bodyPr>
            <a:lstStyle/>
            <a:p>
              <a:pPr algn="ctr"/>
              <a:r>
                <a:rPr lang="en-US" sz="1000" dirty="0" smtClean="0"/>
                <a:t>Figura 6.23</a:t>
              </a:r>
              <a:endParaRPr lang="en-US" sz="1000" dirty="0"/>
            </a:p>
          </p:txBody>
        </p:sp>
      </p:gr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5159136"/>
            <a:ext cx="1444752" cy="978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030761"/>
            <a:ext cx="144780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 name="Tabela 11"/>
          <p:cNvGraphicFramePr>
            <a:graphicFrameLocks noGrp="1"/>
          </p:cNvGraphicFramePr>
          <p:nvPr>
            <p:extLst>
              <p:ext uri="{D42A27DB-BD31-4B8C-83A1-F6EECF244321}">
                <p14:modId xmlns:p14="http://schemas.microsoft.com/office/powerpoint/2010/main" val="362166293"/>
              </p:ext>
            </p:extLst>
          </p:nvPr>
        </p:nvGraphicFramePr>
        <p:xfrm>
          <a:off x="228600" y="1600200"/>
          <a:ext cx="8686800" cy="200152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6.23 –</a:t>
                      </a:r>
                      <a:r>
                        <a:rPr lang="pt-BR" sz="1200" baseline="0" dirty="0" smtClean="0"/>
                        <a:t> Requisitos de projeto para Isolamentos de Curto Prazo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Isolamento térmico de curto</a:t>
                      </a:r>
                      <a:r>
                        <a:rPr lang="pt-BR" sz="1400" baseline="0" dirty="0" smtClean="0"/>
                        <a:t> prazo</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Espessura da parede não deve exceder </a:t>
                      </a:r>
                      <a:r>
                        <a:rPr lang="pt-BR" sz="1400" i="1" baseline="0" dirty="0" smtClean="0"/>
                        <a:t>w</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Maximizar</a:t>
                      </a:r>
                      <a:r>
                        <a:rPr lang="pt-BR" sz="1400" i="0" baseline="0" dirty="0" smtClean="0"/>
                        <a:t> o tempo </a:t>
                      </a:r>
                      <a:r>
                        <a:rPr lang="pt-BR" sz="1400" i="1" baseline="0" dirty="0" smtClean="0"/>
                        <a:t>t</a:t>
                      </a:r>
                      <a:r>
                        <a:rPr lang="pt-BR" sz="1400" i="0" baseline="0" dirty="0" smtClean="0"/>
                        <a:t> antes de a temperatura mudar quando a temperatura externa cair repentinamente</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p>
                  </a:txBody>
                  <a:tcPr/>
                </a:tc>
              </a:tr>
            </a:tbl>
          </a:graphicData>
        </a:graphic>
      </p:graphicFrame>
    </p:spTree>
    <p:extLst>
      <p:ext uri="{BB962C8B-B14F-4D97-AF65-F5344CB8AC3E}">
        <p14:creationId xmlns:p14="http://schemas.microsoft.com/office/powerpoint/2010/main" val="237843844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387345" y="1276124"/>
            <a:ext cx="6391275" cy="5402035"/>
            <a:chOff x="1387345" y="1276124"/>
            <a:chExt cx="6391275" cy="5402035"/>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7345" y="1276124"/>
              <a:ext cx="6391275" cy="5155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63683" y="6431938"/>
              <a:ext cx="829073" cy="246221"/>
            </a:xfrm>
            <a:prstGeom prst="rect">
              <a:avLst/>
            </a:prstGeom>
            <a:noFill/>
          </p:spPr>
          <p:txBody>
            <a:bodyPr wrap="none" rtlCol="0">
              <a:spAutoFit/>
            </a:bodyPr>
            <a:lstStyle/>
            <a:p>
              <a:pPr algn="ctr"/>
              <a:r>
                <a:rPr lang="en-US" sz="1000" dirty="0" smtClean="0"/>
                <a:t>Figura 6.24</a:t>
              </a:r>
              <a:endParaRPr lang="en-US" sz="1000" dirty="0"/>
            </a:p>
          </p:txBody>
        </p:sp>
      </p:grpSp>
      <p:sp>
        <p:nvSpPr>
          <p:cNvPr id="6" name="Title 4"/>
          <p:cNvSpPr txBox="1">
            <a:spLocks/>
          </p:cNvSpPr>
          <p:nvPr/>
        </p:nvSpPr>
        <p:spPr>
          <a:xfrm>
            <a:off x="457200" y="133124"/>
            <a:ext cx="8229600" cy="1143000"/>
          </a:xfrm>
          <a:prstGeom prst="rect">
            <a:avLst/>
          </a:prstGeom>
        </p:spPr>
        <p:txBody>
          <a:bodyPr>
            <a:normAutofit fontScale="90000" lnSpcReduction="10000"/>
          </a:bodyPr>
          <a:lstStyle>
            <a:lvl1pPr algn="ctr" defTabSz="914400" rtl="0" eaLnBrk="1" latinLnBrk="0" hangingPunct="1">
              <a:spcBef>
                <a:spcPct val="0"/>
              </a:spcBef>
              <a:buNone/>
              <a:defRPr sz="4000" b="1" kern="1200">
                <a:solidFill>
                  <a:schemeClr val="accent1">
                    <a:lumMod val="40000"/>
                    <a:lumOff val="60000"/>
                  </a:schemeClr>
                </a:solidFill>
                <a:latin typeface="+mj-lt"/>
                <a:ea typeface="+mj-ea"/>
                <a:cs typeface="+mj-cs"/>
              </a:defRPr>
            </a:lvl1pPr>
          </a:lstStyle>
          <a:p>
            <a:r>
              <a:rPr lang="pt-BR" dirty="0" smtClean="0"/>
              <a:t>Materiais para Recipientes Isotérmicos de Curto Prazo</a:t>
            </a:r>
            <a:endParaRPr lang="pt-BR" dirty="0"/>
          </a:p>
        </p:txBody>
      </p:sp>
    </p:spTree>
    <p:extLst>
      <p:ext uri="{BB962C8B-B14F-4D97-AF65-F5344CB8AC3E}">
        <p14:creationId xmlns:p14="http://schemas.microsoft.com/office/powerpoint/2010/main" val="6492666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371600" y="3886200"/>
            <a:ext cx="6400800" cy="1219200"/>
          </a:xfrm>
          <a:solidFill>
            <a:schemeClr val="accent5">
              <a:lumMod val="75000"/>
            </a:schemeClr>
          </a:solidFill>
        </p:spPr>
        <p:txBody>
          <a:bodyPr/>
          <a:lstStyle/>
          <a:p>
            <a:r>
              <a:rPr lang="pt-BR" dirty="0" smtClean="0"/>
              <a:t>Elastômeros são bons; espumas não são.</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aphicFrame>
        <p:nvGraphicFramePr>
          <p:cNvPr id="5" name="Tabela 4"/>
          <p:cNvGraphicFramePr>
            <a:graphicFrameLocks noGrp="1"/>
          </p:cNvGraphicFramePr>
          <p:nvPr>
            <p:extLst>
              <p:ext uri="{D42A27DB-BD31-4B8C-83A1-F6EECF244321}">
                <p14:modId xmlns:p14="http://schemas.microsoft.com/office/powerpoint/2010/main" val="111924733"/>
              </p:ext>
            </p:extLst>
          </p:nvPr>
        </p:nvGraphicFramePr>
        <p:xfrm>
          <a:off x="609600" y="762000"/>
          <a:ext cx="7976917" cy="2270760"/>
        </p:xfrm>
        <a:graphic>
          <a:graphicData uri="http://schemas.openxmlformats.org/drawingml/2006/table">
            <a:tbl>
              <a:tblPr firstRow="1" bandRow="1">
                <a:tableStyleId>{68D230F3-CF80-4859-8CE7-A43EE81993B5}</a:tableStyleId>
              </a:tblPr>
              <a:tblGrid>
                <a:gridCol w="3821772"/>
                <a:gridCol w="4155145"/>
              </a:tblGrid>
              <a:tr h="487680">
                <a:tc gridSpan="2">
                  <a:txBody>
                    <a:bodyPr/>
                    <a:lstStyle/>
                    <a:p>
                      <a:r>
                        <a:rPr lang="pt-BR" sz="1400" dirty="0" smtClean="0">
                          <a:solidFill>
                            <a:srgbClr val="FFFF00"/>
                          </a:solidFill>
                        </a:rPr>
                        <a:t>Tabela 6.24</a:t>
                      </a:r>
                      <a:r>
                        <a:rPr lang="pt-BR" sz="1400" baseline="0" dirty="0" smtClean="0">
                          <a:solidFill>
                            <a:srgbClr val="FFFF00"/>
                          </a:solidFill>
                        </a:rPr>
                        <a:t> </a:t>
                      </a:r>
                      <a:r>
                        <a:rPr lang="pt-BR" sz="1400" dirty="0" smtClean="0">
                          <a:solidFill>
                            <a:srgbClr val="FFFF00"/>
                          </a:solidFill>
                        </a:rPr>
                        <a:t>– Materiais para  Isolamento Térmico</a:t>
                      </a:r>
                      <a:r>
                        <a:rPr lang="pt-BR" sz="1400" baseline="0" dirty="0" smtClean="0">
                          <a:solidFill>
                            <a:srgbClr val="FFFF00"/>
                          </a:solidFill>
                        </a:rPr>
                        <a:t> de Curto Prazo</a:t>
                      </a:r>
                      <a:endParaRPr lang="pt-BR" sz="1200" baseline="0" dirty="0" smtClean="0"/>
                    </a:p>
                  </a:txBody>
                  <a:tcPr>
                    <a:solidFill>
                      <a:schemeClr val="accent1"/>
                    </a:solidFill>
                  </a:tcPr>
                </a:tc>
                <a:tc hMerge="1">
                  <a:txBody>
                    <a:bodyPr/>
                    <a:lstStyle/>
                    <a:p>
                      <a:endParaRPr lang="en-US"/>
                    </a:p>
                  </a:txBody>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r>
                        <a:rPr lang="pt-BR" sz="1050" baseline="0" dirty="0" smtClean="0"/>
                        <a:t>Elastômeros: Borracha butílica e isopreno são exemplos</a:t>
                      </a:r>
                    </a:p>
                    <a:p>
                      <a:pPr algn="ctr"/>
                      <a:endParaRPr lang="pt-BR" sz="1050" baseline="0" dirty="0" smtClean="0"/>
                    </a:p>
                    <a:p>
                      <a:pPr algn="ctr"/>
                      <a:r>
                        <a:rPr lang="pt-BR" sz="1050" baseline="0" dirty="0" smtClean="0"/>
                        <a:t>Polímeros comerciais: polietileno e polipropileno</a:t>
                      </a:r>
                    </a:p>
                    <a:p>
                      <a:pPr algn="ctr"/>
                      <a:endParaRPr lang="pt-BR" sz="1050" baseline="0" dirty="0" smtClean="0"/>
                    </a:p>
                    <a:p>
                      <a:pPr algn="ctr"/>
                      <a:endParaRPr lang="pt-BR" sz="1050" baseline="0" dirty="0" smtClean="0"/>
                    </a:p>
                    <a:p>
                      <a:pPr algn="ctr"/>
                      <a:r>
                        <a:rPr lang="pt-BR" sz="1050" baseline="0" dirty="0" smtClean="0"/>
                        <a:t>Espumas de polímeros</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r>
                        <a:rPr lang="pt-BR" sz="1000" baseline="0" dirty="0" smtClean="0">
                          <a:solidFill>
                            <a:schemeClr val="tx1"/>
                          </a:solidFill>
                        </a:rPr>
                        <a:t>Melhor escolha para isolamento térmico de curto prazo</a:t>
                      </a:r>
                    </a:p>
                    <a:p>
                      <a:pPr algn="ctr"/>
                      <a:endParaRPr lang="pt-BR" sz="1000" baseline="0" dirty="0" smtClean="0">
                        <a:solidFill>
                          <a:schemeClr val="tx1"/>
                        </a:solidFill>
                      </a:endParaRPr>
                    </a:p>
                    <a:p>
                      <a:pPr algn="ctr"/>
                      <a:r>
                        <a:rPr lang="pt-BR" sz="1000" baseline="0" dirty="0" smtClean="0">
                          <a:solidFill>
                            <a:schemeClr val="tx1"/>
                          </a:solidFill>
                        </a:rPr>
                        <a:t>Menos caros que os elastômeros, porém não tão bons para isolamento térmico</a:t>
                      </a:r>
                    </a:p>
                    <a:p>
                      <a:pPr algn="ctr"/>
                      <a:endParaRPr lang="pt-BR" sz="1000" baseline="0" dirty="0" smtClean="0">
                        <a:solidFill>
                          <a:schemeClr val="tx1"/>
                        </a:solidFill>
                      </a:endParaRPr>
                    </a:p>
                    <a:p>
                      <a:pPr algn="ctr"/>
                      <a:r>
                        <a:rPr lang="pt-BR" sz="1000" baseline="0" dirty="0" smtClean="0">
                          <a:solidFill>
                            <a:schemeClr val="tx1"/>
                          </a:solidFill>
                        </a:rPr>
                        <a:t>Não tão bons quanto os elastômeros para isolamento de curto prazo; melhor escolha para isolamento de longo prazo em regime permanente</a:t>
                      </a:r>
                    </a:p>
                    <a:p>
                      <a:pPr algn="ctr"/>
                      <a:endParaRPr lang="pt-BR" sz="1000" baseline="0" dirty="0" smtClean="0">
                        <a:solidFill>
                          <a:schemeClr val="tx1"/>
                        </a:solidFill>
                      </a:endParaRPr>
                    </a:p>
                  </a:txBody>
                  <a:tcPr>
                    <a:solidFill>
                      <a:schemeClr val="accent1"/>
                    </a:solidFill>
                  </a:tcPr>
                </a:tc>
              </a:tr>
            </a:tbl>
          </a:graphicData>
        </a:graphic>
      </p:graphicFrame>
    </p:spTree>
    <p:extLst>
      <p:ext uri="{BB962C8B-B14F-4D97-AF65-F5344CB8AC3E}">
        <p14:creationId xmlns:p14="http://schemas.microsoft.com/office/powerpoint/2010/main" val="10441932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6200"/>
            <a:ext cx="8229600" cy="1143000"/>
          </a:xfrm>
        </p:spPr>
        <p:txBody>
          <a:bodyPr>
            <a:normAutofit fontScale="90000"/>
          </a:bodyPr>
          <a:lstStyle/>
          <a:p>
            <a:r>
              <a:rPr lang="pt-BR" dirty="0" smtClean="0"/>
              <a:t>Paredes Energeticamente Eficientes para Fornos de Calcinação</a:t>
            </a:r>
            <a:endParaRPr lang="en-US"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295399" y="3733800"/>
            <a:ext cx="2728393" cy="2523730"/>
            <a:chOff x="1295399" y="3733800"/>
            <a:chExt cx="2728393" cy="252373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3733800"/>
              <a:ext cx="2728393" cy="2277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245060" y="6011309"/>
              <a:ext cx="829073" cy="246221"/>
            </a:xfrm>
            <a:prstGeom prst="rect">
              <a:avLst/>
            </a:prstGeom>
            <a:noFill/>
          </p:spPr>
          <p:txBody>
            <a:bodyPr wrap="none" rtlCol="0">
              <a:spAutoFit/>
            </a:bodyPr>
            <a:lstStyle/>
            <a:p>
              <a:pPr algn="ctr"/>
              <a:r>
                <a:rPr lang="en-US" sz="1000" dirty="0" smtClean="0"/>
                <a:t>Figura 6.25</a:t>
              </a:r>
              <a:endParaRPr lang="en-US" sz="1000" dirty="0"/>
            </a:p>
          </p:txBody>
        </p:sp>
      </p:gr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4267200"/>
            <a:ext cx="311467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 name="Tabela 10"/>
          <p:cNvGraphicFramePr>
            <a:graphicFrameLocks noGrp="1"/>
          </p:cNvGraphicFramePr>
          <p:nvPr>
            <p:extLst>
              <p:ext uri="{D42A27DB-BD31-4B8C-83A1-F6EECF244321}">
                <p14:modId xmlns:p14="http://schemas.microsoft.com/office/powerpoint/2010/main" val="3445275511"/>
              </p:ext>
            </p:extLst>
          </p:nvPr>
        </p:nvGraphicFramePr>
        <p:xfrm>
          <a:off x="228600" y="1295400"/>
          <a:ext cx="8686800" cy="214884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6.25 –</a:t>
                      </a:r>
                      <a:r>
                        <a:rPr lang="pt-BR" sz="1200" baseline="0" dirty="0" smtClean="0"/>
                        <a:t> Requisitos de projeto para Paredes de Fornos</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Isolamento térmico para</a:t>
                      </a:r>
                      <a:r>
                        <a:rPr lang="pt-BR" sz="1400" baseline="0" dirty="0" smtClean="0"/>
                        <a:t> forno de calcinação (aquecimento e resfriamentos cíclicos)</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Temperatura de operação máxima 1.000</a:t>
                      </a:r>
                      <a:r>
                        <a:rPr lang="pt-BR" sz="1400" baseline="30000" dirty="0" smtClean="0"/>
                        <a:t>o</a:t>
                      </a:r>
                      <a:r>
                        <a:rPr lang="pt-BR" sz="1400" baseline="0" dirty="0" smtClean="0"/>
                        <a:t>C</a:t>
                      </a:r>
                    </a:p>
                    <a:p>
                      <a:r>
                        <a:rPr lang="pt-BR" sz="1400" i="0" baseline="0" dirty="0" smtClean="0"/>
                        <a:t>Possível limite para a espessura da parede de fornos por questão de espaço</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Minimizar energia consumida</a:t>
                      </a:r>
                      <a:r>
                        <a:rPr lang="pt-BR" sz="1400" i="0" baseline="0" dirty="0" smtClean="0"/>
                        <a:t> no ciclo de queima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Espessura da parede do forno, </a:t>
                      </a:r>
                      <a:r>
                        <a:rPr lang="pt-BR" sz="1400" i="1" baseline="0" dirty="0" smtClean="0"/>
                        <a:t>w</a:t>
                      </a:r>
                    </a:p>
                    <a:p>
                      <a:r>
                        <a:rPr lang="pt-BR" sz="1400" baseline="0" dirty="0" smtClean="0"/>
                        <a:t>Escolha do material</a:t>
                      </a:r>
                    </a:p>
                  </a:txBody>
                  <a:tcPr/>
                </a:tc>
              </a:tr>
            </a:tbl>
          </a:graphicData>
        </a:graphic>
      </p:graphicFrame>
    </p:spTree>
    <p:extLst>
      <p:ext uri="{BB962C8B-B14F-4D97-AF65-F5344CB8AC3E}">
        <p14:creationId xmlns:p14="http://schemas.microsoft.com/office/powerpoint/2010/main" val="37975397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289957" y="1447800"/>
            <a:ext cx="6564085" cy="5054599"/>
            <a:chOff x="1289957" y="1447800"/>
            <a:chExt cx="6564085" cy="5054599"/>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9957" y="1447800"/>
              <a:ext cx="6564085" cy="4808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7463" y="6256178"/>
              <a:ext cx="829073" cy="246221"/>
            </a:xfrm>
            <a:prstGeom prst="rect">
              <a:avLst/>
            </a:prstGeom>
            <a:noFill/>
          </p:spPr>
          <p:txBody>
            <a:bodyPr wrap="none" rtlCol="0">
              <a:spAutoFit/>
            </a:bodyPr>
            <a:lstStyle/>
            <a:p>
              <a:pPr algn="ctr"/>
              <a:r>
                <a:rPr lang="en-US" sz="1000" dirty="0" smtClean="0"/>
                <a:t>Figura 6.26</a:t>
              </a:r>
              <a:endParaRPr lang="en-US" sz="1000" dirty="0"/>
            </a:p>
          </p:txBody>
        </p:sp>
      </p:grpSp>
      <p:sp>
        <p:nvSpPr>
          <p:cNvPr id="6" name="Title 5"/>
          <p:cNvSpPr>
            <a:spLocks noGrp="1"/>
          </p:cNvSpPr>
          <p:nvPr>
            <p:ph type="title"/>
          </p:nvPr>
        </p:nvSpPr>
        <p:spPr/>
        <p:txBody>
          <a:bodyPr>
            <a:normAutofit fontScale="90000"/>
          </a:bodyPr>
          <a:lstStyle/>
          <a:p>
            <a:r>
              <a:rPr lang="pt-BR" dirty="0" smtClean="0"/>
              <a:t>Materiais para Paredes de Forno de Calcinação</a:t>
            </a:r>
            <a:endParaRPr lang="pt-BR" dirty="0"/>
          </a:p>
        </p:txBody>
      </p:sp>
    </p:spTree>
    <p:extLst>
      <p:ext uri="{BB962C8B-B14F-4D97-AF65-F5344CB8AC3E}">
        <p14:creationId xmlns:p14="http://schemas.microsoft.com/office/powerpoint/2010/main" val="9838560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371600" y="4038600"/>
            <a:ext cx="6400800" cy="1295400"/>
          </a:xfrm>
          <a:solidFill>
            <a:schemeClr val="accent5">
              <a:lumMod val="75000"/>
            </a:schemeClr>
          </a:solidFill>
        </p:spPr>
        <p:txBody>
          <a:bodyPr>
            <a:normAutofit fontScale="92500" lnSpcReduction="20000"/>
          </a:bodyPr>
          <a:lstStyle/>
          <a:p>
            <a:r>
              <a:rPr lang="pt-BR" dirty="0" smtClean="0"/>
              <a:t>Baixa densidade, poroso ou cerâmicos parecido com espumas são a melhor escolha.</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aphicFrame>
        <p:nvGraphicFramePr>
          <p:cNvPr id="5" name="Tabela 4"/>
          <p:cNvGraphicFramePr>
            <a:graphicFrameLocks noGrp="1"/>
          </p:cNvGraphicFramePr>
          <p:nvPr>
            <p:extLst>
              <p:ext uri="{D42A27DB-BD31-4B8C-83A1-F6EECF244321}">
                <p14:modId xmlns:p14="http://schemas.microsoft.com/office/powerpoint/2010/main" val="2310580655"/>
              </p:ext>
            </p:extLst>
          </p:nvPr>
        </p:nvGraphicFramePr>
        <p:xfrm>
          <a:off x="228600" y="304800"/>
          <a:ext cx="8610601" cy="3474720"/>
        </p:xfrm>
        <a:graphic>
          <a:graphicData uri="http://schemas.openxmlformats.org/drawingml/2006/table">
            <a:tbl>
              <a:tblPr firstRow="1" bandRow="1">
                <a:tableStyleId>{68D230F3-CF80-4859-8CE7-A43EE81993B5}</a:tableStyleId>
              </a:tblPr>
              <a:tblGrid>
                <a:gridCol w="1752600"/>
                <a:gridCol w="1447800"/>
                <a:gridCol w="1143000"/>
                <a:gridCol w="4267201"/>
              </a:tblGrid>
              <a:tr h="487680">
                <a:tc gridSpan="4">
                  <a:txBody>
                    <a:bodyPr/>
                    <a:lstStyle/>
                    <a:p>
                      <a:r>
                        <a:rPr lang="pt-BR" sz="1400" dirty="0" smtClean="0">
                          <a:solidFill>
                            <a:srgbClr val="FFFF00"/>
                          </a:solidFill>
                        </a:rPr>
                        <a:t>Tabela 6.23 – Materiais</a:t>
                      </a:r>
                      <a:r>
                        <a:rPr lang="pt-BR" sz="1400" baseline="0" dirty="0" smtClean="0">
                          <a:solidFill>
                            <a:srgbClr val="FFFF00"/>
                          </a:solidFill>
                        </a:rPr>
                        <a:t> para Paredes de Fornos de Calcinação Eficientes em Energia</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Tijolo Refratário</a:t>
                      </a:r>
                    </a:p>
                    <a:p>
                      <a:pPr algn="ctr"/>
                      <a:endParaRPr lang="pt-BR" sz="1050" baseline="0" dirty="0" smtClean="0"/>
                    </a:p>
                    <a:p>
                      <a:pPr algn="ctr"/>
                      <a:endParaRPr lang="pt-BR" sz="1050" baseline="0" dirty="0" smtClean="0"/>
                    </a:p>
                    <a:p>
                      <a:pPr algn="ctr"/>
                      <a:r>
                        <a:rPr lang="pt-BR" sz="1050" baseline="0" dirty="0" smtClean="0"/>
                        <a:t>Concreto Aerado</a:t>
                      </a:r>
                    </a:p>
                    <a:p>
                      <a:pPr algn="ctr"/>
                      <a:endParaRPr lang="pt-BR" sz="1050" baseline="0" dirty="0" smtClean="0"/>
                    </a:p>
                    <a:p>
                      <a:pPr algn="ctr"/>
                      <a:r>
                        <a:rPr lang="pt-BR" sz="1050" baseline="0" dirty="0" smtClean="0"/>
                        <a:t>Espuma de Vidro e carbono</a:t>
                      </a:r>
                    </a:p>
                    <a:p>
                      <a:pPr algn="ctr"/>
                      <a:endParaRPr lang="pt-BR" sz="1050" baseline="0" dirty="0" smtClean="0"/>
                    </a:p>
                    <a:p>
                      <a:pPr algn="ctr"/>
                      <a:r>
                        <a:rPr lang="pt-BR" sz="1050" baseline="0" dirty="0" smtClean="0"/>
                        <a:t>Madeira</a:t>
                      </a:r>
                    </a:p>
                    <a:p>
                      <a:pPr algn="ctr"/>
                      <a:endParaRPr lang="pt-BR" sz="1050" baseline="0" dirty="0" smtClean="0"/>
                    </a:p>
                    <a:p>
                      <a:pPr algn="ctr"/>
                      <a:r>
                        <a:rPr lang="pt-BR" sz="1050" baseline="0" dirty="0" smtClean="0"/>
                        <a:t>Elastômeros sólidos e polímeros sólidos</a:t>
                      </a:r>
                    </a:p>
                    <a:p>
                      <a:pPr algn="ctr"/>
                      <a:endParaRPr lang="pt-BR" sz="1050" baseline="0" dirty="0" smtClean="0"/>
                    </a:p>
                    <a:p>
                      <a:pPr algn="ctr"/>
                      <a:r>
                        <a:rPr lang="pt-BR" sz="1050" baseline="0" dirty="0" smtClean="0"/>
                        <a:t>Espuma de polímero, cortiça</a:t>
                      </a:r>
                    </a:p>
                  </a:txBody>
                  <a:tcPr>
                    <a:solidFill>
                      <a:schemeClr val="accent1"/>
                    </a:solidFill>
                  </a:tcPr>
                </a:tc>
                <a:tc>
                  <a:txBody>
                    <a:bodyPr/>
                    <a:lstStyle/>
                    <a:p>
                      <a:pPr marL="0" algn="ctr" defTabSz="914400" rtl="0" eaLnBrk="1" latinLnBrk="0" hangingPunct="1"/>
                      <a:r>
                        <a:rPr lang="pt-BR" sz="1100" b="1" i="1" kern="1200" baseline="0" dirty="0" smtClean="0">
                          <a:solidFill>
                            <a:srgbClr val="FFFF00"/>
                          </a:solidFill>
                          <a:latin typeface="+mn-lt"/>
                          <a:ea typeface="+mn-ea"/>
                          <a:cs typeface="+mn-cs"/>
                        </a:rPr>
                        <a:t>M</a:t>
                      </a:r>
                      <a:r>
                        <a:rPr lang="pt-BR" sz="1100" b="1" i="1" kern="1200" baseline="-25000" dirty="0" smtClean="0">
                          <a:solidFill>
                            <a:srgbClr val="FFFF00"/>
                          </a:solidFill>
                          <a:latin typeface="+mn-lt"/>
                          <a:ea typeface="+mn-ea"/>
                          <a:cs typeface="+mn-cs"/>
                        </a:rPr>
                        <a:t>1</a:t>
                      </a:r>
                      <a:r>
                        <a:rPr lang="pt-BR" sz="1100" b="1" i="1" kern="1200" baseline="0" dirty="0" smtClean="0">
                          <a:solidFill>
                            <a:srgbClr val="FFFF00"/>
                          </a:solidFill>
                          <a:latin typeface="+mn-lt"/>
                          <a:ea typeface="+mn-ea"/>
                          <a:cs typeface="+mn-cs"/>
                        </a:rPr>
                        <a:t> = a</a:t>
                      </a:r>
                      <a:r>
                        <a:rPr lang="pt-BR" sz="1100" b="1" i="1" kern="1200" baseline="30000" dirty="0" smtClean="0">
                          <a:solidFill>
                            <a:srgbClr val="FFFF00"/>
                          </a:solidFill>
                          <a:latin typeface="+mn-lt"/>
                          <a:ea typeface="+mn-ea"/>
                          <a:cs typeface="+mn-cs"/>
                        </a:rPr>
                        <a:t>1/2</a:t>
                      </a:r>
                      <a:r>
                        <a:rPr lang="pt-BR" sz="1100" b="1" i="1" kern="1200" baseline="0" dirty="0" smtClean="0">
                          <a:solidFill>
                            <a:srgbClr val="FFFF00"/>
                          </a:solidFill>
                          <a:latin typeface="+mn-lt"/>
                          <a:ea typeface="+mn-ea"/>
                          <a:cs typeface="+mn-cs"/>
                        </a:rPr>
                        <a:t> /</a:t>
                      </a:r>
                      <a:r>
                        <a:rPr lang="el-GR" sz="1100" b="1" i="1" kern="1200" baseline="0" dirty="0" smtClean="0">
                          <a:solidFill>
                            <a:srgbClr val="FFFF00"/>
                          </a:solidFill>
                          <a:latin typeface="Calibri"/>
                          <a:ea typeface="+mn-ea"/>
                          <a:cs typeface="+mn-cs"/>
                        </a:rPr>
                        <a:t>λ</a:t>
                      </a:r>
                      <a:r>
                        <a:rPr lang="pt-BR" sz="1100" b="1" i="1" kern="1200" baseline="0" dirty="0" smtClean="0">
                          <a:solidFill>
                            <a:srgbClr val="FFFF00"/>
                          </a:solidFill>
                          <a:latin typeface="Calibri"/>
                          <a:ea typeface="+mn-ea"/>
                          <a:cs typeface="+mn-cs"/>
                        </a:rPr>
                        <a:t> </a:t>
                      </a:r>
                      <a:r>
                        <a:rPr lang="pt-BR" sz="1100" b="1" kern="1200" baseline="0" dirty="0" smtClean="0">
                          <a:solidFill>
                            <a:srgbClr val="FFFF00"/>
                          </a:solidFill>
                          <a:latin typeface="+mn-lt"/>
                          <a:ea typeface="+mn-ea"/>
                          <a:cs typeface="+mn-cs"/>
                        </a:rPr>
                        <a:t>(m</a:t>
                      </a:r>
                      <a:r>
                        <a:rPr lang="pt-BR" sz="1100" b="1" kern="1200" baseline="30000" dirty="0" smtClean="0">
                          <a:solidFill>
                            <a:srgbClr val="FFFF00"/>
                          </a:solidFill>
                          <a:latin typeface="+mn-lt"/>
                          <a:ea typeface="+mn-ea"/>
                          <a:cs typeface="+mn-cs"/>
                        </a:rPr>
                        <a:t>2</a:t>
                      </a:r>
                      <a:r>
                        <a:rPr lang="pt-BR" sz="1100" b="1" kern="1200" baseline="0" dirty="0" smtClean="0">
                          <a:solidFill>
                            <a:srgbClr val="FFFF00"/>
                          </a:solidFill>
                          <a:latin typeface="+mn-lt"/>
                          <a:ea typeface="+mn-ea"/>
                          <a:cs typeface="+mn-cs"/>
                        </a:rPr>
                        <a:t>K /(W.s</a:t>
                      </a:r>
                      <a:r>
                        <a:rPr lang="pt-BR" sz="1100" b="1" kern="1200" baseline="30000" dirty="0" smtClean="0">
                          <a:solidFill>
                            <a:srgbClr val="FFFF00"/>
                          </a:solidFill>
                          <a:latin typeface="+mn-lt"/>
                          <a:ea typeface="+mn-ea"/>
                          <a:cs typeface="+mn-cs"/>
                        </a:rPr>
                        <a:t>1/2</a:t>
                      </a:r>
                      <a:r>
                        <a:rPr lang="pt-BR" sz="1100" b="1" kern="1200" baseline="0" dirty="0" smtClean="0">
                          <a:solidFill>
                            <a:srgbClr val="FFFF00"/>
                          </a:solidFill>
                          <a:latin typeface="+mn-lt"/>
                          <a:ea typeface="+mn-ea"/>
                          <a:cs typeface="+mn-cs"/>
                        </a:rPr>
                        <a:t>)</a:t>
                      </a:r>
                    </a:p>
                    <a:p>
                      <a:pPr algn="ctr"/>
                      <a:endParaRPr lang="pt-BR" sz="1050" b="1" baseline="0" dirty="0" smtClean="0">
                        <a:solidFill>
                          <a:srgbClr val="FFFF00"/>
                        </a:solidFill>
                      </a:endParaRPr>
                    </a:p>
                    <a:p>
                      <a:pPr algn="ctr"/>
                      <a:r>
                        <a:rPr lang="pt-BR" sz="1050" b="0" baseline="0" dirty="0" smtClean="0">
                          <a:solidFill>
                            <a:schemeClr val="tx1"/>
                          </a:solidFill>
                        </a:rPr>
                        <a:t>5 x 10</a:t>
                      </a:r>
                      <a:r>
                        <a:rPr lang="pt-BR" sz="1050" b="0" baseline="30000" dirty="0" smtClean="0">
                          <a:solidFill>
                            <a:schemeClr val="tx1"/>
                          </a:solidFill>
                        </a:rPr>
                        <a:t>-3</a:t>
                      </a:r>
                    </a:p>
                    <a:p>
                      <a:pPr marL="0" marR="0" indent="0" algn="ctr" defTabSz="914400" rtl="0" eaLnBrk="1" fontAlgn="auto" latinLnBrk="0" hangingPunct="1">
                        <a:lnSpc>
                          <a:spcPct val="100000"/>
                        </a:lnSpc>
                        <a:spcBef>
                          <a:spcPts val="0"/>
                        </a:spcBef>
                        <a:spcAft>
                          <a:spcPts val="0"/>
                        </a:spcAft>
                        <a:buClrTx/>
                        <a:buSzTx/>
                        <a:buFontTx/>
                        <a:buNone/>
                        <a:tabLst/>
                        <a:defRPr/>
                      </a:pPr>
                      <a:endParaRPr lang="pt-BR" sz="1050" b="0" baseline="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pt-BR" sz="1050" b="0" baseline="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pt-BR" sz="1050" b="0" baseline="0" dirty="0" smtClean="0">
                          <a:solidFill>
                            <a:schemeClr val="tx1"/>
                          </a:solidFill>
                        </a:rPr>
                        <a:t>2 x 10</a:t>
                      </a:r>
                      <a:r>
                        <a:rPr lang="pt-BR" sz="1050" b="0" baseline="30000" dirty="0" smtClean="0">
                          <a:solidFill>
                            <a:schemeClr val="tx1"/>
                          </a:solidFill>
                        </a:rPr>
                        <a:t>-3</a:t>
                      </a:r>
                    </a:p>
                    <a:p>
                      <a:pPr marL="0" marR="0" indent="0" algn="ctr" defTabSz="914400" rtl="0" eaLnBrk="1" fontAlgn="auto" latinLnBrk="0" hangingPunct="1">
                        <a:lnSpc>
                          <a:spcPct val="100000"/>
                        </a:lnSpc>
                        <a:spcBef>
                          <a:spcPts val="0"/>
                        </a:spcBef>
                        <a:spcAft>
                          <a:spcPts val="0"/>
                        </a:spcAft>
                        <a:buClrTx/>
                        <a:buSzTx/>
                        <a:buFontTx/>
                        <a:buNone/>
                        <a:tabLst/>
                        <a:defRPr/>
                      </a:pPr>
                      <a:endParaRPr lang="pt-BR" sz="1050" b="0" baseline="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pt-BR" sz="1050" b="0" baseline="0" dirty="0" smtClean="0">
                          <a:solidFill>
                            <a:schemeClr val="tx1"/>
                          </a:solidFill>
                        </a:rPr>
                        <a:t>Até 10</a:t>
                      </a:r>
                      <a:r>
                        <a:rPr lang="pt-BR" sz="1050" b="0" baseline="30000" dirty="0" smtClean="0">
                          <a:solidFill>
                            <a:schemeClr val="tx1"/>
                          </a:solidFill>
                        </a:rPr>
                        <a:t>-2</a:t>
                      </a:r>
                    </a:p>
                    <a:p>
                      <a:pPr algn="ctr"/>
                      <a:endParaRPr lang="pt-BR" sz="1050" b="0" baseline="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pt-BR" sz="1050" b="0" baseline="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pt-BR" sz="1050" b="0" baseline="0" dirty="0" smtClean="0">
                          <a:solidFill>
                            <a:schemeClr val="tx1"/>
                          </a:solidFill>
                        </a:rPr>
                        <a:t>2 x 10</a:t>
                      </a:r>
                      <a:r>
                        <a:rPr lang="pt-BR" sz="1050" b="0" baseline="30000" dirty="0" smtClean="0">
                          <a:solidFill>
                            <a:schemeClr val="tx1"/>
                          </a:solidFill>
                        </a:rPr>
                        <a:t>-3</a:t>
                      </a:r>
                    </a:p>
                    <a:p>
                      <a:pPr marL="0" marR="0" indent="0" algn="ctr" defTabSz="914400" rtl="0" eaLnBrk="1" fontAlgn="auto" latinLnBrk="0" hangingPunct="1">
                        <a:lnSpc>
                          <a:spcPct val="100000"/>
                        </a:lnSpc>
                        <a:spcBef>
                          <a:spcPts val="0"/>
                        </a:spcBef>
                        <a:spcAft>
                          <a:spcPts val="0"/>
                        </a:spcAft>
                        <a:buClrTx/>
                        <a:buSzTx/>
                        <a:buFontTx/>
                        <a:buNone/>
                        <a:tabLst/>
                        <a:defRPr/>
                      </a:pPr>
                      <a:endParaRPr lang="pt-BR" sz="1050" b="0" baseline="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pt-BR" sz="1050" b="0" baseline="0" dirty="0" smtClean="0">
                          <a:solidFill>
                            <a:schemeClr val="tx1"/>
                          </a:solidFill>
                        </a:rPr>
                        <a:t>2 x 10</a:t>
                      </a:r>
                      <a:r>
                        <a:rPr lang="pt-BR" sz="1050" b="0" baseline="30000" dirty="0" smtClean="0">
                          <a:solidFill>
                            <a:schemeClr val="tx1"/>
                          </a:solidFill>
                        </a:rPr>
                        <a:t>-3</a:t>
                      </a:r>
                      <a:r>
                        <a:rPr lang="pt-BR" sz="1050" b="0" baseline="0" dirty="0" smtClean="0">
                          <a:solidFill>
                            <a:schemeClr val="tx1"/>
                          </a:solidFill>
                        </a:rPr>
                        <a:t> – 3 x 10</a:t>
                      </a:r>
                      <a:r>
                        <a:rPr lang="pt-BR" sz="1050" b="0" baseline="30000" dirty="0" smtClean="0">
                          <a:solidFill>
                            <a:schemeClr val="tx1"/>
                          </a:solidFill>
                        </a:rPr>
                        <a:t>-3</a:t>
                      </a:r>
                    </a:p>
                    <a:p>
                      <a:pPr marL="0" marR="0" indent="0" algn="ctr" defTabSz="914400" rtl="0" eaLnBrk="1" fontAlgn="auto" latinLnBrk="0" hangingPunct="1">
                        <a:lnSpc>
                          <a:spcPct val="100000"/>
                        </a:lnSpc>
                        <a:spcBef>
                          <a:spcPts val="0"/>
                        </a:spcBef>
                        <a:spcAft>
                          <a:spcPts val="0"/>
                        </a:spcAft>
                        <a:buClrTx/>
                        <a:buSzTx/>
                        <a:buFontTx/>
                        <a:buNone/>
                        <a:tabLst/>
                        <a:defRPr/>
                      </a:pPr>
                      <a:r>
                        <a:rPr lang="pt-BR" sz="1050" b="0" baseline="0" dirty="0" smtClean="0">
                          <a:solidFill>
                            <a:schemeClr val="tx1"/>
                          </a:solidFill>
                        </a:rPr>
                        <a:t>2 x 10</a:t>
                      </a:r>
                      <a:r>
                        <a:rPr lang="pt-BR" sz="1050" b="0" baseline="30000" dirty="0" smtClean="0">
                          <a:solidFill>
                            <a:schemeClr val="tx1"/>
                          </a:solidFill>
                        </a:rPr>
                        <a:t>-3</a:t>
                      </a:r>
                    </a:p>
                    <a:p>
                      <a:pPr algn="ctr"/>
                      <a:endParaRPr lang="pt-BR" sz="1050" b="0" baseline="0" dirty="0" smtClean="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pt-BR" sz="1050" b="0" baseline="0" dirty="0" smtClean="0">
                          <a:solidFill>
                            <a:schemeClr val="tx1"/>
                          </a:solidFill>
                        </a:rPr>
                        <a:t>3 x 10</a:t>
                      </a:r>
                      <a:r>
                        <a:rPr lang="pt-BR" sz="1050" b="0" baseline="30000" dirty="0" smtClean="0">
                          <a:solidFill>
                            <a:schemeClr val="tx1"/>
                          </a:solidFill>
                        </a:rPr>
                        <a:t>-3</a:t>
                      </a:r>
                      <a:r>
                        <a:rPr lang="pt-BR" sz="1050" b="0" baseline="0" dirty="0" smtClean="0">
                          <a:solidFill>
                            <a:schemeClr val="tx1"/>
                          </a:solidFill>
                        </a:rPr>
                        <a:t> – 6 x 10</a:t>
                      </a:r>
                      <a:r>
                        <a:rPr lang="pt-BR" sz="1050" b="0" baseline="30000" dirty="0" smtClean="0">
                          <a:solidFill>
                            <a:schemeClr val="tx1"/>
                          </a:solidFill>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pt-BR" sz="1050" b="0" baseline="0" dirty="0" smtClean="0">
                          <a:solidFill>
                            <a:schemeClr val="tx1"/>
                          </a:solidFill>
                        </a:rPr>
                        <a:t> </a:t>
                      </a:r>
                    </a:p>
                  </a:txBody>
                  <a:tcPr>
                    <a:solidFill>
                      <a:schemeClr val="accent1"/>
                    </a:solidFill>
                  </a:tcPr>
                </a:tc>
                <a:tc>
                  <a:txBody>
                    <a:bodyPr/>
                    <a:lstStyle/>
                    <a:p>
                      <a:pPr algn="ctr"/>
                      <a:r>
                        <a:rPr lang="pt-BR" sz="1100" b="1" baseline="0" dirty="0" smtClean="0">
                          <a:solidFill>
                            <a:srgbClr val="FFFF00"/>
                          </a:solidFill>
                        </a:rPr>
                        <a:t>M</a:t>
                      </a:r>
                      <a:r>
                        <a:rPr lang="pt-BR" sz="1100" b="1" baseline="-25000" dirty="0" smtClean="0">
                          <a:solidFill>
                            <a:srgbClr val="FFFF00"/>
                          </a:solidFill>
                        </a:rPr>
                        <a:t>2</a:t>
                      </a:r>
                      <a:r>
                        <a:rPr lang="pt-BR" sz="1100" b="1" baseline="0" dirty="0" smtClean="0">
                          <a:solidFill>
                            <a:srgbClr val="FFFF00"/>
                          </a:solidFill>
                        </a:rPr>
                        <a:t> = </a:t>
                      </a:r>
                      <a:r>
                        <a:rPr lang="pt-BR" sz="1100" b="1" i="1" baseline="0" dirty="0" smtClean="0">
                          <a:solidFill>
                            <a:srgbClr val="FFFF00"/>
                          </a:solidFill>
                        </a:rPr>
                        <a:t>w</a:t>
                      </a:r>
                      <a:r>
                        <a:rPr lang="pt-BR" sz="1100" b="1" baseline="0" dirty="0" smtClean="0">
                          <a:solidFill>
                            <a:srgbClr val="FFFF00"/>
                          </a:solidFill>
                        </a:rPr>
                        <a:t> (mm)</a:t>
                      </a:r>
                    </a:p>
                    <a:p>
                      <a:pPr algn="ctr"/>
                      <a:endParaRPr lang="pt-BR" sz="1050" b="1" baseline="0" dirty="0" smtClean="0">
                        <a:solidFill>
                          <a:srgbClr val="FFFF00"/>
                        </a:solidFill>
                      </a:endParaRPr>
                    </a:p>
                    <a:p>
                      <a:pPr algn="ctr"/>
                      <a:endParaRPr lang="pt-BR" sz="1050" b="0" baseline="0" dirty="0" smtClean="0">
                        <a:solidFill>
                          <a:schemeClr val="tx1"/>
                        </a:solidFill>
                      </a:endParaRPr>
                    </a:p>
                    <a:p>
                      <a:pPr algn="ctr"/>
                      <a:r>
                        <a:rPr lang="pt-BR" sz="1050" b="0" baseline="0" dirty="0" smtClean="0">
                          <a:solidFill>
                            <a:schemeClr val="tx1"/>
                          </a:solidFill>
                        </a:rPr>
                        <a:t>100</a:t>
                      </a: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110</a:t>
                      </a:r>
                    </a:p>
                    <a:p>
                      <a:pPr algn="ctr"/>
                      <a:endParaRPr lang="pt-BR" sz="1050" b="0" baseline="0" dirty="0" smtClean="0">
                        <a:solidFill>
                          <a:schemeClr val="tx1"/>
                        </a:solidFill>
                      </a:endParaRPr>
                    </a:p>
                    <a:p>
                      <a:pPr algn="ctr"/>
                      <a:r>
                        <a:rPr lang="pt-BR" sz="1050" b="0" baseline="0" dirty="0" smtClean="0">
                          <a:solidFill>
                            <a:schemeClr val="tx1"/>
                          </a:solidFill>
                        </a:rPr>
                        <a:t>140</a:t>
                      </a: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60</a:t>
                      </a:r>
                    </a:p>
                    <a:p>
                      <a:pPr algn="ctr"/>
                      <a:endParaRPr lang="pt-BR" sz="1050" b="0" baseline="0" dirty="0" smtClean="0">
                        <a:solidFill>
                          <a:schemeClr val="tx1"/>
                        </a:solidFill>
                      </a:endParaRPr>
                    </a:p>
                    <a:p>
                      <a:pPr algn="ctr"/>
                      <a:r>
                        <a:rPr lang="pt-BR" sz="1050" b="0" baseline="0" dirty="0" smtClean="0">
                          <a:solidFill>
                            <a:schemeClr val="tx1"/>
                          </a:solidFill>
                        </a:rPr>
                        <a:t>50</a:t>
                      </a: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50-140</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baseline="0" dirty="0" smtClean="0">
                          <a:solidFill>
                            <a:schemeClr val="tx1"/>
                          </a:solidFill>
                        </a:rPr>
                        <a:t>A escolha óbvia: quanto menor a densidade, melhor o desempenho. Tijolos refratários especiais têm valores de M de até 3 x 10</a:t>
                      </a:r>
                      <a:r>
                        <a:rPr lang="pt-BR" sz="1050" b="1" baseline="30000" dirty="0" smtClean="0">
                          <a:solidFill>
                            <a:schemeClr val="tx1"/>
                          </a:solidFill>
                        </a:rPr>
                        <a:t>-3</a:t>
                      </a:r>
                      <a:r>
                        <a:rPr lang="pt-BR" sz="1050" b="1" baseline="0" dirty="0" smtClean="0">
                          <a:solidFill>
                            <a:schemeClr val="tx1"/>
                          </a:solidFill>
                        </a:rPr>
                        <a:t> </a:t>
                      </a:r>
                    </a:p>
                    <a:p>
                      <a:pPr algn="ctr"/>
                      <a:r>
                        <a:rPr lang="pt-BR" sz="1050" b="1" baseline="0" dirty="0" smtClean="0">
                          <a:solidFill>
                            <a:schemeClr val="tx1"/>
                          </a:solidFill>
                        </a:rPr>
                        <a:t>Concreto de alta temperatura pode suportar temperatura de 1000</a:t>
                      </a:r>
                      <a:r>
                        <a:rPr lang="pt-BR" sz="1050" b="1" baseline="30000" dirty="0" smtClean="0">
                          <a:solidFill>
                            <a:schemeClr val="tx1"/>
                          </a:solidFill>
                        </a:rPr>
                        <a:t>o</a:t>
                      </a:r>
                      <a:r>
                        <a:rPr lang="pt-BR" sz="1050" b="1" baseline="0" dirty="0" smtClean="0">
                          <a:solidFill>
                            <a:schemeClr val="tx1"/>
                          </a:solidFill>
                        </a:rPr>
                        <a:t>C</a:t>
                      </a:r>
                    </a:p>
                    <a:p>
                      <a:pPr algn="ctr"/>
                      <a:r>
                        <a:rPr lang="pt-BR" sz="1050" b="1" baseline="0" dirty="0" smtClean="0">
                          <a:solidFill>
                            <a:schemeClr val="tx1"/>
                          </a:solidFill>
                        </a:rPr>
                        <a:t>Ambas oferecem isolamento térmico excepcional, mas são limitadas a temperaturas inferiores a 800</a:t>
                      </a:r>
                      <a:r>
                        <a:rPr lang="pt-BR" sz="1050" b="1" baseline="30000" dirty="0" smtClean="0">
                          <a:solidFill>
                            <a:schemeClr val="tx1"/>
                          </a:solidFill>
                        </a:rPr>
                        <a:t>o</a:t>
                      </a:r>
                      <a:r>
                        <a:rPr lang="pt-BR" sz="1050" b="1" baseline="0" dirty="0" smtClean="0">
                          <a:solidFill>
                            <a:schemeClr val="tx1"/>
                          </a:solidFill>
                        </a:rPr>
                        <a:t>C</a:t>
                      </a:r>
                    </a:p>
                    <a:p>
                      <a:pPr algn="ctr"/>
                      <a:endParaRPr lang="pt-BR" sz="1050" b="1" baseline="0" dirty="0" smtClean="0">
                        <a:solidFill>
                          <a:schemeClr val="tx1"/>
                        </a:solidFill>
                      </a:endParaRPr>
                    </a:p>
                    <a:p>
                      <a:pPr algn="ctr"/>
                      <a:r>
                        <a:rPr lang="pt-BR" sz="1050" b="1" baseline="0" dirty="0" smtClean="0">
                          <a:solidFill>
                            <a:schemeClr val="tx1"/>
                          </a:solidFill>
                        </a:rPr>
                        <a:t>A caldeira do motor a vapor “</a:t>
                      </a:r>
                      <a:r>
                        <a:rPr lang="pt-BR" sz="1050" b="1" baseline="0" dirty="0" err="1" smtClean="0">
                          <a:solidFill>
                            <a:schemeClr val="tx1"/>
                          </a:solidFill>
                        </a:rPr>
                        <a:t>Rocket</a:t>
                      </a:r>
                      <a:r>
                        <a:rPr lang="pt-BR" sz="1050" b="1" baseline="0" dirty="0" smtClean="0">
                          <a:solidFill>
                            <a:schemeClr val="tx1"/>
                          </a:solidFill>
                        </a:rPr>
                        <a:t>” de Stevenson era isolada com madeira.</a:t>
                      </a:r>
                    </a:p>
                    <a:p>
                      <a:pPr algn="ctr"/>
                      <a:r>
                        <a:rPr lang="pt-BR" sz="1050" b="1" baseline="0" dirty="0" smtClean="0">
                          <a:solidFill>
                            <a:schemeClr val="tx1"/>
                          </a:solidFill>
                        </a:rPr>
                        <a:t>Bons valores de índice de material. Úteis se a parede tiver muito fina. Limitados a temperaturas abaixo de 150</a:t>
                      </a:r>
                      <a:r>
                        <a:rPr lang="pt-BR" sz="1050" b="1" baseline="30000" dirty="0" smtClean="0">
                          <a:solidFill>
                            <a:schemeClr val="tx1"/>
                          </a:solidFill>
                        </a:rPr>
                        <a:t>o</a:t>
                      </a:r>
                      <a:r>
                        <a:rPr lang="pt-BR" sz="1050" b="1" baseline="0" dirty="0" smtClean="0">
                          <a:solidFill>
                            <a:schemeClr val="tx1"/>
                          </a:solidFill>
                        </a:rPr>
                        <a:t>C</a:t>
                      </a:r>
                    </a:p>
                    <a:p>
                      <a:pPr algn="ctr"/>
                      <a:endParaRPr lang="pt-BR" sz="1050" b="1" baseline="0" dirty="0" smtClean="0">
                        <a:solidFill>
                          <a:schemeClr val="tx1"/>
                        </a:solidFill>
                      </a:endParaRPr>
                    </a:p>
                    <a:p>
                      <a:pPr algn="ctr"/>
                      <a:r>
                        <a:rPr lang="pt-BR" sz="1050" b="1" baseline="0" dirty="0" smtClean="0">
                          <a:solidFill>
                            <a:schemeClr val="tx1"/>
                          </a:solidFill>
                        </a:rPr>
                        <a:t>O valor mais alto de </a:t>
                      </a:r>
                      <a:r>
                        <a:rPr lang="pt-BR" sz="1050" b="1" i="1" baseline="0" dirty="0" smtClean="0">
                          <a:solidFill>
                            <a:schemeClr val="tx1"/>
                          </a:solidFill>
                        </a:rPr>
                        <a:t>M</a:t>
                      </a:r>
                      <a:r>
                        <a:rPr lang="pt-BR" sz="1050" b="1" baseline="0" dirty="0" smtClean="0">
                          <a:solidFill>
                            <a:schemeClr val="tx1"/>
                          </a:solidFill>
                        </a:rPr>
                        <a:t> – Daí sua utilização em isolamento de residências. Limitadas a temperaturas inferiores a 150</a:t>
                      </a:r>
                      <a:r>
                        <a:rPr lang="pt-BR" sz="1050" b="1" baseline="30000" dirty="0" smtClean="0">
                          <a:solidFill>
                            <a:schemeClr val="tx1"/>
                          </a:solidFill>
                        </a:rPr>
                        <a:t>o</a:t>
                      </a:r>
                      <a:r>
                        <a:rPr lang="pt-BR" sz="1050" b="1" baseline="0" dirty="0" smtClean="0">
                          <a:solidFill>
                            <a:schemeClr val="tx1"/>
                          </a:solidFill>
                        </a:rPr>
                        <a:t>C</a:t>
                      </a:r>
                    </a:p>
                  </a:txBody>
                  <a:tcPr>
                    <a:solidFill>
                      <a:schemeClr val="accent1"/>
                    </a:solidFill>
                  </a:tcPr>
                </a:tc>
              </a:tr>
            </a:tbl>
          </a:graphicData>
        </a:graphic>
      </p:graphicFrame>
    </p:spTree>
    <p:extLst>
      <p:ext uri="{BB962C8B-B14F-4D97-AF65-F5344CB8AC3E}">
        <p14:creationId xmlns:p14="http://schemas.microsoft.com/office/powerpoint/2010/main" val="9421274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49" y="3810000"/>
            <a:ext cx="2900362" cy="239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a:xfrm>
            <a:off x="457200" y="76200"/>
            <a:ext cx="8229600" cy="1143000"/>
          </a:xfrm>
        </p:spPr>
        <p:txBody>
          <a:bodyPr/>
          <a:lstStyle/>
          <a:p>
            <a:r>
              <a:rPr lang="pt-BR" dirty="0" smtClean="0"/>
              <a:t>Aquecimento Solar Passivo</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5" name="TextBox 4"/>
          <p:cNvSpPr txBox="1"/>
          <p:nvPr/>
        </p:nvSpPr>
        <p:spPr>
          <a:xfrm>
            <a:off x="2163093" y="6201076"/>
            <a:ext cx="829073" cy="246221"/>
          </a:xfrm>
          <a:prstGeom prst="rect">
            <a:avLst/>
          </a:prstGeom>
          <a:noFill/>
        </p:spPr>
        <p:txBody>
          <a:bodyPr wrap="none" rtlCol="0">
            <a:spAutoFit/>
          </a:bodyPr>
          <a:lstStyle/>
          <a:p>
            <a:pPr algn="ctr"/>
            <a:r>
              <a:rPr lang="en-US" sz="1000" dirty="0" smtClean="0"/>
              <a:t>Figura 6.27</a:t>
            </a:r>
            <a:endParaRPr lang="en-US" sz="1000" dirty="0"/>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038600"/>
            <a:ext cx="155257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3987" y="5105400"/>
            <a:ext cx="23622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10" name="Tabela 9"/>
              <p:cNvGraphicFramePr>
                <a:graphicFrameLocks noGrp="1"/>
              </p:cNvGraphicFramePr>
              <p:nvPr>
                <p:extLst>
                  <p:ext uri="{D42A27DB-BD31-4B8C-83A1-F6EECF244321}">
                    <p14:modId xmlns:p14="http://schemas.microsoft.com/office/powerpoint/2010/main" val="60608489"/>
                  </p:ext>
                </p:extLst>
              </p:nvPr>
            </p:nvGraphicFramePr>
            <p:xfrm>
              <a:off x="152400" y="1066800"/>
              <a:ext cx="8686800" cy="236220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6.27 –</a:t>
                          </a:r>
                          <a:r>
                            <a:rPr lang="pt-BR" sz="1200" baseline="0" dirty="0" smtClean="0"/>
                            <a:t> Requisitos de projeto Aquecimento Solar Passivo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Meio de armazenamento de calor</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Tempo de difusão de calor através da parede </a:t>
                          </a:r>
                          <a:r>
                            <a:rPr lang="pt-BR" sz="1400" i="1" baseline="0" dirty="0" smtClean="0"/>
                            <a:t>t</a:t>
                          </a:r>
                          <a:r>
                            <a:rPr lang="pt-BR" sz="1400" baseline="0" dirty="0" smtClean="0"/>
                            <a:t> </a:t>
                          </a:r>
                          <a14:m>
                            <m:oMath xmlns:m="http://schemas.openxmlformats.org/officeDocument/2006/math">
                              <m:r>
                                <a:rPr lang="pt-BR" sz="1400" i="1" baseline="0" dirty="0" smtClean="0">
                                  <a:latin typeface="Cambria Math"/>
                                  <a:ea typeface="Cambria Math"/>
                                </a:rPr>
                                <m:t>≈</m:t>
                              </m:r>
                            </m:oMath>
                          </a14:m>
                          <a:r>
                            <a:rPr lang="pt-BR" sz="1400" baseline="0" dirty="0" smtClean="0"/>
                            <a:t> 12 h</a:t>
                          </a:r>
                        </a:p>
                        <a:p>
                          <a:r>
                            <a:rPr lang="pt-BR" sz="1400" i="0" baseline="0" dirty="0" smtClean="0"/>
                            <a:t>Espessura da parede </a:t>
                          </a:r>
                          <a14:m>
                            <m:oMath xmlns:m="http://schemas.openxmlformats.org/officeDocument/2006/math">
                              <m:r>
                                <a:rPr lang="pt-BR" sz="1400" i="1" baseline="0" smtClean="0">
                                  <a:latin typeface="Cambria Math"/>
                                  <a:ea typeface="Cambria Math"/>
                                </a:rPr>
                                <m:t>≤</m:t>
                              </m:r>
                            </m:oMath>
                          </a14:m>
                          <a:r>
                            <a:rPr lang="pt-BR" sz="1400" i="0" baseline="0" dirty="0" smtClean="0"/>
                            <a:t> 0,5 m</a:t>
                          </a:r>
                        </a:p>
                        <a:p>
                          <a:r>
                            <a:rPr lang="pt-BR" sz="1400" i="0" baseline="0" dirty="0" smtClean="0"/>
                            <a:t>Temperatura de operação adequada </a:t>
                          </a:r>
                          <a:r>
                            <a:rPr lang="pt-BR" sz="1400" i="1" baseline="0" dirty="0" err="1" smtClean="0"/>
                            <a:t>T</a:t>
                          </a:r>
                          <a:r>
                            <a:rPr lang="pt-BR" sz="1400" i="0" baseline="-25000" dirty="0" err="1" smtClean="0"/>
                            <a:t>máx</a:t>
                          </a:r>
                          <a:r>
                            <a:rPr lang="pt-BR" sz="1400" i="0" baseline="0" dirty="0" smtClean="0"/>
                            <a:t> &gt; 100</a:t>
                          </a:r>
                          <a:r>
                            <a:rPr lang="pt-BR" sz="1400" i="0" baseline="30000" dirty="0" smtClean="0"/>
                            <a:t>o</a:t>
                          </a:r>
                          <a:r>
                            <a:rPr lang="pt-BR" sz="1400" i="0" baseline="0" dirty="0" smtClean="0"/>
                            <a:t>C</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Maximizar</a:t>
                          </a:r>
                          <a:r>
                            <a:rPr lang="pt-BR" sz="1400" i="0" baseline="0" dirty="0" smtClean="0"/>
                            <a:t> a energia térmica armazenada por unidade de custo de material</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Espessura da parede do forno, </a:t>
                          </a:r>
                          <a:r>
                            <a:rPr lang="pt-BR" sz="1400" i="1" baseline="0" dirty="0" smtClean="0"/>
                            <a:t>w</a:t>
                          </a:r>
                        </a:p>
                        <a:p>
                          <a:r>
                            <a:rPr lang="pt-BR" sz="1400" baseline="0" dirty="0" smtClean="0"/>
                            <a:t>Escolha do material</a:t>
                          </a:r>
                        </a:p>
                      </a:txBody>
                      <a:tcPr/>
                    </a:tc>
                  </a:tr>
                </a:tbl>
              </a:graphicData>
            </a:graphic>
          </p:graphicFrame>
        </mc:Choice>
        <mc:Fallback xmlns="">
          <p:graphicFrame>
            <p:nvGraphicFramePr>
              <p:cNvPr id="10" name="Tabela 9"/>
              <p:cNvGraphicFramePr>
                <a:graphicFrameLocks noGrp="1"/>
              </p:cNvGraphicFramePr>
              <p:nvPr>
                <p:extLst>
                  <p:ext uri="{D42A27DB-BD31-4B8C-83A1-F6EECF244321}">
                    <p14:modId xmlns:p14="http://schemas.microsoft.com/office/powerpoint/2010/main" val="60608489"/>
                  </p:ext>
                </p:extLst>
              </p:nvPr>
            </p:nvGraphicFramePr>
            <p:xfrm>
              <a:off x="152400" y="1066800"/>
              <a:ext cx="8686800" cy="236220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a:t>
                          </a:r>
                          <a:r>
                            <a:rPr lang="pt-BR" sz="1200" dirty="0" smtClean="0"/>
                            <a:t>6.27 </a:t>
                          </a:r>
                          <a:r>
                            <a:rPr lang="pt-BR" sz="1200" dirty="0" smtClean="0"/>
                            <a:t>–</a:t>
                          </a:r>
                          <a:r>
                            <a:rPr lang="pt-BR" sz="1200" baseline="0" dirty="0" smtClean="0"/>
                            <a:t> Requisitos de projeto </a:t>
                          </a:r>
                          <a:r>
                            <a:rPr lang="pt-BR" sz="1200" baseline="0" dirty="0" smtClean="0"/>
                            <a:t>Aquecimento Solar Passivo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Meio de armazenamento de calor</a:t>
                          </a:r>
                          <a:endParaRPr lang="en-US" sz="1400" dirty="0"/>
                        </a:p>
                      </a:txBody>
                      <a:tcPr/>
                    </a:tc>
                  </a:tr>
                  <a:tr h="73152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5"/>
                          <a:stretch>
                            <a:fillRect l="-26892" t="-102500" b="-129167"/>
                          </a:stretch>
                        </a:blipFill>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Maximizar</a:t>
                          </a:r>
                          <a:r>
                            <a:rPr lang="pt-BR" sz="1400" i="0" baseline="0" dirty="0" smtClean="0"/>
                            <a:t> a energia térmica armazenada por unidade de custo de material</a:t>
                          </a:r>
                          <a:endParaRPr lang="pt-BR" sz="1400" i="1" dirty="0" smtClean="0"/>
                        </a:p>
                      </a:txBody>
                      <a:tcPr/>
                    </a:tc>
                  </a:tr>
                  <a:tr h="51816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Espessura da parede do forno, </a:t>
                          </a:r>
                          <a:r>
                            <a:rPr lang="pt-BR" sz="1400" i="1" baseline="0" dirty="0" smtClean="0"/>
                            <a:t>w</a:t>
                          </a:r>
                        </a:p>
                        <a:p>
                          <a:r>
                            <a:rPr lang="pt-BR" sz="1400" baseline="0" dirty="0" smtClean="0"/>
                            <a:t>Escolha </a:t>
                          </a:r>
                          <a:r>
                            <a:rPr lang="pt-BR" sz="1400" baseline="0" dirty="0" smtClean="0"/>
                            <a:t>do </a:t>
                          </a:r>
                          <a:r>
                            <a:rPr lang="pt-BR" sz="1400" baseline="0" dirty="0" smtClean="0"/>
                            <a:t>material</a:t>
                          </a:r>
                        </a:p>
                      </a:txBody>
                      <a:tcPr/>
                    </a:tc>
                  </a:tr>
                </a:tbl>
              </a:graphicData>
            </a:graphic>
          </p:graphicFrame>
        </mc:Fallback>
      </mc:AlternateContent>
    </p:spTree>
    <p:extLst>
      <p:ext uri="{BB962C8B-B14F-4D97-AF65-F5344CB8AC3E}">
        <p14:creationId xmlns:p14="http://schemas.microsoft.com/office/powerpoint/2010/main" val="73168710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95400"/>
            <a:ext cx="6400800" cy="482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p:cNvSpPr>
            <a:spLocks noGrp="1"/>
          </p:cNvSpPr>
          <p:nvPr>
            <p:ph type="title"/>
          </p:nvPr>
        </p:nvSpPr>
        <p:spPr>
          <a:xfrm>
            <a:off x="457200" y="152400"/>
            <a:ext cx="8229600" cy="1143000"/>
          </a:xfrm>
        </p:spPr>
        <p:txBody>
          <a:bodyPr>
            <a:normAutofit fontScale="90000"/>
          </a:bodyPr>
          <a:lstStyle/>
          <a:p>
            <a:r>
              <a:rPr lang="pt-BR" dirty="0" smtClean="0"/>
              <a:t>Materiais para Paredes que Armazenam Calor</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4" name="TextBox 3"/>
          <p:cNvSpPr txBox="1"/>
          <p:nvPr/>
        </p:nvSpPr>
        <p:spPr>
          <a:xfrm>
            <a:off x="4157462" y="6134731"/>
            <a:ext cx="829073" cy="246221"/>
          </a:xfrm>
          <a:prstGeom prst="rect">
            <a:avLst/>
          </a:prstGeom>
          <a:noFill/>
        </p:spPr>
        <p:txBody>
          <a:bodyPr wrap="none" rtlCol="0">
            <a:spAutoFit/>
          </a:bodyPr>
          <a:lstStyle/>
          <a:p>
            <a:pPr algn="ctr"/>
            <a:r>
              <a:rPr lang="en-US" sz="1000" dirty="0" smtClean="0"/>
              <a:t>Figura 6.28</a:t>
            </a:r>
            <a:endParaRPr lang="en-US" sz="1000" dirty="0"/>
          </a:p>
        </p:txBody>
      </p:sp>
    </p:spTree>
    <p:extLst>
      <p:ext uri="{BB962C8B-B14F-4D97-AF65-F5344CB8AC3E}">
        <p14:creationId xmlns:p14="http://schemas.microsoft.com/office/powerpoint/2010/main" val="2537602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371600" y="3505200"/>
            <a:ext cx="6400800" cy="1752600"/>
          </a:xfrm>
          <a:solidFill>
            <a:schemeClr val="accent5">
              <a:lumMod val="75000"/>
            </a:schemeClr>
          </a:solidFill>
        </p:spPr>
        <p:txBody>
          <a:bodyPr>
            <a:normAutofit/>
          </a:bodyPr>
          <a:lstStyle/>
          <a:p>
            <a:r>
              <a:rPr lang="pt-BR" dirty="0" smtClean="0"/>
              <a:t>Cimento, concreto e pedras são escolhas práticas, tijolos não são tão bons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746804601"/>
                  </p:ext>
                </p:extLst>
              </p:nvPr>
            </p:nvGraphicFramePr>
            <p:xfrm>
              <a:off x="152400" y="381000"/>
              <a:ext cx="8915400" cy="2680907"/>
            </p:xfrm>
            <a:graphic>
              <a:graphicData uri="http://schemas.openxmlformats.org/drawingml/2006/table">
                <a:tbl>
                  <a:tblPr firstRow="1" bandRow="1">
                    <a:tableStyleId>{68D230F3-CF80-4859-8CE7-A43EE81993B5}</a:tableStyleId>
                  </a:tblPr>
                  <a:tblGrid>
                    <a:gridCol w="1341254"/>
                    <a:gridCol w="1363846"/>
                    <a:gridCol w="1397562"/>
                    <a:gridCol w="4812738"/>
                  </a:tblGrid>
                  <a:tr h="487680">
                    <a:tc gridSpan="4">
                      <a:txBody>
                        <a:bodyPr/>
                        <a:lstStyle/>
                        <a:p>
                          <a:r>
                            <a:rPr lang="pt-BR" sz="1400" dirty="0" smtClean="0">
                              <a:solidFill>
                                <a:srgbClr val="FFFF00"/>
                              </a:solidFill>
                            </a:rPr>
                            <a:t>Tabela 6.28 – Materiais para Armazenamento</a:t>
                          </a:r>
                          <a:r>
                            <a:rPr lang="pt-BR" sz="1400" baseline="0" dirty="0" smtClean="0">
                              <a:solidFill>
                                <a:srgbClr val="FFFF00"/>
                              </a:solidFill>
                            </a:rPr>
                            <a:t> de Calor Solar Passivo</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Concreto</a:t>
                          </a:r>
                        </a:p>
                        <a:p>
                          <a:pPr algn="ctr"/>
                          <a:endParaRPr lang="pt-BR" sz="1050" baseline="0" dirty="0" smtClean="0"/>
                        </a:p>
                        <a:p>
                          <a:pPr algn="ctr"/>
                          <a:r>
                            <a:rPr lang="pt-BR" sz="1050" baseline="0" dirty="0" smtClean="0"/>
                            <a:t>Pedra</a:t>
                          </a:r>
                        </a:p>
                        <a:p>
                          <a:pPr algn="ctr"/>
                          <a:endParaRPr lang="pt-BR" sz="1050" baseline="0" dirty="0" smtClean="0"/>
                        </a:p>
                        <a:p>
                          <a:pPr algn="ctr"/>
                          <a:endParaRPr lang="pt-BR" sz="1050" baseline="0" dirty="0" smtClean="0"/>
                        </a:p>
                        <a:p>
                          <a:pPr algn="ctr"/>
                          <a:r>
                            <a:rPr lang="pt-BR" sz="1050" baseline="0" dirty="0" smtClean="0"/>
                            <a:t>Tijolo</a:t>
                          </a:r>
                        </a:p>
                        <a:p>
                          <a:pPr algn="ctr"/>
                          <a:endParaRPr lang="pt-BR" sz="1050" baseline="0" dirty="0" smtClean="0"/>
                        </a:p>
                        <a:p>
                          <a:pPr algn="ctr"/>
                          <a:r>
                            <a:rPr lang="pt-BR" sz="1050" baseline="0" dirty="0" smtClean="0"/>
                            <a:t>Vidro</a:t>
                          </a:r>
                        </a:p>
                        <a:p>
                          <a:pPr algn="ctr"/>
                          <a:endParaRPr lang="pt-BR" sz="1050" baseline="0" dirty="0" smtClean="0"/>
                        </a:p>
                        <a:p>
                          <a:pPr algn="ctr"/>
                          <a:r>
                            <a:rPr lang="pt-BR" sz="1050" baseline="0" dirty="0" smtClean="0"/>
                            <a:t>Ti</a:t>
                          </a:r>
                        </a:p>
                      </a:txBody>
                      <a:tcPr>
                        <a:solidFill>
                          <a:schemeClr val="accent1"/>
                        </a:solidFill>
                      </a:tcPr>
                    </a:tc>
                    <a:tc>
                      <a:txBody>
                        <a:bodyPr/>
                        <a:lstStyle/>
                        <a:p>
                          <a:pPr marL="0" algn="ctr" defTabSz="914400" rtl="0" eaLnBrk="1" latinLnBrk="0" hangingPunct="1"/>
                          <a14:m>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r>
                                    <a:rPr lang="pt-BR" sz="1100" b="1" i="1" kern="1200" baseline="0" smtClean="0">
                                      <a:solidFill>
                                        <a:srgbClr val="FFFF00"/>
                                      </a:solidFill>
                                      <a:latin typeface="Cambria Math"/>
                                      <a:ea typeface="Cambria Math"/>
                                      <a:cs typeface="+mn-cs"/>
                                    </a:rPr>
                                    <m:t>𝝀</m:t>
                                  </m:r>
                                </m:num>
                                <m:den>
                                  <m:sSup>
                                    <m:sSupPr>
                                      <m:ctrlPr>
                                        <a:rPr lang="pt-BR" sz="1100" b="1" i="1" kern="1200" baseline="0" smtClean="0">
                                          <a:solidFill>
                                            <a:srgbClr val="FFFF00"/>
                                          </a:solidFill>
                                          <a:latin typeface="Cambria Math"/>
                                          <a:ea typeface="+mn-ea"/>
                                          <a:cs typeface="+mn-cs"/>
                                        </a:rPr>
                                      </m:ctrlPr>
                                    </m:sSupPr>
                                    <m:e>
                                      <m:r>
                                        <a:rPr lang="pt-BR" sz="1100" b="1" i="1" kern="1200" baseline="0" smtClean="0">
                                          <a:solidFill>
                                            <a:srgbClr val="FFFF00"/>
                                          </a:solidFill>
                                          <a:latin typeface="Cambria Math"/>
                                          <a:ea typeface="+mn-ea"/>
                                          <a:cs typeface="+mn-cs"/>
                                        </a:rPr>
                                        <m:t>𝒂</m:t>
                                      </m:r>
                                    </m:e>
                                    <m:sup>
                                      <m:r>
                                        <a:rPr lang="pt-BR" sz="1100" b="1" i="1" kern="1200" baseline="0" smtClean="0">
                                          <a:solidFill>
                                            <a:srgbClr val="FFFF00"/>
                                          </a:solidFill>
                                          <a:latin typeface="Cambria Math"/>
                                          <a:ea typeface="+mn-ea"/>
                                          <a:cs typeface="+mn-cs"/>
                                        </a:rPr>
                                        <m:t>𝟏</m:t>
                                      </m:r>
                                      <m:r>
                                        <a:rPr lang="pt-BR" sz="1100" b="1" i="1" kern="1200" baseline="0" smtClean="0">
                                          <a:solidFill>
                                            <a:srgbClr val="FFFF00"/>
                                          </a:solidFill>
                                          <a:latin typeface="Cambria Math"/>
                                          <a:ea typeface="+mn-ea"/>
                                          <a:cs typeface="+mn-cs"/>
                                        </a:rPr>
                                        <m:t>/</m:t>
                                      </m:r>
                                      <m:r>
                                        <a:rPr lang="pt-BR" sz="1100" b="1" i="1" kern="1200" baseline="0" smtClean="0">
                                          <a:solidFill>
                                            <a:srgbClr val="FFFF00"/>
                                          </a:solidFill>
                                          <a:latin typeface="Cambria Math"/>
                                          <a:ea typeface="+mn-ea"/>
                                          <a:cs typeface="+mn-cs"/>
                                        </a:rPr>
                                        <m:t>𝟐</m:t>
                                      </m:r>
                                    </m:sup>
                                  </m:sSup>
                                </m:den>
                              </m:f>
                            </m:oMath>
                          </a14:m>
                          <a:r>
                            <a:rPr lang="pt-BR" sz="1100" b="1" kern="1200" baseline="0" dirty="0" smtClean="0">
                              <a:solidFill>
                                <a:srgbClr val="FFFF00"/>
                              </a:solidFill>
                              <a:latin typeface="+mn-lt"/>
                              <a:ea typeface="+mn-ea"/>
                              <a:cs typeface="+mn-cs"/>
                            </a:rPr>
                            <a:t> (W.s</a:t>
                          </a:r>
                          <a:r>
                            <a:rPr lang="pt-BR" sz="1100" b="1" kern="1200" baseline="30000" dirty="0" smtClean="0">
                              <a:solidFill>
                                <a:srgbClr val="FFFF00"/>
                              </a:solidFill>
                              <a:latin typeface="+mn-lt"/>
                              <a:ea typeface="+mn-ea"/>
                              <a:cs typeface="+mn-cs"/>
                            </a:rPr>
                            <a:t>1/2</a:t>
                          </a:r>
                          <a:r>
                            <a:rPr lang="pt-BR" sz="1100" b="1" kern="1200" baseline="0" dirty="0" smtClean="0">
                              <a:solidFill>
                                <a:srgbClr val="FFFF00"/>
                              </a:solidFill>
                              <a:latin typeface="+mn-lt"/>
                              <a:ea typeface="+mn-ea"/>
                              <a:cs typeface="+mn-cs"/>
                            </a:rPr>
                            <a:t>/m</a:t>
                          </a:r>
                          <a:r>
                            <a:rPr lang="pt-BR" sz="1100" b="1" kern="1200" baseline="30000" dirty="0" smtClean="0">
                              <a:solidFill>
                                <a:srgbClr val="FFFF00"/>
                              </a:solidFill>
                              <a:latin typeface="+mn-lt"/>
                              <a:ea typeface="+mn-ea"/>
                              <a:cs typeface="+mn-cs"/>
                            </a:rPr>
                            <a:t>2</a:t>
                          </a:r>
                          <a:r>
                            <a:rPr lang="pt-BR" sz="1100" b="1" kern="1200" baseline="0" dirty="0" smtClean="0">
                              <a:solidFill>
                                <a:srgbClr val="FFFF00"/>
                              </a:solidFill>
                              <a:latin typeface="+mn-lt"/>
                              <a:ea typeface="+mn-ea"/>
                              <a:cs typeface="+mn-cs"/>
                            </a:rPr>
                            <a:t>K)</a:t>
                          </a:r>
                        </a:p>
                        <a:p>
                          <a:pPr algn="ctr"/>
                          <a:endParaRPr lang="pt-BR" sz="1050" b="1" baseline="0" dirty="0" smtClean="0">
                            <a:solidFill>
                              <a:srgbClr val="FFFF00"/>
                            </a:solidFill>
                          </a:endParaRPr>
                        </a:p>
                        <a:p>
                          <a:pPr algn="ctr"/>
                          <a:r>
                            <a:rPr lang="pt-BR" sz="1050" b="0" baseline="0" dirty="0" smtClean="0">
                              <a:solidFill>
                                <a:schemeClr val="tx1"/>
                              </a:solidFill>
                            </a:rPr>
                            <a:t>2,2 x 10</a:t>
                          </a:r>
                          <a:r>
                            <a:rPr lang="pt-BR" sz="1050" b="0" baseline="30000" dirty="0" smtClean="0">
                              <a:solidFill>
                                <a:schemeClr val="tx1"/>
                              </a:solidFill>
                            </a:rPr>
                            <a:t>3</a:t>
                          </a:r>
                        </a:p>
                        <a:p>
                          <a:pPr algn="ctr"/>
                          <a:endParaRPr lang="pt-BR" sz="1050" b="0" baseline="0" dirty="0" smtClean="0">
                            <a:solidFill>
                              <a:schemeClr val="tx1"/>
                            </a:solidFill>
                          </a:endParaRPr>
                        </a:p>
                        <a:p>
                          <a:pPr algn="ctr"/>
                          <a:r>
                            <a:rPr lang="pt-BR" sz="1050" b="0" baseline="0" dirty="0" smtClean="0">
                              <a:solidFill>
                                <a:schemeClr val="tx1"/>
                              </a:solidFill>
                            </a:rPr>
                            <a:t>3,5 x 10</a:t>
                          </a:r>
                          <a:r>
                            <a:rPr lang="pt-BR" sz="1050" b="0" baseline="30000" dirty="0" smtClean="0">
                              <a:solidFill>
                                <a:schemeClr val="tx1"/>
                              </a:solidFill>
                            </a:rPr>
                            <a:t>3</a:t>
                          </a: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10</a:t>
                          </a:r>
                          <a:r>
                            <a:rPr lang="pt-BR" sz="1050" b="0" baseline="30000" dirty="0" smtClean="0">
                              <a:solidFill>
                                <a:schemeClr val="tx1"/>
                              </a:solidFill>
                            </a:rPr>
                            <a:t>3</a:t>
                          </a:r>
                        </a:p>
                        <a:p>
                          <a:pPr algn="ctr"/>
                          <a:endParaRPr lang="pt-BR" sz="1050" b="0" baseline="0" dirty="0" smtClean="0">
                            <a:solidFill>
                              <a:schemeClr val="tx1"/>
                            </a:solidFill>
                          </a:endParaRPr>
                        </a:p>
                        <a:p>
                          <a:pPr algn="ctr"/>
                          <a:r>
                            <a:rPr lang="pt-BR" sz="1050" b="0" baseline="0" dirty="0" smtClean="0">
                              <a:solidFill>
                                <a:schemeClr val="tx1"/>
                              </a:solidFill>
                            </a:rPr>
                            <a:t>1,6 x 10</a:t>
                          </a:r>
                          <a:r>
                            <a:rPr lang="pt-BR" sz="1050" b="0" baseline="30000" dirty="0" smtClean="0">
                              <a:solidFill>
                                <a:schemeClr val="tx1"/>
                              </a:solidFill>
                            </a:rPr>
                            <a:t>3</a:t>
                          </a:r>
                        </a:p>
                        <a:p>
                          <a:pPr algn="ctr"/>
                          <a:endParaRPr lang="pt-BR" sz="1050" b="0" baseline="0" dirty="0" smtClean="0">
                            <a:solidFill>
                              <a:schemeClr val="tx1"/>
                            </a:solidFill>
                          </a:endParaRPr>
                        </a:p>
                        <a:p>
                          <a:pPr algn="ctr"/>
                          <a:r>
                            <a:rPr lang="pt-BR" sz="1050" b="0" baseline="0" dirty="0" smtClean="0">
                              <a:solidFill>
                                <a:schemeClr val="tx1"/>
                              </a:solidFill>
                            </a:rPr>
                            <a:t>4,6 x 10</a:t>
                          </a:r>
                          <a:r>
                            <a:rPr lang="pt-BR" sz="1050" b="0" baseline="30000" dirty="0" smtClean="0">
                              <a:solidFill>
                                <a:schemeClr val="tx1"/>
                              </a:solidFill>
                            </a:rPr>
                            <a:t>3</a:t>
                          </a:r>
                        </a:p>
                      </a:txBody>
                      <a:tcPr>
                        <a:solidFill>
                          <a:schemeClr val="accent1"/>
                        </a:solidFill>
                      </a:tcPr>
                    </a:tc>
                    <a:tc>
                      <a:txBody>
                        <a:bodyPr/>
                        <a:lstStyle/>
                        <a:p>
                          <a:pPr algn="ctr"/>
                          <a:r>
                            <a:rPr lang="pt-BR" sz="1050" b="1" baseline="0" dirty="0" smtClean="0">
                              <a:solidFill>
                                <a:srgbClr val="FFFF00"/>
                              </a:solidFill>
                            </a:rPr>
                            <a:t>Custo Aproximado $/m</a:t>
                          </a:r>
                          <a:r>
                            <a:rPr lang="pt-BR" sz="1050" b="1" baseline="30000" dirty="0" smtClean="0">
                              <a:solidFill>
                                <a:srgbClr val="FFFF00"/>
                              </a:solidFill>
                            </a:rPr>
                            <a:t>3</a:t>
                          </a:r>
                        </a:p>
                        <a:p>
                          <a:pPr algn="ctr"/>
                          <a:endParaRPr lang="pt-BR" sz="1050" b="0" baseline="0" dirty="0" smtClean="0">
                            <a:solidFill>
                              <a:schemeClr val="tx1"/>
                            </a:solidFill>
                          </a:endParaRPr>
                        </a:p>
                        <a:p>
                          <a:pPr algn="ctr"/>
                          <a:r>
                            <a:rPr lang="pt-BR" sz="1050" b="0" baseline="0" dirty="0" smtClean="0">
                              <a:solidFill>
                                <a:schemeClr val="tx1"/>
                              </a:solidFill>
                            </a:rPr>
                            <a:t>200</a:t>
                          </a:r>
                        </a:p>
                        <a:p>
                          <a:pPr algn="ctr"/>
                          <a:endParaRPr lang="pt-BR" sz="1050" b="0" baseline="0" dirty="0" smtClean="0">
                            <a:solidFill>
                              <a:schemeClr val="tx1"/>
                            </a:solidFill>
                          </a:endParaRPr>
                        </a:p>
                        <a:p>
                          <a:pPr algn="ctr"/>
                          <a:r>
                            <a:rPr lang="pt-BR" sz="1050" b="0" baseline="0" dirty="0" smtClean="0">
                              <a:solidFill>
                                <a:schemeClr val="tx1"/>
                              </a:solidFill>
                            </a:rPr>
                            <a:t>1.400</a:t>
                          </a: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1.400</a:t>
                          </a:r>
                        </a:p>
                        <a:p>
                          <a:pPr algn="ctr"/>
                          <a:endParaRPr lang="pt-BR" sz="1050" b="0" baseline="0" dirty="0" smtClean="0">
                            <a:solidFill>
                              <a:schemeClr val="tx1"/>
                            </a:solidFill>
                          </a:endParaRPr>
                        </a:p>
                        <a:p>
                          <a:pPr algn="ctr"/>
                          <a:r>
                            <a:rPr lang="pt-BR" sz="1050" b="0" baseline="0" dirty="0" smtClean="0">
                              <a:solidFill>
                                <a:schemeClr val="tx1"/>
                              </a:solidFill>
                            </a:rPr>
                            <a:t>10.000</a:t>
                          </a:r>
                        </a:p>
                        <a:p>
                          <a:pPr algn="ctr"/>
                          <a:endParaRPr lang="pt-BR" sz="1050" b="0" baseline="0" dirty="0" smtClean="0">
                            <a:solidFill>
                              <a:schemeClr val="tx1"/>
                            </a:solidFill>
                          </a:endParaRPr>
                        </a:p>
                        <a:p>
                          <a:pPr algn="ctr"/>
                          <a:r>
                            <a:rPr lang="pt-BR" sz="1050" b="0" baseline="0" dirty="0" smtClean="0">
                              <a:solidFill>
                                <a:schemeClr val="tx1"/>
                              </a:solidFill>
                            </a:rPr>
                            <a:t>200.000</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baseline="0" dirty="0" smtClean="0">
                              <a:solidFill>
                                <a:schemeClr val="tx1"/>
                              </a:solidFill>
                            </a:rPr>
                            <a:t>A melhor escolha – Bom desempenho e custo mínimo</a:t>
                          </a:r>
                        </a:p>
                        <a:p>
                          <a:pPr algn="ctr"/>
                          <a:endParaRPr lang="pt-BR" sz="1050" b="1" baseline="0" dirty="0" smtClean="0">
                            <a:solidFill>
                              <a:schemeClr val="tx1"/>
                            </a:solidFill>
                          </a:endParaRPr>
                        </a:p>
                        <a:p>
                          <a:pPr algn="ctr"/>
                          <a:r>
                            <a:rPr lang="pt-BR" sz="1050" b="1" baseline="0" dirty="0" smtClean="0">
                              <a:solidFill>
                                <a:schemeClr val="tx1"/>
                              </a:solidFill>
                            </a:rPr>
                            <a:t>Melhor desempenho do que o concreto por que o calor específico é maior, porém é mais cara</a:t>
                          </a:r>
                        </a:p>
                        <a:p>
                          <a:pPr algn="ctr"/>
                          <a:endParaRPr lang="pt-BR" sz="1050" b="1" baseline="0" dirty="0" smtClean="0">
                            <a:solidFill>
                              <a:schemeClr val="tx1"/>
                            </a:solidFill>
                          </a:endParaRPr>
                        </a:p>
                        <a:p>
                          <a:pPr algn="ctr"/>
                          <a:r>
                            <a:rPr lang="pt-BR" sz="1050" b="1" baseline="0" dirty="0" smtClean="0">
                              <a:solidFill>
                                <a:schemeClr val="tx1"/>
                              </a:solidFill>
                            </a:rPr>
                            <a:t>Não é tão bom quanto o concreto</a:t>
                          </a:r>
                        </a:p>
                        <a:p>
                          <a:pPr algn="ctr"/>
                          <a:endParaRPr lang="pt-BR" sz="1050" b="1" baseline="0" dirty="0" smtClean="0">
                            <a:solidFill>
                              <a:schemeClr val="tx1"/>
                            </a:solidFill>
                          </a:endParaRPr>
                        </a:p>
                        <a:p>
                          <a:pPr algn="ctr"/>
                          <a:r>
                            <a:rPr lang="pt-BR" sz="1050" b="1" baseline="0" dirty="0" smtClean="0">
                              <a:solidFill>
                                <a:schemeClr val="tx1"/>
                              </a:solidFill>
                            </a:rPr>
                            <a:t>Útil – parte da parede poderia ser de vidro</a:t>
                          </a:r>
                        </a:p>
                        <a:p>
                          <a:pPr algn="ctr"/>
                          <a:endParaRPr lang="pt-BR" sz="1050" b="1" baseline="0" dirty="0" smtClean="0">
                            <a:solidFill>
                              <a:schemeClr val="tx1"/>
                            </a:solidFill>
                          </a:endParaRPr>
                        </a:p>
                        <a:p>
                          <a:pPr algn="ctr"/>
                          <a:r>
                            <a:rPr lang="pt-BR" sz="1050" b="1" baseline="0" dirty="0" smtClean="0">
                              <a:solidFill>
                                <a:schemeClr val="tx1"/>
                              </a:solidFill>
                            </a:rPr>
                            <a:t>Uma seleção inesperada, mas válida; é cara</a:t>
                          </a: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746804601"/>
                  </p:ext>
                </p:extLst>
              </p:nvPr>
            </p:nvGraphicFramePr>
            <p:xfrm>
              <a:off x="152400" y="381000"/>
              <a:ext cx="8915400" cy="2680907"/>
            </p:xfrm>
            <a:graphic>
              <a:graphicData uri="http://schemas.openxmlformats.org/drawingml/2006/table">
                <a:tbl>
                  <a:tblPr firstRow="1" bandRow="1">
                    <a:tableStyleId>{68D230F3-CF80-4859-8CE7-A43EE81993B5}</a:tableStyleId>
                  </a:tblPr>
                  <a:tblGrid>
                    <a:gridCol w="1341254"/>
                    <a:gridCol w="1363846"/>
                    <a:gridCol w="1397562"/>
                    <a:gridCol w="4812738"/>
                  </a:tblGrid>
                  <a:tr h="487680">
                    <a:tc gridSpan="4">
                      <a:txBody>
                        <a:bodyPr/>
                        <a:lstStyle/>
                        <a:p>
                          <a:r>
                            <a:rPr lang="pt-BR" sz="1400" dirty="0" smtClean="0">
                              <a:solidFill>
                                <a:srgbClr val="FFFF00"/>
                              </a:solidFill>
                            </a:rPr>
                            <a:t>Tabela 6.28 – Materiais para Armazenamento</a:t>
                          </a:r>
                          <a:r>
                            <a:rPr lang="pt-BR" sz="1400" baseline="0" dirty="0" smtClean="0">
                              <a:solidFill>
                                <a:srgbClr val="FFFF00"/>
                              </a:solidFill>
                            </a:rPr>
                            <a:t> de Calor Solar Passivo</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2193227">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Concreto</a:t>
                          </a:r>
                        </a:p>
                        <a:p>
                          <a:pPr algn="ctr"/>
                          <a:endParaRPr lang="pt-BR" sz="1050" baseline="0" dirty="0" smtClean="0"/>
                        </a:p>
                        <a:p>
                          <a:pPr algn="ctr"/>
                          <a:r>
                            <a:rPr lang="pt-BR" sz="1050" baseline="0" dirty="0" smtClean="0"/>
                            <a:t>Pedra</a:t>
                          </a:r>
                        </a:p>
                        <a:p>
                          <a:pPr algn="ctr"/>
                          <a:endParaRPr lang="pt-BR" sz="1050" baseline="0" dirty="0" smtClean="0"/>
                        </a:p>
                        <a:p>
                          <a:pPr algn="ctr"/>
                          <a:endParaRPr lang="pt-BR" sz="1050" baseline="0" dirty="0" smtClean="0"/>
                        </a:p>
                        <a:p>
                          <a:pPr algn="ctr"/>
                          <a:r>
                            <a:rPr lang="pt-BR" sz="1050" baseline="0" dirty="0" smtClean="0"/>
                            <a:t>Tijolo</a:t>
                          </a:r>
                        </a:p>
                        <a:p>
                          <a:pPr algn="ctr"/>
                          <a:endParaRPr lang="pt-BR" sz="1050" baseline="0" dirty="0" smtClean="0"/>
                        </a:p>
                        <a:p>
                          <a:pPr algn="ctr"/>
                          <a:r>
                            <a:rPr lang="pt-BR" sz="1050" baseline="0" dirty="0" smtClean="0"/>
                            <a:t>Vidro</a:t>
                          </a:r>
                        </a:p>
                        <a:p>
                          <a:pPr algn="ctr"/>
                          <a:endParaRPr lang="pt-BR" sz="1050" baseline="0" dirty="0" smtClean="0"/>
                        </a:p>
                        <a:p>
                          <a:pPr algn="ctr"/>
                          <a:r>
                            <a:rPr lang="pt-BR" sz="1050" baseline="0" dirty="0" smtClean="0"/>
                            <a:t>Ti</a:t>
                          </a:r>
                        </a:p>
                      </a:txBody>
                      <a:tcPr>
                        <a:solidFill>
                          <a:schemeClr val="accent1"/>
                        </a:solidFill>
                      </a:tcPr>
                    </a:tc>
                    <a:tc>
                      <a:txBody>
                        <a:bodyPr/>
                        <a:lstStyle/>
                        <a:p>
                          <a:endParaRPr lang="en-US"/>
                        </a:p>
                      </a:txBody>
                      <a:tcPr>
                        <a:blipFill rotWithShape="1">
                          <a:blip r:embed="rId2"/>
                          <a:stretch>
                            <a:fillRect l="-98214" t="-22563" r="-454911" b="-1671"/>
                          </a:stretch>
                        </a:blipFill>
                      </a:tcPr>
                    </a:tc>
                    <a:tc>
                      <a:txBody>
                        <a:bodyPr/>
                        <a:lstStyle/>
                        <a:p>
                          <a:pPr algn="ctr"/>
                          <a:r>
                            <a:rPr lang="pt-BR" sz="1050" b="1" baseline="0" dirty="0" smtClean="0">
                              <a:solidFill>
                                <a:srgbClr val="FFFF00"/>
                              </a:solidFill>
                            </a:rPr>
                            <a:t>Custo Aproximado $/m</a:t>
                          </a:r>
                          <a:r>
                            <a:rPr lang="pt-BR" sz="1050" b="1" baseline="30000" dirty="0" smtClean="0">
                              <a:solidFill>
                                <a:srgbClr val="FFFF00"/>
                              </a:solidFill>
                            </a:rPr>
                            <a:t>3</a:t>
                          </a:r>
                        </a:p>
                        <a:p>
                          <a:pPr algn="ctr"/>
                          <a:endParaRPr lang="pt-BR" sz="1050" b="0" baseline="0" dirty="0" smtClean="0">
                            <a:solidFill>
                              <a:schemeClr val="tx1"/>
                            </a:solidFill>
                          </a:endParaRPr>
                        </a:p>
                        <a:p>
                          <a:pPr algn="ctr"/>
                          <a:r>
                            <a:rPr lang="pt-BR" sz="1050" b="0" baseline="0" dirty="0" smtClean="0">
                              <a:solidFill>
                                <a:schemeClr val="tx1"/>
                              </a:solidFill>
                            </a:rPr>
                            <a:t>200</a:t>
                          </a:r>
                        </a:p>
                        <a:p>
                          <a:pPr algn="ctr"/>
                          <a:endParaRPr lang="pt-BR" sz="1050" b="0" baseline="0" dirty="0" smtClean="0">
                            <a:solidFill>
                              <a:schemeClr val="tx1"/>
                            </a:solidFill>
                          </a:endParaRPr>
                        </a:p>
                        <a:p>
                          <a:pPr algn="ctr"/>
                          <a:r>
                            <a:rPr lang="pt-BR" sz="1050" b="0" baseline="0" dirty="0" smtClean="0">
                              <a:solidFill>
                                <a:schemeClr val="tx1"/>
                              </a:solidFill>
                            </a:rPr>
                            <a:t>1.400</a:t>
                          </a:r>
                        </a:p>
                        <a:p>
                          <a:pPr algn="ct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1.400</a:t>
                          </a:r>
                        </a:p>
                        <a:p>
                          <a:pPr algn="ctr"/>
                          <a:endParaRPr lang="pt-BR" sz="1050" b="0" baseline="0" dirty="0" smtClean="0">
                            <a:solidFill>
                              <a:schemeClr val="tx1"/>
                            </a:solidFill>
                          </a:endParaRPr>
                        </a:p>
                        <a:p>
                          <a:pPr algn="ctr"/>
                          <a:r>
                            <a:rPr lang="pt-BR" sz="1050" b="0" baseline="0" dirty="0" smtClean="0">
                              <a:solidFill>
                                <a:schemeClr val="tx1"/>
                              </a:solidFill>
                            </a:rPr>
                            <a:t>10.000</a:t>
                          </a:r>
                        </a:p>
                        <a:p>
                          <a:pPr algn="ctr"/>
                          <a:endParaRPr lang="pt-BR" sz="1050" b="0" baseline="0" dirty="0" smtClean="0">
                            <a:solidFill>
                              <a:schemeClr val="tx1"/>
                            </a:solidFill>
                          </a:endParaRPr>
                        </a:p>
                        <a:p>
                          <a:pPr algn="ctr"/>
                          <a:r>
                            <a:rPr lang="pt-BR" sz="1050" b="0" baseline="0" dirty="0" smtClean="0">
                              <a:solidFill>
                                <a:schemeClr val="tx1"/>
                              </a:solidFill>
                            </a:rPr>
                            <a:t>200.000</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baseline="0" dirty="0" smtClean="0">
                              <a:solidFill>
                                <a:schemeClr val="tx1"/>
                              </a:solidFill>
                            </a:rPr>
                            <a:t>A melhor escolha – Bom desempenho e custo mínimo</a:t>
                          </a:r>
                        </a:p>
                        <a:p>
                          <a:pPr algn="ctr"/>
                          <a:endParaRPr lang="pt-BR" sz="1050" b="1" baseline="0" dirty="0" smtClean="0">
                            <a:solidFill>
                              <a:schemeClr val="tx1"/>
                            </a:solidFill>
                          </a:endParaRPr>
                        </a:p>
                        <a:p>
                          <a:pPr algn="ctr"/>
                          <a:r>
                            <a:rPr lang="pt-BR" sz="1050" b="1" baseline="0" dirty="0" smtClean="0">
                              <a:solidFill>
                                <a:schemeClr val="tx1"/>
                              </a:solidFill>
                            </a:rPr>
                            <a:t>Melhor desempenho do que o concreto por que o calor específico é maior, porém é mais cara</a:t>
                          </a:r>
                        </a:p>
                        <a:p>
                          <a:pPr algn="ctr"/>
                          <a:endParaRPr lang="pt-BR" sz="1050" b="1" baseline="0" dirty="0" smtClean="0">
                            <a:solidFill>
                              <a:schemeClr val="tx1"/>
                            </a:solidFill>
                          </a:endParaRPr>
                        </a:p>
                        <a:p>
                          <a:pPr algn="ctr"/>
                          <a:r>
                            <a:rPr lang="pt-BR" sz="1050" b="1" baseline="0" dirty="0" smtClean="0">
                              <a:solidFill>
                                <a:schemeClr val="tx1"/>
                              </a:solidFill>
                            </a:rPr>
                            <a:t>Não é tão bom quanto o concreto</a:t>
                          </a:r>
                        </a:p>
                        <a:p>
                          <a:pPr algn="ctr"/>
                          <a:endParaRPr lang="pt-BR" sz="1050" b="1" baseline="0" dirty="0" smtClean="0">
                            <a:solidFill>
                              <a:schemeClr val="tx1"/>
                            </a:solidFill>
                          </a:endParaRPr>
                        </a:p>
                        <a:p>
                          <a:pPr algn="ctr"/>
                          <a:r>
                            <a:rPr lang="pt-BR" sz="1050" b="1" baseline="0" dirty="0" smtClean="0">
                              <a:solidFill>
                                <a:schemeClr val="tx1"/>
                              </a:solidFill>
                            </a:rPr>
                            <a:t>Útil – parte da parede poderia ser de vidro</a:t>
                          </a:r>
                        </a:p>
                        <a:p>
                          <a:pPr algn="ctr"/>
                          <a:endParaRPr lang="pt-BR" sz="1050" b="1" baseline="0" dirty="0" smtClean="0">
                            <a:solidFill>
                              <a:schemeClr val="tx1"/>
                            </a:solidFill>
                          </a:endParaRPr>
                        </a:p>
                        <a:p>
                          <a:pPr algn="ctr"/>
                          <a:r>
                            <a:rPr lang="pt-BR" sz="1050" b="1" baseline="0" dirty="0" smtClean="0">
                              <a:solidFill>
                                <a:schemeClr val="tx1"/>
                              </a:solidFill>
                            </a:rPr>
                            <a:t>Uma seleção inesperada, mas válida; é cara</a:t>
                          </a:r>
                        </a:p>
                      </a:txBody>
                      <a:tcPr>
                        <a:solidFill>
                          <a:schemeClr val="accent1"/>
                        </a:solidFill>
                      </a:tcPr>
                    </a:tc>
                  </a:tr>
                </a:tbl>
              </a:graphicData>
            </a:graphic>
          </p:graphicFrame>
        </mc:Fallback>
      </mc:AlternateContent>
    </p:spTree>
    <p:extLst>
      <p:ext uri="{BB962C8B-B14F-4D97-AF65-F5344CB8AC3E}">
        <p14:creationId xmlns:p14="http://schemas.microsoft.com/office/powerpoint/2010/main" val="3884911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6174" y="3849670"/>
            <a:ext cx="3044826" cy="2245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a:xfrm>
            <a:off x="342900" y="304800"/>
            <a:ext cx="8458200" cy="1143000"/>
          </a:xfrm>
        </p:spPr>
        <p:txBody>
          <a:bodyPr>
            <a:normAutofit fontScale="90000"/>
          </a:bodyPr>
          <a:lstStyle/>
          <a:p>
            <a:r>
              <a:rPr lang="pt-BR" dirty="0" smtClean="0"/>
              <a:t>Materiais para Minimizar a Distorção Térmica em Instrumentos de Medição</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5" name="TextBox 4"/>
          <p:cNvSpPr txBox="1"/>
          <p:nvPr/>
        </p:nvSpPr>
        <p:spPr>
          <a:xfrm>
            <a:off x="2252464" y="6106332"/>
            <a:ext cx="829073" cy="246221"/>
          </a:xfrm>
          <a:prstGeom prst="rect">
            <a:avLst/>
          </a:prstGeom>
          <a:noFill/>
        </p:spPr>
        <p:txBody>
          <a:bodyPr wrap="none" rtlCol="0">
            <a:spAutoFit/>
          </a:bodyPr>
          <a:lstStyle/>
          <a:p>
            <a:pPr algn="ctr"/>
            <a:r>
              <a:rPr lang="en-US" sz="1000" dirty="0" smtClean="0"/>
              <a:t>Figura 6.29</a:t>
            </a:r>
            <a:endParaRPr lang="en-US" sz="1000"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9992" y="4477031"/>
            <a:ext cx="1423987" cy="995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4477031"/>
            <a:ext cx="1328928" cy="996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 name="Tabela 10"/>
          <p:cNvGraphicFramePr>
            <a:graphicFrameLocks noGrp="1"/>
          </p:cNvGraphicFramePr>
          <p:nvPr>
            <p:extLst>
              <p:ext uri="{D42A27DB-BD31-4B8C-83A1-F6EECF244321}">
                <p14:modId xmlns:p14="http://schemas.microsoft.com/office/powerpoint/2010/main" val="4264383800"/>
              </p:ext>
            </p:extLst>
          </p:nvPr>
        </p:nvGraphicFramePr>
        <p:xfrm>
          <a:off x="256592" y="1676400"/>
          <a:ext cx="8686800" cy="200152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6.29 –</a:t>
                      </a:r>
                      <a:r>
                        <a:rPr lang="pt-BR" sz="1200" baseline="0" dirty="0" smtClean="0"/>
                        <a:t> Requisitos de projeto Instrumentos de Precisão</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Arco (estrutura) para dispositivos</a:t>
                      </a:r>
                      <a:r>
                        <a:rPr lang="pt-BR" sz="1400" baseline="0" dirty="0" smtClean="0"/>
                        <a:t> de precisão</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Deve tolerar o fluxo de calor</a:t>
                      </a:r>
                    </a:p>
                    <a:p>
                      <a:r>
                        <a:rPr lang="pt-BR" sz="1400" i="0" baseline="0" dirty="0" smtClean="0"/>
                        <a:t>Deve tolerar vibração</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Maximizar Precisão</a:t>
                      </a:r>
                      <a:r>
                        <a:rPr lang="pt-BR" sz="1400" i="0" baseline="0" dirty="0" smtClean="0"/>
                        <a:t> posicional</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Escolha do material</a:t>
                      </a:r>
                    </a:p>
                  </a:txBody>
                  <a:tcPr/>
                </a:tc>
              </a:tr>
            </a:tbl>
          </a:graphicData>
        </a:graphic>
      </p:graphicFrame>
    </p:spTree>
    <p:extLst>
      <p:ext uri="{BB962C8B-B14F-4D97-AF65-F5344CB8AC3E}">
        <p14:creationId xmlns:p14="http://schemas.microsoft.com/office/powerpoint/2010/main" val="345861530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pt-BR" dirty="0" smtClean="0"/>
              <a:t>Materiais para Instrumentos de Medida de Precisão</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181099" y="1539635"/>
            <a:ext cx="6781800" cy="5004779"/>
            <a:chOff x="1181099" y="1539635"/>
            <a:chExt cx="6781800" cy="5004779"/>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099" y="1539635"/>
              <a:ext cx="6781800" cy="4758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7462" y="6298193"/>
              <a:ext cx="829073" cy="246221"/>
            </a:xfrm>
            <a:prstGeom prst="rect">
              <a:avLst/>
            </a:prstGeom>
            <a:noFill/>
          </p:spPr>
          <p:txBody>
            <a:bodyPr wrap="none" rtlCol="0">
              <a:spAutoFit/>
            </a:bodyPr>
            <a:lstStyle/>
            <a:p>
              <a:pPr algn="ctr"/>
              <a:r>
                <a:rPr lang="en-US" sz="1000" dirty="0" smtClean="0"/>
                <a:t>Figura 6.30</a:t>
              </a:r>
              <a:endParaRPr lang="en-US" sz="1000" dirty="0"/>
            </a:p>
          </p:txBody>
        </p:sp>
      </p:grpSp>
    </p:spTree>
    <p:extLst>
      <p:ext uri="{BB962C8B-B14F-4D97-AF65-F5344CB8AC3E}">
        <p14:creationId xmlns:p14="http://schemas.microsoft.com/office/powerpoint/2010/main" val="328767010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295400" y="3886200"/>
            <a:ext cx="6400800" cy="1752600"/>
          </a:xfrm>
          <a:solidFill>
            <a:schemeClr val="accent5">
              <a:lumMod val="75000"/>
            </a:schemeClr>
          </a:solidFill>
        </p:spPr>
        <p:txBody>
          <a:bodyPr>
            <a:normAutofit fontScale="92500" lnSpcReduction="10000"/>
          </a:bodyPr>
          <a:lstStyle/>
          <a:p>
            <a:r>
              <a:rPr lang="pt-BR" dirty="0" smtClean="0"/>
              <a:t>Metais são piores que os cerâmicos porque apresentam frequências de vibração menores. Silício pode ser a melhor escolha.</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extLst>
                  <p:ext uri="{D42A27DB-BD31-4B8C-83A1-F6EECF244321}">
                    <p14:modId xmlns:p14="http://schemas.microsoft.com/office/powerpoint/2010/main" val="2550529263"/>
                  </p:ext>
                </p:extLst>
              </p:nvPr>
            </p:nvGraphicFramePr>
            <p:xfrm>
              <a:off x="123825" y="457200"/>
              <a:ext cx="8915400" cy="2524951"/>
            </p:xfrm>
            <a:graphic>
              <a:graphicData uri="http://schemas.openxmlformats.org/drawingml/2006/table">
                <a:tbl>
                  <a:tblPr firstRow="1" bandRow="1">
                    <a:tableStyleId>{68D230F3-CF80-4859-8CE7-A43EE81993B5}</a:tableStyleId>
                  </a:tblPr>
                  <a:tblGrid>
                    <a:gridCol w="1341254"/>
                    <a:gridCol w="1554346"/>
                    <a:gridCol w="1324170"/>
                    <a:gridCol w="4695630"/>
                  </a:tblGrid>
                  <a:tr h="487680">
                    <a:tc gridSpan="4">
                      <a:txBody>
                        <a:bodyPr/>
                        <a:lstStyle/>
                        <a:p>
                          <a:r>
                            <a:rPr lang="pt-BR" sz="1400" dirty="0" smtClean="0">
                              <a:solidFill>
                                <a:srgbClr val="FFFF00"/>
                              </a:solidFill>
                            </a:rPr>
                            <a:t>Tabela 6.30 – Materiais para minimizar</a:t>
                          </a:r>
                          <a:r>
                            <a:rPr lang="pt-BR" sz="1400" baseline="0" dirty="0" smtClean="0">
                              <a:solidFill>
                                <a:srgbClr val="FFFF00"/>
                              </a:solidFill>
                            </a:rPr>
                            <a:t> distorção térmica</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Si</a:t>
                          </a:r>
                        </a:p>
                        <a:p>
                          <a:pPr algn="ctr"/>
                          <a:endParaRPr lang="pt-BR" sz="1050" baseline="0" dirty="0" smtClean="0"/>
                        </a:p>
                        <a:p>
                          <a:pPr algn="ctr"/>
                          <a:r>
                            <a:rPr lang="pt-BR" sz="1050" baseline="0" dirty="0" err="1" smtClean="0"/>
                            <a:t>SiC</a:t>
                          </a:r>
                          <a:endParaRPr lang="pt-BR" sz="1050" baseline="0" dirty="0" smtClean="0"/>
                        </a:p>
                        <a:p>
                          <a:pPr algn="ctr"/>
                          <a:endParaRPr lang="pt-BR" sz="1050" baseline="0" dirty="0" smtClean="0"/>
                        </a:p>
                        <a:p>
                          <a:pPr algn="ctr"/>
                          <a:r>
                            <a:rPr lang="pt-BR" sz="1050" baseline="0" dirty="0" smtClean="0"/>
                            <a:t>Cobre</a:t>
                          </a:r>
                        </a:p>
                        <a:p>
                          <a:pPr algn="ctr"/>
                          <a:endParaRPr lang="pt-BR" sz="1050" baseline="0" dirty="0" smtClean="0"/>
                        </a:p>
                        <a:p>
                          <a:pPr algn="ctr"/>
                          <a:r>
                            <a:rPr lang="pt-BR" sz="1050" baseline="0" dirty="0" smtClean="0"/>
                            <a:t>W</a:t>
                          </a:r>
                        </a:p>
                        <a:p>
                          <a:pPr algn="ctr"/>
                          <a:endParaRPr lang="pt-BR" sz="1050" baseline="0" dirty="0" smtClean="0"/>
                        </a:p>
                        <a:p>
                          <a:pPr algn="ctr"/>
                          <a:r>
                            <a:rPr lang="pt-BR" sz="1050" baseline="0" dirty="0" smtClean="0"/>
                            <a:t>Ligas de Al</a:t>
                          </a:r>
                        </a:p>
                      </a:txBody>
                      <a:tcPr>
                        <a:solidFill>
                          <a:schemeClr val="accent1"/>
                        </a:solidFill>
                      </a:tcPr>
                    </a:tc>
                    <a:tc>
                      <a:txBody>
                        <a:bodyPr/>
                        <a:lstStyle/>
                        <a:p>
                          <a:pPr marL="0" algn="ctr" defTabSz="914400" rtl="0" eaLnBrk="1" latinLnBrk="0" hangingPunct="1"/>
                          <a14:m>
                            <m:oMath xmlns:m="http://schemas.openxmlformats.org/officeDocument/2006/math">
                              <m:sSub>
                                <m:sSubPr>
                                  <m:ctrlPr>
                                    <a:rPr lang="pt-BR" sz="1100" b="1" i="1" kern="1200" baseline="0" smtClean="0">
                                      <a:solidFill>
                                        <a:srgbClr val="FFFF00"/>
                                      </a:solidFill>
                                      <a:latin typeface="Cambria Math"/>
                                      <a:ea typeface="+mn-ea"/>
                                      <a:cs typeface="+mn-cs"/>
                                    </a:rPr>
                                  </m:ctrlPr>
                                </m:sSubPr>
                                <m:e>
                                  <m:r>
                                    <a:rPr lang="pt-BR" sz="1100" b="1" i="1" kern="1200" baseline="0" smtClean="0">
                                      <a:solidFill>
                                        <a:srgbClr val="FFFF00"/>
                                      </a:solidFill>
                                      <a:latin typeface="Cambria Math"/>
                                      <a:ea typeface="+mn-ea"/>
                                      <a:cs typeface="+mn-cs"/>
                                    </a:rPr>
                                    <m:t>𝑴</m:t>
                                  </m:r>
                                </m:e>
                                <m:sub>
                                  <m:r>
                                    <a:rPr lang="pt-BR" sz="1100" b="1" i="1" kern="1200" baseline="0" smtClean="0">
                                      <a:solidFill>
                                        <a:srgbClr val="FFFF00"/>
                                      </a:solidFill>
                                      <a:latin typeface="Cambria Math"/>
                                      <a:ea typeface="+mn-ea"/>
                                      <a:cs typeface="+mn-cs"/>
                                    </a:rPr>
                                    <m:t>𝟏</m:t>
                                  </m:r>
                                </m:sub>
                              </m:sSub>
                              <m:r>
                                <a:rPr lang="pt-BR" sz="1100" b="1" i="1" kern="1200" baseline="0" smtClean="0">
                                  <a:solidFill>
                                    <a:srgbClr val="FFFF00"/>
                                  </a:solidFill>
                                  <a:latin typeface="Cambria Math"/>
                                  <a:ea typeface="+mn-ea"/>
                                  <a:cs typeface="+mn-cs"/>
                                </a:rPr>
                                <m:t>=</m:t>
                              </m:r>
                              <m:f>
                                <m:fPr>
                                  <m:type m:val="lin"/>
                                  <m:ctrlPr>
                                    <a:rPr lang="pt-BR" sz="1100" b="1" i="1" kern="1200" baseline="0" smtClean="0">
                                      <a:solidFill>
                                        <a:srgbClr val="FFFF00"/>
                                      </a:solidFill>
                                      <a:latin typeface="Cambria Math"/>
                                      <a:ea typeface="+mn-ea"/>
                                      <a:cs typeface="+mn-cs"/>
                                    </a:rPr>
                                  </m:ctrlPr>
                                </m:fPr>
                                <m:num>
                                  <m:r>
                                    <a:rPr lang="pt-BR" sz="1100" b="1" i="1" kern="1200" baseline="0" smtClean="0">
                                      <a:solidFill>
                                        <a:srgbClr val="FFFF00"/>
                                      </a:solidFill>
                                      <a:latin typeface="Cambria Math"/>
                                      <a:ea typeface="Cambria Math"/>
                                      <a:cs typeface="+mn-cs"/>
                                    </a:rPr>
                                    <m:t>𝝀</m:t>
                                  </m:r>
                                </m:num>
                                <m:den>
                                  <m:r>
                                    <a:rPr lang="pt-BR" sz="1100" b="1" i="1" kern="1200" baseline="0" smtClean="0">
                                      <a:solidFill>
                                        <a:srgbClr val="FFFF00"/>
                                      </a:solidFill>
                                      <a:latin typeface="Cambria Math"/>
                                      <a:ea typeface="Cambria Math"/>
                                      <a:cs typeface="+mn-cs"/>
                                    </a:rPr>
                                    <m:t>𝜶</m:t>
                                  </m:r>
                                </m:den>
                              </m:f>
                            </m:oMath>
                          </a14:m>
                          <a:r>
                            <a:rPr lang="pt-BR" sz="1100" b="1" kern="1200" baseline="0" dirty="0" smtClean="0">
                              <a:solidFill>
                                <a:srgbClr val="FFFF00"/>
                              </a:solidFill>
                              <a:latin typeface="+mn-lt"/>
                              <a:ea typeface="+mn-ea"/>
                              <a:cs typeface="+mn-cs"/>
                            </a:rPr>
                            <a:t> (W/m)</a:t>
                          </a:r>
                        </a:p>
                        <a:p>
                          <a:pPr algn="ctr"/>
                          <a:endParaRPr lang="pt-BR" sz="1050" b="1" baseline="0" dirty="0" smtClean="0">
                            <a:solidFill>
                              <a:srgbClr val="FFFF00"/>
                            </a:solidFill>
                          </a:endParaRPr>
                        </a:p>
                        <a:p>
                          <a:pPr algn="ctr"/>
                          <a:endParaRPr lang="pt-BR" sz="1050" b="0" baseline="0" dirty="0" smtClean="0">
                            <a:solidFill>
                              <a:schemeClr val="tx1"/>
                            </a:solidFill>
                          </a:endParaRPr>
                        </a:p>
                        <a:p>
                          <a:pPr algn="ctr"/>
                          <a:r>
                            <a:rPr lang="pt-BR" sz="1050" b="0" baseline="0" dirty="0" smtClean="0">
                              <a:solidFill>
                                <a:schemeClr val="tx1"/>
                              </a:solidFill>
                            </a:rPr>
                            <a:t>6 x 10</a:t>
                          </a:r>
                          <a:r>
                            <a:rPr lang="pt-BR" sz="1050" b="0" baseline="30000" dirty="0" smtClean="0">
                              <a:solidFill>
                                <a:schemeClr val="tx1"/>
                              </a:solidFill>
                            </a:rPr>
                            <a:t>7</a:t>
                          </a:r>
                        </a:p>
                        <a:p>
                          <a:pPr algn="ctr"/>
                          <a:endParaRPr lang="pt-BR" sz="1050" b="0" baseline="0" dirty="0" smtClean="0">
                            <a:solidFill>
                              <a:schemeClr val="tx1"/>
                            </a:solidFill>
                          </a:endParaRPr>
                        </a:p>
                        <a:p>
                          <a:pPr algn="ctr"/>
                          <a:r>
                            <a:rPr lang="pt-BR" sz="1050" b="0" baseline="0" dirty="0" smtClean="0">
                              <a:solidFill>
                                <a:schemeClr val="tx1"/>
                              </a:solidFill>
                            </a:rPr>
                            <a:t>3 x 10</a:t>
                          </a:r>
                          <a:r>
                            <a:rPr lang="pt-BR" sz="1050" b="0" baseline="30000" dirty="0" smtClean="0">
                              <a:solidFill>
                                <a:schemeClr val="tx1"/>
                              </a:solidFill>
                            </a:rPr>
                            <a:t>7</a:t>
                          </a:r>
                        </a:p>
                        <a:p>
                          <a:pPr algn="ctr"/>
                          <a:endParaRPr lang="pt-BR" sz="1050" b="0" baseline="0" dirty="0" smtClean="0">
                            <a:solidFill>
                              <a:schemeClr val="tx1"/>
                            </a:solidFill>
                          </a:endParaRPr>
                        </a:p>
                        <a:p>
                          <a:pPr algn="ctr"/>
                          <a:r>
                            <a:rPr lang="pt-BR" sz="1050" b="0" baseline="0" dirty="0" smtClean="0">
                              <a:solidFill>
                                <a:schemeClr val="tx1"/>
                              </a:solidFill>
                            </a:rPr>
                            <a:t>2 x 10</a:t>
                          </a:r>
                          <a:r>
                            <a:rPr lang="pt-BR" sz="1050" b="0" baseline="30000" dirty="0" smtClean="0">
                              <a:solidFill>
                                <a:schemeClr val="tx1"/>
                              </a:solidFill>
                            </a:rPr>
                            <a:t>7</a:t>
                          </a:r>
                        </a:p>
                        <a:p>
                          <a:pPr algn="ctr"/>
                          <a:endParaRPr lang="pt-BR" sz="1050" b="0" baseline="0" dirty="0" smtClean="0">
                            <a:solidFill>
                              <a:schemeClr val="tx1"/>
                            </a:solidFill>
                          </a:endParaRPr>
                        </a:p>
                        <a:p>
                          <a:pPr algn="ctr"/>
                          <a:r>
                            <a:rPr lang="pt-BR" sz="1050" b="0" baseline="0" dirty="0" smtClean="0">
                              <a:solidFill>
                                <a:schemeClr val="tx1"/>
                              </a:solidFill>
                            </a:rPr>
                            <a:t>3 x 10</a:t>
                          </a:r>
                          <a:r>
                            <a:rPr lang="pt-BR" sz="1050" b="0" baseline="30000" dirty="0" smtClean="0">
                              <a:solidFill>
                                <a:schemeClr val="tx1"/>
                              </a:solidFill>
                            </a:rPr>
                            <a:t>7</a:t>
                          </a:r>
                        </a:p>
                        <a:p>
                          <a:pPr algn="ctr"/>
                          <a:endParaRPr lang="pt-BR" sz="1050" b="0" baseline="0" dirty="0" smtClean="0">
                            <a:solidFill>
                              <a:schemeClr val="tx1"/>
                            </a:solidFill>
                          </a:endParaRPr>
                        </a:p>
                        <a:p>
                          <a:pPr algn="ctr"/>
                          <a:r>
                            <a:rPr lang="pt-BR" sz="1050" b="0" baseline="0" dirty="0" smtClean="0">
                              <a:solidFill>
                                <a:schemeClr val="tx1"/>
                              </a:solidFill>
                            </a:rPr>
                            <a:t>10</a:t>
                          </a:r>
                          <a:r>
                            <a:rPr lang="pt-BR" sz="1050" b="0" baseline="30000" dirty="0" smtClean="0">
                              <a:solidFill>
                                <a:schemeClr val="tx1"/>
                              </a:solidFill>
                            </a:rPr>
                            <a:t>7</a:t>
                          </a:r>
                        </a:p>
                      </a:txBody>
                      <a:tcPr>
                        <a:solidFill>
                          <a:schemeClr val="accent1"/>
                        </a:solidFill>
                      </a:tcPr>
                    </a:tc>
                    <a:tc>
                      <a:txBody>
                        <a:bodyPr/>
                        <a:lstStyle/>
                        <a:p>
                          <a:pPr algn="ctr"/>
                          <a14:m>
                            <m:oMath xmlns:m="http://schemas.openxmlformats.org/officeDocument/2006/math">
                              <m:sSub>
                                <m:sSubPr>
                                  <m:ctrlPr>
                                    <a:rPr lang="pt-BR" sz="1100" b="1" i="1" baseline="0" smtClean="0">
                                      <a:solidFill>
                                        <a:srgbClr val="FFFF00"/>
                                      </a:solidFill>
                                      <a:latin typeface="Cambria Math"/>
                                    </a:rPr>
                                  </m:ctrlPr>
                                </m:sSubPr>
                                <m:e>
                                  <m:r>
                                    <a:rPr lang="pt-BR" sz="1100" b="1" i="1" baseline="0" smtClean="0">
                                      <a:solidFill>
                                        <a:srgbClr val="FFFF00"/>
                                      </a:solidFill>
                                      <a:latin typeface="Cambria Math"/>
                                    </a:rPr>
                                    <m:t>𝑴</m:t>
                                  </m:r>
                                </m:e>
                                <m:sub>
                                  <m:r>
                                    <a:rPr lang="pt-BR" sz="1100" b="1" i="1" baseline="0" smtClean="0">
                                      <a:solidFill>
                                        <a:srgbClr val="FFFF00"/>
                                      </a:solidFill>
                                      <a:latin typeface="Cambria Math"/>
                                    </a:rPr>
                                    <m:t>𝟐</m:t>
                                  </m:r>
                                </m:sub>
                              </m:sSub>
                              <m:r>
                                <a:rPr lang="pt-BR" sz="1100" b="1" i="1" baseline="0" smtClean="0">
                                  <a:solidFill>
                                    <a:srgbClr val="FFFF00"/>
                                  </a:solidFill>
                                  <a:latin typeface="Cambria Math"/>
                                </a:rPr>
                                <m:t>=</m:t>
                              </m:r>
                              <m:f>
                                <m:fPr>
                                  <m:type m:val="lin"/>
                                  <m:ctrlPr>
                                    <a:rPr lang="pt-BR" sz="1100" b="1" i="1" baseline="0" smtClean="0">
                                      <a:solidFill>
                                        <a:srgbClr val="FFFF00"/>
                                      </a:solidFill>
                                      <a:latin typeface="Cambria Math"/>
                                    </a:rPr>
                                  </m:ctrlPr>
                                </m:fPr>
                                <m:num>
                                  <m:sSup>
                                    <m:sSupPr>
                                      <m:ctrlPr>
                                        <a:rPr lang="pt-BR" sz="1100" b="1" i="1" baseline="0" smtClean="0">
                                          <a:solidFill>
                                            <a:srgbClr val="FFFF00"/>
                                          </a:solidFill>
                                          <a:latin typeface="Cambria Math"/>
                                        </a:rPr>
                                      </m:ctrlPr>
                                    </m:sSupPr>
                                    <m:e>
                                      <m:r>
                                        <a:rPr lang="pt-BR" sz="1100" b="1" i="1" baseline="0" smtClean="0">
                                          <a:solidFill>
                                            <a:srgbClr val="FFFF00"/>
                                          </a:solidFill>
                                          <a:latin typeface="Cambria Math"/>
                                        </a:rPr>
                                        <m:t>𝑬</m:t>
                                      </m:r>
                                    </m:e>
                                    <m:sup>
                                      <m:f>
                                        <m:fPr>
                                          <m:type m:val="lin"/>
                                          <m:ctrlPr>
                                            <a:rPr lang="pt-BR" sz="1100" b="1" i="1" baseline="0" smtClean="0">
                                              <a:solidFill>
                                                <a:srgbClr val="FFFF00"/>
                                              </a:solidFill>
                                              <a:latin typeface="Cambria Math"/>
                                            </a:rPr>
                                          </m:ctrlPr>
                                        </m:fPr>
                                        <m:num>
                                          <m:r>
                                            <a:rPr lang="pt-BR" sz="1100" b="1" i="1" baseline="0" smtClean="0">
                                              <a:solidFill>
                                                <a:srgbClr val="FFFF00"/>
                                              </a:solidFill>
                                              <a:latin typeface="Cambria Math"/>
                                            </a:rPr>
                                            <m:t>𝟏</m:t>
                                          </m:r>
                                        </m:num>
                                        <m:den>
                                          <m:r>
                                            <a:rPr lang="pt-BR" sz="1100" b="1" i="1" baseline="0" smtClean="0">
                                              <a:solidFill>
                                                <a:srgbClr val="FFFF00"/>
                                              </a:solidFill>
                                              <a:latin typeface="Cambria Math"/>
                                            </a:rPr>
                                            <m:t>𝟐</m:t>
                                          </m:r>
                                        </m:den>
                                      </m:f>
                                    </m:sup>
                                  </m:sSup>
                                </m:num>
                                <m:den>
                                  <m:r>
                                    <a:rPr lang="pt-BR" sz="1100" b="1" i="1" baseline="0" smtClean="0">
                                      <a:solidFill>
                                        <a:srgbClr val="FFFF00"/>
                                      </a:solidFill>
                                      <a:latin typeface="Cambria Math"/>
                                      <a:ea typeface="Cambria Math"/>
                                    </a:rPr>
                                    <m:t>𝝆</m:t>
                                  </m:r>
                                </m:den>
                              </m:f>
                            </m:oMath>
                          </a14:m>
                          <a:r>
                            <a:rPr lang="pt-BR" sz="1100" b="1" baseline="0" dirty="0" smtClean="0">
                              <a:solidFill>
                                <a:srgbClr val="FFFF00"/>
                              </a:solidFill>
                            </a:rPr>
                            <a:t> (Gpa</a:t>
                          </a:r>
                          <a:r>
                            <a:rPr lang="pt-BR" sz="1100" b="1" baseline="30000" dirty="0" smtClean="0">
                              <a:solidFill>
                                <a:srgbClr val="FFFF00"/>
                              </a:solidFill>
                            </a:rPr>
                            <a:t>1/2</a:t>
                          </a:r>
                          <a:r>
                            <a:rPr lang="pt-BR" sz="1100" b="1" baseline="0" dirty="0" smtClean="0">
                              <a:solidFill>
                                <a:srgbClr val="FFFF00"/>
                              </a:solidFill>
                            </a:rPr>
                            <a:t>)/(Mg/m</a:t>
                          </a:r>
                          <a:r>
                            <a:rPr lang="pt-BR" sz="1100" b="1" baseline="30000" dirty="0" smtClean="0">
                              <a:solidFill>
                                <a:srgbClr val="FFFF00"/>
                              </a:solidFill>
                            </a:rPr>
                            <a:t>3</a:t>
                          </a:r>
                          <a:r>
                            <a:rPr lang="pt-BR" sz="1100" b="1" baseline="0" dirty="0" smtClean="0">
                              <a:solidFill>
                                <a:srgbClr val="FFFF00"/>
                              </a:solidFill>
                            </a:rPr>
                            <a:t>)</a:t>
                          </a:r>
                        </a:p>
                        <a:p>
                          <a:pPr algn="ctr"/>
                          <a:endParaRPr lang="pt-BR" sz="1050" b="1" baseline="0" dirty="0" smtClean="0">
                            <a:solidFill>
                              <a:srgbClr val="FFFF00"/>
                            </a:solidFill>
                          </a:endParaRPr>
                        </a:p>
                        <a:p>
                          <a:pPr algn="ctr"/>
                          <a:r>
                            <a:rPr lang="pt-BR" sz="1050" b="0" baseline="0" dirty="0" smtClean="0">
                              <a:solidFill>
                                <a:schemeClr val="tx1"/>
                              </a:solidFill>
                            </a:rPr>
                            <a:t>5,2</a:t>
                          </a:r>
                        </a:p>
                        <a:p>
                          <a:pPr algn="ctr"/>
                          <a:endParaRPr lang="pt-BR" sz="1050" b="0" baseline="0" dirty="0" smtClean="0">
                            <a:solidFill>
                              <a:schemeClr val="tx1"/>
                            </a:solidFill>
                          </a:endParaRPr>
                        </a:p>
                        <a:p>
                          <a:pPr algn="ctr"/>
                          <a:r>
                            <a:rPr lang="pt-BR" sz="1050" b="0" baseline="0" dirty="0" smtClean="0">
                              <a:solidFill>
                                <a:schemeClr val="tx1"/>
                              </a:solidFill>
                            </a:rPr>
                            <a:t>6,4</a:t>
                          </a:r>
                        </a:p>
                        <a:p>
                          <a:pPr algn="ctr"/>
                          <a:endParaRPr lang="pt-BR" sz="1050" b="0" baseline="0" dirty="0" smtClean="0">
                            <a:solidFill>
                              <a:schemeClr val="tx1"/>
                            </a:solidFill>
                          </a:endParaRPr>
                        </a:p>
                        <a:p>
                          <a:pPr algn="ctr"/>
                          <a:r>
                            <a:rPr lang="pt-BR" sz="1050" b="0" baseline="0" dirty="0" smtClean="0">
                              <a:solidFill>
                                <a:schemeClr val="tx1"/>
                              </a:solidFill>
                            </a:rPr>
                            <a:t>1,3</a:t>
                          </a:r>
                        </a:p>
                        <a:p>
                          <a:pPr algn="ctr"/>
                          <a:endParaRPr lang="pt-BR" sz="1050" b="0" baseline="0" dirty="0" smtClean="0">
                            <a:solidFill>
                              <a:schemeClr val="tx1"/>
                            </a:solidFill>
                          </a:endParaRPr>
                        </a:p>
                        <a:p>
                          <a:pPr algn="ctr"/>
                          <a:r>
                            <a:rPr lang="pt-BR" sz="1050" b="0" baseline="0" dirty="0" smtClean="0">
                              <a:solidFill>
                                <a:schemeClr val="tx1"/>
                              </a:solidFill>
                            </a:rPr>
                            <a:t>1,1</a:t>
                          </a:r>
                        </a:p>
                        <a:p>
                          <a:pPr algn="ctr"/>
                          <a:endParaRPr lang="pt-BR" sz="1050" b="0" baseline="0" dirty="0" smtClean="0">
                            <a:solidFill>
                              <a:schemeClr val="tx1"/>
                            </a:solidFill>
                          </a:endParaRPr>
                        </a:p>
                        <a:p>
                          <a:pPr algn="ctr"/>
                          <a:r>
                            <a:rPr lang="pt-BR" sz="1050" b="0" baseline="0" dirty="0" smtClean="0">
                              <a:solidFill>
                                <a:schemeClr val="tx1"/>
                              </a:solidFill>
                            </a:rPr>
                            <a:t>3,3</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i="1" baseline="0" dirty="0" smtClean="0">
                              <a:solidFill>
                                <a:schemeClr val="tx1"/>
                              </a:solidFill>
                            </a:rPr>
                            <a:t>M</a:t>
                          </a:r>
                          <a:r>
                            <a:rPr lang="pt-BR" sz="1050" b="1" baseline="-25000" dirty="0" smtClean="0">
                              <a:solidFill>
                                <a:schemeClr val="tx1"/>
                              </a:solidFill>
                            </a:rPr>
                            <a:t>1</a:t>
                          </a:r>
                          <a:r>
                            <a:rPr lang="pt-BR" sz="1050" b="1" baseline="0" dirty="0" smtClean="0">
                              <a:solidFill>
                                <a:schemeClr val="tx1"/>
                              </a:solidFill>
                            </a:rPr>
                            <a:t> e </a:t>
                          </a:r>
                          <a:r>
                            <a:rPr lang="pt-BR" sz="1050" b="1" i="1" baseline="0" dirty="0" smtClean="0">
                              <a:solidFill>
                                <a:schemeClr val="tx1"/>
                              </a:solidFill>
                            </a:rPr>
                            <a:t>M</a:t>
                          </a:r>
                          <a:r>
                            <a:rPr lang="pt-BR" sz="1050" b="1" baseline="-25000" dirty="0" smtClean="0">
                              <a:solidFill>
                                <a:schemeClr val="tx1"/>
                              </a:solidFill>
                            </a:rPr>
                            <a:t>2</a:t>
                          </a:r>
                          <a:r>
                            <a:rPr lang="pt-BR" sz="1050" b="1" baseline="0" dirty="0" smtClean="0">
                              <a:solidFill>
                                <a:schemeClr val="tx1"/>
                              </a:solidFill>
                            </a:rPr>
                            <a:t> excelentes</a:t>
                          </a:r>
                        </a:p>
                        <a:p>
                          <a:pPr algn="ctr"/>
                          <a:endParaRPr lang="pt-BR" sz="1050" b="1" baseline="0" dirty="0" smtClean="0">
                            <a:solidFill>
                              <a:schemeClr val="tx1"/>
                            </a:solidFill>
                          </a:endParaRPr>
                        </a:p>
                        <a:p>
                          <a:pPr algn="ctr"/>
                          <a:r>
                            <a:rPr lang="pt-BR" sz="1050" b="1" i="1" baseline="0" dirty="0" smtClean="0">
                              <a:solidFill>
                                <a:schemeClr val="tx1"/>
                              </a:solidFill>
                            </a:rPr>
                            <a:t>M</a:t>
                          </a:r>
                          <a:r>
                            <a:rPr lang="pt-BR" sz="1050" b="1" baseline="-25000" dirty="0" smtClean="0">
                              <a:solidFill>
                                <a:schemeClr val="tx1"/>
                              </a:solidFill>
                            </a:rPr>
                            <a:t>1</a:t>
                          </a:r>
                          <a:r>
                            <a:rPr lang="pt-BR" sz="1050" b="1" baseline="0" dirty="0" smtClean="0">
                              <a:solidFill>
                                <a:schemeClr val="tx1"/>
                              </a:solidFill>
                            </a:rPr>
                            <a:t> e </a:t>
                          </a:r>
                          <a:r>
                            <a:rPr lang="pt-BR" sz="1050" b="1" i="1" baseline="0" dirty="0" smtClean="0">
                              <a:solidFill>
                                <a:schemeClr val="tx1"/>
                              </a:solidFill>
                            </a:rPr>
                            <a:t>M</a:t>
                          </a:r>
                          <a:r>
                            <a:rPr lang="pt-BR" sz="1050" b="1" baseline="-25000" dirty="0" smtClean="0">
                              <a:solidFill>
                                <a:schemeClr val="tx1"/>
                              </a:solidFill>
                            </a:rPr>
                            <a:t>2</a:t>
                          </a:r>
                          <a:r>
                            <a:rPr lang="pt-BR" sz="1050" b="1" baseline="0" dirty="0" smtClean="0">
                              <a:solidFill>
                                <a:schemeClr val="tx1"/>
                              </a:solidFill>
                            </a:rPr>
                            <a:t> excelentes, porém mais difíceis de conformar do que o Si</a:t>
                          </a:r>
                        </a:p>
                        <a:p>
                          <a:pPr algn="ctr"/>
                          <a:endParaRPr lang="pt-BR" sz="1050" b="1" baseline="0" dirty="0" smtClean="0">
                            <a:solidFill>
                              <a:schemeClr val="tx1"/>
                            </a:solidFill>
                          </a:endParaRPr>
                        </a:p>
                        <a:p>
                          <a:pPr algn="ctr"/>
                          <a:r>
                            <a:rPr lang="pt-BR" sz="1050" b="1" baseline="0" dirty="0" smtClean="0">
                              <a:solidFill>
                                <a:schemeClr val="tx1"/>
                              </a:solidFill>
                            </a:rPr>
                            <a:t>Alta densidade, dá valor de </a:t>
                          </a:r>
                          <a:r>
                            <a:rPr lang="pt-BR" sz="1050" b="1" i="1" baseline="0" dirty="0" smtClean="0">
                              <a:solidFill>
                                <a:schemeClr val="tx1"/>
                              </a:solidFill>
                            </a:rPr>
                            <a:t>M</a:t>
                          </a:r>
                          <a:r>
                            <a:rPr lang="pt-BR" sz="1050" b="1" baseline="-25000" dirty="0" smtClean="0">
                              <a:solidFill>
                                <a:schemeClr val="tx1"/>
                              </a:solidFill>
                            </a:rPr>
                            <a:t>2</a:t>
                          </a:r>
                          <a:r>
                            <a:rPr lang="pt-BR" sz="1050" b="1" baseline="0" dirty="0" smtClean="0">
                              <a:solidFill>
                                <a:schemeClr val="tx1"/>
                              </a:solidFill>
                            </a:rPr>
                            <a:t> ruim</a:t>
                          </a:r>
                        </a:p>
                        <a:p>
                          <a:pPr algn="ctr"/>
                          <a:endParaRPr lang="pt-BR" sz="1050" b="1" baseline="0" dirty="0" smtClean="0">
                            <a:solidFill>
                              <a:schemeClr val="tx1"/>
                            </a:solidFill>
                          </a:endParaRPr>
                        </a:p>
                        <a:p>
                          <a:pPr algn="ctr"/>
                          <a:r>
                            <a:rPr lang="pt-BR" sz="1050" b="1" baseline="0" dirty="0" smtClean="0">
                              <a:solidFill>
                                <a:schemeClr val="tx1"/>
                              </a:solidFill>
                            </a:rPr>
                            <a:t>Melhor do que o Cu, Ag ou </a:t>
                          </a:r>
                          <a:r>
                            <a:rPr lang="pt-BR" sz="1050" b="1" baseline="0" dirty="0" err="1" smtClean="0">
                              <a:solidFill>
                                <a:schemeClr val="tx1"/>
                              </a:solidFill>
                            </a:rPr>
                            <a:t>Au</a:t>
                          </a:r>
                          <a:r>
                            <a:rPr lang="pt-BR" sz="1050" b="1" baseline="0" dirty="0" smtClean="0">
                              <a:solidFill>
                                <a:schemeClr val="tx1"/>
                              </a:solidFill>
                            </a:rPr>
                            <a:t>, mas não tão bom quanto o Si ou </a:t>
                          </a:r>
                          <a:r>
                            <a:rPr lang="pt-BR" sz="1050" b="1" baseline="0" dirty="0" err="1" smtClean="0">
                              <a:solidFill>
                                <a:schemeClr val="tx1"/>
                              </a:solidFill>
                            </a:rPr>
                            <a:t>SiC</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As menos caras e a escolha de conformação mais fácil</a:t>
                          </a:r>
                        </a:p>
                      </a:txBody>
                      <a:tcPr>
                        <a:solidFill>
                          <a:schemeClr val="accent1"/>
                        </a:solidFill>
                      </a:tcPr>
                    </a:tc>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2550529263"/>
                  </p:ext>
                </p:extLst>
              </p:nvPr>
            </p:nvGraphicFramePr>
            <p:xfrm>
              <a:off x="123825" y="457200"/>
              <a:ext cx="8915400" cy="2524951"/>
            </p:xfrm>
            <a:graphic>
              <a:graphicData uri="http://schemas.openxmlformats.org/drawingml/2006/table">
                <a:tbl>
                  <a:tblPr firstRow="1" bandRow="1">
                    <a:tableStyleId>{68D230F3-CF80-4859-8CE7-A43EE81993B5}</a:tableStyleId>
                  </a:tblPr>
                  <a:tblGrid>
                    <a:gridCol w="1341254"/>
                    <a:gridCol w="1554346"/>
                    <a:gridCol w="1324170"/>
                    <a:gridCol w="4695630"/>
                  </a:tblGrid>
                  <a:tr h="487680">
                    <a:tc gridSpan="4">
                      <a:txBody>
                        <a:bodyPr/>
                        <a:lstStyle/>
                        <a:p>
                          <a:r>
                            <a:rPr lang="pt-BR" sz="1400" dirty="0" smtClean="0">
                              <a:solidFill>
                                <a:srgbClr val="FFFF00"/>
                              </a:solidFill>
                            </a:rPr>
                            <a:t>Tabela </a:t>
                          </a:r>
                          <a:r>
                            <a:rPr lang="pt-BR" sz="1400" dirty="0" smtClean="0">
                              <a:solidFill>
                                <a:srgbClr val="FFFF00"/>
                              </a:solidFill>
                            </a:rPr>
                            <a:t>6.30 </a:t>
                          </a:r>
                          <a:r>
                            <a:rPr lang="pt-BR" sz="1400" dirty="0" smtClean="0">
                              <a:solidFill>
                                <a:srgbClr val="FFFF00"/>
                              </a:solidFill>
                            </a:rPr>
                            <a:t>– </a:t>
                          </a:r>
                          <a:r>
                            <a:rPr lang="pt-BR" sz="1400" dirty="0" smtClean="0">
                              <a:solidFill>
                                <a:srgbClr val="FFFF00"/>
                              </a:solidFill>
                            </a:rPr>
                            <a:t>Materiais para minimizar</a:t>
                          </a:r>
                          <a:r>
                            <a:rPr lang="pt-BR" sz="1400" baseline="0" dirty="0" smtClean="0">
                              <a:solidFill>
                                <a:srgbClr val="FFFF00"/>
                              </a:solidFill>
                            </a:rPr>
                            <a:t> distorção térmica</a:t>
                          </a:r>
                          <a:endParaRPr lang="pt-BR" sz="1200" baseline="0" dirty="0" smtClean="0"/>
                        </a:p>
                      </a:txBody>
                      <a:tcPr>
                        <a:solidFill>
                          <a:schemeClr val="accent1"/>
                        </a:solidFill>
                      </a:tcPr>
                    </a:tc>
                    <a:tc hMerge="1">
                      <a:txBody>
                        <a:bodyPr/>
                        <a:lstStyle/>
                        <a:p>
                          <a:endParaRPr lang="en-US"/>
                        </a:p>
                      </a:txBody>
                      <a:tcPr/>
                    </a:tc>
                    <a:tc hMerge="1">
                      <a:txBody>
                        <a:bodyPr/>
                        <a:lstStyle/>
                        <a:p>
                          <a:endParaRPr lang="en-US"/>
                        </a:p>
                      </a:txBody>
                      <a:tcPr/>
                    </a:tc>
                    <a:tc hMerge="1">
                      <a:txBody>
                        <a:bodyPr/>
                        <a:lstStyle/>
                        <a:p>
                          <a:endParaRPr lang="pt-BR" sz="1200" baseline="0" dirty="0" smtClean="0"/>
                        </a:p>
                      </a:txBody>
                      <a:tcPr>
                        <a:solidFill>
                          <a:schemeClr val="accent1"/>
                        </a:solidFill>
                      </a:tcPr>
                    </a:tc>
                  </a:tr>
                  <a:tr h="2037271">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Si</a:t>
                          </a:r>
                          <a:endParaRPr lang="pt-BR" sz="1050" baseline="0" dirty="0" smtClean="0"/>
                        </a:p>
                        <a:p>
                          <a:pPr algn="ctr"/>
                          <a:endParaRPr lang="pt-BR" sz="1050" baseline="0" dirty="0" smtClean="0"/>
                        </a:p>
                        <a:p>
                          <a:pPr algn="ctr"/>
                          <a:r>
                            <a:rPr lang="pt-BR" sz="1050" baseline="0" dirty="0" err="1" smtClean="0"/>
                            <a:t>SiC</a:t>
                          </a:r>
                          <a:endParaRPr lang="pt-BR" sz="1050" baseline="0" dirty="0" smtClean="0"/>
                        </a:p>
                        <a:p>
                          <a:pPr algn="ctr"/>
                          <a:endParaRPr lang="pt-BR" sz="1050" baseline="0" dirty="0" smtClean="0"/>
                        </a:p>
                        <a:p>
                          <a:pPr algn="ctr"/>
                          <a:r>
                            <a:rPr lang="pt-BR" sz="1050" baseline="0" dirty="0" smtClean="0"/>
                            <a:t>Cobre</a:t>
                          </a:r>
                        </a:p>
                        <a:p>
                          <a:pPr algn="ctr"/>
                          <a:endParaRPr lang="pt-BR" sz="1050" baseline="0" dirty="0" smtClean="0"/>
                        </a:p>
                        <a:p>
                          <a:pPr algn="ctr"/>
                          <a:r>
                            <a:rPr lang="pt-BR" sz="1050" baseline="0" dirty="0" smtClean="0"/>
                            <a:t>W</a:t>
                          </a:r>
                          <a:endParaRPr lang="pt-BR" sz="1050" baseline="0" dirty="0" smtClean="0"/>
                        </a:p>
                        <a:p>
                          <a:pPr algn="ctr"/>
                          <a:endParaRPr lang="pt-BR" sz="1050" baseline="0" dirty="0" smtClean="0"/>
                        </a:p>
                        <a:p>
                          <a:pPr algn="ctr"/>
                          <a:r>
                            <a:rPr lang="pt-BR" sz="1050" baseline="0" dirty="0" smtClean="0"/>
                            <a:t>Ligas de Al</a:t>
                          </a:r>
                          <a:endParaRPr lang="pt-BR" sz="1050" baseline="0" dirty="0" smtClean="0"/>
                        </a:p>
                      </a:txBody>
                      <a:tcPr>
                        <a:solidFill>
                          <a:schemeClr val="accent1"/>
                        </a:solidFill>
                      </a:tcPr>
                    </a:tc>
                    <a:tc>
                      <a:txBody>
                        <a:bodyPr/>
                        <a:lstStyle/>
                        <a:p>
                          <a:endParaRPr lang="en-US"/>
                        </a:p>
                      </a:txBody>
                      <a:tcPr>
                        <a:blipFill rotWithShape="1">
                          <a:blip r:embed="rId2"/>
                          <a:stretch>
                            <a:fillRect l="-86275" t="-24251" r="-387451" b="-1796"/>
                          </a:stretch>
                        </a:blipFill>
                      </a:tcPr>
                    </a:tc>
                    <a:tc>
                      <a:txBody>
                        <a:bodyPr/>
                        <a:lstStyle/>
                        <a:p>
                          <a:endParaRPr lang="en-US"/>
                        </a:p>
                      </a:txBody>
                      <a:tcPr>
                        <a:blipFill rotWithShape="1">
                          <a:blip r:embed="rId2"/>
                          <a:stretch>
                            <a:fillRect l="-218894" t="-24251" r="-355300" b="-1796"/>
                          </a:stretch>
                        </a:blip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i="1" baseline="0" dirty="0" smtClean="0">
                              <a:solidFill>
                                <a:schemeClr val="tx1"/>
                              </a:solidFill>
                            </a:rPr>
                            <a:t>M</a:t>
                          </a:r>
                          <a:r>
                            <a:rPr lang="pt-BR" sz="1050" b="1" baseline="-25000" dirty="0" smtClean="0">
                              <a:solidFill>
                                <a:schemeClr val="tx1"/>
                              </a:solidFill>
                            </a:rPr>
                            <a:t>1</a:t>
                          </a:r>
                          <a:r>
                            <a:rPr lang="pt-BR" sz="1050" b="1" baseline="0" dirty="0" smtClean="0">
                              <a:solidFill>
                                <a:schemeClr val="tx1"/>
                              </a:solidFill>
                            </a:rPr>
                            <a:t> e </a:t>
                          </a:r>
                          <a:r>
                            <a:rPr lang="pt-BR" sz="1050" b="1" i="1" baseline="0" dirty="0" smtClean="0">
                              <a:solidFill>
                                <a:schemeClr val="tx1"/>
                              </a:solidFill>
                            </a:rPr>
                            <a:t>M</a:t>
                          </a:r>
                          <a:r>
                            <a:rPr lang="pt-BR" sz="1050" b="1" baseline="-25000" dirty="0" smtClean="0">
                              <a:solidFill>
                                <a:schemeClr val="tx1"/>
                              </a:solidFill>
                            </a:rPr>
                            <a:t>2</a:t>
                          </a:r>
                          <a:r>
                            <a:rPr lang="pt-BR" sz="1050" b="1" baseline="0" dirty="0" smtClean="0">
                              <a:solidFill>
                                <a:schemeClr val="tx1"/>
                              </a:solidFill>
                            </a:rPr>
                            <a:t> excelentes</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i="1" baseline="0" dirty="0" smtClean="0">
                              <a:solidFill>
                                <a:schemeClr val="tx1"/>
                              </a:solidFill>
                            </a:rPr>
                            <a:t>M</a:t>
                          </a:r>
                          <a:r>
                            <a:rPr lang="pt-BR" sz="1050" b="1" baseline="-25000" dirty="0" smtClean="0">
                              <a:solidFill>
                                <a:schemeClr val="tx1"/>
                              </a:solidFill>
                            </a:rPr>
                            <a:t>1</a:t>
                          </a:r>
                          <a:r>
                            <a:rPr lang="pt-BR" sz="1050" b="1" baseline="0" dirty="0" smtClean="0">
                              <a:solidFill>
                                <a:schemeClr val="tx1"/>
                              </a:solidFill>
                            </a:rPr>
                            <a:t> e </a:t>
                          </a:r>
                          <a:r>
                            <a:rPr lang="pt-BR" sz="1050" b="1" i="1" baseline="0" dirty="0" smtClean="0">
                              <a:solidFill>
                                <a:schemeClr val="tx1"/>
                              </a:solidFill>
                            </a:rPr>
                            <a:t>M</a:t>
                          </a:r>
                          <a:r>
                            <a:rPr lang="pt-BR" sz="1050" b="1" baseline="-25000" dirty="0" smtClean="0">
                              <a:solidFill>
                                <a:schemeClr val="tx1"/>
                              </a:solidFill>
                            </a:rPr>
                            <a:t>2</a:t>
                          </a:r>
                          <a:r>
                            <a:rPr lang="pt-BR" sz="1050" b="1" baseline="0" dirty="0" smtClean="0">
                              <a:solidFill>
                                <a:schemeClr val="tx1"/>
                              </a:solidFill>
                            </a:rPr>
                            <a:t> excelentes, porém mais difíceis de conformar do que o Si</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Alta densidade, dá valor de </a:t>
                          </a:r>
                          <a:r>
                            <a:rPr lang="pt-BR" sz="1050" b="1" i="1" baseline="0" dirty="0" smtClean="0">
                              <a:solidFill>
                                <a:schemeClr val="tx1"/>
                              </a:solidFill>
                            </a:rPr>
                            <a:t>M</a:t>
                          </a:r>
                          <a:r>
                            <a:rPr lang="pt-BR" sz="1050" b="1" baseline="-25000" dirty="0" smtClean="0">
                              <a:solidFill>
                                <a:schemeClr val="tx1"/>
                              </a:solidFill>
                            </a:rPr>
                            <a:t>2</a:t>
                          </a:r>
                          <a:r>
                            <a:rPr lang="pt-BR" sz="1050" b="1" baseline="0" dirty="0" smtClean="0">
                              <a:solidFill>
                                <a:schemeClr val="tx1"/>
                              </a:solidFill>
                            </a:rPr>
                            <a:t> ruim</a:t>
                          </a:r>
                        </a:p>
                        <a:p>
                          <a:pPr algn="ctr"/>
                          <a:endParaRPr lang="pt-BR" sz="1050" b="1" baseline="0" dirty="0" smtClean="0">
                            <a:solidFill>
                              <a:schemeClr val="tx1"/>
                            </a:solidFill>
                          </a:endParaRPr>
                        </a:p>
                        <a:p>
                          <a:pPr algn="ctr"/>
                          <a:r>
                            <a:rPr lang="pt-BR" sz="1050" b="1" baseline="0" dirty="0" smtClean="0">
                              <a:solidFill>
                                <a:schemeClr val="tx1"/>
                              </a:solidFill>
                            </a:rPr>
                            <a:t>Melhor do que o Cu, Ag ou </a:t>
                          </a:r>
                          <a:r>
                            <a:rPr lang="pt-BR" sz="1050" b="1" baseline="0" dirty="0" err="1" smtClean="0">
                              <a:solidFill>
                                <a:schemeClr val="tx1"/>
                              </a:solidFill>
                            </a:rPr>
                            <a:t>Au</a:t>
                          </a:r>
                          <a:r>
                            <a:rPr lang="pt-BR" sz="1050" b="1" baseline="0" dirty="0" smtClean="0">
                              <a:solidFill>
                                <a:schemeClr val="tx1"/>
                              </a:solidFill>
                            </a:rPr>
                            <a:t>, mas não tão bom quanto o Si ou </a:t>
                          </a:r>
                          <a:r>
                            <a:rPr lang="pt-BR" sz="1050" b="1" baseline="0" dirty="0" err="1" smtClean="0">
                              <a:solidFill>
                                <a:schemeClr val="tx1"/>
                              </a:solidFill>
                            </a:rPr>
                            <a:t>SiC</a:t>
                          </a: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As menos caras e a escolha de conformação mais fácil</a:t>
                          </a:r>
                          <a:endParaRPr lang="pt-BR" sz="1050" b="1" baseline="0" dirty="0" smtClean="0">
                            <a:solidFill>
                              <a:schemeClr val="tx1"/>
                            </a:solidFill>
                          </a:endParaRPr>
                        </a:p>
                      </a:txBody>
                      <a:tcPr>
                        <a:solidFill>
                          <a:schemeClr val="accent1"/>
                        </a:solidFill>
                      </a:tcPr>
                    </a:tc>
                  </a:tr>
                </a:tbl>
              </a:graphicData>
            </a:graphic>
          </p:graphicFrame>
        </mc:Fallback>
      </mc:AlternateContent>
    </p:spTree>
    <p:extLst>
      <p:ext uri="{BB962C8B-B14F-4D97-AF65-F5344CB8AC3E}">
        <p14:creationId xmlns:p14="http://schemas.microsoft.com/office/powerpoint/2010/main" val="141512308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6200"/>
            <a:ext cx="8229600" cy="1143000"/>
          </a:xfrm>
        </p:spPr>
        <p:txBody>
          <a:bodyPr>
            <a:normAutofit fontScale="90000"/>
          </a:bodyPr>
          <a:lstStyle/>
          <a:p>
            <a:r>
              <a:rPr lang="pt-BR" dirty="0" smtClean="0"/>
              <a:t>Materiais para Trocadores de Calor</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371600" y="4038600"/>
            <a:ext cx="2743200" cy="2353328"/>
            <a:chOff x="1371600" y="4038600"/>
            <a:chExt cx="2743200" cy="2353328"/>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038600"/>
              <a:ext cx="2743200" cy="210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328664" y="6145707"/>
              <a:ext cx="829073" cy="246221"/>
            </a:xfrm>
            <a:prstGeom prst="rect">
              <a:avLst/>
            </a:prstGeom>
            <a:noFill/>
          </p:spPr>
          <p:txBody>
            <a:bodyPr wrap="none" rtlCol="0">
              <a:spAutoFit/>
            </a:bodyPr>
            <a:lstStyle/>
            <a:p>
              <a:pPr algn="ctr"/>
              <a:r>
                <a:rPr lang="en-US" sz="1000" dirty="0" smtClean="0"/>
                <a:t>Figura 6.31</a:t>
              </a:r>
              <a:endParaRPr lang="en-US" sz="1000" dirty="0"/>
            </a:p>
          </p:txBody>
        </p:sp>
      </p:gr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4495800"/>
            <a:ext cx="1686379"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9" name="Tabela 8"/>
              <p:cNvGraphicFramePr>
                <a:graphicFrameLocks noGrp="1"/>
              </p:cNvGraphicFramePr>
              <p:nvPr>
                <p:extLst>
                  <p:ext uri="{D42A27DB-BD31-4B8C-83A1-F6EECF244321}">
                    <p14:modId xmlns:p14="http://schemas.microsoft.com/office/powerpoint/2010/main" val="1469957418"/>
                  </p:ext>
                </p:extLst>
              </p:nvPr>
            </p:nvGraphicFramePr>
            <p:xfrm>
              <a:off x="228600" y="1143000"/>
              <a:ext cx="8686800" cy="272288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6.31 –</a:t>
                          </a:r>
                          <a:r>
                            <a:rPr lang="pt-BR" sz="1200" baseline="0" dirty="0" smtClean="0"/>
                            <a:t> Requisitos de projeto para um trocador de calor</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Trocador de calor</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Suportar diferença de pressão </a:t>
                          </a:r>
                          <a14:m>
                            <m:oMath xmlns:m="http://schemas.openxmlformats.org/officeDocument/2006/math">
                              <m:r>
                                <a:rPr lang="pt-BR" sz="1400" i="1" baseline="0" smtClean="0">
                                  <a:latin typeface="Cambria Math"/>
                                  <a:ea typeface="Cambria Math"/>
                                </a:rPr>
                                <m:t>∆</m:t>
                              </m:r>
                              <m:r>
                                <a:rPr lang="pt-BR" sz="1400" b="0" i="1" baseline="0" smtClean="0">
                                  <a:latin typeface="Cambria Math"/>
                                  <a:ea typeface="Cambria Math"/>
                                </a:rPr>
                                <m:t>𝑝</m:t>
                              </m:r>
                            </m:oMath>
                          </a14:m>
                          <a:endParaRPr lang="pt-BR" sz="1400" baseline="0" dirty="0" smtClean="0"/>
                        </a:p>
                        <a:p>
                          <a:r>
                            <a:rPr lang="pt-BR" sz="1400" i="0" baseline="0" dirty="0" smtClean="0"/>
                            <a:t>Resistir a íons de cloreto</a:t>
                          </a:r>
                        </a:p>
                        <a:p>
                          <a:r>
                            <a:rPr lang="pt-BR" sz="1400" i="0" baseline="0" dirty="0" smtClean="0"/>
                            <a:t>Temperatura operacional até 150</a:t>
                          </a:r>
                          <a:r>
                            <a:rPr lang="pt-BR" sz="1400" i="0" baseline="30000" dirty="0" smtClean="0"/>
                            <a:t>o</a:t>
                          </a:r>
                          <a:r>
                            <a:rPr lang="pt-BR" sz="1400" i="0" baseline="0" dirty="0" smtClean="0"/>
                            <a:t>C</a:t>
                          </a:r>
                        </a:p>
                        <a:p>
                          <a:r>
                            <a:rPr lang="pt-BR" sz="1400" i="0" baseline="0" dirty="0" smtClean="0"/>
                            <a:t>Custo modesto</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Maximizar</a:t>
                          </a:r>
                          <a:r>
                            <a:rPr lang="pt-BR" sz="1400" i="0" baseline="0" dirty="0" smtClean="0"/>
                            <a:t> fluxo de calor por unidade de área (trocador de volume mínimo) ou</a:t>
                          </a:r>
                        </a:p>
                        <a:p>
                          <a:r>
                            <a:rPr lang="pt-BR" sz="1400" i="0" baseline="0" dirty="0" smtClean="0"/>
                            <a:t>Maximizar fluxo de calor por unidade de massa (trocador de massa mínima)</a:t>
                          </a:r>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Espessura da parede do tubo, </a:t>
                          </a:r>
                          <a:r>
                            <a:rPr lang="pt-BR" sz="1400" i="1" baseline="0" dirty="0" smtClean="0"/>
                            <a:t>t</a:t>
                          </a:r>
                        </a:p>
                        <a:p>
                          <a:r>
                            <a:rPr lang="pt-BR" sz="1400" i="0" baseline="0" dirty="0" smtClean="0"/>
                            <a:t>Escolha do material</a:t>
                          </a:r>
                        </a:p>
                      </a:txBody>
                      <a:tcPr/>
                    </a:tc>
                  </a:tr>
                </a:tbl>
              </a:graphicData>
            </a:graphic>
          </p:graphicFrame>
        </mc:Choice>
        <mc:Fallback xmlns="">
          <p:graphicFrame>
            <p:nvGraphicFramePr>
              <p:cNvPr id="9" name="Tabela 8"/>
              <p:cNvGraphicFramePr>
                <a:graphicFrameLocks noGrp="1"/>
              </p:cNvGraphicFramePr>
              <p:nvPr>
                <p:extLst>
                  <p:ext uri="{D42A27DB-BD31-4B8C-83A1-F6EECF244321}">
                    <p14:modId xmlns:p14="http://schemas.microsoft.com/office/powerpoint/2010/main" val="1469957418"/>
                  </p:ext>
                </p:extLst>
              </p:nvPr>
            </p:nvGraphicFramePr>
            <p:xfrm>
              <a:off x="228600" y="1143000"/>
              <a:ext cx="8686800" cy="272288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a:t>
                          </a:r>
                          <a:r>
                            <a:rPr lang="pt-BR" sz="1200" dirty="0" smtClean="0"/>
                            <a:t>6.31 </a:t>
                          </a:r>
                          <a:r>
                            <a:rPr lang="pt-BR" sz="1200" dirty="0" smtClean="0"/>
                            <a:t>–</a:t>
                          </a:r>
                          <a:r>
                            <a:rPr lang="pt-BR" sz="1200" baseline="0" dirty="0" smtClean="0"/>
                            <a:t> </a:t>
                          </a:r>
                          <a:r>
                            <a:rPr lang="pt-BR" sz="1200" baseline="0" dirty="0" smtClean="0"/>
                            <a:t>Requisitos de projeto para um trocador de calor</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Trocador de calor</a:t>
                          </a:r>
                          <a:endParaRPr lang="en-US" sz="1400" dirty="0"/>
                        </a:p>
                      </a:txBody>
                      <a:tcPr/>
                    </a:tc>
                  </a:tr>
                  <a:tr h="94488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4"/>
                          <a:stretch>
                            <a:fillRect l="-26981" t="-78710" b="-116129"/>
                          </a:stretch>
                        </a:blipFill>
                      </a:tcPr>
                    </a:tc>
                  </a:tr>
                  <a:tr h="51816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Maximizar</a:t>
                          </a:r>
                          <a:r>
                            <a:rPr lang="pt-BR" sz="1400" i="0" baseline="0" dirty="0" smtClean="0"/>
                            <a:t> fluxo de calor por unidade de área (trocador de volume mínimo) ou</a:t>
                          </a:r>
                        </a:p>
                        <a:p>
                          <a:r>
                            <a:rPr lang="pt-BR" sz="1400" i="0" baseline="0" dirty="0" smtClean="0"/>
                            <a:t>Maximizar fluxo de calor por unidade de massa (trocador de massa mínima)</a:t>
                          </a:r>
                          <a:endParaRPr lang="pt-BR" sz="1400" i="1" dirty="0" smtClean="0"/>
                        </a:p>
                      </a:txBody>
                      <a:tcPr/>
                    </a:tc>
                  </a:tr>
                  <a:tr h="51816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baseline="0" dirty="0" smtClean="0"/>
                            <a:t>Espessura da parede do tubo, </a:t>
                          </a:r>
                          <a:r>
                            <a:rPr lang="pt-BR" sz="1400" i="1" baseline="0" dirty="0" smtClean="0"/>
                            <a:t>t</a:t>
                          </a:r>
                        </a:p>
                        <a:p>
                          <a:r>
                            <a:rPr lang="pt-BR" sz="1400" i="0" baseline="0" dirty="0" smtClean="0"/>
                            <a:t>Escolha do material</a:t>
                          </a:r>
                          <a:endParaRPr lang="pt-BR" sz="1400" i="0" baseline="0" dirty="0" smtClean="0"/>
                        </a:p>
                      </a:txBody>
                      <a:tcPr/>
                    </a:tc>
                  </a:tr>
                </a:tbl>
              </a:graphicData>
            </a:graphic>
          </p:graphicFrame>
        </mc:Fallback>
      </mc:AlternateContent>
    </p:spTree>
    <p:extLst>
      <p:ext uri="{BB962C8B-B14F-4D97-AF65-F5344CB8AC3E}">
        <p14:creationId xmlns:p14="http://schemas.microsoft.com/office/powerpoint/2010/main" val="209554122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pt-BR" dirty="0" smtClean="0"/>
              <a:t>Materiais para Trocadores de Calor</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1123950" y="1447799"/>
            <a:ext cx="6877050" cy="5003398"/>
            <a:chOff x="1123950" y="1447799"/>
            <a:chExt cx="6877050" cy="5003398"/>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950" y="1447799"/>
              <a:ext cx="6877050" cy="474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7463" y="6204976"/>
              <a:ext cx="829073" cy="246221"/>
            </a:xfrm>
            <a:prstGeom prst="rect">
              <a:avLst/>
            </a:prstGeom>
            <a:noFill/>
          </p:spPr>
          <p:txBody>
            <a:bodyPr wrap="none" rtlCol="0">
              <a:spAutoFit/>
            </a:bodyPr>
            <a:lstStyle/>
            <a:p>
              <a:pPr algn="ctr"/>
              <a:r>
                <a:rPr lang="en-US" sz="1000" dirty="0" smtClean="0"/>
                <a:t>Figura 6.32</a:t>
              </a:r>
              <a:endParaRPr lang="en-US" sz="1000" dirty="0"/>
            </a:p>
          </p:txBody>
        </p:sp>
      </p:grpSp>
    </p:spTree>
    <p:extLst>
      <p:ext uri="{BB962C8B-B14F-4D97-AF65-F5344CB8AC3E}">
        <p14:creationId xmlns:p14="http://schemas.microsoft.com/office/powerpoint/2010/main" val="233076960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384653" y="4953000"/>
            <a:ext cx="6400800" cy="1752600"/>
          </a:xfrm>
        </p:spPr>
        <p:txBody>
          <a:bodyPr>
            <a:normAutofit/>
          </a:bodyPr>
          <a:lstStyle/>
          <a:p>
            <a:r>
              <a:rPr lang="pt-BR" dirty="0" smtClean="0"/>
              <a:t>Gráficos com propriedades mais detalhadas para a seleção de materiais para trocadores de calor</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4" name="Grupo 3"/>
          <p:cNvGrpSpPr/>
          <p:nvPr/>
        </p:nvGrpSpPr>
        <p:grpSpPr>
          <a:xfrm>
            <a:off x="1162448" y="149155"/>
            <a:ext cx="6819104" cy="4786851"/>
            <a:chOff x="1162448" y="149155"/>
            <a:chExt cx="6819104" cy="4786851"/>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448" y="149155"/>
              <a:ext cx="6819104" cy="452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157462" y="4689785"/>
              <a:ext cx="829073" cy="246221"/>
            </a:xfrm>
            <a:prstGeom prst="rect">
              <a:avLst/>
            </a:prstGeom>
            <a:noFill/>
          </p:spPr>
          <p:txBody>
            <a:bodyPr wrap="none" rtlCol="0">
              <a:spAutoFit/>
            </a:bodyPr>
            <a:lstStyle/>
            <a:p>
              <a:pPr algn="ctr"/>
              <a:r>
                <a:rPr lang="en-US" sz="1000" dirty="0" smtClean="0"/>
                <a:t>Figura 6.33</a:t>
              </a:r>
              <a:endParaRPr lang="en-US" sz="1000" dirty="0"/>
            </a:p>
          </p:txBody>
        </p:sp>
      </p:grpSp>
    </p:spTree>
    <p:extLst>
      <p:ext uri="{BB962C8B-B14F-4D97-AF65-F5344CB8AC3E}">
        <p14:creationId xmlns:p14="http://schemas.microsoft.com/office/powerpoint/2010/main" val="150988282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142999" y="2971800"/>
            <a:ext cx="6858000" cy="1752600"/>
          </a:xfrm>
        </p:spPr>
        <p:txBody>
          <a:bodyPr>
            <a:normAutofit fontScale="92500"/>
          </a:bodyPr>
          <a:lstStyle/>
          <a:p>
            <a:pPr algn="just"/>
            <a:r>
              <a:rPr lang="pt-BR" dirty="0" smtClean="0"/>
              <a:t>Índices de materiais para minimização de um trocador de calor (M</a:t>
            </a:r>
            <a:r>
              <a:rPr lang="pt-BR" baseline="-25000" dirty="0" smtClean="0"/>
              <a:t>2</a:t>
            </a:r>
            <a:r>
              <a:rPr lang="pt-BR" dirty="0" smtClean="0"/>
              <a:t>) e para a minimização do custo (M</a:t>
            </a:r>
            <a:r>
              <a:rPr lang="pt-BR" baseline="-25000" dirty="0" smtClean="0"/>
              <a:t>3</a:t>
            </a:r>
            <a:r>
              <a:rPr lang="pt-BR" dirty="0" smtClean="0"/>
              <a:t>) :</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953000"/>
            <a:ext cx="1846251"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992" y="4953000"/>
            <a:ext cx="1810053"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Tabela 6"/>
          <p:cNvGraphicFramePr>
            <a:graphicFrameLocks noGrp="1"/>
          </p:cNvGraphicFramePr>
          <p:nvPr>
            <p:extLst>
              <p:ext uri="{D42A27DB-BD31-4B8C-83A1-F6EECF244321}">
                <p14:modId xmlns:p14="http://schemas.microsoft.com/office/powerpoint/2010/main" val="2442446043"/>
              </p:ext>
            </p:extLst>
          </p:nvPr>
        </p:nvGraphicFramePr>
        <p:xfrm>
          <a:off x="304800" y="304800"/>
          <a:ext cx="8534400" cy="2514600"/>
        </p:xfrm>
        <a:graphic>
          <a:graphicData uri="http://schemas.openxmlformats.org/drawingml/2006/table">
            <a:tbl>
              <a:tblPr firstRow="1" bandRow="1">
                <a:tableStyleId>{68D230F3-CF80-4859-8CE7-A43EE81993B5}</a:tableStyleId>
              </a:tblPr>
              <a:tblGrid>
                <a:gridCol w="2284761"/>
                <a:gridCol w="1220439"/>
                <a:gridCol w="5029200"/>
              </a:tblGrid>
              <a:tr h="487680">
                <a:tc gridSpan="3">
                  <a:txBody>
                    <a:bodyPr/>
                    <a:lstStyle/>
                    <a:p>
                      <a:r>
                        <a:rPr lang="pt-BR" sz="1400" dirty="0" smtClean="0">
                          <a:solidFill>
                            <a:srgbClr val="FFFF00"/>
                          </a:solidFill>
                        </a:rPr>
                        <a:t>Tabela 6.32</a:t>
                      </a:r>
                      <a:r>
                        <a:rPr lang="pt-BR" sz="1400" baseline="0" dirty="0" smtClean="0">
                          <a:solidFill>
                            <a:srgbClr val="FFFF00"/>
                          </a:solidFill>
                        </a:rPr>
                        <a:t> </a:t>
                      </a:r>
                      <a:r>
                        <a:rPr lang="pt-BR" sz="1400" dirty="0" smtClean="0">
                          <a:solidFill>
                            <a:srgbClr val="FFFF00"/>
                          </a:solidFill>
                        </a:rPr>
                        <a:t>– Materiais para</a:t>
                      </a:r>
                      <a:r>
                        <a:rPr lang="pt-BR" sz="1400" baseline="0" dirty="0" smtClean="0">
                          <a:solidFill>
                            <a:srgbClr val="FFFF00"/>
                          </a:solidFill>
                        </a:rPr>
                        <a:t> Trocadores de Calor</a:t>
                      </a:r>
                      <a:endParaRPr lang="pt-BR" sz="1200" baseline="0" dirty="0" smtClean="0"/>
                    </a:p>
                  </a:txBody>
                  <a:tcPr>
                    <a:solidFill>
                      <a:schemeClr val="accent1"/>
                    </a:solidFill>
                  </a:tcPr>
                </a:tc>
                <a:tc hMerge="1">
                  <a:txBody>
                    <a:bodyPr/>
                    <a:lstStyle/>
                    <a:p>
                      <a:endParaRPr lang="en-US"/>
                    </a:p>
                  </a:txBody>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Bronze, bronze naval</a:t>
                      </a:r>
                    </a:p>
                    <a:p>
                      <a:pPr algn="ctr"/>
                      <a:endParaRPr lang="pt-BR" sz="1050" baseline="0" dirty="0" smtClean="0"/>
                    </a:p>
                    <a:p>
                      <a:pPr algn="ctr"/>
                      <a:r>
                        <a:rPr lang="pt-BR" sz="1050" baseline="0" dirty="0" smtClean="0"/>
                        <a:t>Bronze ao Fosforoso</a:t>
                      </a:r>
                    </a:p>
                    <a:p>
                      <a:pPr algn="ctr"/>
                      <a:endParaRPr lang="pt-BR" sz="1050" baseline="0" dirty="0" smtClean="0"/>
                    </a:p>
                    <a:p>
                      <a:pPr algn="ctr"/>
                      <a:r>
                        <a:rPr lang="pt-BR" sz="1050" baseline="0" dirty="0" smtClean="0"/>
                        <a:t>Bronzes ao Al, forjados</a:t>
                      </a:r>
                    </a:p>
                    <a:p>
                      <a:pPr algn="ctr"/>
                      <a:endParaRPr lang="pt-BR" sz="1050" baseline="0" dirty="0" smtClean="0"/>
                    </a:p>
                    <a:p>
                      <a:pPr algn="ctr"/>
                      <a:r>
                        <a:rPr lang="pt-BR" sz="1050" baseline="0" dirty="0" smtClean="0"/>
                        <a:t>Bronzes ao </a:t>
                      </a:r>
                      <a:r>
                        <a:rPr lang="pt-BR" sz="1050" baseline="0" dirty="0" err="1" smtClean="0"/>
                        <a:t>Ni</a:t>
                      </a:r>
                      <a:r>
                        <a:rPr lang="pt-BR" sz="1050" baseline="0" dirty="0" smtClean="0"/>
                        <a:t>-</a:t>
                      </a:r>
                      <a:r>
                        <a:rPr lang="pt-BR" sz="1050" baseline="0" dirty="0" err="1" smtClean="0"/>
                        <a:t>Fe-Al</a:t>
                      </a:r>
                      <a:endParaRPr lang="pt-BR" sz="1050" baseline="0" dirty="0" smtClean="0"/>
                    </a:p>
                    <a:p>
                      <a:pPr algn="ctr"/>
                      <a:endParaRPr lang="pt-BR" sz="1050" baseline="0" dirty="0" smtClean="0"/>
                    </a:p>
                    <a:p>
                      <a:pPr algn="ctr"/>
                      <a:r>
                        <a:rPr lang="pt-BR" sz="1050" baseline="0" dirty="0" smtClean="0"/>
                        <a:t>Bronzes ao Si</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ea typeface="+mn-ea"/>
                          <a:cs typeface="+mn-cs"/>
                        </a:rPr>
                        <a:t>Índice </a:t>
                      </a:r>
                      <a:r>
                        <a:rPr lang="pt-BR" sz="1100" b="1" i="1" kern="1200" baseline="0" dirty="0" smtClean="0">
                          <a:solidFill>
                            <a:srgbClr val="FFFF00"/>
                          </a:solidFill>
                          <a:ea typeface="+mn-ea"/>
                          <a:cs typeface="+mn-cs"/>
                        </a:rPr>
                        <a:t>M</a:t>
                      </a:r>
                      <a:r>
                        <a:rPr lang="pt-BR" sz="1100" b="1" kern="1200" baseline="0" dirty="0" smtClean="0">
                          <a:solidFill>
                            <a:srgbClr val="FFFF00"/>
                          </a:solidFill>
                          <a:ea typeface="+mn-ea"/>
                          <a:cs typeface="+mn-cs"/>
                        </a:rPr>
                        <a:t> W.MN/m</a:t>
                      </a:r>
                      <a:r>
                        <a:rPr lang="pt-BR" sz="1100" b="1" kern="1200" baseline="30000" dirty="0" smtClean="0">
                          <a:solidFill>
                            <a:srgbClr val="FFFF00"/>
                          </a:solidFill>
                          <a:ea typeface="+mn-ea"/>
                          <a:cs typeface="+mn-cs"/>
                        </a:rPr>
                        <a:t>3</a:t>
                      </a:r>
                      <a:r>
                        <a:rPr lang="pt-BR" sz="1100" b="1" kern="1200" baseline="0" dirty="0" smtClean="0">
                          <a:solidFill>
                            <a:srgbClr val="FFFF00"/>
                          </a:solidFill>
                          <a:ea typeface="+mn-ea"/>
                          <a:cs typeface="+mn-cs"/>
                        </a:rPr>
                        <a:t>K</a:t>
                      </a:r>
                      <a:endParaRPr lang="pt-BR" sz="1100" b="1" kern="1200" baseline="0" dirty="0" smtClean="0">
                        <a:solidFill>
                          <a:srgbClr val="FFFF00"/>
                        </a:solidFill>
                        <a:latin typeface="+mn-lt"/>
                        <a:ea typeface="+mn-ea"/>
                        <a:cs typeface="+mn-cs"/>
                      </a:endParaRPr>
                    </a:p>
                    <a:p>
                      <a:pPr algn="ctr"/>
                      <a:endParaRPr lang="pt-BR" sz="1050" b="1" baseline="0" dirty="0" smtClean="0">
                        <a:solidFill>
                          <a:srgbClr val="FFFF00"/>
                        </a:solidFill>
                      </a:endParaRPr>
                    </a:p>
                    <a:p>
                      <a:pPr algn="ctr"/>
                      <a:r>
                        <a:rPr lang="pt-BR" sz="1050" b="0" baseline="0" dirty="0" smtClean="0">
                          <a:solidFill>
                            <a:schemeClr val="tx1"/>
                          </a:solidFill>
                        </a:rPr>
                        <a:t>5 x 10</a:t>
                      </a:r>
                      <a:r>
                        <a:rPr lang="pt-BR" sz="1050" b="0" baseline="30000" dirty="0" smtClean="0">
                          <a:solidFill>
                            <a:schemeClr val="tx1"/>
                          </a:solidFill>
                        </a:rPr>
                        <a:t>4</a:t>
                      </a:r>
                    </a:p>
                    <a:p>
                      <a:pPr algn="ctr"/>
                      <a:endParaRPr lang="pt-BR" sz="1050" b="0" baseline="0" dirty="0" smtClean="0">
                        <a:solidFill>
                          <a:schemeClr val="tx1"/>
                        </a:solidFill>
                      </a:endParaRPr>
                    </a:p>
                    <a:p>
                      <a:pPr algn="ctr"/>
                      <a:r>
                        <a:rPr lang="pt-BR" sz="1050" b="0" baseline="0" dirty="0" smtClean="0">
                          <a:solidFill>
                            <a:schemeClr val="tx1"/>
                          </a:solidFill>
                        </a:rPr>
                        <a:t>4 x 10</a:t>
                      </a:r>
                      <a:r>
                        <a:rPr lang="pt-BR" sz="1050" b="0" baseline="30000" dirty="0" smtClean="0">
                          <a:solidFill>
                            <a:schemeClr val="tx1"/>
                          </a:solidFill>
                        </a:rPr>
                        <a:t>4</a:t>
                      </a:r>
                    </a:p>
                    <a:p>
                      <a:pPr algn="ctr"/>
                      <a:endParaRPr lang="pt-BR" sz="1050" b="0" baseline="0" dirty="0" smtClean="0">
                        <a:solidFill>
                          <a:schemeClr val="tx1"/>
                        </a:solidFill>
                      </a:endParaRPr>
                    </a:p>
                    <a:p>
                      <a:pPr algn="ctr"/>
                      <a:r>
                        <a:rPr lang="pt-BR" sz="1050" b="0" baseline="0" dirty="0" smtClean="0">
                          <a:solidFill>
                            <a:schemeClr val="tx1"/>
                          </a:solidFill>
                        </a:rPr>
                        <a:t>3,8 x 10</a:t>
                      </a:r>
                      <a:r>
                        <a:rPr lang="pt-BR" sz="1050" b="0" baseline="30000" dirty="0" smtClean="0">
                          <a:solidFill>
                            <a:schemeClr val="tx1"/>
                          </a:solidFill>
                        </a:rPr>
                        <a:t>4</a:t>
                      </a:r>
                    </a:p>
                    <a:p>
                      <a:pPr algn="ctr"/>
                      <a:endParaRPr lang="pt-BR" sz="1050" b="0" baseline="0" dirty="0" smtClean="0">
                        <a:solidFill>
                          <a:schemeClr val="tx1"/>
                        </a:solidFill>
                      </a:endParaRPr>
                    </a:p>
                    <a:p>
                      <a:pPr algn="ctr"/>
                      <a:r>
                        <a:rPr lang="pt-BR" sz="1050" b="0" baseline="0" dirty="0" smtClean="0">
                          <a:solidFill>
                            <a:schemeClr val="tx1"/>
                          </a:solidFill>
                        </a:rPr>
                        <a:t>2,5 x 10</a:t>
                      </a:r>
                      <a:r>
                        <a:rPr lang="pt-BR" sz="1050" b="0" baseline="30000" dirty="0" smtClean="0">
                          <a:solidFill>
                            <a:schemeClr val="tx1"/>
                          </a:solidFill>
                        </a:rPr>
                        <a:t>4</a:t>
                      </a:r>
                      <a:endParaRPr lang="pt-BR" sz="1050" b="0" baseline="0" dirty="0" smtClean="0">
                        <a:solidFill>
                          <a:schemeClr val="tx1"/>
                        </a:solidFill>
                      </a:endParaRPr>
                    </a:p>
                    <a:p>
                      <a:pPr algn="ctr"/>
                      <a:endParaRPr lang="pt-BR" sz="1050" b="0" baseline="0" dirty="0" smtClean="0">
                        <a:solidFill>
                          <a:schemeClr val="tx1"/>
                        </a:solidFill>
                      </a:endParaRPr>
                    </a:p>
                    <a:p>
                      <a:pPr algn="ctr"/>
                      <a:r>
                        <a:rPr lang="pt-BR" sz="1050" b="0" baseline="0" dirty="0" smtClean="0">
                          <a:solidFill>
                            <a:schemeClr val="tx1"/>
                          </a:solidFill>
                        </a:rPr>
                        <a:t>2,2 x 10</a:t>
                      </a:r>
                      <a:r>
                        <a:rPr lang="pt-BR" sz="1050" b="0" baseline="30000" dirty="0" smtClean="0">
                          <a:solidFill>
                            <a:schemeClr val="tx1"/>
                          </a:solidFill>
                        </a:rPr>
                        <a:t>4</a:t>
                      </a:r>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baseline="0" dirty="0" smtClean="0">
                          <a:solidFill>
                            <a:schemeClr val="tx1"/>
                          </a:solidFill>
                        </a:rPr>
                        <a:t>Sujeito a eliminação do Zn</a:t>
                      </a:r>
                    </a:p>
                    <a:p>
                      <a:pPr algn="ctr"/>
                      <a:endParaRPr lang="pt-BR" sz="1050" b="1" baseline="0" dirty="0" smtClean="0">
                        <a:solidFill>
                          <a:schemeClr val="tx1"/>
                        </a:solidFill>
                      </a:endParaRPr>
                    </a:p>
                    <a:p>
                      <a:pPr algn="ctr"/>
                      <a:r>
                        <a:rPr lang="pt-BR" sz="1050" b="1" baseline="0" dirty="0" smtClean="0">
                          <a:solidFill>
                            <a:schemeClr val="tx1"/>
                          </a:solidFill>
                        </a:rPr>
                        <a:t>Baratos, mas não tão resistentes a corrosão como os bronzes ao Al</a:t>
                      </a:r>
                    </a:p>
                    <a:p>
                      <a:pPr algn="ctr"/>
                      <a:endParaRPr lang="pt-BR" sz="1050" b="1" baseline="0" dirty="0" smtClean="0">
                        <a:solidFill>
                          <a:schemeClr val="tx1"/>
                        </a:solidFill>
                      </a:endParaRPr>
                    </a:p>
                    <a:p>
                      <a:pPr algn="ctr"/>
                      <a:r>
                        <a:rPr lang="pt-BR" sz="1050" b="1" baseline="0" dirty="0" smtClean="0">
                          <a:solidFill>
                            <a:schemeClr val="tx1"/>
                          </a:solidFill>
                        </a:rPr>
                        <a:t>Uma escolha prática e econômica</a:t>
                      </a:r>
                    </a:p>
                    <a:p>
                      <a:pPr algn="ctr"/>
                      <a:endParaRPr lang="pt-BR" sz="1050" b="1" baseline="0" dirty="0" smtClean="0">
                        <a:solidFill>
                          <a:schemeClr val="tx1"/>
                        </a:solidFill>
                      </a:endParaRPr>
                    </a:p>
                    <a:p>
                      <a:pPr algn="ctr"/>
                      <a:r>
                        <a:rPr lang="pt-BR" sz="1050" b="1" baseline="0" dirty="0" smtClean="0">
                          <a:solidFill>
                            <a:schemeClr val="tx1"/>
                          </a:solidFill>
                        </a:rPr>
                        <a:t>Mais resistentes à corrosão, porém mais caros</a:t>
                      </a:r>
                    </a:p>
                    <a:p>
                      <a:pPr algn="ctr"/>
                      <a:endParaRPr lang="pt-BR" sz="1050" b="1" baseline="0" dirty="0" smtClean="0">
                        <a:solidFill>
                          <a:schemeClr val="tx1"/>
                        </a:solidFill>
                      </a:endParaRPr>
                    </a:p>
                    <a:p>
                      <a:pPr algn="ctr"/>
                      <a:r>
                        <a:rPr lang="pt-BR" sz="1050" b="1" baseline="0" dirty="0" smtClean="0">
                          <a:solidFill>
                            <a:schemeClr val="tx1"/>
                          </a:solidFill>
                        </a:rPr>
                        <a:t>Não tão bom quanto bronze ao Al</a:t>
                      </a:r>
                    </a:p>
                  </a:txBody>
                  <a:tcPr>
                    <a:solidFill>
                      <a:schemeClr val="accent1"/>
                    </a:solidFill>
                  </a:tcPr>
                </a:tc>
              </a:tr>
            </a:tbl>
          </a:graphicData>
        </a:graphic>
      </p:graphicFrame>
    </p:spTree>
    <p:extLst>
      <p:ext uri="{BB962C8B-B14F-4D97-AF65-F5344CB8AC3E}">
        <p14:creationId xmlns:p14="http://schemas.microsoft.com/office/powerpoint/2010/main" val="273148503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6200"/>
            <a:ext cx="8229600" cy="1143000"/>
          </a:xfrm>
        </p:spPr>
        <p:txBody>
          <a:bodyPr>
            <a:normAutofit fontScale="90000"/>
          </a:bodyPr>
          <a:lstStyle/>
          <a:p>
            <a:r>
              <a:rPr lang="pt-BR" dirty="0" smtClean="0"/>
              <a:t>Dissipadores de Calor para Circuitos Integrados Aquecidos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2185988" y="1399763"/>
            <a:ext cx="4672012" cy="2257837"/>
            <a:chOff x="2235994" y="1295399"/>
            <a:chExt cx="4672012" cy="2257837"/>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994" y="1295399"/>
              <a:ext cx="4672012" cy="201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157461" y="3307015"/>
              <a:ext cx="829073" cy="246221"/>
            </a:xfrm>
            <a:prstGeom prst="rect">
              <a:avLst/>
            </a:prstGeom>
            <a:noFill/>
          </p:spPr>
          <p:txBody>
            <a:bodyPr wrap="none" rtlCol="0">
              <a:spAutoFit/>
            </a:bodyPr>
            <a:lstStyle/>
            <a:p>
              <a:pPr algn="ctr"/>
              <a:r>
                <a:rPr lang="en-US" sz="1000" dirty="0" smtClean="0"/>
                <a:t>Figura 6.34</a:t>
              </a:r>
              <a:endParaRPr lang="en-US" sz="1000" dirty="0"/>
            </a:p>
          </p:txBody>
        </p:sp>
      </p:grpSp>
      <mc:AlternateContent xmlns:mc="http://schemas.openxmlformats.org/markup-compatibility/2006" xmlns:a14="http://schemas.microsoft.com/office/drawing/2010/main">
        <mc:Choice Requires="a14">
          <p:graphicFrame>
            <p:nvGraphicFramePr>
              <p:cNvPr id="10" name="Tabela 9"/>
              <p:cNvGraphicFramePr>
                <a:graphicFrameLocks noGrp="1"/>
              </p:cNvGraphicFramePr>
              <p:nvPr>
                <p:extLst>
                  <p:ext uri="{D42A27DB-BD31-4B8C-83A1-F6EECF244321}">
                    <p14:modId xmlns:p14="http://schemas.microsoft.com/office/powerpoint/2010/main" val="2669584127"/>
                  </p:ext>
                </p:extLst>
              </p:nvPr>
            </p:nvGraphicFramePr>
            <p:xfrm>
              <a:off x="228600" y="3886200"/>
              <a:ext cx="8686800" cy="221488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6.33 –</a:t>
                          </a:r>
                          <a:r>
                            <a:rPr lang="pt-BR" sz="1200" baseline="0" dirty="0" smtClean="0"/>
                            <a:t> Requisitos de projeto para um trocador de calor</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Dissipadores</a:t>
                          </a:r>
                          <a:r>
                            <a:rPr lang="pt-BR" sz="1400" baseline="0" dirty="0" smtClean="0"/>
                            <a:t> de Calor</a:t>
                          </a:r>
                          <a:endParaRPr lang="en-US" sz="140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Material deve ser “bom isolante”, ou </a:t>
                          </a:r>
                          <a14:m>
                            <m:oMath xmlns:m="http://schemas.openxmlformats.org/officeDocument/2006/math">
                              <m:sSub>
                                <m:sSubPr>
                                  <m:ctrlPr>
                                    <a:rPr lang="pt-BR" sz="1400" i="1" baseline="0" smtClean="0">
                                      <a:latin typeface="Cambria Math"/>
                                      <a:ea typeface="Cambria Math"/>
                                    </a:rPr>
                                  </m:ctrlPr>
                                </m:sSubPr>
                                <m:e>
                                  <m:r>
                                    <a:rPr lang="pt-BR" sz="1400" i="1" baseline="0" smtClean="0">
                                      <a:latin typeface="Cambria Math"/>
                                      <a:ea typeface="Cambria Math"/>
                                    </a:rPr>
                                    <m:t>𝜌</m:t>
                                  </m:r>
                                </m:e>
                                <m:sub>
                                  <m:r>
                                    <a:rPr lang="pt-BR" sz="1400" b="0" i="1" baseline="0" smtClean="0">
                                      <a:latin typeface="Cambria Math"/>
                                      <a:ea typeface="Cambria Math"/>
                                    </a:rPr>
                                    <m:t>𝑒</m:t>
                                  </m:r>
                                </m:sub>
                              </m:sSub>
                              <m:r>
                                <a:rPr lang="pt-BR" sz="1400" b="0" i="1" baseline="0" smtClean="0">
                                  <a:latin typeface="Cambria Math"/>
                                  <a:ea typeface="Cambria Math"/>
                                </a:rPr>
                                <m:t>&gt;</m:t>
                              </m:r>
                              <m:sSup>
                                <m:sSupPr>
                                  <m:ctrlPr>
                                    <a:rPr lang="pt-BR" sz="1400" b="0" i="1" baseline="0" smtClean="0">
                                      <a:latin typeface="Cambria Math"/>
                                      <a:ea typeface="Cambria Math"/>
                                    </a:rPr>
                                  </m:ctrlPr>
                                </m:sSupPr>
                                <m:e>
                                  <m:r>
                                    <a:rPr lang="pt-BR" sz="1400" b="0" i="1" baseline="0" smtClean="0">
                                      <a:latin typeface="Cambria Math"/>
                                      <a:ea typeface="Cambria Math"/>
                                    </a:rPr>
                                    <m:t>10</m:t>
                                  </m:r>
                                </m:e>
                                <m:sup>
                                  <m:r>
                                    <a:rPr lang="pt-BR" sz="1400" b="0" i="1" baseline="0" smtClean="0">
                                      <a:latin typeface="Cambria Math"/>
                                      <a:ea typeface="Cambria Math"/>
                                    </a:rPr>
                                    <m:t>18</m:t>
                                  </m:r>
                                </m:sup>
                              </m:sSup>
                              <m:r>
                                <a:rPr lang="pt-BR" sz="1400" b="0" i="0" baseline="0" smtClean="0">
                                  <a:latin typeface="Cambria Math"/>
                                  <a:ea typeface="Cambria Math"/>
                                </a:rPr>
                                <m:t> </m:t>
                              </m:r>
                              <m:r>
                                <m:rPr>
                                  <m:sty m:val="p"/>
                                </m:rPr>
                                <a:rPr lang="el-GR" sz="1400" b="0" i="1" baseline="0" smtClean="0">
                                  <a:latin typeface="Cambria Math"/>
                                  <a:ea typeface="Cambria Math"/>
                                </a:rPr>
                                <m:t>μΩ</m:t>
                              </m:r>
                              <m:r>
                                <a:rPr lang="pt-BR" sz="1400" b="0" i="1" baseline="0" smtClean="0">
                                  <a:latin typeface="Cambria Math"/>
                                  <a:ea typeface="Cambria Math"/>
                                </a:rPr>
                                <m:t>.</m:t>
                              </m:r>
                              <m:r>
                                <a:rPr lang="pt-BR" sz="1400" b="0" i="1" baseline="0" smtClean="0">
                                  <a:latin typeface="Cambria Math"/>
                                  <a:ea typeface="Cambria Math"/>
                                </a:rPr>
                                <m:t>𝑐𝑚</m:t>
                              </m:r>
                            </m:oMath>
                          </a14:m>
                          <a:endParaRPr lang="pt-BR" sz="1400" baseline="0" dirty="0" smtClean="0"/>
                        </a:p>
                        <a:p>
                          <a:r>
                            <a:rPr lang="pt-BR" sz="1400" i="0" baseline="0" dirty="0" smtClean="0"/>
                            <a:t>Temperatura de serviço máxima &gt; 150</a:t>
                          </a:r>
                          <a:r>
                            <a:rPr lang="pt-BR" sz="1400" i="0" baseline="30000" dirty="0" smtClean="0"/>
                            <a:t>o</a:t>
                          </a:r>
                          <a:r>
                            <a:rPr lang="pt-BR" sz="1400" i="0" baseline="0" dirty="0" smtClean="0"/>
                            <a:t>C</a:t>
                          </a:r>
                        </a:p>
                        <a:p>
                          <a:r>
                            <a:rPr lang="pt-BR" sz="1400" i="0" baseline="0" dirty="0" smtClean="0"/>
                            <a:t>Todas as dimensões são especificadas</a:t>
                          </a:r>
                        </a:p>
                      </a:txBody>
                      <a:tcPr/>
                    </a:tc>
                  </a:tr>
                  <a:tr h="370840">
                    <a:tc>
                      <a:txBody>
                        <a:bodyPr/>
                        <a:lstStyle/>
                        <a:p>
                          <a:r>
                            <a:rPr lang="pt-BR" sz="1400" dirty="0" smtClean="0"/>
                            <a:t>Objetivo</a:t>
                          </a:r>
                          <a:endParaRPr lang="en-US" sz="1400" b="1" dirty="0">
                            <a:solidFill>
                              <a:srgbClr val="FFFF00"/>
                            </a:solidFill>
                          </a:endParaRPr>
                        </a:p>
                      </a:txBody>
                      <a:tcPr/>
                    </a:tc>
                    <a:tc>
                      <a:txBody>
                        <a:bodyPr/>
                        <a:lstStyle/>
                        <a:p>
                          <a:r>
                            <a:rPr lang="pt-BR" sz="1400" i="0" dirty="0" smtClean="0"/>
                            <a:t>Maximizar condutividade térmica, </a:t>
                          </a:r>
                          <a14:m>
                            <m:oMath xmlns:m="http://schemas.openxmlformats.org/officeDocument/2006/math">
                              <m:r>
                                <a:rPr lang="pt-BR" sz="1400" i="1" smtClean="0">
                                  <a:latin typeface="Cambria Math"/>
                                  <a:ea typeface="Cambria Math"/>
                                </a:rPr>
                                <m:t>𝜆</m:t>
                              </m:r>
                            </m:oMath>
                          </a14:m>
                          <a:endParaRPr lang="pt-BR" sz="1400" i="1" dirty="0" smtClean="0"/>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i="0" baseline="0" dirty="0" smtClean="0"/>
                            <a:t>Escolha do material</a:t>
                          </a:r>
                        </a:p>
                      </a:txBody>
                      <a:tcPr/>
                    </a:tc>
                  </a:tr>
                </a:tbl>
              </a:graphicData>
            </a:graphic>
          </p:graphicFrame>
        </mc:Choice>
        <mc:Fallback xmlns="">
          <p:graphicFrame>
            <p:nvGraphicFramePr>
              <p:cNvPr id="10" name="Tabela 9"/>
              <p:cNvGraphicFramePr>
                <a:graphicFrameLocks noGrp="1"/>
              </p:cNvGraphicFramePr>
              <p:nvPr>
                <p:extLst>
                  <p:ext uri="{D42A27DB-BD31-4B8C-83A1-F6EECF244321}">
                    <p14:modId xmlns:p14="http://schemas.microsoft.com/office/powerpoint/2010/main" val="2669584127"/>
                  </p:ext>
                </p:extLst>
              </p:nvPr>
            </p:nvGraphicFramePr>
            <p:xfrm>
              <a:off x="228600" y="3886200"/>
              <a:ext cx="8686800" cy="221488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a:t>
                          </a:r>
                          <a:r>
                            <a:rPr lang="pt-BR" sz="1200" dirty="0" smtClean="0"/>
                            <a:t>6.33 </a:t>
                          </a:r>
                          <a:r>
                            <a:rPr lang="pt-BR" sz="1200" dirty="0" smtClean="0"/>
                            <a:t>–</a:t>
                          </a:r>
                          <a:r>
                            <a:rPr lang="pt-BR" sz="1200" baseline="0" dirty="0" smtClean="0"/>
                            <a:t> </a:t>
                          </a:r>
                          <a:r>
                            <a:rPr lang="pt-BR" sz="1200" baseline="0" dirty="0" smtClean="0"/>
                            <a:t>Requisitos de projeto para um trocador de calor</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pt-BR" sz="1400" dirty="0" smtClean="0"/>
                            <a:t>Dissipadores</a:t>
                          </a:r>
                          <a:r>
                            <a:rPr lang="pt-BR" sz="1400" baseline="0" dirty="0" smtClean="0"/>
                            <a:t> de Calor</a:t>
                          </a:r>
                          <a:endParaRPr lang="en-US" sz="1400" dirty="0"/>
                        </a:p>
                      </a:txBody>
                      <a:tcPr/>
                    </a:tc>
                  </a:tr>
                  <a:tr h="73152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3"/>
                          <a:stretch>
                            <a:fillRect l="-26981" t="-103361" b="-102521"/>
                          </a:stretch>
                        </a:blipFill>
                      </a:tcPr>
                    </a:tc>
                  </a:tr>
                  <a:tr h="370840">
                    <a:tc>
                      <a:txBody>
                        <a:bodyPr/>
                        <a:lstStyle/>
                        <a:p>
                          <a:r>
                            <a:rPr lang="pt-BR" sz="1400" dirty="0" smtClean="0"/>
                            <a:t>Objetivo</a:t>
                          </a:r>
                          <a:endParaRPr lang="en-US" sz="1400" b="1" dirty="0">
                            <a:solidFill>
                              <a:srgbClr val="FFFF00"/>
                            </a:solidFill>
                          </a:endParaRPr>
                        </a:p>
                      </a:txBody>
                      <a:tcPr/>
                    </a:tc>
                    <a:tc>
                      <a:txBody>
                        <a:bodyPr/>
                        <a:lstStyle/>
                        <a:p>
                          <a:endParaRPr lang="en-US"/>
                        </a:p>
                      </a:txBody>
                      <a:tcPr>
                        <a:blipFill rotWithShape="1">
                          <a:blip r:embed="rId3"/>
                          <a:stretch>
                            <a:fillRect l="-26981" t="-396721" b="-100000"/>
                          </a:stretch>
                        </a:blipFill>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i="0" baseline="0" dirty="0" smtClean="0"/>
                            <a:t>Escolha do material</a:t>
                          </a:r>
                          <a:endParaRPr lang="pt-BR" sz="1400" i="0" baseline="0" dirty="0" smtClean="0"/>
                        </a:p>
                      </a:txBody>
                      <a:tcPr/>
                    </a:tc>
                  </a:tr>
                </a:tbl>
              </a:graphicData>
            </a:graphic>
          </p:graphicFrame>
        </mc:Fallback>
      </mc:AlternateContent>
    </p:spTree>
    <p:extLst>
      <p:ext uri="{BB962C8B-B14F-4D97-AF65-F5344CB8AC3E}">
        <p14:creationId xmlns:p14="http://schemas.microsoft.com/office/powerpoint/2010/main" val="238790610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447800" y="5463010"/>
            <a:ext cx="6400800" cy="1013990"/>
          </a:xfrm>
        </p:spPr>
        <p:txBody>
          <a:bodyPr>
            <a:normAutofit fontScale="55000" lnSpcReduction="20000"/>
          </a:bodyPr>
          <a:lstStyle/>
          <a:p>
            <a:pPr algn="just"/>
            <a:r>
              <a:rPr lang="pt-BR" dirty="0" smtClean="0"/>
              <a:t>Gráficos de propriedades para a seleção de um trocador de calor com atributos de limites e índices de material desenhados sobre o mesmo. A seleção é refinada pelo</a:t>
            </a:r>
            <a:r>
              <a:rPr lang="en-US" dirty="0" smtClean="0"/>
              <a:t> </a:t>
            </a:r>
            <a:r>
              <a:rPr lang="pt-BR" dirty="0" smtClean="0"/>
              <a:t>aumento da posição da diretriz de seleção </a:t>
            </a:r>
            <a:r>
              <a:rPr lang="el-GR" i="1" dirty="0" smtClean="0"/>
              <a:t>λ</a:t>
            </a:r>
            <a:r>
              <a:rPr lang="en-US" i="1" dirty="0" smtClean="0"/>
              <a:t>.</a:t>
            </a:r>
            <a:endParaRPr lang="en-US" i="1"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398037" y="244997"/>
            <a:ext cx="6400800" cy="5165203"/>
            <a:chOff x="1398037" y="145407"/>
            <a:chExt cx="6400800" cy="5165203"/>
          </a:xfrm>
        </p:grpSpPr>
        <p:pic>
          <p:nvPicPr>
            <p:cNvPr id="645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8037" y="145407"/>
              <a:ext cx="6400800" cy="4918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83901" y="5064389"/>
              <a:ext cx="829073" cy="246221"/>
            </a:xfrm>
            <a:prstGeom prst="rect">
              <a:avLst/>
            </a:prstGeom>
            <a:noFill/>
          </p:spPr>
          <p:txBody>
            <a:bodyPr wrap="none" rtlCol="0">
              <a:spAutoFit/>
            </a:bodyPr>
            <a:lstStyle/>
            <a:p>
              <a:pPr algn="ctr"/>
              <a:r>
                <a:rPr lang="en-US" sz="1000" dirty="0" smtClean="0"/>
                <a:t>Figura 6.35</a:t>
              </a:r>
              <a:endParaRPr lang="en-US" sz="1000" dirty="0"/>
            </a:p>
          </p:txBody>
        </p:sp>
      </p:grpSp>
    </p:spTree>
    <p:extLst>
      <p:ext uri="{BB962C8B-B14F-4D97-AF65-F5344CB8AC3E}">
        <p14:creationId xmlns:p14="http://schemas.microsoft.com/office/powerpoint/2010/main" val="226747627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219200" y="4953000"/>
            <a:ext cx="6705600" cy="1752600"/>
          </a:xfrm>
        </p:spPr>
        <p:txBody>
          <a:bodyPr>
            <a:normAutofit fontScale="92500" lnSpcReduction="10000"/>
          </a:bodyPr>
          <a:lstStyle/>
          <a:p>
            <a:pPr algn="just"/>
            <a:r>
              <a:rPr lang="pt-BR" dirty="0" smtClean="0"/>
              <a:t>Mesmo gráfico de seleção para trocadores de calor a grande resolução, o que permite uma escolha mais refinada.</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219200" y="102372"/>
            <a:ext cx="6705600" cy="4953094"/>
            <a:chOff x="1219200" y="140472"/>
            <a:chExt cx="6705600" cy="4953094"/>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40472"/>
              <a:ext cx="6705600" cy="4736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7463" y="4847345"/>
              <a:ext cx="829073" cy="246221"/>
            </a:xfrm>
            <a:prstGeom prst="rect">
              <a:avLst/>
            </a:prstGeom>
            <a:noFill/>
          </p:spPr>
          <p:txBody>
            <a:bodyPr wrap="none" rtlCol="0">
              <a:spAutoFit/>
            </a:bodyPr>
            <a:lstStyle/>
            <a:p>
              <a:pPr algn="ctr"/>
              <a:r>
                <a:rPr lang="en-US" sz="1000" dirty="0" smtClean="0"/>
                <a:t>Figura 6.36</a:t>
              </a:r>
              <a:endParaRPr lang="en-US" sz="1000" dirty="0"/>
            </a:p>
          </p:txBody>
        </p:sp>
      </p:grpSp>
    </p:spTree>
    <p:extLst>
      <p:ext uri="{BB962C8B-B14F-4D97-AF65-F5344CB8AC3E}">
        <p14:creationId xmlns:p14="http://schemas.microsoft.com/office/powerpoint/2010/main" val="374071961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pt-BR" dirty="0" smtClean="0"/>
              <a:t>Materiais para Domos de Radar</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3" name="Group 2"/>
          <p:cNvGrpSpPr/>
          <p:nvPr/>
        </p:nvGrpSpPr>
        <p:grpSpPr>
          <a:xfrm>
            <a:off x="1524000" y="3786433"/>
            <a:ext cx="3276600" cy="2504829"/>
            <a:chOff x="2657475" y="609600"/>
            <a:chExt cx="3829050" cy="2809629"/>
          </a:xfrm>
        </p:grpSpPr>
        <p:pic>
          <p:nvPicPr>
            <p:cNvPr id="66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7475" y="609600"/>
              <a:ext cx="3829050" cy="2563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117147" y="3173008"/>
              <a:ext cx="829073" cy="246221"/>
            </a:xfrm>
            <a:prstGeom prst="rect">
              <a:avLst/>
            </a:prstGeom>
            <a:noFill/>
          </p:spPr>
          <p:txBody>
            <a:bodyPr wrap="none" rtlCol="0">
              <a:spAutoFit/>
            </a:bodyPr>
            <a:lstStyle/>
            <a:p>
              <a:pPr algn="ctr"/>
              <a:r>
                <a:rPr lang="en-US" sz="1000" dirty="0" smtClean="0"/>
                <a:t>Figure 6.37</a:t>
              </a:r>
              <a:endParaRPr lang="en-US" sz="1000" dirty="0"/>
            </a:p>
          </p:txBody>
        </p:sp>
      </p:gr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4190999"/>
            <a:ext cx="18288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9" name="Tabela 8"/>
              <p:cNvGraphicFramePr>
                <a:graphicFrameLocks noGrp="1"/>
              </p:cNvGraphicFramePr>
              <p:nvPr>
                <p:extLst>
                  <p:ext uri="{D42A27DB-BD31-4B8C-83A1-F6EECF244321}">
                    <p14:modId xmlns:p14="http://schemas.microsoft.com/office/powerpoint/2010/main" val="1760716486"/>
                  </p:ext>
                </p:extLst>
              </p:nvPr>
            </p:nvGraphicFramePr>
            <p:xfrm>
              <a:off x="228600" y="1295400"/>
              <a:ext cx="8686800" cy="214884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6.33 –</a:t>
                          </a:r>
                          <a:r>
                            <a:rPr lang="pt-BR" sz="1200" baseline="0" dirty="0" smtClean="0"/>
                            <a:t> Requisitos de projeto para um </a:t>
                          </a:r>
                          <a:r>
                            <a:rPr lang="pt-BR" sz="1200" baseline="0" dirty="0" err="1" smtClean="0"/>
                            <a:t>radome</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en-US" sz="1400" noProof="0" dirty="0" err="1" smtClean="0"/>
                            <a:t>Radome</a:t>
                          </a:r>
                          <a:endParaRPr lang="en-US" sz="1400" noProof="0" dirty="0"/>
                        </a:p>
                      </a:txBody>
                      <a:tcPr/>
                    </a:tc>
                  </a:tr>
                  <a:tr h="370840">
                    <a:tc>
                      <a:txBody>
                        <a:bodyPr/>
                        <a:lstStyle/>
                        <a:p>
                          <a:r>
                            <a:rPr lang="pt-BR" sz="1400" dirty="0" smtClean="0"/>
                            <a:t>Restrições</a:t>
                          </a:r>
                          <a:endParaRPr lang="en-US" sz="1400" b="1" dirty="0">
                            <a:solidFill>
                              <a:srgbClr val="FFFF00"/>
                            </a:solidFill>
                          </a:endParaRPr>
                        </a:p>
                      </a:txBody>
                      <a:tcPr/>
                    </a:tc>
                    <a:tc>
                      <a:txBody>
                        <a:bodyPr/>
                        <a:lstStyle/>
                        <a:p>
                          <a:r>
                            <a:rPr lang="pt-BR" sz="1400" baseline="0" dirty="0" smtClean="0"/>
                            <a:t>Suportar diferença de pressão, </a:t>
                          </a:r>
                          <a14:m>
                            <m:oMath xmlns:m="http://schemas.openxmlformats.org/officeDocument/2006/math">
                              <m:r>
                                <a:rPr lang="pt-BR" sz="1400" i="1" baseline="0" smtClean="0">
                                  <a:latin typeface="Cambria Math"/>
                                  <a:ea typeface="Cambria Math"/>
                                </a:rPr>
                                <m:t>∆</m:t>
                              </m:r>
                              <m:r>
                                <a:rPr lang="pt-BR" sz="1400" b="0" i="1" baseline="0" smtClean="0">
                                  <a:latin typeface="Cambria Math"/>
                                  <a:ea typeface="Cambria Math"/>
                                </a:rPr>
                                <m:t>𝑝</m:t>
                              </m:r>
                            </m:oMath>
                          </a14:m>
                          <a:endParaRPr lang="pt-BR" sz="1400"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pt-BR" sz="1400" baseline="0" dirty="0" smtClean="0"/>
                            <a:t>Tolerar temperatura até </a:t>
                          </a:r>
                          <a14:m>
                            <m:oMath xmlns:m="http://schemas.openxmlformats.org/officeDocument/2006/math">
                              <m:sSub>
                                <m:sSubPr>
                                  <m:ctrlPr>
                                    <a:rPr lang="pt-BR" sz="1400" i="1" baseline="0" smtClean="0">
                                      <a:latin typeface="Cambria Math"/>
                                      <a:ea typeface="Cambria Math"/>
                                    </a:rPr>
                                  </m:ctrlPr>
                                </m:sSubPr>
                                <m:e>
                                  <m:r>
                                    <a:rPr lang="pt-BR" sz="1400" i="1" baseline="0" smtClean="0">
                                      <a:latin typeface="Cambria Math"/>
                                      <a:ea typeface="Cambria Math"/>
                                    </a:rPr>
                                    <m:t>𝑇</m:t>
                                  </m:r>
                                  <m:r>
                                    <m:rPr>
                                      <m:nor/>
                                    </m:rPr>
                                    <a:rPr lang="pt-BR" sz="1400" baseline="0" dirty="0" smtClean="0">
                                      <a:ea typeface="Cambria Math"/>
                                    </a:rPr>
                                    <m:t> </m:t>
                                  </m:r>
                                </m:e>
                                <m:sub>
                                  <m:r>
                                    <a:rPr lang="pt-BR" sz="1400" b="0" i="1" baseline="0" smtClean="0">
                                      <a:latin typeface="Cambria Math"/>
                                      <a:ea typeface="Cambria Math"/>
                                    </a:rPr>
                                    <m:t>𝑚</m:t>
                                  </m:r>
                                  <m:r>
                                    <a:rPr lang="pt-BR" sz="1400" b="0" i="1" baseline="0" smtClean="0">
                                      <a:latin typeface="Cambria Math"/>
                                      <a:ea typeface="Cambria Math"/>
                                    </a:rPr>
                                    <m:t>á</m:t>
                                  </m:r>
                                  <m:r>
                                    <a:rPr lang="pt-BR" sz="1400" b="0" i="1" baseline="0" smtClean="0">
                                      <a:latin typeface="Cambria Math"/>
                                      <a:ea typeface="Cambria Math"/>
                                    </a:rPr>
                                    <m:t>𝑥</m:t>
                                  </m:r>
                                </m:sub>
                              </m:sSub>
                            </m:oMath>
                          </a14:m>
                          <a:endParaRPr lang="pt-BR" sz="1400" i="0" baseline="0" dirty="0" smtClean="0"/>
                        </a:p>
                      </a:txBody>
                      <a:tcPr/>
                    </a:tc>
                  </a:tr>
                  <a:tr h="370840">
                    <a:tc>
                      <a:txBody>
                        <a:bodyPr/>
                        <a:lstStyle/>
                        <a:p>
                          <a:r>
                            <a:rPr lang="pt-BR" sz="1400" dirty="0" smtClean="0"/>
                            <a:t>Objetivo</a:t>
                          </a:r>
                          <a:endParaRPr lang="en-US" sz="1400" b="1" dirty="0">
                            <a:solidFill>
                              <a:srgbClr val="FFFF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400" i="0" baseline="0" dirty="0" smtClean="0"/>
                            <a:t>Minimizar perda dielétrica em transmissão de micro-ondas</a:t>
                          </a:r>
                        </a:p>
                      </a:txBody>
                      <a:tcPr/>
                    </a:tc>
                  </a:tr>
                  <a:tr h="37084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r>
                            <a:rPr lang="pt-BR" sz="1400" i="0" baseline="0" dirty="0" smtClean="0"/>
                            <a:t>Espessura da carcaça, </a:t>
                          </a:r>
                          <a14:m>
                            <m:oMath xmlns:m="http://schemas.openxmlformats.org/officeDocument/2006/math">
                              <m:r>
                                <a:rPr lang="pt-BR" sz="1400" b="0" i="1" baseline="0" smtClean="0">
                                  <a:latin typeface="Cambria Math"/>
                                </a:rPr>
                                <m:t>𝑡</m:t>
                              </m:r>
                            </m:oMath>
                          </a14:m>
                          <a:endParaRPr lang="pt-BR" sz="1400" i="0" baseline="0" dirty="0" smtClean="0"/>
                        </a:p>
                        <a:p>
                          <a:r>
                            <a:rPr lang="pt-BR" sz="1400" i="0" baseline="0" dirty="0" smtClean="0"/>
                            <a:t>Escolha do material</a:t>
                          </a:r>
                        </a:p>
                      </a:txBody>
                      <a:tcPr/>
                    </a:tc>
                  </a:tr>
                </a:tbl>
              </a:graphicData>
            </a:graphic>
          </p:graphicFrame>
        </mc:Choice>
        <mc:Fallback xmlns="">
          <p:graphicFrame>
            <p:nvGraphicFramePr>
              <p:cNvPr id="9" name="Tabela 8"/>
              <p:cNvGraphicFramePr>
                <a:graphicFrameLocks noGrp="1"/>
              </p:cNvGraphicFramePr>
              <p:nvPr>
                <p:extLst>
                  <p:ext uri="{D42A27DB-BD31-4B8C-83A1-F6EECF244321}">
                    <p14:modId xmlns:p14="http://schemas.microsoft.com/office/powerpoint/2010/main" val="1760716486"/>
                  </p:ext>
                </p:extLst>
              </p:nvPr>
            </p:nvGraphicFramePr>
            <p:xfrm>
              <a:off x="228600" y="1295400"/>
              <a:ext cx="8686800" cy="2148840"/>
            </p:xfrm>
            <a:graphic>
              <a:graphicData uri="http://schemas.openxmlformats.org/drawingml/2006/table">
                <a:tbl>
                  <a:tblPr firstRow="1" bandRow="1">
                    <a:tableStyleId>{B301B821-A1FF-4177-AEE7-76D212191A09}</a:tableStyleId>
                  </a:tblPr>
                  <a:tblGrid>
                    <a:gridCol w="1838126"/>
                    <a:gridCol w="6848674"/>
                  </a:tblGrid>
                  <a:tr h="370840">
                    <a:tc gridSpan="2">
                      <a:txBody>
                        <a:bodyPr/>
                        <a:lstStyle/>
                        <a:p>
                          <a:r>
                            <a:rPr lang="pt-BR" sz="1200" dirty="0" smtClean="0"/>
                            <a:t>Tabela </a:t>
                          </a:r>
                          <a:r>
                            <a:rPr lang="pt-BR" sz="1200" dirty="0" smtClean="0"/>
                            <a:t>6.33 </a:t>
                          </a:r>
                          <a:r>
                            <a:rPr lang="pt-BR" sz="1200" dirty="0" smtClean="0"/>
                            <a:t>–</a:t>
                          </a:r>
                          <a:r>
                            <a:rPr lang="pt-BR" sz="1200" baseline="0" dirty="0" smtClean="0"/>
                            <a:t> </a:t>
                          </a:r>
                          <a:r>
                            <a:rPr lang="pt-BR" sz="1200" baseline="0" dirty="0" smtClean="0"/>
                            <a:t>Requisitos de projeto para um </a:t>
                          </a:r>
                          <a:r>
                            <a:rPr lang="pt-BR" sz="1200" baseline="0" dirty="0" err="1" smtClean="0"/>
                            <a:t>radome</a:t>
                          </a:r>
                          <a:endParaRPr lang="en-US" sz="1200" dirty="0"/>
                        </a:p>
                      </a:txBody>
                      <a:tcPr/>
                    </a:tc>
                    <a:tc hMerge="1">
                      <a:txBody>
                        <a:bodyPr/>
                        <a:lstStyle/>
                        <a:p>
                          <a:endParaRPr lang="en-US" dirty="0"/>
                        </a:p>
                      </a:txBody>
                      <a:tcPr/>
                    </a:tc>
                  </a:tr>
                  <a:tr h="370840">
                    <a:tc>
                      <a:txBody>
                        <a:bodyPr/>
                        <a:lstStyle/>
                        <a:p>
                          <a:r>
                            <a:rPr lang="pt-BR" sz="1400" dirty="0" smtClean="0"/>
                            <a:t>Função	</a:t>
                          </a:r>
                          <a:endParaRPr lang="en-US" sz="1400" b="1" dirty="0">
                            <a:solidFill>
                              <a:srgbClr val="FFFF00"/>
                            </a:solidFill>
                          </a:endParaRPr>
                        </a:p>
                      </a:txBody>
                      <a:tcPr/>
                    </a:tc>
                    <a:tc>
                      <a:txBody>
                        <a:bodyPr/>
                        <a:lstStyle/>
                        <a:p>
                          <a:r>
                            <a:rPr lang="en-US" sz="1400" noProof="0" dirty="0" err="1" smtClean="0"/>
                            <a:t>Radome</a:t>
                          </a:r>
                          <a:endParaRPr lang="en-US" sz="1400" noProof="0" dirty="0"/>
                        </a:p>
                      </a:txBody>
                      <a:tcPr/>
                    </a:tc>
                  </a:tr>
                  <a:tr h="518160">
                    <a:tc>
                      <a:txBody>
                        <a:bodyPr/>
                        <a:lstStyle/>
                        <a:p>
                          <a:r>
                            <a:rPr lang="pt-BR" sz="1400" dirty="0" smtClean="0"/>
                            <a:t>Restrições</a:t>
                          </a:r>
                          <a:endParaRPr lang="en-US" sz="1400" b="1" dirty="0">
                            <a:solidFill>
                              <a:srgbClr val="FFFF00"/>
                            </a:solidFill>
                          </a:endParaRPr>
                        </a:p>
                      </a:txBody>
                      <a:tcPr/>
                    </a:tc>
                    <a:tc>
                      <a:txBody>
                        <a:bodyPr/>
                        <a:lstStyle/>
                        <a:p>
                          <a:endParaRPr lang="en-US"/>
                        </a:p>
                      </a:txBody>
                      <a:tcPr>
                        <a:blipFill rotWithShape="1">
                          <a:blip r:embed="rId4"/>
                          <a:stretch>
                            <a:fillRect l="-26981" t="-143529" b="-183529"/>
                          </a:stretch>
                        </a:blipFill>
                      </a:tcPr>
                    </a:tc>
                  </a:tr>
                  <a:tr h="370840">
                    <a:tc>
                      <a:txBody>
                        <a:bodyPr/>
                        <a:lstStyle/>
                        <a:p>
                          <a:r>
                            <a:rPr lang="pt-BR" sz="1400" dirty="0" smtClean="0"/>
                            <a:t>Objetivo</a:t>
                          </a:r>
                          <a:endParaRPr lang="en-US" sz="1400" b="1" dirty="0">
                            <a:solidFill>
                              <a:srgbClr val="FFFF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400" i="0" baseline="0" dirty="0" smtClean="0"/>
                            <a:t>Minimizar perda dielétrica em transmissão de micro-ondas</a:t>
                          </a:r>
                        </a:p>
                      </a:txBody>
                      <a:tcPr/>
                    </a:tc>
                  </a:tr>
                  <a:tr h="518160">
                    <a:tc>
                      <a:txBody>
                        <a:bodyPr/>
                        <a:lstStyle/>
                        <a:p>
                          <a:r>
                            <a:rPr lang="pt-BR" sz="1400" dirty="0" smtClean="0"/>
                            <a:t>Variável</a:t>
                          </a:r>
                          <a:r>
                            <a:rPr lang="pt-BR" sz="1400" baseline="0" dirty="0" smtClean="0"/>
                            <a:t> Livre</a:t>
                          </a:r>
                          <a:endParaRPr lang="en-US" sz="1400" b="1" dirty="0">
                            <a:solidFill>
                              <a:srgbClr val="FFFF00"/>
                            </a:solidFill>
                          </a:endParaRPr>
                        </a:p>
                      </a:txBody>
                      <a:tcPr/>
                    </a:tc>
                    <a:tc>
                      <a:txBody>
                        <a:bodyPr/>
                        <a:lstStyle/>
                        <a:p>
                          <a:endParaRPr lang="en-US"/>
                        </a:p>
                      </a:txBody>
                      <a:tcPr>
                        <a:blipFill rotWithShape="1">
                          <a:blip r:embed="rId4"/>
                          <a:stretch>
                            <a:fillRect l="-26981" t="-315294" b="-11765"/>
                          </a:stretch>
                        </a:blipFill>
                      </a:tcPr>
                    </a:tc>
                  </a:tr>
                </a:tbl>
              </a:graphicData>
            </a:graphic>
          </p:graphicFrame>
        </mc:Fallback>
      </mc:AlternateContent>
    </p:spTree>
    <p:extLst>
      <p:ext uri="{BB962C8B-B14F-4D97-AF65-F5344CB8AC3E}">
        <p14:creationId xmlns:p14="http://schemas.microsoft.com/office/powerpoint/2010/main" val="249484346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0216"/>
            <a:ext cx="8229600" cy="1143000"/>
          </a:xfrm>
        </p:spPr>
        <p:txBody>
          <a:bodyPr/>
          <a:lstStyle/>
          <a:p>
            <a:r>
              <a:rPr lang="pt-BR" dirty="0" smtClean="0"/>
              <a:t>Materiais para Radomes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6" name="Grupo 5"/>
          <p:cNvGrpSpPr/>
          <p:nvPr/>
        </p:nvGrpSpPr>
        <p:grpSpPr>
          <a:xfrm>
            <a:off x="971550" y="1066800"/>
            <a:ext cx="7200900" cy="5341615"/>
            <a:chOff x="971550" y="1066800"/>
            <a:chExt cx="7200900" cy="5341615"/>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066800"/>
              <a:ext cx="7200900" cy="5095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68090" y="6162194"/>
              <a:ext cx="829073" cy="246221"/>
            </a:xfrm>
            <a:prstGeom prst="rect">
              <a:avLst/>
            </a:prstGeom>
            <a:noFill/>
          </p:spPr>
          <p:txBody>
            <a:bodyPr wrap="none" rtlCol="0">
              <a:spAutoFit/>
            </a:bodyPr>
            <a:lstStyle/>
            <a:p>
              <a:pPr algn="ctr"/>
              <a:r>
                <a:rPr lang="en-US" sz="1000" dirty="0" smtClean="0"/>
                <a:t>Figura 6.38</a:t>
              </a:r>
              <a:endParaRPr lang="en-US" sz="1000" dirty="0"/>
            </a:p>
          </p:txBody>
        </p:sp>
      </p:grpSp>
    </p:spTree>
    <p:extLst>
      <p:ext uri="{BB962C8B-B14F-4D97-AF65-F5344CB8AC3E}">
        <p14:creationId xmlns:p14="http://schemas.microsoft.com/office/powerpoint/2010/main" val="20584569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918" y="238125"/>
            <a:ext cx="7010400" cy="500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ubtitle 5"/>
          <p:cNvSpPr>
            <a:spLocks noGrp="1"/>
          </p:cNvSpPr>
          <p:nvPr>
            <p:ph type="subTitle" idx="1"/>
          </p:nvPr>
        </p:nvSpPr>
        <p:spPr>
          <a:xfrm>
            <a:off x="1346718" y="5562600"/>
            <a:ext cx="6400800" cy="1025126"/>
          </a:xfrm>
        </p:spPr>
        <p:txBody>
          <a:bodyPr>
            <a:normAutofit fontScale="77500" lnSpcReduction="20000"/>
          </a:bodyPr>
          <a:lstStyle/>
          <a:p>
            <a:pPr algn="just"/>
            <a:r>
              <a:rPr lang="pt-BR" dirty="0" smtClean="0"/>
              <a:t>Gráfico mais detalhados explicitando M1 aqui, polímeros e compósitos são examinados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sp>
        <p:nvSpPr>
          <p:cNvPr id="4" name="TextBox 3"/>
          <p:cNvSpPr txBox="1"/>
          <p:nvPr/>
        </p:nvSpPr>
        <p:spPr>
          <a:xfrm>
            <a:off x="4054034" y="5259173"/>
            <a:ext cx="986168" cy="246221"/>
          </a:xfrm>
          <a:prstGeom prst="rect">
            <a:avLst/>
          </a:prstGeom>
          <a:noFill/>
        </p:spPr>
        <p:txBody>
          <a:bodyPr wrap="none" rtlCol="0">
            <a:spAutoFit/>
          </a:bodyPr>
          <a:lstStyle/>
          <a:p>
            <a:pPr algn="ctr"/>
            <a:r>
              <a:rPr lang="en-US" sz="1000" dirty="0" smtClean="0"/>
              <a:t>Figura 6.39(a)</a:t>
            </a:r>
            <a:endParaRPr lang="en-US" sz="1000" dirty="0"/>
          </a:p>
        </p:txBody>
      </p:sp>
    </p:spTree>
    <p:extLst>
      <p:ext uri="{BB962C8B-B14F-4D97-AF65-F5344CB8AC3E}">
        <p14:creationId xmlns:p14="http://schemas.microsoft.com/office/powerpoint/2010/main" val="22357825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371600" y="5347116"/>
            <a:ext cx="6400800" cy="1510884"/>
          </a:xfrm>
        </p:spPr>
        <p:txBody>
          <a:bodyPr>
            <a:normAutofit/>
          </a:bodyPr>
          <a:lstStyle/>
          <a:p>
            <a:r>
              <a:rPr lang="pt-BR" dirty="0" smtClean="0"/>
              <a:t>Examinando cerâmicas e vidros como materiais para radomes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pSp>
        <p:nvGrpSpPr>
          <p:cNvPr id="5" name="Grupo 4"/>
          <p:cNvGrpSpPr/>
          <p:nvPr/>
        </p:nvGrpSpPr>
        <p:grpSpPr>
          <a:xfrm>
            <a:off x="1181097" y="304800"/>
            <a:ext cx="6781799" cy="5076201"/>
            <a:chOff x="1181097" y="304800"/>
            <a:chExt cx="6781799" cy="5076201"/>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097" y="304800"/>
              <a:ext cx="6781799" cy="4829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078913" y="5134780"/>
              <a:ext cx="986168" cy="246221"/>
            </a:xfrm>
            <a:prstGeom prst="rect">
              <a:avLst/>
            </a:prstGeom>
            <a:noFill/>
          </p:spPr>
          <p:txBody>
            <a:bodyPr wrap="none" rtlCol="0">
              <a:spAutoFit/>
            </a:bodyPr>
            <a:lstStyle/>
            <a:p>
              <a:pPr algn="ctr"/>
              <a:r>
                <a:rPr lang="en-US" sz="1000" dirty="0" smtClean="0"/>
                <a:t>Figura 6.39(b)</a:t>
              </a:r>
              <a:endParaRPr lang="en-US" sz="1000" dirty="0"/>
            </a:p>
          </p:txBody>
        </p:sp>
      </p:grpSp>
    </p:spTree>
    <p:extLst>
      <p:ext uri="{BB962C8B-B14F-4D97-AF65-F5344CB8AC3E}">
        <p14:creationId xmlns:p14="http://schemas.microsoft.com/office/powerpoint/2010/main" val="408612456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295400" y="3810000"/>
            <a:ext cx="6400800" cy="1752600"/>
          </a:xfrm>
          <a:solidFill>
            <a:schemeClr val="accent5">
              <a:lumMod val="75000"/>
            </a:schemeClr>
          </a:solidFill>
        </p:spPr>
        <p:txBody>
          <a:bodyPr>
            <a:normAutofit fontScale="92500" lnSpcReduction="10000"/>
          </a:bodyPr>
          <a:lstStyle/>
          <a:p>
            <a:r>
              <a:rPr lang="pt-BR" dirty="0" smtClean="0"/>
              <a:t>Polímeros, GFRP e cerâmicos são a melhores escolhas. PTFE e policarbonato são os materiais mais comuns para radomes.</a:t>
            </a:r>
            <a:endParaRPr lang="pt-BR" dirty="0"/>
          </a:p>
        </p:txBody>
      </p:sp>
      <p:sp>
        <p:nvSpPr>
          <p:cNvPr id="2" name="Footer Placeholder 1"/>
          <p:cNvSpPr>
            <a:spLocks noGrp="1"/>
          </p:cNvSpPr>
          <p:nvPr>
            <p:ph type="ftr" sz="quarter" idx="11"/>
          </p:nvPr>
        </p:nvSpPr>
        <p:spPr/>
        <p:txBody>
          <a:bodyPr/>
          <a:lstStyle/>
          <a:p>
            <a:r>
              <a:rPr lang="en-US" smtClean="0"/>
              <a:t>Materials Selection in Mechanical Design, 4th Edition © 2010 Michael Ashby</a:t>
            </a:r>
            <a:endParaRPr lang="en-US" dirty="0" smtClean="0"/>
          </a:p>
        </p:txBody>
      </p:sp>
      <p:graphicFrame>
        <p:nvGraphicFramePr>
          <p:cNvPr id="5" name="Tabela 4"/>
          <p:cNvGraphicFramePr>
            <a:graphicFrameLocks noGrp="1"/>
          </p:cNvGraphicFramePr>
          <p:nvPr>
            <p:extLst>
              <p:ext uri="{D42A27DB-BD31-4B8C-83A1-F6EECF244321}">
                <p14:modId xmlns:p14="http://schemas.microsoft.com/office/powerpoint/2010/main" val="2447595090"/>
              </p:ext>
            </p:extLst>
          </p:nvPr>
        </p:nvGraphicFramePr>
        <p:xfrm>
          <a:off x="838200" y="609600"/>
          <a:ext cx="7313961" cy="2659380"/>
        </p:xfrm>
        <a:graphic>
          <a:graphicData uri="http://schemas.openxmlformats.org/drawingml/2006/table">
            <a:tbl>
              <a:tblPr firstRow="1" bandRow="1">
                <a:tableStyleId>{68D230F3-CF80-4859-8CE7-A43EE81993B5}</a:tableStyleId>
              </a:tblPr>
              <a:tblGrid>
                <a:gridCol w="2666381"/>
                <a:gridCol w="4647580"/>
              </a:tblGrid>
              <a:tr h="487680">
                <a:tc gridSpan="2">
                  <a:txBody>
                    <a:bodyPr/>
                    <a:lstStyle/>
                    <a:p>
                      <a:r>
                        <a:rPr lang="pt-BR" sz="1400" dirty="0" smtClean="0">
                          <a:solidFill>
                            <a:srgbClr val="FFFF00"/>
                          </a:solidFill>
                        </a:rPr>
                        <a:t>Tabela 6.35</a:t>
                      </a:r>
                      <a:r>
                        <a:rPr lang="pt-BR" sz="1400" baseline="0" dirty="0" smtClean="0">
                          <a:solidFill>
                            <a:srgbClr val="FFFF00"/>
                          </a:solidFill>
                        </a:rPr>
                        <a:t> </a:t>
                      </a:r>
                      <a:r>
                        <a:rPr lang="pt-BR" sz="1400" dirty="0" smtClean="0">
                          <a:solidFill>
                            <a:srgbClr val="FFFF00"/>
                          </a:solidFill>
                        </a:rPr>
                        <a:t>– Materiais para</a:t>
                      </a:r>
                      <a:r>
                        <a:rPr lang="pt-BR" sz="1400" baseline="0" dirty="0" smtClean="0">
                          <a:solidFill>
                            <a:srgbClr val="FFFF00"/>
                          </a:solidFill>
                        </a:rPr>
                        <a:t> Radomes</a:t>
                      </a:r>
                      <a:endParaRPr lang="pt-BR" sz="1200" baseline="0" dirty="0" smtClean="0"/>
                    </a:p>
                  </a:txBody>
                  <a:tcPr>
                    <a:solidFill>
                      <a:schemeClr val="accent1"/>
                    </a:solidFill>
                  </a:tcPr>
                </a:tc>
                <a:tc hMerge="1">
                  <a:txBody>
                    <a:bodyPr/>
                    <a:lstStyle/>
                    <a:p>
                      <a:endParaRPr lang="pt-BR" sz="1200" baseline="0" dirty="0" smtClean="0"/>
                    </a:p>
                  </a:txBody>
                  <a:tcPr>
                    <a:solidFill>
                      <a:schemeClr val="accent1"/>
                    </a:solidFill>
                  </a:tcPr>
                </a:tc>
              </a:tr>
              <a:tr h="370840">
                <a:tc>
                  <a:txBody>
                    <a:bodyPr/>
                    <a:lstStyle/>
                    <a:p>
                      <a:pPr algn="ctr"/>
                      <a:r>
                        <a:rPr lang="pt-BR" sz="1100" b="1" baseline="0" dirty="0" smtClean="0">
                          <a:solidFill>
                            <a:srgbClr val="FFFF00"/>
                          </a:solidFill>
                        </a:rPr>
                        <a:t>Material</a:t>
                      </a:r>
                    </a:p>
                    <a:p>
                      <a:pPr algn="ctr"/>
                      <a:endParaRPr lang="pt-BR" sz="1050" baseline="0" dirty="0" smtClean="0"/>
                    </a:p>
                    <a:p>
                      <a:pPr algn="ctr"/>
                      <a:endParaRPr lang="pt-BR" sz="1050" baseline="0" dirty="0" smtClean="0"/>
                    </a:p>
                    <a:p>
                      <a:pPr algn="ctr"/>
                      <a:r>
                        <a:rPr lang="pt-BR" sz="1050" baseline="0" dirty="0" smtClean="0"/>
                        <a:t>PTFE, polietileno, polipropileno, poliestireno e sulfeto de </a:t>
                      </a:r>
                      <a:r>
                        <a:rPr lang="pt-BR" sz="1050" baseline="0" dirty="0" err="1" smtClean="0"/>
                        <a:t>polifenileno</a:t>
                      </a:r>
                      <a:r>
                        <a:rPr lang="pt-BR" sz="1050" baseline="0" dirty="0" smtClean="0"/>
                        <a:t> (PPS)</a:t>
                      </a:r>
                    </a:p>
                    <a:p>
                      <a:pPr algn="ctr"/>
                      <a:endParaRPr lang="pt-BR" sz="1050" baseline="0" dirty="0" smtClean="0"/>
                    </a:p>
                    <a:p>
                      <a:pPr algn="ctr"/>
                      <a:r>
                        <a:rPr lang="pt-BR" sz="1050" baseline="0" dirty="0" smtClean="0"/>
                        <a:t>Poliéster reforçado com fibra de vidro, PTFE, polietileno e polipropilenos, </a:t>
                      </a:r>
                      <a:r>
                        <a:rPr lang="pt-BR" sz="1050" baseline="0" dirty="0" err="1" smtClean="0"/>
                        <a:t>Poliamidaimida</a:t>
                      </a:r>
                      <a:endParaRPr lang="pt-BR" sz="1050" baseline="0" dirty="0" smtClean="0"/>
                    </a:p>
                    <a:p>
                      <a:pPr algn="ctr"/>
                      <a:endParaRPr lang="pt-BR" sz="1050" baseline="0" dirty="0" smtClean="0"/>
                    </a:p>
                    <a:p>
                      <a:pPr algn="ctr"/>
                      <a:r>
                        <a:rPr lang="pt-BR" sz="1050" baseline="0" dirty="0" smtClean="0"/>
                        <a:t>Sílica, alumina, </a:t>
                      </a:r>
                      <a:r>
                        <a:rPr lang="pt-BR" sz="1050" baseline="0" dirty="0" err="1" smtClean="0"/>
                        <a:t>berília</a:t>
                      </a:r>
                      <a:r>
                        <a:rPr lang="pt-BR" sz="1050" baseline="0" dirty="0" smtClean="0"/>
                        <a:t>, </a:t>
                      </a:r>
                      <a:r>
                        <a:rPr lang="pt-BR" sz="1050" baseline="0" dirty="0" err="1" smtClean="0"/>
                        <a:t>SiC</a:t>
                      </a:r>
                      <a:endParaRPr lang="pt-BR" sz="1050" baseline="0" dirty="0" smtClean="0"/>
                    </a:p>
                  </a:txBody>
                  <a:tcPr>
                    <a:solidFill>
                      <a:schemeClr val="accent1"/>
                    </a:solidFill>
                  </a:tcPr>
                </a:tc>
                <a:tc>
                  <a:txBody>
                    <a:bodyPr/>
                    <a:lstStyle/>
                    <a:p>
                      <a:pPr marL="0" algn="ctr" defTabSz="914400" rtl="0" eaLnBrk="1" latinLnBrk="0" hangingPunct="1"/>
                      <a:r>
                        <a:rPr lang="pt-BR" sz="1100" b="1" kern="1200" baseline="0" dirty="0" smtClean="0">
                          <a:solidFill>
                            <a:srgbClr val="FFFF00"/>
                          </a:solidFill>
                          <a:latin typeface="+mn-lt"/>
                          <a:ea typeface="+mn-ea"/>
                          <a:cs typeface="+mn-cs"/>
                        </a:rPr>
                        <a:t>Comentário</a:t>
                      </a:r>
                    </a:p>
                    <a:p>
                      <a:pPr algn="ctr"/>
                      <a:endParaRPr lang="pt-BR" sz="1000" baseline="0" dirty="0" smtClean="0">
                        <a:solidFill>
                          <a:srgbClr val="FFFF00"/>
                        </a:solidFill>
                      </a:endParaRPr>
                    </a:p>
                    <a:p>
                      <a:pPr algn="ctr"/>
                      <a:endParaRPr lang="pt-BR" sz="1050" b="1" baseline="0" dirty="0" smtClean="0">
                        <a:solidFill>
                          <a:schemeClr val="tx1"/>
                        </a:solidFill>
                      </a:endParaRPr>
                    </a:p>
                    <a:p>
                      <a:pPr algn="ctr"/>
                      <a:r>
                        <a:rPr lang="pt-BR" sz="1050" b="1" baseline="0" dirty="0" smtClean="0">
                          <a:solidFill>
                            <a:schemeClr val="tx1"/>
                          </a:solidFill>
                        </a:rPr>
                        <a:t>Máxima perda dielétrica, porém limitados a temperaturas próximas à ambiente</a:t>
                      </a:r>
                    </a:p>
                    <a:p>
                      <a:pPr algn="ct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Perda ligeiramente maior, porém maior resistência  a resistência a temperatura</a:t>
                      </a:r>
                    </a:p>
                    <a:p>
                      <a:pPr algn="ctr"/>
                      <a:endParaRPr lang="pt-BR" sz="1050" b="1" baseline="0" dirty="0" smtClean="0">
                        <a:solidFill>
                          <a:schemeClr val="tx1"/>
                        </a:solidFill>
                      </a:endParaRPr>
                    </a:p>
                    <a:p>
                      <a:pPr algn="ctr"/>
                      <a:endParaRPr lang="pt-BR" sz="1050" b="1" baseline="0" dirty="0" smtClean="0">
                        <a:solidFill>
                          <a:schemeClr val="tx1"/>
                        </a:solidFill>
                      </a:endParaRPr>
                    </a:p>
                    <a:p>
                      <a:pPr algn="ctr"/>
                      <a:r>
                        <a:rPr lang="pt-BR" sz="1050" b="1" baseline="0" dirty="0" smtClean="0">
                          <a:solidFill>
                            <a:schemeClr val="tx1"/>
                          </a:solidFill>
                        </a:rPr>
                        <a:t>A escolha para veículos e foguetes de reentrada na atmosfera, quando o aquecimento é grande</a:t>
                      </a:r>
                    </a:p>
                  </a:txBody>
                  <a:tcPr>
                    <a:solidFill>
                      <a:schemeClr val="accent1"/>
                    </a:solidFill>
                  </a:tcPr>
                </a:tc>
              </a:tr>
            </a:tbl>
          </a:graphicData>
        </a:graphic>
      </p:graphicFrame>
    </p:spTree>
    <p:extLst>
      <p:ext uri="{BB962C8B-B14F-4D97-AF65-F5344CB8AC3E}">
        <p14:creationId xmlns:p14="http://schemas.microsoft.com/office/powerpoint/2010/main" val="1656147706"/>
      </p:ext>
    </p:extLst>
  </p:cSld>
  <p:clrMapOvr>
    <a:masterClrMapping/>
  </p:clrMapOvr>
  <p:timing>
    <p:tnLst>
      <p:par>
        <p:cTn id="1" dur="indefinite" restart="never" nodeType="tmRoot"/>
      </p:par>
    </p:tnLst>
  </p:timing>
</p:sld>
</file>

<file path=ppt/theme/theme1.xml><?xml version="1.0" encoding="utf-8"?>
<a:theme xmlns:a="http://schemas.openxmlformats.org/drawingml/2006/main" name="MaterialsSelec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MaterialsSelection</Template>
  <TotalTime>5273</TotalTime>
  <Words>4902</Words>
  <Application>Microsoft Office PowerPoint</Application>
  <PresentationFormat>Apresentação na tela (4:3)</PresentationFormat>
  <Paragraphs>1102</Paragraphs>
  <Slides>65</Slides>
  <Notes>0</Notes>
  <HiddenSlides>0</HiddenSlides>
  <MMClips>0</MMClips>
  <ScaleCrop>false</ScaleCrop>
  <HeadingPairs>
    <vt:vector size="4" baseType="variant">
      <vt:variant>
        <vt:lpstr>Tema</vt:lpstr>
      </vt:variant>
      <vt:variant>
        <vt:i4>1</vt:i4>
      </vt:variant>
      <vt:variant>
        <vt:lpstr>Títulos de slides</vt:lpstr>
      </vt:variant>
      <vt:variant>
        <vt:i4>65</vt:i4>
      </vt:variant>
    </vt:vector>
  </HeadingPairs>
  <TitlesOfParts>
    <vt:vector size="66" baseType="lpstr">
      <vt:lpstr>MaterialsSelection</vt:lpstr>
      <vt:lpstr>Capítulo 6 Estudo de caso: Seleção de Materiais</vt:lpstr>
      <vt:lpstr>Materiais para Remos</vt:lpstr>
      <vt:lpstr>Materiais para Remos: Tradução</vt:lpstr>
      <vt:lpstr>Apresentação do PowerPoint</vt:lpstr>
      <vt:lpstr>Apresentação do PowerPoint</vt:lpstr>
      <vt:lpstr>Apresentação do PowerPoint</vt:lpstr>
      <vt:lpstr>Espelhos para Grandes Telescópios</vt:lpstr>
      <vt:lpstr>Espelhos para Grandes Telescópios: Tradução</vt:lpstr>
      <vt:lpstr>Apresentação do PowerPoint</vt:lpstr>
      <vt:lpstr>Materiais para Espelhos do Telescópio</vt:lpstr>
      <vt:lpstr>Apresentação do PowerPoint</vt:lpstr>
      <vt:lpstr>Materiais para Pernas de Mesas</vt:lpstr>
      <vt:lpstr>Apresentação do PowerPoint</vt:lpstr>
      <vt:lpstr>Custo: Materiais Estruturais para Edifícios</vt:lpstr>
      <vt:lpstr>Apresentação do PowerPoint</vt:lpstr>
      <vt:lpstr>Apresentação do PowerPoint</vt:lpstr>
      <vt:lpstr>Apresentação do PowerPoint</vt:lpstr>
      <vt:lpstr>Materiais para Volantes</vt:lpstr>
      <vt:lpstr>Apresentação do PowerPoint</vt:lpstr>
      <vt:lpstr>Apresentação do PowerPoint</vt:lpstr>
      <vt:lpstr>Materiais para molas</vt:lpstr>
      <vt:lpstr>Materiais para Molas Pequenas</vt:lpstr>
      <vt:lpstr>Apresentação do PowerPoint</vt:lpstr>
      <vt:lpstr>Materiais para Molas Leves</vt:lpstr>
      <vt:lpstr>Apresentação do PowerPoint</vt:lpstr>
      <vt:lpstr>Dobradiças e Acoplamentos Elásticos</vt:lpstr>
      <vt:lpstr>Materiais para Dobradiças Elásticas</vt:lpstr>
      <vt:lpstr>Apresentação do PowerPoint</vt:lpstr>
      <vt:lpstr>Vedações Elástica</vt:lpstr>
      <vt:lpstr>Materiais para Vedações Reutilizáveis</vt:lpstr>
      <vt:lpstr>Apresentação do PowerPoint</vt:lpstr>
      <vt:lpstr>Projeto Limitado por Deflexão com Polímeros Frágeis</vt:lpstr>
      <vt:lpstr>Apresentação do PowerPoint</vt:lpstr>
      <vt:lpstr>Apresentação do PowerPoint</vt:lpstr>
      <vt:lpstr>Vasos de Pressão Seguros</vt:lpstr>
      <vt:lpstr>Materiais para Vasos de Pressão Seguros</vt:lpstr>
      <vt:lpstr>Apresentação do PowerPoint</vt:lpstr>
      <vt:lpstr>Materiais Rígidos de Alto Amortecimento para Mesas Vibratórias</vt:lpstr>
      <vt:lpstr>Materiais para Mesas Vibratórias</vt:lpstr>
      <vt:lpstr>Materiais para Mesas Vibratórias</vt:lpstr>
      <vt:lpstr>Apresentação do PowerPoint</vt:lpstr>
      <vt:lpstr>Isolamentos para Recipientes Isotérmicos de Curto Prazo</vt:lpstr>
      <vt:lpstr>Apresentação do PowerPoint</vt:lpstr>
      <vt:lpstr>Apresentação do PowerPoint</vt:lpstr>
      <vt:lpstr>Paredes Energeticamente Eficientes para Fornos de Calcinação</vt:lpstr>
      <vt:lpstr>Materiais para Paredes de Forno de Calcinação</vt:lpstr>
      <vt:lpstr>Apresentação do PowerPoint</vt:lpstr>
      <vt:lpstr>Aquecimento Solar Passivo</vt:lpstr>
      <vt:lpstr>Materiais para Paredes que Armazenam Calor</vt:lpstr>
      <vt:lpstr>Apresentação do PowerPoint</vt:lpstr>
      <vt:lpstr>Materiais para Minimizar a Distorção Térmica em Instrumentos de Medição</vt:lpstr>
      <vt:lpstr>Materiais para Instrumentos de Medida de Precisão</vt:lpstr>
      <vt:lpstr>Apresentação do PowerPoint</vt:lpstr>
      <vt:lpstr>Materiais para Trocadores de Calor</vt:lpstr>
      <vt:lpstr>Materiais para Trocadores de Calor</vt:lpstr>
      <vt:lpstr>Apresentação do PowerPoint</vt:lpstr>
      <vt:lpstr>Apresentação do PowerPoint</vt:lpstr>
      <vt:lpstr>Dissipadores de Calor para Circuitos Integrados Aquecidos</vt:lpstr>
      <vt:lpstr>Apresentação do PowerPoint</vt:lpstr>
      <vt:lpstr>Apresentação do PowerPoint</vt:lpstr>
      <vt:lpstr>Materiais para Domos de Radar</vt:lpstr>
      <vt:lpstr>Materiais para Radomes</vt:lpstr>
      <vt:lpstr>Apresentação do PowerPoint</vt:lpstr>
      <vt:lpstr>Apresentação do PowerPoint</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Hougendobler</dc:creator>
  <cp:lastModifiedBy>ileao</cp:lastModifiedBy>
  <cp:revision>144</cp:revision>
  <dcterms:created xsi:type="dcterms:W3CDTF">2010-09-03T02:00:13Z</dcterms:created>
  <dcterms:modified xsi:type="dcterms:W3CDTF">2016-03-28T18:48:22Z</dcterms:modified>
</cp:coreProperties>
</file>