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7" r:id="rId10"/>
    <p:sldId id="269" r:id="rId11"/>
    <p:sldId id="270" r:id="rId12"/>
    <p:sldId id="272" r:id="rId13"/>
    <p:sldId id="273" r:id="rId14"/>
    <p:sldId id="27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5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11/13/2019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0024-6DF9-46B6-B0CA-73559700CE9B}" type="datetime1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7B90B-8702-42AB-92D6-4D5B27A83156}" type="datetime1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1546D-3444-4673-83CF-7AC695237009}" type="datetime1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9BE73-3A0F-4E48-BE72-57027243C620}" type="datetime1">
              <a:rPr lang="en-US" smtClean="0"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C5A0C-5183-4039-AF0F-9AD78D317EBA}" type="datetime1">
              <a:rPr lang="en-US" smtClean="0"/>
              <a:t>11/13/2019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74-88CD-4CDC-9AEA-CA0E9CB54374}" type="datetime1">
              <a:rPr lang="en-US" smtClean="0"/>
              <a:t>11/13/2019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E455-4543-42E5-9BA2-5A8CF81D432C}" type="datetime1">
              <a:rPr lang="en-US" smtClean="0"/>
              <a:t>11/13/2019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6567-C537-44CC-8916-C0D104820ECF}" type="datetime1">
              <a:rPr lang="en-US" smtClean="0"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F430-0BB7-481D-8F18-01CFA0EEB6BD}" type="datetime1">
              <a:rPr lang="en-US" smtClean="0"/>
              <a:t>11/13/2019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576E-6758-4B53-B2BA-1A39F06EA544}" type="datetime1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0BB74-6E50-4EF2-86BF-7F88E4C59F74}" type="datetime1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45993-C957-430B-B6DF-7A6BA401366A}" type="datetime1">
              <a:rPr lang="en-US" smtClean="0"/>
              <a:t>11/13/2019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838200"/>
            <a:ext cx="5029200" cy="1470025"/>
          </a:xfrm>
        </p:spPr>
        <p:txBody>
          <a:bodyPr>
            <a:normAutofit fontScale="90000"/>
          </a:bodyPr>
          <a:lstStyle/>
          <a:p>
            <a:r>
              <a:rPr lang="pt-BR" sz="4400" dirty="0"/>
              <a:t>Capítulo 10</a:t>
            </a:r>
            <a:br>
              <a:rPr lang="pt-BR" dirty="0"/>
            </a:br>
            <a:r>
              <a:rPr lang="pt-BR" dirty="0">
                <a:solidFill>
                  <a:schemeClr val="tx1"/>
                </a:solidFill>
              </a:rPr>
              <a:t>Estudo de Casos: 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Material e Forma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Materials Selection in Mechanical Design, 4th Edition, © 2010 Michael Ashby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685800"/>
            <a:ext cx="3676072" cy="2211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58396"/>
            <a:ext cx="5791200" cy="2990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9C15D92-E33D-4484-81F3-BC3CCF11B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33800"/>
            <a:ext cx="7467600" cy="273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28600"/>
            <a:ext cx="7315200" cy="1752600"/>
          </a:xfrm>
        </p:spPr>
        <p:txBody>
          <a:bodyPr>
            <a:normAutofit fontScale="92500"/>
          </a:bodyPr>
          <a:lstStyle/>
          <a:p>
            <a:r>
              <a:rPr lang="pt-BR" dirty="0"/>
              <a:t>Índices que incluem a forma e fornecem uma ferramenta para otimização da seleção conjugada de material e forma.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918192"/>
              </p:ext>
            </p:extLst>
          </p:nvPr>
        </p:nvGraphicFramePr>
        <p:xfrm>
          <a:off x="304800" y="1905000"/>
          <a:ext cx="8615363" cy="3806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209">
                <a:tc gridSpan="3">
                  <a:txBody>
                    <a:bodyPr/>
                    <a:lstStyle/>
                    <a:p>
                      <a:pPr algn="just"/>
                      <a:r>
                        <a:rPr lang="pt-BR" sz="1600" b="1" dirty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600" b="1" baseline="0" dirty="0">
                          <a:solidFill>
                            <a:srgbClr val="FFC000"/>
                          </a:solidFill>
                        </a:rPr>
                        <a:t> 10.1</a:t>
                      </a:r>
                      <a:r>
                        <a:rPr lang="pt-BR" sz="1600" baseline="0" dirty="0">
                          <a:solidFill>
                            <a:schemeClr val="bg1"/>
                          </a:solidFill>
                        </a:rPr>
                        <a:t> Índices com forma: projeto limitado por rigidez e por resistência com peso mínimo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53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Componente, forma, carregamento</a:t>
                      </a:r>
                      <a:r>
                        <a:rPr lang="pt-BR" sz="1200" b="1" baseline="0" dirty="0">
                          <a:solidFill>
                            <a:schemeClr val="bg1"/>
                          </a:solidFill>
                        </a:rPr>
                        <a:t> e restrições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Projeto</a:t>
                      </a:r>
                      <a:r>
                        <a:rPr lang="pt-BR" sz="1200" b="1" baseline="0" dirty="0">
                          <a:solidFill>
                            <a:schemeClr val="bg1"/>
                          </a:solidFill>
                        </a:rPr>
                        <a:t> Limitado por Rigidez*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chemeClr val="bg1"/>
                          </a:solidFill>
                        </a:rPr>
                        <a:t>Projeto limitado</a:t>
                      </a:r>
                      <a:r>
                        <a:rPr lang="pt-BR" sz="1200" b="1" baseline="0" dirty="0">
                          <a:solidFill>
                            <a:schemeClr val="bg1"/>
                          </a:solidFill>
                        </a:rPr>
                        <a:t> por resistência*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838"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bg1"/>
                          </a:solidFill>
                        </a:rPr>
                        <a:t>Tirante</a:t>
                      </a:r>
                      <a:r>
                        <a:rPr lang="pt-BR" sz="1200" baseline="0" dirty="0">
                          <a:solidFill>
                            <a:schemeClr val="bg1"/>
                          </a:solidFill>
                        </a:rPr>
                        <a:t> (membro sob tração)</a:t>
                      </a:r>
                    </a:p>
                    <a:p>
                      <a:r>
                        <a:rPr lang="pt-BR" sz="1200" baseline="0" dirty="0">
                          <a:solidFill>
                            <a:schemeClr val="bg1"/>
                          </a:solidFill>
                        </a:rPr>
                        <a:t>Carga, rigidez e comprimento especificados, área de seção livre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838"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bg1"/>
                          </a:solidFill>
                        </a:rPr>
                        <a:t>Viga</a:t>
                      </a:r>
                      <a:r>
                        <a:rPr lang="pt-BR" sz="1200" baseline="0" dirty="0">
                          <a:solidFill>
                            <a:schemeClr val="bg1"/>
                          </a:solidFill>
                        </a:rPr>
                        <a:t> (membro sob flexão)</a:t>
                      </a:r>
                    </a:p>
                    <a:p>
                      <a:r>
                        <a:rPr lang="pt-BR" sz="1200" baseline="0" dirty="0">
                          <a:solidFill>
                            <a:schemeClr val="bg1"/>
                          </a:solidFill>
                        </a:rPr>
                        <a:t>Carregado externamente ou por peso próprio, rigidez, resistência e comprimento especificados, área e forma de seção livre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400" i="1" kern="1200" baseline="30000" dirty="0">
                        <a:solidFill>
                          <a:schemeClr val="bg1"/>
                        </a:solidFill>
                        <a:effectLst/>
                        <a:latin typeface="Cambria Math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53"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bg1"/>
                          </a:solidFill>
                        </a:rPr>
                        <a:t>Torção</a:t>
                      </a:r>
                      <a:r>
                        <a:rPr lang="pt-BR" sz="1200" baseline="0" dirty="0">
                          <a:solidFill>
                            <a:schemeClr val="bg1"/>
                          </a:solidFill>
                        </a:rPr>
                        <a:t> (barra ou tubo)</a:t>
                      </a:r>
                    </a:p>
                    <a:p>
                      <a:r>
                        <a:rPr lang="pt-BR" sz="1200" baseline="0" dirty="0">
                          <a:solidFill>
                            <a:schemeClr val="bg1"/>
                          </a:solidFill>
                        </a:rPr>
                        <a:t>Carregado externamente, rigidez, resistência e comprimento especificados, área e forma de seção livres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53"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bg1"/>
                          </a:solidFill>
                        </a:rPr>
                        <a:t>Coluna (escora de compressão)</a:t>
                      </a:r>
                    </a:p>
                    <a:p>
                      <a:r>
                        <a:rPr lang="pt-BR" sz="1200" dirty="0">
                          <a:solidFill>
                            <a:schemeClr val="bg1"/>
                          </a:solidFill>
                        </a:rPr>
                        <a:t>Carga de colapso por</a:t>
                      </a:r>
                      <a:r>
                        <a:rPr lang="pt-BR" sz="1200" baseline="0" dirty="0">
                          <a:solidFill>
                            <a:schemeClr val="bg1"/>
                          </a:solidFill>
                        </a:rPr>
                        <a:t> flambagem ou esmagamento plástico, resistência e comprimento especificados, área e forma de seção livre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3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*Os fatores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de forma  e  são para flexão;  e  são para torção. Para projeto de custo mínimo, substitua </a:t>
                      </a:r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 por 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nos índices.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2400" y="152400"/>
            <a:ext cx="5105400" cy="1470025"/>
          </a:xfrm>
        </p:spPr>
        <p:txBody>
          <a:bodyPr/>
          <a:lstStyle/>
          <a:p>
            <a:r>
              <a:rPr lang="pt-BR" dirty="0"/>
              <a:t>Longarinas para ultraleves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5603922" y="152400"/>
            <a:ext cx="3234971" cy="1756339"/>
            <a:chOff x="5603922" y="152400"/>
            <a:chExt cx="3234971" cy="1756339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3922" y="152400"/>
              <a:ext cx="3234971" cy="1479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6741148" y="1631740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10.1</a:t>
              </a:r>
            </a:p>
          </p:txBody>
        </p:sp>
      </p:grp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876800"/>
            <a:ext cx="217170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861804"/>
              </p:ext>
            </p:extLst>
          </p:nvPr>
        </p:nvGraphicFramePr>
        <p:xfrm>
          <a:off x="381000" y="2286000"/>
          <a:ext cx="8449526" cy="2148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8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pt-BR" sz="1200" dirty="0"/>
                        <a:t>Tabela 10.2 – Requisitos de projeto para longarinas de asas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Função	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Longarina de asa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Restrições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Rigidez especificada</a:t>
                      </a:r>
                      <a:endParaRPr lang="pt-BR" sz="1400" baseline="0" dirty="0"/>
                    </a:p>
                    <a:p>
                      <a:r>
                        <a:rPr lang="pt-BR" sz="1400" baseline="0" dirty="0"/>
                        <a:t>Comprimento especificado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Objetivo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Massa mínima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Variável</a:t>
                      </a:r>
                      <a:r>
                        <a:rPr lang="pt-BR" sz="1400" baseline="0" dirty="0"/>
                        <a:t> Livre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Escolha</a:t>
                      </a:r>
                      <a:r>
                        <a:rPr lang="pt-BR" sz="1400" baseline="0" dirty="0"/>
                        <a:t> de material</a:t>
                      </a:r>
                      <a:endParaRPr lang="pt-BR" sz="1400" i="1" baseline="0" dirty="0"/>
                    </a:p>
                    <a:p>
                      <a:r>
                        <a:rPr lang="pt-BR" sz="1400" baseline="0" dirty="0"/>
                        <a:t>Forma e escala da seção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268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225635"/>
              </p:ext>
            </p:extLst>
          </p:nvPr>
        </p:nvGraphicFramePr>
        <p:xfrm>
          <a:off x="667351" y="1224915"/>
          <a:ext cx="7809295" cy="4307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2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7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285">
                <a:tc gridSpan="6"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400" b="1" baseline="0" dirty="0">
                          <a:solidFill>
                            <a:srgbClr val="FFC000"/>
                          </a:solidFill>
                        </a:rPr>
                        <a:t> 10.3</a:t>
                      </a:r>
                      <a:r>
                        <a:rPr lang="pt-BR" sz="1400" baseline="0" dirty="0">
                          <a:solidFill>
                            <a:schemeClr val="bg1"/>
                          </a:solidFill>
                        </a:rPr>
                        <a:t> Materiais para longarinas de asas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Módulo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E (</a:t>
                      </a:r>
                      <a:r>
                        <a:rPr lang="pt-BR" sz="1100" b="1" baseline="0" dirty="0" err="1">
                          <a:solidFill>
                            <a:schemeClr val="bg1"/>
                          </a:solidFill>
                        </a:rPr>
                        <a:t>GPa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Massa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Específica  (kg/m</a:t>
                      </a:r>
                      <a:r>
                        <a:rPr lang="pt-BR" sz="1100" b="1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Índice*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100" b="1" i="1" baseline="0" dirty="0">
                          <a:solidFill>
                            <a:schemeClr val="bg1"/>
                          </a:solidFill>
                        </a:rPr>
                        <a:t>E</a:t>
                      </a:r>
                      <a:r>
                        <a:rPr lang="pt-BR" sz="1100" b="1" baseline="30000" dirty="0">
                          <a:solidFill>
                            <a:schemeClr val="bg1"/>
                          </a:solidFill>
                        </a:rPr>
                        <a:t>1/2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el-GR" sz="1100" b="1" i="1" baseline="0" dirty="0">
                          <a:solidFill>
                            <a:schemeClr val="bg1"/>
                          </a:solidFill>
                        </a:rPr>
                        <a:t>ρ</a:t>
                      </a:r>
                      <a:r>
                        <a:rPr lang="pt-BR" sz="1100" b="1" i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100" b="1" i="0" baseline="0" dirty="0">
                          <a:solidFill>
                            <a:schemeClr val="bg1"/>
                          </a:solidFill>
                        </a:rPr>
                        <a:t>(GPa</a:t>
                      </a:r>
                      <a:r>
                        <a:rPr lang="pt-BR" sz="1100" b="1" i="0" baseline="30000" dirty="0">
                          <a:solidFill>
                            <a:schemeClr val="bg1"/>
                          </a:solidFill>
                        </a:rPr>
                        <a:t>1/2</a:t>
                      </a:r>
                      <a:r>
                        <a:rPr lang="pt-BR" sz="1100" b="1" i="0" baseline="0" dirty="0">
                          <a:solidFill>
                            <a:schemeClr val="bg1"/>
                          </a:solidFill>
                        </a:rPr>
                        <a:t>/Mg/m</a:t>
                      </a:r>
                      <a:r>
                        <a:rPr lang="pt-BR" sz="1100" b="1" i="0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pt-BR" sz="1100" b="1" i="0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b="1" i="0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Fator</a:t>
                      </a:r>
                      <a:r>
                        <a:rPr lang="en-US" sz="1100" b="1" baseline="0" dirty="0">
                          <a:solidFill>
                            <a:schemeClr val="bg1"/>
                          </a:solidFill>
                        </a:rPr>
                        <a:t> de Forma 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Índice* M</a:t>
                      </a:r>
                      <a:r>
                        <a:rPr lang="pt-BR" sz="1100" b="1" baseline="-25000" dirty="0">
                          <a:solidFill>
                            <a:schemeClr val="bg1"/>
                          </a:solidFill>
                        </a:rPr>
                        <a:t>1 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 (GPa</a:t>
                      </a:r>
                      <a:r>
                        <a:rPr lang="en-US" sz="1100" b="1" baseline="30000" dirty="0">
                          <a:solidFill>
                            <a:schemeClr val="bg1"/>
                          </a:solidFill>
                        </a:rPr>
                        <a:t>1/2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/Mg/m</a:t>
                      </a:r>
                      <a:r>
                        <a:rPr lang="en-US" sz="1100" b="1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Balsa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4,6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210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u="sng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1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pt-BR" sz="1100" dirty="0" err="1">
                          <a:solidFill>
                            <a:schemeClr val="bg1"/>
                          </a:solidFill>
                        </a:rPr>
                        <a:t>Espruce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10,3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450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Aço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205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7.850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1,8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Al 7075 T6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2.700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CFRP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115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1.550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u="sng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en-US" sz="11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Berílio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300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1.840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9,3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u="sng" dirty="0">
                          <a:solidFill>
                            <a:schemeClr val="bg1"/>
                          </a:solidFill>
                        </a:rPr>
                        <a:t>36</a:t>
                      </a:r>
                      <a:endParaRPr lang="en-US" sz="11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Be 38%Al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pt-BR" sz="1100" baseline="0" dirty="0" err="1">
                          <a:solidFill>
                            <a:schemeClr val="bg1"/>
                          </a:solidFill>
                        </a:rPr>
                        <a:t>AlBeMet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162)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185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2.100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6,5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Vidro de </a:t>
                      </a:r>
                      <a:r>
                        <a:rPr lang="pt-BR" sz="1100" dirty="0" err="1">
                          <a:solidFill>
                            <a:schemeClr val="bg1"/>
                          </a:solidFill>
                        </a:rPr>
                        <a:t>borossilicato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63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2.200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3,6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l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*Os valores do índice são baseados em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valores médios das propriedades das propriedades de materiais.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189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38200" y="5181600"/>
            <a:ext cx="7391400" cy="1485872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Uma longarina feita de CFRP com um fator de forma de 10 supera longarina feita de alumínio com um fator de forma de 20 e madeira com um fator de forma próximo de 1.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upo 4"/>
          <p:cNvGrpSpPr/>
          <p:nvPr/>
        </p:nvGrpSpPr>
        <p:grpSpPr>
          <a:xfrm>
            <a:off x="1428750" y="131351"/>
            <a:ext cx="6286500" cy="4921855"/>
            <a:chOff x="1428750" y="131351"/>
            <a:chExt cx="6286500" cy="492185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0" y="131351"/>
              <a:ext cx="6286500" cy="46650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00316" y="4796420"/>
              <a:ext cx="943367" cy="25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Figure 10.2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393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04800"/>
            <a:ext cx="4800596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Garfos para uma Bicicleta de Corrida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8" name="Grupo 7"/>
          <p:cNvGrpSpPr/>
          <p:nvPr/>
        </p:nvGrpSpPr>
        <p:grpSpPr>
          <a:xfrm>
            <a:off x="5867399" y="447674"/>
            <a:ext cx="3152771" cy="4803723"/>
            <a:chOff x="5867399" y="447674"/>
            <a:chExt cx="3152771" cy="4803723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399" y="447674"/>
              <a:ext cx="3152771" cy="4526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6963526" y="4974398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10.3</a:t>
              </a: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206" y="3657600"/>
            <a:ext cx="1967188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51621"/>
              </p:ext>
            </p:extLst>
          </p:nvPr>
        </p:nvGraphicFramePr>
        <p:xfrm>
          <a:off x="228600" y="1676400"/>
          <a:ext cx="5334000" cy="16916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28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r>
                        <a:rPr lang="pt-BR" sz="1100" dirty="0">
                          <a:solidFill>
                            <a:srgbClr val="FFFF00"/>
                          </a:solidFill>
                        </a:rPr>
                        <a:t>Tabela 10.4</a:t>
                      </a:r>
                      <a:r>
                        <a:rPr lang="pt-BR" sz="1100" dirty="0"/>
                        <a:t> </a:t>
                      </a:r>
                      <a:r>
                        <a:rPr lang="pt-BR" sz="1100" baseline="0" dirty="0"/>
                        <a:t> </a:t>
                      </a:r>
                      <a:r>
                        <a:rPr lang="pt-BR" sz="1100" dirty="0"/>
                        <a:t> Requisitos de projeto para garfos de bicicleta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pt-BR" sz="1000" b="1" dirty="0"/>
                        <a:t>Função	</a:t>
                      </a:r>
                      <a:endParaRPr lang="en-US" sz="10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Garfos</a:t>
                      </a:r>
                      <a:r>
                        <a:rPr lang="pt-BR" sz="1000" baseline="0" dirty="0"/>
                        <a:t> de bicicleta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b="1" dirty="0"/>
                        <a:t>Restrições</a:t>
                      </a:r>
                      <a:endParaRPr lang="en-US" sz="10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Não deve</a:t>
                      </a:r>
                      <a:r>
                        <a:rPr lang="pt-BR" sz="1000" baseline="0" dirty="0"/>
                        <a:t> falhar sob carga de projeto – uma restrição à resistência</a:t>
                      </a:r>
                    </a:p>
                    <a:p>
                      <a:r>
                        <a:rPr lang="pt-BR" sz="1000" baseline="0" dirty="0"/>
                        <a:t>Comprimento especificado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pt-BR" sz="1000" b="1" dirty="0"/>
                        <a:t>Objetivo</a:t>
                      </a:r>
                      <a:endParaRPr lang="en-US" sz="10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Minimizar a massa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b="1" dirty="0"/>
                        <a:t>Variável</a:t>
                      </a:r>
                      <a:r>
                        <a:rPr lang="pt-BR" sz="1000" b="1" baseline="0" dirty="0"/>
                        <a:t> Livre</a:t>
                      </a:r>
                      <a:endParaRPr lang="en-US" sz="10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Escolha</a:t>
                      </a:r>
                      <a:r>
                        <a:rPr lang="pt-BR" sz="1000" baseline="0" dirty="0"/>
                        <a:t> de material</a:t>
                      </a:r>
                      <a:endParaRPr lang="pt-BR" sz="1000" i="1" baseline="0" dirty="0"/>
                    </a:p>
                    <a:p>
                      <a:r>
                        <a:rPr lang="pt-BR" sz="1000" baseline="0" dirty="0"/>
                        <a:t>Forma da seção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28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46450"/>
              </p:ext>
            </p:extLst>
          </p:nvPr>
        </p:nvGraphicFramePr>
        <p:xfrm>
          <a:off x="648905" y="467804"/>
          <a:ext cx="7809295" cy="329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7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285">
                <a:tc gridSpan="6">
                  <a:txBody>
                    <a:bodyPr/>
                    <a:lstStyle/>
                    <a:p>
                      <a:pPr algn="just"/>
                      <a:r>
                        <a:rPr lang="pt-BR" sz="1400" b="1" dirty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400" b="1" baseline="0" dirty="0">
                          <a:solidFill>
                            <a:srgbClr val="FFC000"/>
                          </a:solidFill>
                        </a:rPr>
                        <a:t> 10.5</a:t>
                      </a:r>
                      <a:r>
                        <a:rPr lang="pt-BR" sz="1400" baseline="0" dirty="0">
                          <a:solidFill>
                            <a:schemeClr val="bg1"/>
                          </a:solidFill>
                        </a:rPr>
                        <a:t>  Material para garfos de bicicleta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Resistência 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(MPa)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Massa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Específica  (kg/m</a:t>
                      </a:r>
                      <a:r>
                        <a:rPr lang="pt-BR" sz="1100" b="1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Fator de forma </a:t>
                      </a:r>
                      <a:endParaRPr lang="en-US" sz="1100" b="1" i="0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Índice* 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 (MPa</a:t>
                      </a:r>
                      <a:r>
                        <a:rPr lang="en-US" sz="1100" b="1" baseline="30000" dirty="0">
                          <a:solidFill>
                            <a:schemeClr val="bg1"/>
                          </a:solidFill>
                        </a:rPr>
                        <a:t>2/3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/Mg/m</a:t>
                      </a:r>
                      <a:r>
                        <a:rPr lang="en-US" sz="1100" b="1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Índice* M</a:t>
                      </a:r>
                      <a:r>
                        <a:rPr lang="pt-BR" sz="1100" b="1" baseline="-25000" dirty="0">
                          <a:solidFill>
                            <a:schemeClr val="bg1"/>
                          </a:solidFill>
                        </a:rPr>
                        <a:t>1 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 (MPa</a:t>
                      </a:r>
                      <a:r>
                        <a:rPr lang="en-US" sz="1100" b="1" baseline="30000" dirty="0">
                          <a:solidFill>
                            <a:schemeClr val="bg1"/>
                          </a:solidFill>
                        </a:rPr>
                        <a:t>2/3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/Mg/m</a:t>
                      </a:r>
                      <a:r>
                        <a:rPr lang="en-US" sz="1100" b="1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rtl="0"/>
                      <a:r>
                        <a:rPr lang="pt-BR" sz="1100" dirty="0" err="1">
                          <a:solidFill>
                            <a:schemeClr val="bg1"/>
                          </a:solidFill>
                        </a:rPr>
                        <a:t>Espruce</a:t>
                      </a:r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 (norueguês)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75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450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u="sng" dirty="0">
                          <a:solidFill>
                            <a:schemeClr val="bg1"/>
                          </a:solidFill>
                        </a:rPr>
                        <a:t>39</a:t>
                      </a:r>
                      <a:endParaRPr lang="en-US" sz="11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51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Bambu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700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2,2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41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Aço (Reynolds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531)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880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7.850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7,5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46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Al (6061-T6)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2.700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5,9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49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Ti-6Al-4V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950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4.420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5,9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0" u="none" dirty="0">
                          <a:solidFill>
                            <a:schemeClr val="bg1"/>
                          </a:solidFill>
                        </a:rPr>
                        <a:t>72</a:t>
                      </a:r>
                      <a:endParaRPr lang="en-US" sz="1100" b="0" u="non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Mg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AZ 61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165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1.810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4,25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u="none" dirty="0">
                          <a:solidFill>
                            <a:schemeClr val="bg1"/>
                          </a:solidFill>
                        </a:rPr>
                        <a:t>45</a:t>
                      </a:r>
                      <a:endParaRPr lang="en-US" sz="1100" u="non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CFRP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375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1.550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4,25</a:t>
                      </a:r>
                      <a:endParaRPr 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33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u="sng" dirty="0">
                          <a:solidFill>
                            <a:schemeClr val="bg1"/>
                          </a:solidFill>
                        </a:rPr>
                        <a:t>87</a:t>
                      </a:r>
                      <a:endParaRPr lang="en-US" sz="11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*Os valores do índice são baseados em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valores médios das propriedades das propriedades de materiais.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  <a:solidFill>
            <a:schemeClr val="accent5">
              <a:lumMod val="75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lang="pt-BR" dirty="0"/>
              <a:t>Se os garfos são sólidos (fator de forma 1) </a:t>
            </a:r>
            <a:r>
              <a:rPr lang="pt-BR" dirty="0" err="1"/>
              <a:t>espruce</a:t>
            </a:r>
            <a:r>
              <a:rPr lang="pt-BR" dirty="0"/>
              <a:t> é a melhor escolha. Quando o fator de forma é adicionado, CFRP é a melhor escolha seguido pelo Ti-6Al-4V e pelo aço.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2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Vigas para Assoalho: Madeira, Bambu ou Aço?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945333" y="4114799"/>
            <a:ext cx="2628900" cy="2464303"/>
            <a:chOff x="2266950" y="914400"/>
            <a:chExt cx="4610100" cy="433005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6950" y="914400"/>
              <a:ext cx="4610100" cy="3848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3729805" y="4757737"/>
              <a:ext cx="1684390" cy="4867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10.4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885268"/>
            <a:ext cx="1758274" cy="850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726" y="4876800"/>
            <a:ext cx="1904348" cy="858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005627" y="4038600"/>
            <a:ext cx="1829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Limitado</a:t>
            </a:r>
          </a:p>
          <a:p>
            <a:pPr algn="ctr"/>
            <a:r>
              <a:rPr lang="pt-BR" sz="2400" dirty="0"/>
              <a:t> por Rigidez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7724" y="4038600"/>
            <a:ext cx="1946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Limitado por Resistência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97402"/>
              </p:ext>
            </p:extLst>
          </p:nvPr>
        </p:nvGraphicFramePr>
        <p:xfrm>
          <a:off x="1676400" y="1828800"/>
          <a:ext cx="5802377" cy="1920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27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4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rtl="0"/>
                      <a:r>
                        <a:rPr lang="pt-BR" sz="1200" dirty="0">
                          <a:solidFill>
                            <a:srgbClr val="FFFF00"/>
                          </a:solidFill>
                        </a:rPr>
                        <a:t>Tabela 10.6</a:t>
                      </a:r>
                      <a:r>
                        <a:rPr lang="pt-BR" sz="1200" dirty="0"/>
                        <a:t> </a:t>
                      </a:r>
                      <a:r>
                        <a:rPr lang="pt-BR" sz="1200" baseline="0" dirty="0"/>
                        <a:t> </a:t>
                      </a:r>
                      <a:r>
                        <a:rPr lang="pt-BR" sz="1200" dirty="0"/>
                        <a:t>Requisitos de projeto para Vigas de Assoalho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Função	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dirty="0"/>
                        <a:t>Viga para assoalho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Restrições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baseline="0" dirty="0"/>
                        <a:t>Comprimento especificado</a:t>
                      </a:r>
                    </a:p>
                    <a:p>
                      <a:pPr rtl="0"/>
                      <a:r>
                        <a:rPr lang="pt-BR" sz="1100" baseline="0" dirty="0"/>
                        <a:t>Rigidez especificada</a:t>
                      </a:r>
                    </a:p>
                    <a:p>
                      <a:pPr rtl="0"/>
                      <a:r>
                        <a:rPr lang="pt-BR" sz="1100" baseline="0" dirty="0"/>
                        <a:t>Resistência especificada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Objetivo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dirty="0"/>
                        <a:t>Custo de material mínimo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Variável</a:t>
                      </a:r>
                      <a:r>
                        <a:rPr lang="pt-BR" sz="1100" b="1" baseline="0" dirty="0"/>
                        <a:t> Livre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dirty="0"/>
                        <a:t>Escolha</a:t>
                      </a:r>
                      <a:r>
                        <a:rPr lang="pt-BR" sz="1100" baseline="0" dirty="0"/>
                        <a:t> de material</a:t>
                      </a:r>
                      <a:endParaRPr lang="pt-BR" sz="1100" i="1" baseline="0" dirty="0"/>
                    </a:p>
                    <a:p>
                      <a:pPr rtl="0"/>
                      <a:r>
                        <a:rPr lang="pt-BR" sz="1100" baseline="0" dirty="0"/>
                        <a:t>Forma da seção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023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710048"/>
              </p:ext>
            </p:extLst>
          </p:nvPr>
        </p:nvGraphicFramePr>
        <p:xfrm>
          <a:off x="736955" y="554355"/>
          <a:ext cx="7616966" cy="1884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2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1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285">
                <a:tc gridSpan="5">
                  <a:txBody>
                    <a:bodyPr/>
                    <a:lstStyle/>
                    <a:p>
                      <a:pPr algn="just"/>
                      <a:r>
                        <a:rPr lang="pt-BR" sz="1400" b="1" dirty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400" b="1" baseline="0" dirty="0">
                          <a:solidFill>
                            <a:srgbClr val="FFC000"/>
                          </a:solidFill>
                        </a:rPr>
                        <a:t> 10.7(a)</a:t>
                      </a:r>
                      <a:r>
                        <a:rPr lang="pt-BR" sz="1400" baseline="0" dirty="0">
                          <a:solidFill>
                            <a:schemeClr val="bg1"/>
                          </a:solidFill>
                        </a:rPr>
                        <a:t>  Material para viga de assoalho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Massa Específica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(kg/m</a:t>
                      </a:r>
                      <a:r>
                        <a:rPr lang="pt-BR" sz="1100" b="1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Custo C</a:t>
                      </a:r>
                      <a:r>
                        <a:rPr lang="pt-BR" sz="1100" b="1" baseline="-25000" dirty="0">
                          <a:solidFill>
                            <a:schemeClr val="bg1"/>
                          </a:solidFill>
                        </a:rPr>
                        <a:t>m</a:t>
                      </a:r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 (US$/kg)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Módulo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de elasticidade </a:t>
                      </a:r>
                      <a:r>
                        <a:rPr lang="pt-BR" sz="1100" b="1" i="1" baseline="0" dirty="0">
                          <a:solidFill>
                            <a:schemeClr val="bg1"/>
                          </a:solidFill>
                        </a:rPr>
                        <a:t>E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pt-BR" sz="1100" b="1" baseline="0" dirty="0" err="1">
                          <a:solidFill>
                            <a:schemeClr val="bg1"/>
                          </a:solidFill>
                        </a:rPr>
                        <a:t>GPa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b="1" i="0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Resistência</a:t>
                      </a:r>
                      <a:r>
                        <a:rPr lang="pt-BR" sz="1100" b="1" baseline="0" dirty="0">
                          <a:solidFill>
                            <a:schemeClr val="bg1"/>
                          </a:solidFill>
                        </a:rPr>
                        <a:t> à flexão</a:t>
                      </a:r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(MPa)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rtl="0"/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Madeira (pinho)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490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1,0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9,5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u="none" dirty="0">
                          <a:solidFill>
                            <a:schemeClr val="bg1"/>
                          </a:solidFill>
                        </a:rPr>
                        <a:t>41</a:t>
                      </a:r>
                      <a:endParaRPr lang="en-US" sz="1400" b="0" u="non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0"/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Bambu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700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1,9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42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rtl="0"/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Aço (1020)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7.850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0,65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205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dirty="0">
                          <a:solidFill>
                            <a:schemeClr val="bg1"/>
                          </a:solidFill>
                        </a:rPr>
                        <a:t>355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101028"/>
              </p:ext>
            </p:extLst>
          </p:nvPr>
        </p:nvGraphicFramePr>
        <p:xfrm>
          <a:off x="685800" y="3429000"/>
          <a:ext cx="7809298" cy="2143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6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285">
                <a:tc gridSpan="6">
                  <a:txBody>
                    <a:bodyPr/>
                    <a:lstStyle/>
                    <a:p>
                      <a:pPr algn="just"/>
                      <a:r>
                        <a:rPr lang="pt-BR" sz="1400" b="1" dirty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400" b="1" baseline="0" dirty="0">
                          <a:solidFill>
                            <a:srgbClr val="FFC000"/>
                          </a:solidFill>
                        </a:rPr>
                        <a:t> 10.7(b)</a:t>
                      </a:r>
                      <a:r>
                        <a:rPr lang="pt-BR" sz="1400" baseline="0" dirty="0">
                          <a:solidFill>
                            <a:schemeClr val="bg1"/>
                          </a:solidFill>
                        </a:rPr>
                        <a:t>  Índices para vigas de assoalho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1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Fator de forma 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Fator de forma 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 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Índice* </a:t>
                      </a:r>
                      <a:r>
                        <a:rPr lang="pt-BR" sz="1100" b="1" i="1" dirty="0">
                          <a:solidFill>
                            <a:schemeClr val="bg1"/>
                          </a:solidFill>
                        </a:rPr>
                        <a:t>M</a:t>
                      </a:r>
                      <a:r>
                        <a:rPr lang="pt-BR" sz="11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Índice* M</a:t>
                      </a:r>
                      <a:r>
                        <a:rPr lang="pt-BR" sz="1100" b="1" baseline="-25000" dirty="0">
                          <a:solidFill>
                            <a:schemeClr val="bg1"/>
                          </a:solidFill>
                        </a:rPr>
                        <a:t>1 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Índice* M</a:t>
                      </a:r>
                      <a:r>
                        <a:rPr lang="pt-BR" sz="1100" b="1" baseline="-25000" dirty="0">
                          <a:solidFill>
                            <a:schemeClr val="bg1"/>
                          </a:solidFill>
                        </a:rPr>
                        <a:t>2 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4">
                <a:tc>
                  <a:txBody>
                    <a:bodyPr/>
                    <a:lstStyle/>
                    <a:p>
                      <a:pPr rtl="0"/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Madeira  (pinho)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1.4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400" u="sng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6,3</a:t>
                      </a:r>
                      <a:endParaRPr lang="en-US" sz="1400" u="sng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u="none" dirty="0">
                          <a:solidFill>
                            <a:schemeClr val="bg1"/>
                          </a:solidFill>
                        </a:rPr>
                        <a:t>8,9</a:t>
                      </a:r>
                      <a:endParaRPr lang="en-US" sz="1400" u="non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u="sng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en-US" sz="14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u="sng" dirty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en-US" sz="14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0"/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Bambu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3,2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3,1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5,5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rtl="0"/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Aço (1020)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u="sng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400" u="sng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9,8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pt-BR" sz="1100" dirty="0">
                          <a:solidFill>
                            <a:schemeClr val="bg1"/>
                          </a:solidFill>
                        </a:rPr>
                        <a:t>*Os valores do índice são baseados nas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 médias das propriedades dos materiais. As unidades dos índices para deflexão elástica são (</a:t>
                      </a:r>
                      <a:r>
                        <a:rPr lang="pt-BR" sz="1100" baseline="0" dirty="0" err="1">
                          <a:solidFill>
                            <a:schemeClr val="bg1"/>
                          </a:solidFill>
                        </a:rPr>
                        <a:t>Gpa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pt-BR" sz="1100" baseline="30000" dirty="0">
                          <a:solidFill>
                            <a:schemeClr val="bg1"/>
                          </a:solidFill>
                        </a:rPr>
                        <a:t>1/2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/kg/m</a:t>
                      </a:r>
                      <a:r>
                        <a:rPr lang="pt-BR" sz="1100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; as para a falha são (Mpa)</a:t>
                      </a:r>
                      <a:r>
                        <a:rPr lang="pt-BR" sz="1100" baseline="30000" dirty="0">
                          <a:solidFill>
                            <a:schemeClr val="bg1"/>
                          </a:solidFill>
                        </a:rPr>
                        <a:t>2/3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/kg/m</a:t>
                      </a:r>
                      <a:r>
                        <a:rPr lang="pt-BR" sz="1100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pt-BR" sz="1100" baseline="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431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877442"/>
          </a:xfrm>
        </p:spPr>
        <p:txBody>
          <a:bodyPr>
            <a:normAutofit/>
          </a:bodyPr>
          <a:lstStyle/>
          <a:p>
            <a:r>
              <a:rPr lang="pt-BR" sz="3600" dirty="0"/>
              <a:t>Pernas de Mesa: Finas ou Leves?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486399" y="1142999"/>
            <a:ext cx="3352801" cy="485128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/>
              <a:t>Figura 10.5 é uma montagem de diagrama para explorar projeto limitado por rigidez com tubos.</a:t>
            </a:r>
          </a:p>
          <a:p>
            <a:pPr algn="just"/>
            <a:endParaRPr lang="en-US" dirty="0"/>
          </a:p>
          <a:p>
            <a:pPr algn="just"/>
            <a:r>
              <a:rPr lang="pt-BR" dirty="0"/>
              <a:t>A perna mais leve é a que possui o maior fator de forma (GFRP), mas o projeto requer uma ampla seção transversal. A perna mais fina é uma sólida com fator de forma igual a 1, porém, mais fina que aquela de GFRP.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Materials Selection in Mechanical Design, 4th Edition, © 2010 Michael Ashby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152400" y="953642"/>
            <a:ext cx="5105400" cy="5317640"/>
            <a:chOff x="152400" y="953642"/>
            <a:chExt cx="5105400" cy="531764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53642"/>
              <a:ext cx="5105400" cy="5040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224840" y="5994283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10.5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290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53975"/>
            <a:ext cx="7772400" cy="1470025"/>
          </a:xfrm>
        </p:spPr>
        <p:txBody>
          <a:bodyPr>
            <a:normAutofit/>
          </a:bodyPr>
          <a:lstStyle/>
          <a:p>
            <a:r>
              <a:rPr lang="pt-BR" dirty="0"/>
              <a:t>Aumentar Rigidez de Chapas de Aço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065443" y="3625273"/>
            <a:ext cx="4340748" cy="1409010"/>
          </a:xfrm>
        </p:spPr>
        <p:txBody>
          <a:bodyPr>
            <a:noAutofit/>
          </a:bodyPr>
          <a:lstStyle/>
          <a:p>
            <a:r>
              <a:rPr lang="pt-BR" sz="2000" dirty="0"/>
              <a:t>Chapas de aço podem ser corrugadas para se obter máxima rigidez – Esta é otimizada para maximizar o fator de forma</a:t>
            </a:r>
            <a:endParaRPr lang="pt-BR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81000" y="3650673"/>
            <a:ext cx="3048001" cy="3044220"/>
            <a:chOff x="2666999" y="1109663"/>
            <a:chExt cx="3810000" cy="4013247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6999" y="1109663"/>
              <a:ext cx="3810000" cy="3648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3971675" y="4757738"/>
              <a:ext cx="1200648" cy="3651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10.6</a:t>
              </a: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181600"/>
            <a:ext cx="1941562" cy="707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164" y="5181600"/>
            <a:ext cx="2167027" cy="70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208630"/>
              </p:ext>
            </p:extLst>
          </p:nvPr>
        </p:nvGraphicFramePr>
        <p:xfrm>
          <a:off x="938591" y="1524000"/>
          <a:ext cx="7467600" cy="1696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80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7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rtl="0"/>
                      <a:r>
                        <a:rPr lang="pt-BR" sz="1200" dirty="0">
                          <a:solidFill>
                            <a:srgbClr val="FFFF00"/>
                          </a:solidFill>
                        </a:rPr>
                        <a:t>Tabela 10.8</a:t>
                      </a:r>
                      <a:r>
                        <a:rPr lang="pt-BR" sz="1200" dirty="0"/>
                        <a:t> </a:t>
                      </a:r>
                      <a:r>
                        <a:rPr lang="pt-BR" sz="1200" baseline="0" dirty="0"/>
                        <a:t> </a:t>
                      </a:r>
                      <a:r>
                        <a:rPr lang="pt-BR" sz="1200" dirty="0"/>
                        <a:t>Requisitos de projeto para chapas</a:t>
                      </a:r>
                      <a:r>
                        <a:rPr lang="pt-BR" sz="1200" baseline="0" dirty="0"/>
                        <a:t> de aço enrijecidas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Função	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dirty="0"/>
                        <a:t>Chapa</a:t>
                      </a:r>
                      <a:r>
                        <a:rPr lang="pt-BR" sz="1100" baseline="0" dirty="0"/>
                        <a:t> de aço para estruturas limitadas por rigidez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Restrições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baseline="0" dirty="0"/>
                        <a:t>Perfil limitado a um desvio máximo de  5 vezes a espessura da chapa a partir do plano</a:t>
                      </a:r>
                    </a:p>
                    <a:p>
                      <a:pPr rtl="0"/>
                      <a:r>
                        <a:rPr lang="pt-BR" sz="1100" baseline="0" dirty="0"/>
                        <a:t>Fabricação barata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Objetivo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dirty="0"/>
                        <a:t>Maximizar</a:t>
                      </a:r>
                      <a:r>
                        <a:rPr lang="pt-BR" sz="1100" baseline="0" dirty="0"/>
                        <a:t> rigidez à flexão da chapa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100" b="1" dirty="0"/>
                        <a:t>Variável</a:t>
                      </a:r>
                      <a:r>
                        <a:rPr lang="pt-BR" sz="1100" b="1" baseline="0" dirty="0"/>
                        <a:t> Livre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baseline="0" dirty="0"/>
                        <a:t>Perfil da seção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58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4800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Shapes That Flex: Leaf and Strand Structures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71475" y="4724400"/>
            <a:ext cx="4648200" cy="1752600"/>
          </a:xfrm>
          <a:solidFill>
            <a:schemeClr val="accent5">
              <a:lumMod val="75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lang="en-US" dirty="0"/>
              <a:t>A stack of 10 layers is 100 times less stiff than a simple leaf with the same total thickness, while the in-plane stiffness is unchanged.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5283200" y="290945"/>
            <a:ext cx="3513988" cy="5763399"/>
            <a:chOff x="2815006" y="228600"/>
            <a:chExt cx="3513988" cy="5763399"/>
          </a:xfrm>
        </p:grpSpPr>
        <p:pic>
          <p:nvPicPr>
            <p:cNvPr id="1638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5006" y="228600"/>
              <a:ext cx="3513988" cy="5486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091739" y="5715000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Figure 10.7</a:t>
              </a: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655" y="3581400"/>
            <a:ext cx="29527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745" y="2857500"/>
            <a:ext cx="200977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795" y="2133600"/>
            <a:ext cx="19907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2564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3900" y="0"/>
            <a:ext cx="7696200" cy="990600"/>
          </a:xfrm>
        </p:spPr>
        <p:txBody>
          <a:bodyPr>
            <a:normAutofit/>
          </a:bodyPr>
          <a:lstStyle/>
          <a:p>
            <a:r>
              <a:rPr lang="en-US" dirty="0"/>
              <a:t>Ultra-Efficient Springs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53" y="1371600"/>
            <a:ext cx="6970294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685800" y="3733800"/>
            <a:ext cx="3363122" cy="2514599"/>
            <a:chOff x="2514600" y="1819275"/>
            <a:chExt cx="4114800" cy="3492461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1819275"/>
              <a:ext cx="4114800" cy="3219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091740" y="5034737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Figure 10.8</a:t>
              </a:r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699164"/>
            <a:ext cx="2190750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035" y="5053303"/>
            <a:ext cx="2194560" cy="115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846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4264041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76199"/>
            <a:ext cx="4281487" cy="294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4313370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1232</TotalTime>
  <Words>1169</Words>
  <Application>Microsoft Office PowerPoint</Application>
  <PresentationFormat>Apresentação na tela (4:3)</PresentationFormat>
  <Paragraphs>255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MaterialsSelection</vt:lpstr>
      <vt:lpstr>Capítulo 10 Estudo de Casos:  Material e Forma</vt:lpstr>
      <vt:lpstr>Apresentação do PowerPoint</vt:lpstr>
      <vt:lpstr>Longarinas para ultraleves</vt:lpstr>
      <vt:lpstr>Apresentação do PowerPoint</vt:lpstr>
      <vt:lpstr>Apresentação do PowerPoint</vt:lpstr>
      <vt:lpstr>Garfos para uma Bicicleta de Corrida</vt:lpstr>
      <vt:lpstr>Apresentação do PowerPoint</vt:lpstr>
      <vt:lpstr>Vigas para Assoalho: Madeira, Bambu ou Aço?</vt:lpstr>
      <vt:lpstr>Apresentação do PowerPoint</vt:lpstr>
      <vt:lpstr>Pernas de Mesa: Finas ou Leves?</vt:lpstr>
      <vt:lpstr>Aumentar Rigidez de Chapas de Aço</vt:lpstr>
      <vt:lpstr>Shapes That Flex: Leaf and Strand Structures</vt:lpstr>
      <vt:lpstr>Ultra-Efficient Springs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Marcio Wagner</cp:lastModifiedBy>
  <cp:revision>46</cp:revision>
  <dcterms:created xsi:type="dcterms:W3CDTF">2010-09-03T02:00:13Z</dcterms:created>
  <dcterms:modified xsi:type="dcterms:W3CDTF">2019-11-14T12:47:29Z</dcterms:modified>
</cp:coreProperties>
</file>