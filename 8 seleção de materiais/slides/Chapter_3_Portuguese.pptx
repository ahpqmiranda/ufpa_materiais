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77" r:id="rId3"/>
    <p:sldId id="268" r:id="rId4"/>
    <p:sldId id="280" r:id="rId5"/>
    <p:sldId id="278" r:id="rId6"/>
    <p:sldId id="279" r:id="rId7"/>
    <p:sldId id="257" r:id="rId8"/>
    <p:sldId id="258" r:id="rId9"/>
    <p:sldId id="260" r:id="rId10"/>
    <p:sldId id="259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19"/>
    <p:sldId id="270" r:id="rId20"/>
    <p:sldId id="271" r:id="rId21"/>
    <p:sldId id="272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192" y="-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interSettings" Target="printerSettings/printerSettings1.bin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Relationship Id="rId2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3741E-2754-4470-B6A8-885ABCDA37E5}" type="datetimeFigureOut">
              <a:rPr lang="en-US" smtClean="0"/>
              <a:t>04/09/18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F259B-8D59-4545-ADDE-C43F261CB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F259B-8D59-4545-ADDE-C43F261CB8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81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F259B-8D59-4545-ADDE-C43F261CB8A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51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84-B723-4D74-9A33-B31414A350FD}" type="datetime1">
              <a:rPr lang="en-US" smtClean="0"/>
              <a:t>04/09/18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005AE-8A7C-4004-8DEC-551C0692F151}" type="datetime1">
              <a:rPr lang="en-US" smtClean="0"/>
              <a:t>04/09/18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6CB54-30CC-4F7B-9144-FE7C884D8BAE}" type="datetime1">
              <a:rPr lang="en-US" smtClean="0"/>
              <a:t>04/09/18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2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3401-C77B-4FAE-ADA2-FB4CF22AD8B2}" type="datetime1">
              <a:rPr lang="en-US" smtClean="0"/>
              <a:t>04/09/18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7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E0C04-E588-4F04-9554-AF244DB88B89}" type="datetime1">
              <a:rPr lang="en-US" smtClean="0"/>
              <a:t>04/09/18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A5D1-86A1-4324-B82A-03628DEB90D6}" type="datetime1">
              <a:rPr lang="en-US" smtClean="0"/>
              <a:t>04/09/18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BC67-A5F0-4F1F-B774-E592D95D7990}" type="datetime1">
              <a:rPr lang="en-US" smtClean="0"/>
              <a:t>04/09/18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4690-D365-4924-96C9-242A36D37F5B}" type="datetime1">
              <a:rPr lang="en-US" smtClean="0"/>
              <a:t>04/09/18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9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5B14-5B85-45CC-9029-64F5FBFC4DC5}" type="datetime1">
              <a:rPr lang="en-US" smtClean="0"/>
              <a:t>04/09/18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8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DBBCC-BE73-40F1-A57C-F51FBFF3DDFD}" type="datetime1">
              <a:rPr lang="en-US" smtClean="0"/>
              <a:t>04/09/18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6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14DF-43D0-4500-ACF9-5173F0AD672C}" type="datetime1">
              <a:rPr lang="en-US" smtClean="0"/>
              <a:t>04/09/18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0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0B2EE-09F8-4CC5-A145-24898338B007}" type="datetime1">
              <a:rPr lang="en-US" smtClean="0"/>
              <a:t>04/09/18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3200"/>
            <a:ext cx="9144000" cy="274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31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accent1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4" Type="http://schemas.openxmlformats.org/officeDocument/2006/relationships/image" Target="../media/image27.jpeg"/><Relationship Id="rId5" Type="http://schemas.openxmlformats.org/officeDocument/2006/relationships/oleObject" Target="../embeddings/oleObject1.bin"/><Relationship Id="rId6" Type="http://schemas.openxmlformats.org/officeDocument/2006/relationships/image" Target="../media/image25.emf"/><Relationship Id="rId7" Type="http://schemas.openxmlformats.org/officeDocument/2006/relationships/oleObject" Target="../embeddings/oleObject2.bin"/><Relationship Id="rId8" Type="http://schemas.openxmlformats.org/officeDocument/2006/relationships/image" Target="../media/image26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434975"/>
            <a:ext cx="4545563" cy="1470025"/>
          </a:xfrm>
        </p:spPr>
        <p:txBody>
          <a:bodyPr>
            <a:normAutofit fontScale="90000"/>
          </a:bodyPr>
          <a:lstStyle/>
          <a:p>
            <a:r>
              <a:rPr lang="en-US" sz="4400" dirty="0" err="1" smtClean="0"/>
              <a:t>Capítulo</a:t>
            </a:r>
            <a:r>
              <a:rPr lang="en-US" sz="4400" dirty="0" smtClean="0"/>
              <a:t> 3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>
                <a:solidFill>
                  <a:schemeClr val="tx1"/>
                </a:solidFill>
              </a:rPr>
              <a:t>Materiais</a:t>
            </a:r>
            <a:r>
              <a:rPr lang="en-US" dirty="0" smtClean="0">
                <a:solidFill>
                  <a:schemeClr val="tx1"/>
                </a:solidFill>
              </a:rPr>
              <a:t> de </a:t>
            </a:r>
            <a:r>
              <a:rPr lang="en-US" dirty="0" err="1" smtClean="0">
                <a:solidFill>
                  <a:schemeClr val="tx1"/>
                </a:solidFill>
              </a:rPr>
              <a:t>Engenharia</a:t>
            </a:r>
            <a:r>
              <a:rPr lang="en-US" dirty="0" smtClean="0">
                <a:solidFill>
                  <a:schemeClr val="tx1"/>
                </a:solidFill>
              </a:rPr>
              <a:t> e  </a:t>
            </a:r>
            <a:r>
              <a:rPr lang="en-US" dirty="0" err="1" smtClean="0">
                <a:solidFill>
                  <a:schemeClr val="tx1"/>
                </a:solidFill>
              </a:rPr>
              <a:t>suas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Propriedades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76200"/>
            <a:ext cx="3833964" cy="2565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684215"/>
              </p:ext>
            </p:extLst>
          </p:nvPr>
        </p:nvGraphicFramePr>
        <p:xfrm>
          <a:off x="1143000" y="2743200"/>
          <a:ext cx="7391401" cy="3957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3789"/>
                <a:gridCol w="6021153"/>
                <a:gridCol w="616459"/>
              </a:tblGrid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pt-BR" sz="1400" b="1" noProof="0" dirty="0" smtClean="0">
                          <a:solidFill>
                            <a:schemeClr val="tx1"/>
                          </a:solidFill>
                        </a:rPr>
                        <a:t>SUMÁRIO</a:t>
                      </a:r>
                      <a:endParaRPr lang="pt-BR" sz="14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3.1. 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Introdução</a:t>
                      </a:r>
                      <a:r>
                        <a:rPr lang="pt-BR" sz="1400" baseline="0" noProof="0" dirty="0" smtClean="0">
                          <a:solidFill>
                            <a:schemeClr val="bg1"/>
                          </a:solidFill>
                        </a:rPr>
                        <a:t>  e Sinopse..................................................................................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28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3.2.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aseline="0" noProof="0" dirty="0" smtClean="0">
                          <a:solidFill>
                            <a:schemeClr val="bg1"/>
                          </a:solidFill>
                        </a:rPr>
                        <a:t>As famílias de Materiais de Engenharia.......................................................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28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3.3.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aseline="0" noProof="0" dirty="0" smtClean="0">
                          <a:solidFill>
                            <a:schemeClr val="bg1"/>
                          </a:solidFill>
                        </a:rPr>
                        <a:t>Informações de Materiais para Projeto .......................................................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31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3.4.</a:t>
                      </a:r>
                    </a:p>
                    <a:p>
                      <a:pPr algn="l"/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Propriedade</a:t>
                      </a:r>
                      <a:r>
                        <a:rPr lang="pt-BR" sz="1400" baseline="0" noProof="0" dirty="0" smtClean="0">
                          <a:solidFill>
                            <a:schemeClr val="bg1"/>
                          </a:solidFill>
                        </a:rPr>
                        <a:t> de materiais e suas unidades..................................................</a:t>
                      </a:r>
                    </a:p>
                    <a:p>
                      <a:r>
                        <a:rPr lang="pt-BR" sz="1400" baseline="0" noProof="0" dirty="0" smtClean="0">
                          <a:solidFill>
                            <a:schemeClr val="bg1"/>
                          </a:solidFill>
                        </a:rPr>
                        <a:t>      Propriedades Gerais..............................................................................</a:t>
                      </a:r>
                    </a:p>
                    <a:p>
                      <a:r>
                        <a:rPr lang="pt-BR" sz="1400" baseline="0" noProof="0" dirty="0" smtClean="0">
                          <a:solidFill>
                            <a:schemeClr val="bg1"/>
                          </a:solidFill>
                        </a:rPr>
                        <a:t>      Propriedades Mecânicas........................................................................</a:t>
                      </a:r>
                      <a:endParaRPr lang="pt-BR" sz="1400" noProof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      Propriedades</a:t>
                      </a:r>
                      <a:r>
                        <a:rPr lang="pt-BR" sz="1400" baseline="0" noProof="0" dirty="0" smtClean="0">
                          <a:solidFill>
                            <a:schemeClr val="bg1"/>
                          </a:solidFill>
                        </a:rPr>
                        <a:t> Térmicas...........................................................................</a:t>
                      </a:r>
                    </a:p>
                    <a:p>
                      <a:r>
                        <a:rPr lang="pt-BR" sz="1400" baseline="0" noProof="0" dirty="0" smtClean="0">
                          <a:solidFill>
                            <a:schemeClr val="bg1"/>
                          </a:solidFill>
                        </a:rPr>
                        <a:t>      Propriedades Elétricas............................................................................</a:t>
                      </a:r>
                    </a:p>
                    <a:p>
                      <a:r>
                        <a:rPr lang="pt-BR" sz="1400" baseline="0" noProof="0" dirty="0" smtClean="0">
                          <a:solidFill>
                            <a:schemeClr val="bg1"/>
                          </a:solidFill>
                        </a:rPr>
                        <a:t>      Propriedades Óticas...............................................................................</a:t>
                      </a:r>
                    </a:p>
                    <a:p>
                      <a:r>
                        <a:rPr lang="pt-BR" sz="1400" baseline="0" noProof="0" dirty="0" smtClean="0">
                          <a:solidFill>
                            <a:schemeClr val="bg1"/>
                          </a:solidFill>
                        </a:rPr>
                        <a:t>      Propriedades Ecológicas........................................................................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33</a:t>
                      </a:r>
                    </a:p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34</a:t>
                      </a:r>
                    </a:p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34</a:t>
                      </a:r>
                    </a:p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41</a:t>
                      </a:r>
                    </a:p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48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3.5.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Resumo e Conclusões</a:t>
                      </a:r>
                      <a:r>
                        <a:rPr lang="pt-BR" sz="1400" baseline="0" noProof="0" dirty="0" smtClean="0">
                          <a:solidFill>
                            <a:schemeClr val="bg1"/>
                          </a:solidFill>
                        </a:rPr>
                        <a:t>..................................................................................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48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3.6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Leitura Complementar...................................................................................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noProof="0" dirty="0" smtClean="0">
                          <a:solidFill>
                            <a:schemeClr val="bg1"/>
                          </a:solidFill>
                        </a:rPr>
                        <a:t>49</a:t>
                      </a:r>
                      <a:endParaRPr lang="pt-BR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2512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1470025"/>
          </a:xfrm>
        </p:spPr>
        <p:txBody>
          <a:bodyPr/>
          <a:lstStyle/>
          <a:p>
            <a:r>
              <a:rPr lang="pt-BR" dirty="0" smtClean="0"/>
              <a:t>Seleção de Materiais</a:t>
            </a:r>
            <a:endParaRPr lang="pt-BR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76300" y="1981200"/>
            <a:ext cx="7391400" cy="3810000"/>
          </a:xfrm>
        </p:spPr>
        <p:txBody>
          <a:bodyPr>
            <a:noAutofit/>
          </a:bodyPr>
          <a:lstStyle/>
          <a:p>
            <a:r>
              <a:rPr lang="pt-BR" sz="4000" dirty="0" smtClean="0"/>
              <a:t>A procura por um determinado material não se faz necessária,  todavia, por um </a:t>
            </a:r>
            <a:r>
              <a:rPr lang="pt-BR" sz="4000" dirty="0" smtClean="0">
                <a:solidFill>
                  <a:srgbClr val="FFFF00"/>
                </a:solidFill>
              </a:rPr>
              <a:t>certo perfil de propriedades</a:t>
            </a:r>
            <a:r>
              <a:rPr lang="pt-BR" sz="4000" dirty="0" smtClean="0"/>
              <a:t>, ou seja, aquelas melhor atenderão as </a:t>
            </a:r>
            <a:r>
              <a:rPr lang="pt-BR" sz="4000" dirty="0" smtClean="0">
                <a:solidFill>
                  <a:srgbClr val="FFFF00"/>
                </a:solidFill>
              </a:rPr>
              <a:t>necessidades do projeto</a:t>
            </a:r>
            <a:endParaRPr lang="en-US" sz="4000" dirty="0" smtClean="0">
              <a:solidFill>
                <a:srgbClr val="FFFF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474840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763554"/>
            <a:ext cx="5113837" cy="4353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81000" y="228600"/>
            <a:ext cx="8458200" cy="1470025"/>
          </a:xfrm>
        </p:spPr>
        <p:txBody>
          <a:bodyPr>
            <a:normAutofit/>
          </a:bodyPr>
          <a:lstStyle/>
          <a:p>
            <a:r>
              <a:rPr lang="pt-BR" dirty="0" smtClean="0"/>
              <a:t>Famílias de Materiais de Engenharia</a:t>
            </a:r>
            <a:endParaRPr lang="pt-BR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5486400" y="1828800"/>
            <a:ext cx="3657600" cy="3657600"/>
          </a:xfrm>
        </p:spPr>
        <p:txBody>
          <a:bodyPr>
            <a:normAutofit fontScale="85000" lnSpcReduction="20000"/>
          </a:bodyPr>
          <a:lstStyle/>
          <a:p>
            <a:r>
              <a:rPr lang="pt-BR" dirty="0" smtClean="0"/>
              <a:t>Os membros de uma família de materiais apresentam certas características em comum: </a:t>
            </a:r>
            <a:r>
              <a:rPr lang="pt-BR" dirty="0" smtClean="0">
                <a:solidFill>
                  <a:srgbClr val="FFFF00"/>
                </a:solidFill>
              </a:rPr>
              <a:t>semelhantes</a:t>
            </a:r>
            <a:r>
              <a:rPr lang="pt-BR" dirty="0" smtClean="0"/>
              <a:t> propriedades,  rotas de processamento, e, geralmente, semelhantes aplicações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1965557" y="6142259"/>
            <a:ext cx="1773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 3.1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3577262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Content Placeholder 8"/>
          <p:cNvSpPr>
            <a:spLocks noGrp="1"/>
          </p:cNvSpPr>
          <p:nvPr>
            <p:ph idx="1"/>
          </p:nvPr>
        </p:nvSpPr>
        <p:spPr>
          <a:xfrm>
            <a:off x="381000" y="914400"/>
            <a:ext cx="5181600" cy="2590800"/>
          </a:xfrm>
        </p:spPr>
        <p:txBody>
          <a:bodyPr>
            <a:noAutofit/>
          </a:bodyPr>
          <a:lstStyle/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Rígidas  – Elevado E</a:t>
            </a: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Duras</a:t>
            </a: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Resistentes a abrasão</a:t>
            </a: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Boa resistência a elevadas temp.</a:t>
            </a: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Boa resistência a corrosão</a:t>
            </a: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Frágeis</a:t>
            </a:r>
            <a:endParaRPr lang="pt-BR" sz="2400" baseline="-25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28601"/>
            <a:ext cx="2286000" cy="2407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81000" y="152400"/>
            <a:ext cx="297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Cerâmicas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648200" y="4165707"/>
            <a:ext cx="3733800" cy="2209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Duros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Resistente</a:t>
            </a:r>
            <a:r>
              <a:rPr kumimoji="0" lang="pt-BR" sz="2400" b="0" i="0" u="none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a corrosão</a:t>
            </a:r>
            <a:endParaRPr kumimoji="0" lang="pt-BR" sz="2400" b="0" i="0" u="none" strike="noStrike" kern="1200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Isolantes</a:t>
            </a:r>
            <a:r>
              <a:rPr kumimoji="0" lang="pt-BR" sz="2400" b="0" i="0" u="none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elétricos</a:t>
            </a:r>
            <a:endParaRPr kumimoji="0" lang="pt-BR" sz="2400" b="0" i="0" u="none" strike="noStrike" kern="1200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Transparentes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Frágeis – baixo K</a:t>
            </a:r>
            <a:r>
              <a:rPr kumimoji="0" lang="pt-BR" sz="2400" b="0" i="0" u="none" strike="noStrike" kern="1200" cap="none" spc="0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IC</a:t>
            </a:r>
            <a:endParaRPr kumimoji="0" lang="pt-BR" sz="2400" b="0" i="0" u="none" strike="noStrike" kern="1200" cap="none" spc="0" normalizeH="0" baseline="-2500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48200" y="3429000"/>
            <a:ext cx="281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Vidros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114800"/>
            <a:ext cx="3124200" cy="1955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42388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3871870"/>
            <a:ext cx="2219022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001000" cy="25908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Leve –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baixa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l-GR" sz="2400" dirty="0" smtClean="0">
                <a:latin typeface="Arial" pitchFamily="34" charset="0"/>
                <a:cs typeface="Arial" pitchFamily="34" charset="0"/>
              </a:rPr>
              <a:t>ρ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Fácil de conformar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Elevada resistência por unidade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de peso(</a:t>
            </a:r>
            <a:r>
              <a:rPr lang="el-GR" sz="2400" dirty="0" smtClean="0">
                <a:latin typeface="Arial" pitchFamily="34" charset="0"/>
                <a:cs typeface="Arial" pitchFamily="34" charset="0"/>
              </a:rPr>
              <a:t>σ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l-GR" sz="2400" dirty="0" smtClean="0">
                <a:latin typeface="Arial" pitchFamily="34" charset="0"/>
                <a:cs typeface="Arial" pitchFamily="34" charset="0"/>
              </a:rPr>
              <a:t>ρ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Rigidez muito baixa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–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baixo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E (50X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menor que os metais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Propriedades bastante sensíveis a temperatura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3400" y="152399"/>
            <a:ext cx="27254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Polímeros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152399"/>
            <a:ext cx="2747120" cy="1804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044902" y="3871870"/>
            <a:ext cx="33217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Elastômeros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590800" y="4648200"/>
            <a:ext cx="6324600" cy="19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22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Baixa rigidez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– </a:t>
            </a:r>
            <a:r>
              <a:rPr lang="pt-BR" sz="2200" dirty="0" smtClean="0">
                <a:latin typeface="Arial" pitchFamily="34" charset="0"/>
                <a:cs typeface="Arial" pitchFamily="34" charset="0"/>
              </a:rPr>
              <a:t>baixo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E (</a:t>
            </a:r>
            <a:r>
              <a:rPr kumimoji="0" lang="pt-BR" sz="22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500 – 5000X menores que</a:t>
            </a:r>
            <a:r>
              <a:rPr kumimoji="0" lang="pt-BR" sz="2200" b="0" i="0" u="none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os metais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Capacidade de manutenção</a:t>
            </a:r>
            <a:r>
              <a:rPr kumimoji="0" lang="pt-BR" sz="2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para forma após serem </a:t>
            </a:r>
            <a:r>
              <a:rPr lang="pt-BR" sz="2200" dirty="0" smtClean="0">
                <a:latin typeface="Arial" pitchFamily="34" charset="0"/>
                <a:cs typeface="Arial" pitchFamily="34" charset="0"/>
              </a:rPr>
              <a:t>esticados</a:t>
            </a:r>
            <a:endParaRPr kumimoji="0" lang="pt-BR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22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Relativamente forte e tenaz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8941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381000" y="838200"/>
            <a:ext cx="8229600" cy="3048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pt-BR" sz="2300" dirty="0" smtClean="0">
                <a:latin typeface="Arial" pitchFamily="34" charset="0"/>
                <a:cs typeface="Arial" pitchFamily="34" charset="0"/>
              </a:rPr>
              <a:t>Tenacidade – Elevado K</a:t>
            </a:r>
            <a:r>
              <a:rPr lang="pt-BR" sz="2300" baseline="-25000" dirty="0" smtClean="0">
                <a:latin typeface="Arial" pitchFamily="34" charset="0"/>
                <a:cs typeface="Arial" pitchFamily="34" charset="0"/>
              </a:rPr>
              <a:t>IC</a:t>
            </a:r>
          </a:p>
          <a:p>
            <a:r>
              <a:rPr lang="pt-BR" sz="2300" dirty="0" smtClean="0">
                <a:latin typeface="Arial" pitchFamily="34" charset="0"/>
                <a:cs typeface="Arial" pitchFamily="34" charset="0"/>
              </a:rPr>
              <a:t>Rigidez – Elevado E</a:t>
            </a:r>
          </a:p>
          <a:p>
            <a:r>
              <a:rPr lang="pt-BR" sz="2300" dirty="0" smtClean="0">
                <a:latin typeface="Arial" pitchFamily="34" charset="0"/>
                <a:cs typeface="Arial" pitchFamily="34" charset="0"/>
              </a:rPr>
              <a:t>Dúctil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2300" dirty="0" smtClean="0">
                <a:latin typeface="Arial" pitchFamily="34" charset="0"/>
                <a:cs typeface="Arial" pitchFamily="34" charset="0"/>
              </a:rPr>
              <a:t>Ampla faixa de resistência dependendo da composição e processamento</a:t>
            </a:r>
          </a:p>
          <a:p>
            <a:r>
              <a:rPr lang="pt-BR" sz="2300" dirty="0" smtClean="0">
                <a:latin typeface="Arial" pitchFamily="34" charset="0"/>
                <a:cs typeface="Arial" pitchFamily="34" charset="0"/>
              </a:rPr>
              <a:t>Condutividade térmica e elétrica elevadas</a:t>
            </a:r>
          </a:p>
          <a:p>
            <a:r>
              <a:rPr lang="pt-BR" sz="2300" dirty="0" smtClean="0">
                <a:latin typeface="Arial" pitchFamily="34" charset="0"/>
                <a:cs typeface="Arial" pitchFamily="34" charset="0"/>
              </a:rPr>
              <a:t>Reativo – Baixa resistência a corrosão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152400"/>
            <a:ext cx="2438400" cy="192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04800" y="152400"/>
            <a:ext cx="228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Metais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1" y="4495800"/>
            <a:ext cx="250703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124200" y="3962400"/>
            <a:ext cx="259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Híbridos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3124200" y="4648200"/>
            <a:ext cx="5867400" cy="1828800"/>
          </a:xfrm>
        </p:spPr>
        <p:txBody>
          <a:bodyPr>
            <a:normAutofit/>
          </a:bodyPr>
          <a:lstStyle/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Caros</a:t>
            </a: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Difíceis para formar e juntar</a:t>
            </a: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Propriedades dependentes da combinação de materiais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8409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421897" y="4953000"/>
            <a:ext cx="8305800" cy="1590889"/>
          </a:xfrm>
        </p:spPr>
        <p:txBody>
          <a:bodyPr>
            <a:normAutofit fontScale="85000" lnSpcReduction="10000"/>
          </a:bodyPr>
          <a:lstStyle/>
          <a:p>
            <a:r>
              <a:rPr lang="pt-BR" dirty="0" smtClean="0"/>
              <a:t>Nós estamos interessados nos dados da tabela central; dados estruturados para projetar carga e informação de acordo habilidade dos materiais serem formados, juntados e acabados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726779" y="4630579"/>
            <a:ext cx="1701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 3.2</a:t>
            </a:r>
            <a:endParaRPr lang="pt-BR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41982"/>
            <a:ext cx="77668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smtClean="0"/>
              <a:t>Que tipo de informação dos materiais são</a:t>
            </a:r>
          </a:p>
          <a:p>
            <a:r>
              <a:rPr lang="pt-BR" sz="3200" dirty="0" smtClean="0"/>
              <a:t> necessários para o projeto</a:t>
            </a:r>
            <a:endParaRPr lang="pt-BR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92" y="1600200"/>
            <a:ext cx="8151407" cy="2904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3993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74407" y="0"/>
            <a:ext cx="8458200" cy="1470025"/>
          </a:xfrm>
        </p:spPr>
        <p:txBody>
          <a:bodyPr>
            <a:normAutofit/>
          </a:bodyPr>
          <a:lstStyle/>
          <a:p>
            <a:r>
              <a:rPr lang="pt-BR" sz="3600" dirty="0" smtClean="0"/>
              <a:t>Propriedades dos Materiais e suas Unidades</a:t>
            </a:r>
            <a:endParaRPr lang="pt-BR" sz="36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724400" y="1524000"/>
            <a:ext cx="4419600" cy="3733800"/>
          </a:xfrm>
        </p:spPr>
        <p:txBody>
          <a:bodyPr>
            <a:normAutofit fontScale="85000" lnSpcReduction="10000"/>
          </a:bodyPr>
          <a:lstStyle/>
          <a:p>
            <a:r>
              <a:rPr lang="pt-BR" dirty="0" smtClean="0"/>
              <a:t>Cada </a:t>
            </a:r>
            <a:r>
              <a:rPr lang="pt-BR" dirty="0" smtClean="0">
                <a:solidFill>
                  <a:srgbClr val="FFFF00"/>
                </a:solidFill>
              </a:rPr>
              <a:t>material</a:t>
            </a:r>
            <a:r>
              <a:rPr lang="pt-BR" dirty="0" smtClean="0"/>
              <a:t> pode ser pensado como tendo um </a:t>
            </a:r>
            <a:r>
              <a:rPr lang="pt-BR" dirty="0" smtClean="0">
                <a:solidFill>
                  <a:srgbClr val="FFFF00"/>
                </a:solidFill>
              </a:rPr>
              <a:t>conjunto de atributos</a:t>
            </a:r>
            <a:r>
              <a:rPr lang="pt-BR" dirty="0" smtClean="0"/>
              <a:t> ou </a:t>
            </a:r>
            <a:r>
              <a:rPr lang="pt-BR" dirty="0" smtClean="0">
                <a:solidFill>
                  <a:srgbClr val="FFFF00"/>
                </a:solidFill>
              </a:rPr>
              <a:t>propriedades</a:t>
            </a:r>
            <a:endParaRPr lang="en-US" dirty="0" smtClean="0">
              <a:solidFill>
                <a:srgbClr val="FFFF00"/>
              </a:solidFill>
            </a:endParaRPr>
          </a:p>
          <a:p>
            <a:endParaRPr lang="en-US" dirty="0"/>
          </a:p>
          <a:p>
            <a:r>
              <a:rPr lang="pt-BR" dirty="0" smtClean="0"/>
              <a:t>A </a:t>
            </a:r>
            <a:r>
              <a:rPr lang="pt-BR" dirty="0" smtClean="0">
                <a:solidFill>
                  <a:srgbClr val="FFFF00"/>
                </a:solidFill>
              </a:rPr>
              <a:t>combinação</a:t>
            </a:r>
            <a:r>
              <a:rPr lang="pt-BR" dirty="0" smtClean="0"/>
              <a:t> que caracteriza uma determinado </a:t>
            </a:r>
            <a:r>
              <a:rPr lang="pt-BR" dirty="0" smtClean="0">
                <a:solidFill>
                  <a:srgbClr val="FFFF00"/>
                </a:solidFill>
              </a:rPr>
              <a:t>material</a:t>
            </a:r>
            <a:r>
              <a:rPr lang="pt-BR" dirty="0" smtClean="0"/>
              <a:t> é o seu </a:t>
            </a:r>
            <a:r>
              <a:rPr lang="pt-BR" dirty="0" smtClean="0">
                <a:solidFill>
                  <a:srgbClr val="FFFF00"/>
                </a:solidFill>
              </a:rPr>
              <a:t>perfil de propriedades</a:t>
            </a:r>
            <a:r>
              <a:rPr lang="pt-BR" dirty="0" smtClean="0"/>
              <a:t>. 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3" name="Group 2"/>
          <p:cNvGrpSpPr/>
          <p:nvPr/>
        </p:nvGrpSpPr>
        <p:grpSpPr>
          <a:xfrm>
            <a:off x="257175" y="1295400"/>
            <a:ext cx="4571998" cy="5406326"/>
            <a:chOff x="2108973" y="-20517"/>
            <a:chExt cx="4926053" cy="6514616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8973" y="-20517"/>
              <a:ext cx="4926053" cy="6217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3848100" y="6197403"/>
              <a:ext cx="1447800" cy="296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err="1" smtClean="0"/>
                <a:t>Figura</a:t>
              </a:r>
              <a:r>
                <a:rPr lang="en-US" sz="1000" dirty="0" smtClean="0"/>
                <a:t> 3.3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487828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61" y="3161930"/>
            <a:ext cx="4208689" cy="3213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Propriedades Mecânicas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9" name="Subtitle 8"/>
          <p:cNvSpPr>
            <a:spLocks noGrp="1"/>
          </p:cNvSpPr>
          <p:nvPr>
            <p:ph type="subTitle" idx="4294967295"/>
          </p:nvPr>
        </p:nvSpPr>
        <p:spPr>
          <a:xfrm>
            <a:off x="647700" y="1371600"/>
            <a:ext cx="7848600" cy="17526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 smtClean="0"/>
              <a:t>A </a:t>
            </a:r>
            <a:r>
              <a:rPr lang="pt-BR" dirty="0" smtClean="0"/>
              <a:t>curva</a:t>
            </a:r>
            <a:r>
              <a:rPr lang="en-US" dirty="0" smtClean="0"/>
              <a:t> </a:t>
            </a:r>
            <a:r>
              <a:rPr lang="pt-BR" dirty="0" smtClean="0">
                <a:solidFill>
                  <a:srgbClr val="FFFF00"/>
                </a:solidFill>
              </a:rPr>
              <a:t>tensão-deformação</a:t>
            </a:r>
            <a:r>
              <a:rPr lang="en-US" dirty="0" smtClean="0"/>
              <a:t> de um metal, é </a:t>
            </a:r>
            <a:r>
              <a:rPr lang="pt-BR" dirty="0" smtClean="0"/>
              <a:t>apresenta</a:t>
            </a:r>
            <a:r>
              <a:rPr lang="en-US" dirty="0" smtClean="0"/>
              <a:t> o </a:t>
            </a:r>
            <a:r>
              <a:rPr lang="pt-BR" dirty="0" smtClean="0">
                <a:solidFill>
                  <a:srgbClr val="FFFF00"/>
                </a:solidFill>
              </a:rPr>
              <a:t>módulo</a:t>
            </a:r>
            <a:r>
              <a:rPr lang="en-US" dirty="0" smtClean="0">
                <a:solidFill>
                  <a:srgbClr val="FFFF00"/>
                </a:solidFill>
              </a:rPr>
              <a:t> de </a:t>
            </a:r>
            <a:r>
              <a:rPr lang="pt-BR" dirty="0" smtClean="0">
                <a:solidFill>
                  <a:srgbClr val="FFFF00"/>
                </a:solidFill>
              </a:rPr>
              <a:t>elasticidade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FFFF00"/>
                </a:solidFill>
              </a:rPr>
              <a:t>E</a:t>
            </a:r>
            <a:r>
              <a:rPr lang="en-US" dirty="0" smtClean="0"/>
              <a:t>, a </a:t>
            </a:r>
            <a:r>
              <a:rPr lang="pt-BR" dirty="0" smtClean="0"/>
              <a:t>tensão</a:t>
            </a:r>
            <a:r>
              <a:rPr lang="en-US" dirty="0" smtClean="0"/>
              <a:t> de </a:t>
            </a:r>
            <a:r>
              <a:rPr lang="pt-BR" dirty="0" smtClean="0"/>
              <a:t>escoamento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FF00"/>
                </a:solidFill>
              </a:rPr>
              <a:t>0.2%</a:t>
            </a:r>
            <a:r>
              <a:rPr lang="en-US" dirty="0" smtClean="0"/>
              <a:t>, </a:t>
            </a:r>
            <a:r>
              <a:rPr lang="el-GR" i="1" dirty="0" smtClean="0">
                <a:solidFill>
                  <a:srgbClr val="FFFF00"/>
                </a:solidFill>
              </a:rPr>
              <a:t>σ</a:t>
            </a:r>
            <a:r>
              <a:rPr lang="en-US" i="1" baseline="-25000" dirty="0" smtClean="0">
                <a:solidFill>
                  <a:srgbClr val="FFFF00"/>
                </a:solidFill>
              </a:rPr>
              <a:t>y</a:t>
            </a:r>
            <a:r>
              <a:rPr lang="en-US" dirty="0" smtClean="0"/>
              <a:t>, e a </a:t>
            </a:r>
            <a:r>
              <a:rPr lang="pt-BR" dirty="0" smtClean="0"/>
              <a:t>tensão</a:t>
            </a:r>
            <a:r>
              <a:rPr lang="en-US" dirty="0" smtClean="0"/>
              <a:t> </a:t>
            </a:r>
            <a:r>
              <a:rPr lang="pt-BR" dirty="0" smtClean="0"/>
              <a:t>máxima</a:t>
            </a:r>
            <a:r>
              <a:rPr lang="en-US" dirty="0" smtClean="0"/>
              <a:t> </a:t>
            </a:r>
            <a:r>
              <a:rPr lang="pt-BR" dirty="0" smtClean="0"/>
              <a:t>admissível</a:t>
            </a:r>
            <a:r>
              <a:rPr lang="en-US" dirty="0" smtClean="0"/>
              <a:t>, </a:t>
            </a:r>
            <a:r>
              <a:rPr lang="el-GR" i="1" dirty="0" smtClean="0">
                <a:solidFill>
                  <a:srgbClr val="FFFF00"/>
                </a:solidFill>
              </a:rPr>
              <a:t>σ</a:t>
            </a:r>
            <a:r>
              <a:rPr lang="pt-BR" i="1" baseline="-25000" dirty="0" err="1" smtClean="0">
                <a:solidFill>
                  <a:srgbClr val="FFFF00"/>
                </a:solidFill>
              </a:rPr>
              <a:t>ts</a:t>
            </a:r>
            <a:r>
              <a:rPr lang="en-US" i="1" baseline="-25000" dirty="0" smtClean="0"/>
              <a:t>.</a:t>
            </a:r>
            <a:endParaRPr lang="en-US" i="1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1517467" y="6356734"/>
            <a:ext cx="19489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 smtClean="0"/>
              <a:t>Figura</a:t>
            </a:r>
            <a:r>
              <a:rPr lang="en-US" sz="1000" dirty="0" smtClean="0"/>
              <a:t> 3.4</a:t>
            </a:r>
            <a:endParaRPr lang="en-US" sz="1000" dirty="0"/>
          </a:p>
        </p:txBody>
      </p:sp>
      <p:sp>
        <p:nvSpPr>
          <p:cNvPr id="11" name="Subtitle 8"/>
          <p:cNvSpPr txBox="1">
            <a:spLocks/>
          </p:cNvSpPr>
          <p:nvPr/>
        </p:nvSpPr>
        <p:spPr>
          <a:xfrm>
            <a:off x="4876800" y="3581400"/>
            <a:ext cx="3951514" cy="205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/>
              <a:t>A deformação no ponto de </a:t>
            </a:r>
            <a:r>
              <a:rPr lang="pt-BR" dirty="0" smtClean="0">
                <a:solidFill>
                  <a:srgbClr val="FFFF00"/>
                </a:solidFill>
              </a:rPr>
              <a:t>falha</a:t>
            </a:r>
            <a:r>
              <a:rPr lang="pt-BR" dirty="0" smtClean="0"/>
              <a:t> indica a </a:t>
            </a:r>
            <a:r>
              <a:rPr lang="pt-BR" dirty="0" smtClean="0">
                <a:solidFill>
                  <a:srgbClr val="FFFF00"/>
                </a:solidFill>
              </a:rPr>
              <a:t>ductilidade</a:t>
            </a:r>
            <a:r>
              <a:rPr lang="pt-BR" dirty="0" smtClean="0"/>
              <a:t> do </a:t>
            </a:r>
            <a:r>
              <a:rPr lang="pt-BR" dirty="0" smtClean="0">
                <a:solidFill>
                  <a:srgbClr val="FFFF00"/>
                </a:solidFill>
              </a:rPr>
              <a:t>material</a:t>
            </a:r>
            <a:endParaRPr lang="pt-BR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7061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72143" y="4191001"/>
            <a:ext cx="4267200" cy="2057400"/>
          </a:xfrm>
        </p:spPr>
        <p:txBody>
          <a:bodyPr>
            <a:normAutofit fontScale="85000" lnSpcReduction="20000"/>
          </a:bodyPr>
          <a:lstStyle/>
          <a:p>
            <a:r>
              <a:rPr lang="en-US" sz="3000" dirty="0" smtClean="0"/>
              <a:t>A </a:t>
            </a:r>
            <a:r>
              <a:rPr lang="pt-BR" sz="3000" dirty="0" smtClean="0">
                <a:solidFill>
                  <a:srgbClr val="FFFF00"/>
                </a:solidFill>
              </a:rPr>
              <a:t>resposta</a:t>
            </a:r>
            <a:r>
              <a:rPr lang="en-US" sz="3000" dirty="0" smtClean="0">
                <a:solidFill>
                  <a:srgbClr val="FFFF00"/>
                </a:solidFill>
              </a:rPr>
              <a:t> a </a:t>
            </a:r>
            <a:r>
              <a:rPr lang="pt-BR" sz="3000" dirty="0" smtClean="0">
                <a:solidFill>
                  <a:srgbClr val="FFFF00"/>
                </a:solidFill>
              </a:rPr>
              <a:t>tensão</a:t>
            </a:r>
            <a:r>
              <a:rPr lang="en-US" sz="3000" dirty="0" smtClean="0"/>
              <a:t> de um </a:t>
            </a:r>
            <a:r>
              <a:rPr lang="pt-BR" sz="3000" dirty="0" smtClean="0"/>
              <a:t>polímero</a:t>
            </a:r>
            <a:r>
              <a:rPr lang="en-US" sz="3000" dirty="0" smtClean="0"/>
              <a:t> </a:t>
            </a:r>
            <a:r>
              <a:rPr lang="pt-BR" sz="3000" dirty="0" smtClean="0">
                <a:solidFill>
                  <a:srgbClr val="FFFF00"/>
                </a:solidFill>
              </a:rPr>
              <a:t>variando</a:t>
            </a:r>
            <a:r>
              <a:rPr lang="en-US" sz="3000" dirty="0" smtClean="0">
                <a:solidFill>
                  <a:srgbClr val="FFFF00"/>
                </a:solidFill>
              </a:rPr>
              <a:t> com a </a:t>
            </a:r>
            <a:r>
              <a:rPr lang="pt-BR" sz="3000" dirty="0" smtClean="0">
                <a:solidFill>
                  <a:srgbClr val="FFFF00"/>
                </a:solidFill>
              </a:rPr>
              <a:t>temperatura</a:t>
            </a:r>
            <a:r>
              <a:rPr lang="pt-BR" sz="3000" dirty="0" smtClean="0"/>
              <a:t> – Aqui a resposta é mostrada com relação a </a:t>
            </a:r>
            <a:r>
              <a:rPr lang="pt-BR" sz="3000" dirty="0" smtClean="0">
                <a:solidFill>
                  <a:srgbClr val="FFFF00"/>
                </a:solidFill>
              </a:rPr>
              <a:t>temperatura de transição vítrea</a:t>
            </a:r>
            <a:r>
              <a:rPr lang="en-US" sz="3000" dirty="0" smtClean="0"/>
              <a:t>, </a:t>
            </a:r>
            <a:r>
              <a:rPr lang="en-US" sz="3000" i="1" dirty="0" err="1" smtClean="0">
                <a:solidFill>
                  <a:srgbClr val="FFFF00"/>
                </a:solidFill>
              </a:rPr>
              <a:t>T</a:t>
            </a:r>
            <a:r>
              <a:rPr lang="en-US" sz="3000" i="1" baseline="-25000" dirty="0" err="1" smtClean="0">
                <a:solidFill>
                  <a:srgbClr val="FFFF00"/>
                </a:solidFill>
              </a:rPr>
              <a:t>g</a:t>
            </a:r>
            <a:r>
              <a:rPr lang="en-US" sz="3000" i="1" baseline="-25000" dirty="0" smtClean="0"/>
              <a:t>.</a:t>
            </a:r>
            <a:endParaRPr lang="en-US" sz="3000" i="1" baseline="-25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3518905" y="3854437"/>
            <a:ext cx="2040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</a:t>
            </a:r>
            <a:r>
              <a:rPr lang="en-US" sz="1000" dirty="0" smtClean="0"/>
              <a:t> 3.5</a:t>
            </a:r>
            <a:endParaRPr lang="en-US" sz="1000" dirty="0"/>
          </a:p>
        </p:txBody>
      </p:sp>
      <p:sp>
        <p:nvSpPr>
          <p:cNvPr id="11" name="Subtitle 8"/>
          <p:cNvSpPr txBox="1">
            <a:spLocks/>
          </p:cNvSpPr>
          <p:nvPr/>
        </p:nvSpPr>
        <p:spPr>
          <a:xfrm>
            <a:off x="4762499" y="4022712"/>
            <a:ext cx="4267200" cy="23844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 smtClean="0"/>
              <a:t>A resistência a </a:t>
            </a:r>
            <a:r>
              <a:rPr lang="pt-BR" sz="2800" dirty="0" smtClean="0">
                <a:solidFill>
                  <a:srgbClr val="FFFF00"/>
                </a:solidFill>
              </a:rPr>
              <a:t>compressão</a:t>
            </a:r>
            <a:r>
              <a:rPr lang="pt-BR" sz="2800" dirty="0" smtClean="0"/>
              <a:t> de um cerâmico é </a:t>
            </a:r>
            <a:r>
              <a:rPr lang="pt-BR" sz="2800" dirty="0" smtClean="0">
                <a:solidFill>
                  <a:srgbClr val="FFFF00"/>
                </a:solidFill>
              </a:rPr>
              <a:t>10-15 vezes </a:t>
            </a:r>
            <a:r>
              <a:rPr lang="pt-BR" sz="2800" dirty="0" smtClean="0"/>
              <a:t>maior que o </a:t>
            </a:r>
            <a:r>
              <a:rPr lang="pt-BR" sz="2800" dirty="0" smtClean="0">
                <a:solidFill>
                  <a:srgbClr val="FFFF00"/>
                </a:solidFill>
              </a:rPr>
              <a:t>limite de resistência</a:t>
            </a:r>
            <a:r>
              <a:rPr lang="pt-BR" sz="2800" dirty="0" smtClean="0"/>
              <a:t> à tração</a:t>
            </a:r>
            <a:endParaRPr lang="pt-BR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80" y="152400"/>
            <a:ext cx="4559420" cy="3625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499" y="154899"/>
            <a:ext cx="4225541" cy="3623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2895600" y="4572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Ag </a:t>
            </a:r>
            <a:r>
              <a:rPr lang="pt-BR" dirty="0"/>
              <a:t>e </a:t>
            </a:r>
            <a:r>
              <a:rPr lang="pt-BR" dirty="0" smtClean="0"/>
              <a:t>Cu, </a:t>
            </a:r>
            <a:r>
              <a:rPr lang="pt-BR" dirty="0"/>
              <a:t>prata e </a:t>
            </a:r>
            <a:r>
              <a:rPr lang="pt-BR" dirty="0" smtClean="0"/>
              <a:t>Ge,</a:t>
            </a:r>
            <a:endParaRPr lang="pt-BR" dirty="0"/>
          </a:p>
          <a:p>
            <a:r>
              <a:rPr lang="pt-BR" dirty="0" err="1" smtClean="0"/>
              <a:t>Au</a:t>
            </a:r>
            <a:r>
              <a:rPr lang="pt-BR" dirty="0" smtClean="0"/>
              <a:t> </a:t>
            </a:r>
            <a:r>
              <a:rPr lang="pt-BR" dirty="0"/>
              <a:t>e </a:t>
            </a:r>
            <a:r>
              <a:rPr lang="pt-BR" dirty="0" smtClean="0"/>
              <a:t>Si, </a:t>
            </a:r>
            <a:r>
              <a:rPr lang="pt-BR" dirty="0"/>
              <a:t>e </a:t>
            </a:r>
            <a:r>
              <a:rPr lang="pt-BR" dirty="0" err="1" smtClean="0"/>
              <a:t>Pd</a:t>
            </a:r>
            <a:r>
              <a:rPr lang="pt-BR" dirty="0" smtClean="0"/>
              <a:t> </a:t>
            </a:r>
            <a:r>
              <a:rPr lang="pt-BR" dirty="0"/>
              <a:t>e </a:t>
            </a:r>
            <a:r>
              <a:rPr lang="pt-BR" dirty="0" smtClean="0"/>
              <a:t>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1199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60457"/>
            <a:ext cx="4648200" cy="395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4650659"/>
            <a:ext cx="7315200" cy="1752600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O </a:t>
            </a:r>
            <a:r>
              <a:rPr lang="pt-BR" dirty="0" smtClean="0">
                <a:solidFill>
                  <a:srgbClr val="FFFF00"/>
                </a:solidFill>
              </a:rPr>
              <a:t>módulo de ruptura</a:t>
            </a:r>
            <a:r>
              <a:rPr lang="pt-BR" dirty="0" smtClean="0"/>
              <a:t> (MOR) é a tensão superficial no ponto de falha por flexão – É igual ou ligeiramente maior que a </a:t>
            </a:r>
            <a:r>
              <a:rPr lang="pt-BR" dirty="0" smtClean="0">
                <a:solidFill>
                  <a:srgbClr val="FFFF00"/>
                </a:solidFill>
              </a:rPr>
              <a:t>tensão de ruptura</a:t>
            </a:r>
            <a:r>
              <a:rPr lang="pt-BR" dirty="0" smtClean="0"/>
              <a:t> sob tensão.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550443" y="4300814"/>
            <a:ext cx="2077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 3.6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8044197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4343400"/>
            <a:ext cx="7391400" cy="2133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Para </a:t>
            </a:r>
            <a:r>
              <a:rPr lang="pt-BR" dirty="0" smtClean="0"/>
              <a:t>muitos</a:t>
            </a:r>
            <a:r>
              <a:rPr lang="en-US" dirty="0" smtClean="0"/>
              <a:t> </a:t>
            </a:r>
            <a:r>
              <a:rPr lang="pt-BR" dirty="0" smtClean="0"/>
              <a:t>materiais</a:t>
            </a:r>
            <a:r>
              <a:rPr lang="en-US" dirty="0" smtClean="0"/>
              <a:t> </a:t>
            </a:r>
            <a:r>
              <a:rPr lang="pt-BR" dirty="0" smtClean="0"/>
              <a:t>há</a:t>
            </a:r>
            <a:r>
              <a:rPr lang="en-US" dirty="0" smtClean="0"/>
              <a:t> um </a:t>
            </a:r>
            <a:r>
              <a:rPr lang="pt-BR" dirty="0" smtClean="0">
                <a:solidFill>
                  <a:srgbClr val="FFFF00"/>
                </a:solidFill>
              </a:rPr>
              <a:t>limite</a:t>
            </a:r>
            <a:r>
              <a:rPr lang="en-US" dirty="0" smtClean="0">
                <a:solidFill>
                  <a:srgbClr val="FFFF00"/>
                </a:solidFill>
              </a:rPr>
              <a:t> de </a:t>
            </a:r>
            <a:r>
              <a:rPr lang="pt-BR" dirty="0" smtClean="0">
                <a:solidFill>
                  <a:srgbClr val="FFFF00"/>
                </a:solidFill>
              </a:rPr>
              <a:t>fatiga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pt-BR" dirty="0" smtClean="0"/>
              <a:t>limite</a:t>
            </a:r>
            <a:r>
              <a:rPr lang="en-US" dirty="0" smtClean="0"/>
              <a:t> de </a:t>
            </a:r>
            <a:r>
              <a:rPr lang="pt-BR" dirty="0" smtClean="0"/>
              <a:t>fadiga</a:t>
            </a:r>
            <a:r>
              <a:rPr lang="en-US" dirty="0" smtClean="0"/>
              <a:t>, </a:t>
            </a:r>
            <a:r>
              <a:rPr lang="el-GR" i="1" dirty="0" smtClean="0">
                <a:solidFill>
                  <a:srgbClr val="FFFF00"/>
                </a:solidFill>
              </a:rPr>
              <a:t>σ</a:t>
            </a:r>
            <a:r>
              <a:rPr lang="en-US" i="1" baseline="-25000" dirty="0" smtClean="0">
                <a:solidFill>
                  <a:srgbClr val="FFFF00"/>
                </a:solidFill>
              </a:rPr>
              <a:t>e</a:t>
            </a:r>
            <a:r>
              <a:rPr lang="en-US" dirty="0" smtClean="0"/>
              <a:t>, </a:t>
            </a:r>
            <a:r>
              <a:rPr lang="pt-BR" dirty="0" smtClean="0"/>
              <a:t>apresentado</a:t>
            </a:r>
            <a:r>
              <a:rPr lang="en-US" dirty="0" smtClean="0"/>
              <a:t> no </a:t>
            </a:r>
            <a:r>
              <a:rPr lang="pt-BR" dirty="0" smtClean="0"/>
              <a:t>gráfico</a:t>
            </a:r>
            <a:r>
              <a:rPr lang="en-US" dirty="0" smtClean="0"/>
              <a:t> </a:t>
            </a:r>
            <a:r>
              <a:rPr lang="pt-BR" dirty="0" smtClean="0"/>
              <a:t>tensão</a:t>
            </a:r>
            <a:r>
              <a:rPr lang="en-US" dirty="0" smtClean="0"/>
              <a:t> x </a:t>
            </a:r>
            <a:r>
              <a:rPr lang="pt-BR" dirty="0" smtClean="0"/>
              <a:t>número</a:t>
            </a:r>
            <a:r>
              <a:rPr lang="en-US" dirty="0" smtClean="0"/>
              <a:t> de </a:t>
            </a:r>
            <a:r>
              <a:rPr lang="pt-BR" dirty="0" smtClean="0"/>
              <a:t>ciclos</a:t>
            </a:r>
            <a:r>
              <a:rPr lang="en-US" dirty="0" smtClean="0"/>
              <a:t> </a:t>
            </a:r>
            <a:r>
              <a:rPr lang="pt-BR" dirty="0" smtClean="0"/>
              <a:t>apresentado</a:t>
            </a:r>
            <a:r>
              <a:rPr lang="en-US" dirty="0" smtClean="0"/>
              <a:t> </a:t>
            </a:r>
            <a:r>
              <a:rPr lang="pt-BR" dirty="0" smtClean="0"/>
              <a:t>como</a:t>
            </a:r>
            <a:r>
              <a:rPr lang="en-US" dirty="0" smtClean="0"/>
              <a:t> </a:t>
            </a:r>
            <a:r>
              <a:rPr lang="el-GR" i="1" dirty="0" smtClean="0">
                <a:solidFill>
                  <a:srgbClr val="FFFF00"/>
                </a:solidFill>
              </a:rPr>
              <a:t>σ</a:t>
            </a:r>
            <a:r>
              <a:rPr lang="pt-BR" i="1" baseline="-25000" dirty="0" smtClean="0">
                <a:solidFill>
                  <a:srgbClr val="FFFF00"/>
                </a:solidFill>
              </a:rPr>
              <a:t>a</a:t>
            </a:r>
            <a:r>
              <a:rPr lang="en-US" i="1" dirty="0" smtClean="0">
                <a:solidFill>
                  <a:srgbClr val="FFFF00"/>
                </a:solidFill>
              </a:rPr>
              <a:t> – </a:t>
            </a:r>
            <a:r>
              <a:rPr lang="pt-BR" i="1" dirty="0" err="1" smtClean="0">
                <a:solidFill>
                  <a:srgbClr val="FFFF00"/>
                </a:solidFill>
              </a:rPr>
              <a:t>N</a:t>
            </a:r>
            <a:r>
              <a:rPr lang="pt-BR" i="1" baseline="-25000" dirty="0" err="1" smtClean="0">
                <a:solidFill>
                  <a:srgbClr val="FFFF00"/>
                </a:solidFill>
              </a:rPr>
              <a:t>f</a:t>
            </a:r>
            <a:r>
              <a:rPr lang="en-US" dirty="0" smtClean="0"/>
              <a:t>; É a amplitude da </a:t>
            </a:r>
            <a:r>
              <a:rPr lang="pt-BR" dirty="0" smtClean="0">
                <a:solidFill>
                  <a:srgbClr val="FFFF00"/>
                </a:solidFill>
              </a:rPr>
              <a:t>tensão</a:t>
            </a:r>
            <a:r>
              <a:rPr lang="en-US" dirty="0" smtClean="0"/>
              <a:t> </a:t>
            </a:r>
            <a:r>
              <a:rPr lang="pt-BR" dirty="0" smtClean="0"/>
              <a:t>abaixo</a:t>
            </a:r>
            <a:r>
              <a:rPr lang="en-US" dirty="0" smtClean="0"/>
              <a:t> da </a:t>
            </a:r>
            <a:r>
              <a:rPr lang="pt-BR" dirty="0" smtClean="0"/>
              <a:t>qual</a:t>
            </a:r>
            <a:r>
              <a:rPr lang="en-US" dirty="0" smtClean="0"/>
              <a:t> a </a:t>
            </a:r>
            <a:r>
              <a:rPr lang="pt-BR" dirty="0" smtClean="0"/>
              <a:t>fratura</a:t>
            </a:r>
            <a:r>
              <a:rPr lang="en-US" dirty="0" smtClean="0"/>
              <a:t> </a:t>
            </a:r>
            <a:r>
              <a:rPr lang="pt-BR" dirty="0" smtClean="0"/>
              <a:t>não</a:t>
            </a:r>
            <a:r>
              <a:rPr lang="en-US" dirty="0" smtClean="0"/>
              <a:t> </a:t>
            </a:r>
            <a:r>
              <a:rPr lang="pt-BR" dirty="0" smtClean="0"/>
              <a:t>ocorre</a:t>
            </a:r>
            <a:r>
              <a:rPr lang="en-US" dirty="0" smtClean="0"/>
              <a:t>,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somente</a:t>
            </a:r>
            <a:r>
              <a:rPr lang="en-US" dirty="0" smtClean="0"/>
              <a:t> </a:t>
            </a:r>
            <a:r>
              <a:rPr lang="en-US" dirty="0" err="1" smtClean="0"/>
              <a:t>ocorrerá</a:t>
            </a:r>
            <a:r>
              <a:rPr lang="en-US" dirty="0" smtClean="0"/>
              <a:t> </a:t>
            </a:r>
            <a:r>
              <a:rPr lang="en-US" dirty="0" err="1" smtClean="0"/>
              <a:t>após</a:t>
            </a:r>
            <a:r>
              <a:rPr lang="en-US" dirty="0" smtClean="0"/>
              <a:t> um </a:t>
            </a:r>
            <a:r>
              <a:rPr lang="en-US" dirty="0" err="1" smtClean="0">
                <a:solidFill>
                  <a:srgbClr val="FFFF00"/>
                </a:solidFill>
              </a:rPr>
              <a:t>grande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>
                <a:solidFill>
                  <a:srgbClr val="FFFF00"/>
                </a:solidFill>
              </a:rPr>
              <a:t>número</a:t>
            </a:r>
            <a:r>
              <a:rPr lang="en-US" dirty="0" smtClean="0"/>
              <a:t> de </a:t>
            </a:r>
            <a:r>
              <a:rPr lang="en-US" dirty="0" err="1" smtClean="0"/>
              <a:t>ciclos</a:t>
            </a:r>
            <a:r>
              <a:rPr lang="en-US" dirty="0" smtClean="0"/>
              <a:t> (</a:t>
            </a:r>
            <a:r>
              <a:rPr lang="en-US" i="1" dirty="0" err="1" smtClean="0"/>
              <a:t>N</a:t>
            </a:r>
            <a:r>
              <a:rPr lang="en-US" i="1" baseline="-25000" dirty="0" err="1" smtClean="0"/>
              <a:t>f</a:t>
            </a:r>
            <a:r>
              <a:rPr lang="en-US" dirty="0" smtClean="0"/>
              <a:t> &gt;10</a:t>
            </a:r>
            <a:r>
              <a:rPr lang="en-US" baseline="30000" dirty="0" smtClean="0"/>
              <a:t>7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6358"/>
            <a:ext cx="4800600" cy="3912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24061" y="4048617"/>
            <a:ext cx="1562705" cy="24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 smtClean="0"/>
              <a:t>Figura</a:t>
            </a:r>
            <a:r>
              <a:rPr lang="en-US" sz="1000" dirty="0" smtClean="0"/>
              <a:t> 3.7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059711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2231571"/>
            <a:ext cx="5019360" cy="3712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024370" y="293914"/>
            <a:ext cx="7162800" cy="1687286"/>
          </a:xfrm>
        </p:spPr>
        <p:txBody>
          <a:bodyPr>
            <a:normAutofit fontScale="92500" lnSpcReduction="20000"/>
          </a:bodyPr>
          <a:lstStyle/>
          <a:p>
            <a:r>
              <a:rPr lang="pt-BR" dirty="0" smtClean="0"/>
              <a:t>Dureza é medida como a carga F, dividida pela área projetada de contato, </a:t>
            </a:r>
            <a:r>
              <a:rPr lang="pt-BR" i="1" dirty="0" smtClean="0">
                <a:solidFill>
                  <a:srgbClr val="FFFF00"/>
                </a:solidFill>
              </a:rPr>
              <a:t>A</a:t>
            </a:r>
            <a:r>
              <a:rPr lang="pt-BR" dirty="0" smtClean="0"/>
              <a:t>, quando o penetrador na forma de diamante contra a superfície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768066" y="5979684"/>
            <a:ext cx="16796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 </a:t>
            </a:r>
            <a:r>
              <a:rPr lang="en-US" sz="1000" dirty="0" smtClean="0"/>
              <a:t>3.8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078637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30" y="1981199"/>
            <a:ext cx="6569937" cy="426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152400"/>
            <a:ext cx="7315200" cy="1752600"/>
          </a:xfrm>
        </p:spPr>
        <p:txBody>
          <a:bodyPr>
            <a:normAutofit/>
          </a:bodyPr>
          <a:lstStyle/>
          <a:p>
            <a:r>
              <a:rPr lang="pt-BR" dirty="0" smtClean="0"/>
              <a:t>Escalas de dureza comumente utilizadas relacionadas entre si ao </a:t>
            </a:r>
            <a:r>
              <a:rPr lang="pt-BR" dirty="0" smtClean="0">
                <a:solidFill>
                  <a:srgbClr val="FFFF00"/>
                </a:solidFill>
              </a:rPr>
              <a:t>limite de proporcionalidade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685925" y="6249263"/>
            <a:ext cx="17721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 3.9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0866006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230" y="419100"/>
            <a:ext cx="5910262" cy="347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4267200"/>
            <a:ext cx="7315200" cy="1752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 </a:t>
            </a:r>
            <a:r>
              <a:rPr lang="pt-BR" dirty="0" smtClean="0"/>
              <a:t>tenacidade</a:t>
            </a:r>
            <a:r>
              <a:rPr lang="en-US" dirty="0" smtClean="0"/>
              <a:t> a </a:t>
            </a:r>
            <a:r>
              <a:rPr lang="pt-BR" dirty="0" smtClean="0"/>
              <a:t>fratura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FFFF00"/>
                </a:solidFill>
              </a:rPr>
              <a:t>K</a:t>
            </a:r>
            <a:r>
              <a:rPr lang="en-US" i="1" baseline="-25000" dirty="0" smtClean="0">
                <a:solidFill>
                  <a:srgbClr val="FFFF00"/>
                </a:solidFill>
              </a:rPr>
              <a:t>IC</a:t>
            </a:r>
            <a:r>
              <a:rPr lang="en-US" dirty="0" smtClean="0"/>
              <a:t>, </a:t>
            </a:r>
            <a:r>
              <a:rPr lang="pt-BR" dirty="0" smtClean="0"/>
              <a:t>medida</a:t>
            </a:r>
            <a:r>
              <a:rPr lang="en-US" dirty="0" smtClean="0"/>
              <a:t> da </a:t>
            </a:r>
            <a:r>
              <a:rPr lang="pt-BR" dirty="0" smtClean="0"/>
              <a:t>resistência</a:t>
            </a:r>
            <a:r>
              <a:rPr lang="en-US" dirty="0" smtClean="0"/>
              <a:t> a </a:t>
            </a:r>
            <a:r>
              <a:rPr lang="pt-BR" dirty="0" smtClean="0"/>
              <a:t>propagação</a:t>
            </a:r>
            <a:r>
              <a:rPr lang="en-US" dirty="0" smtClean="0"/>
              <a:t> de </a:t>
            </a:r>
            <a:r>
              <a:rPr lang="pt-BR" dirty="0" smtClean="0"/>
              <a:t>trincas</a:t>
            </a:r>
            <a:r>
              <a:rPr lang="en-US" dirty="0" smtClean="0"/>
              <a:t>; o </a:t>
            </a:r>
            <a:r>
              <a:rPr lang="pt-BR" dirty="0" smtClean="0"/>
              <a:t>corpo</a:t>
            </a:r>
            <a:r>
              <a:rPr lang="en-US" dirty="0" smtClean="0"/>
              <a:t> de </a:t>
            </a:r>
            <a:r>
              <a:rPr lang="pt-BR" dirty="0" smtClean="0"/>
              <a:t>prova</a:t>
            </a:r>
            <a:r>
              <a:rPr lang="en-US" dirty="0" smtClean="0"/>
              <a:t> </a:t>
            </a:r>
            <a:r>
              <a:rPr lang="pt-BR" dirty="0" smtClean="0"/>
              <a:t>contém</a:t>
            </a:r>
            <a:r>
              <a:rPr lang="en-US" dirty="0" smtClean="0"/>
              <a:t> </a:t>
            </a:r>
            <a:r>
              <a:rPr lang="pt-BR" dirty="0" smtClean="0"/>
              <a:t>uma</a:t>
            </a:r>
            <a:r>
              <a:rPr lang="en-US" dirty="0" smtClean="0"/>
              <a:t> </a:t>
            </a:r>
            <a:r>
              <a:rPr lang="pt-BR" dirty="0" smtClean="0"/>
              <a:t>trinca</a:t>
            </a:r>
            <a:r>
              <a:rPr lang="en-US" dirty="0" smtClean="0"/>
              <a:t> de </a:t>
            </a:r>
            <a:r>
              <a:rPr lang="pt-BR" dirty="0" smtClean="0"/>
              <a:t>comprimento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FF00"/>
                </a:solidFill>
              </a:rPr>
              <a:t>2c</a:t>
            </a:r>
            <a:r>
              <a:rPr lang="en-US" dirty="0" smtClean="0"/>
              <a:t> e </a:t>
            </a:r>
            <a:r>
              <a:rPr lang="pt-BR" dirty="0" smtClean="0"/>
              <a:t>falha</a:t>
            </a:r>
            <a:r>
              <a:rPr lang="en-US" dirty="0" smtClean="0"/>
              <a:t> </a:t>
            </a:r>
            <a:r>
              <a:rPr lang="pt-BR" dirty="0" smtClean="0"/>
              <a:t>na</a:t>
            </a:r>
            <a:r>
              <a:rPr lang="en-US" dirty="0" smtClean="0"/>
              <a:t> </a:t>
            </a:r>
            <a:r>
              <a:rPr lang="pt-BR" dirty="0" smtClean="0"/>
              <a:t>tensão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FF00"/>
                </a:solidFill>
              </a:rPr>
              <a:t>2c</a:t>
            </a:r>
            <a:r>
              <a:rPr lang="en-US" dirty="0" smtClean="0"/>
              <a:t> a </a:t>
            </a:r>
            <a:r>
              <a:rPr lang="pt-BR" dirty="0" smtClean="0"/>
              <a:t>tensão</a:t>
            </a:r>
            <a:r>
              <a:rPr lang="en-US" dirty="0" smtClean="0"/>
              <a:t> </a:t>
            </a:r>
            <a:r>
              <a:rPr lang="el-GR" i="1" dirty="0" smtClean="0">
                <a:solidFill>
                  <a:srgbClr val="FFFF00"/>
                </a:solidFill>
              </a:rPr>
              <a:t>σ</a:t>
            </a:r>
            <a:r>
              <a:rPr lang="en-US" i="1" dirty="0" smtClean="0">
                <a:solidFill>
                  <a:srgbClr val="FFFF00"/>
                </a:solidFill>
              </a:rPr>
              <a:t>*</a:t>
            </a:r>
            <a:r>
              <a:rPr lang="en-US" dirty="0" smtClean="0"/>
              <a:t>; a </a:t>
            </a:r>
            <a:r>
              <a:rPr lang="pt-BR" dirty="0" smtClean="0"/>
              <a:t>tenacidade</a:t>
            </a:r>
            <a:r>
              <a:rPr lang="en-US" dirty="0" smtClean="0"/>
              <a:t> a </a:t>
            </a:r>
            <a:r>
              <a:rPr lang="pt-BR" dirty="0" smtClean="0"/>
              <a:t>fratura</a:t>
            </a:r>
            <a:r>
              <a:rPr lang="en-US" dirty="0" smtClean="0"/>
              <a:t> é </a:t>
            </a:r>
            <a:r>
              <a:rPr lang="pt-BR" dirty="0" smtClean="0"/>
              <a:t>então</a:t>
            </a:r>
            <a:r>
              <a:rPr lang="en-US" dirty="0" smtClean="0"/>
              <a:t> </a:t>
            </a:r>
            <a:r>
              <a:rPr lang="en-US" i="1" dirty="0" smtClean="0"/>
              <a:t>K</a:t>
            </a:r>
            <a:r>
              <a:rPr lang="en-US" i="1" baseline="-25000" dirty="0" smtClean="0"/>
              <a:t>IC</a:t>
            </a:r>
            <a:r>
              <a:rPr lang="en-US" i="1" dirty="0" smtClean="0"/>
              <a:t> = Y</a:t>
            </a:r>
            <a:r>
              <a:rPr lang="el-GR" i="1" dirty="0" smtClean="0"/>
              <a:t>σ</a:t>
            </a:r>
            <a:r>
              <a:rPr lang="en-US" i="1" dirty="0" smtClean="0"/>
              <a:t>*(</a:t>
            </a:r>
            <a:r>
              <a:rPr lang="el-GR" i="1" dirty="0" smtClean="0"/>
              <a:t>π</a:t>
            </a:r>
            <a:r>
              <a:rPr lang="en-US" i="1" dirty="0" smtClean="0"/>
              <a:t>c)</a:t>
            </a:r>
            <a:r>
              <a:rPr lang="en-US" i="1" baseline="30000" dirty="0" smtClean="0"/>
              <a:t>1/2</a:t>
            </a:r>
            <a:endParaRPr lang="en-US" i="1" baseline="30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858986" y="3925948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 smtClean="0"/>
              <a:t>Figura</a:t>
            </a:r>
            <a:r>
              <a:rPr lang="en-US" sz="1000" dirty="0" smtClean="0"/>
              <a:t> 3.10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00851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007" y="380999"/>
            <a:ext cx="4395986" cy="3898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4648200"/>
            <a:ext cx="7315200" cy="175260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pt-BR" dirty="0" smtClean="0">
                <a:solidFill>
                  <a:srgbClr val="FFFF00"/>
                </a:solidFill>
              </a:rPr>
              <a:t>tangente</a:t>
            </a:r>
            <a:r>
              <a:rPr lang="en-US" dirty="0" smtClean="0">
                <a:solidFill>
                  <a:srgbClr val="FFFF00"/>
                </a:solidFill>
              </a:rPr>
              <a:t> de </a:t>
            </a:r>
            <a:r>
              <a:rPr lang="pt-BR" dirty="0" smtClean="0">
                <a:solidFill>
                  <a:srgbClr val="FFFF00"/>
                </a:solidFill>
              </a:rPr>
              <a:t>perda</a:t>
            </a:r>
            <a:r>
              <a:rPr lang="en-US" dirty="0" smtClean="0"/>
              <a:t> </a:t>
            </a:r>
            <a:r>
              <a:rPr lang="el-GR" dirty="0" smtClean="0">
                <a:solidFill>
                  <a:srgbClr val="FFFF00"/>
                </a:solidFill>
              </a:rPr>
              <a:t>η</a:t>
            </a:r>
            <a:r>
              <a:rPr lang="en-US" dirty="0" smtClean="0"/>
              <a:t> </a:t>
            </a:r>
            <a:r>
              <a:rPr lang="pt-BR" dirty="0" smtClean="0"/>
              <a:t>mede</a:t>
            </a:r>
            <a:r>
              <a:rPr lang="en-US" dirty="0" smtClean="0"/>
              <a:t> a </a:t>
            </a:r>
            <a:r>
              <a:rPr lang="pt-BR" dirty="0" smtClean="0">
                <a:solidFill>
                  <a:srgbClr val="FFFF00"/>
                </a:solidFill>
              </a:rPr>
              <a:t>fração</a:t>
            </a:r>
            <a:r>
              <a:rPr lang="en-US" dirty="0" smtClean="0">
                <a:solidFill>
                  <a:srgbClr val="FFFF00"/>
                </a:solidFill>
              </a:rPr>
              <a:t> de energia </a:t>
            </a:r>
            <a:r>
              <a:rPr lang="pt-BR" dirty="0" smtClean="0">
                <a:solidFill>
                  <a:srgbClr val="FFFF00"/>
                </a:solidFill>
              </a:rPr>
              <a:t>dissipada</a:t>
            </a:r>
            <a:r>
              <a:rPr lang="en-US" dirty="0" smtClean="0"/>
              <a:t> </a:t>
            </a:r>
            <a:r>
              <a:rPr lang="pt-BR" dirty="0" smtClean="0"/>
              <a:t>num ciclo </a:t>
            </a:r>
            <a:r>
              <a:rPr lang="pt-BR" dirty="0" smtClean="0">
                <a:solidFill>
                  <a:srgbClr val="FFFF00"/>
                </a:solidFill>
              </a:rPr>
              <a:t>tensão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FFFF00"/>
                </a:solidFill>
              </a:rPr>
              <a:t>deformação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726280" y="4350355"/>
            <a:ext cx="1691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 3.11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6766950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513" y="266699"/>
            <a:ext cx="5155202" cy="4058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51114" y="4724400"/>
            <a:ext cx="7620000" cy="1752600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Desgaste é a </a:t>
            </a:r>
            <a:r>
              <a:rPr lang="pt-BR" dirty="0" smtClean="0">
                <a:solidFill>
                  <a:srgbClr val="FFFF00"/>
                </a:solidFill>
              </a:rPr>
              <a:t>perda de material</a:t>
            </a:r>
            <a:r>
              <a:rPr lang="pt-BR" dirty="0" smtClean="0"/>
              <a:t> das superfícies quando elas deslizam. A </a:t>
            </a:r>
            <a:r>
              <a:rPr lang="pt-BR" dirty="0" smtClean="0">
                <a:solidFill>
                  <a:srgbClr val="FFFF00"/>
                </a:solidFill>
              </a:rPr>
              <a:t>resistência ao desgaste</a:t>
            </a:r>
            <a:r>
              <a:rPr lang="pt-BR" dirty="0" smtClean="0"/>
              <a:t> é medido pela </a:t>
            </a:r>
            <a:r>
              <a:rPr lang="pt-BR" dirty="0" smtClean="0">
                <a:solidFill>
                  <a:srgbClr val="FFFF00"/>
                </a:solidFill>
              </a:rPr>
              <a:t>constante de desgaste de Archard</a:t>
            </a:r>
            <a:r>
              <a:rPr lang="pt-BR" dirty="0" smtClean="0"/>
              <a:t>, </a:t>
            </a:r>
            <a:r>
              <a:rPr lang="pt-BR" i="1" dirty="0" smtClean="0">
                <a:solidFill>
                  <a:srgbClr val="FFFF00"/>
                </a:solidFill>
              </a:rPr>
              <a:t>K</a:t>
            </a:r>
            <a:r>
              <a:rPr lang="pt-BR" i="1" baseline="-25000" dirty="0" smtClean="0">
                <a:solidFill>
                  <a:srgbClr val="FFFF00"/>
                </a:solidFill>
              </a:rPr>
              <a:t>A</a:t>
            </a:r>
            <a:endParaRPr lang="pt-BR" i="1" baseline="-25000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875314" y="4395788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 3.12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5436864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10" y="1263206"/>
            <a:ext cx="5068979" cy="309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76201"/>
            <a:ext cx="7772400" cy="1187006"/>
          </a:xfrm>
        </p:spPr>
        <p:txBody>
          <a:bodyPr/>
          <a:lstStyle/>
          <a:p>
            <a:r>
              <a:rPr lang="pt-BR" dirty="0" smtClean="0"/>
              <a:t>Propriedades Térmicas</a:t>
            </a:r>
            <a:endParaRPr lang="pt-BR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371600" y="4872399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</a:t>
            </a:r>
            <a:r>
              <a:rPr lang="en-US" dirty="0" err="1" smtClean="0"/>
              <a:t>capacidade</a:t>
            </a:r>
            <a:r>
              <a:rPr lang="en-US" dirty="0" smtClean="0"/>
              <a:t> </a:t>
            </a:r>
            <a:r>
              <a:rPr lang="en-US" dirty="0" err="1" smtClean="0"/>
              <a:t>térmica</a:t>
            </a:r>
            <a:r>
              <a:rPr lang="en-US" dirty="0" smtClean="0"/>
              <a:t> é a energia </a:t>
            </a:r>
            <a:r>
              <a:rPr lang="en-US" dirty="0" err="1" smtClean="0"/>
              <a:t>necessária</a:t>
            </a:r>
            <a:r>
              <a:rPr lang="en-US" dirty="0" smtClean="0"/>
              <a:t> para </a:t>
            </a:r>
            <a:r>
              <a:rPr lang="en-US" dirty="0" err="1" smtClean="0"/>
              <a:t>aumentar</a:t>
            </a:r>
            <a:r>
              <a:rPr lang="en-US" dirty="0" smtClean="0"/>
              <a:t> a </a:t>
            </a:r>
            <a:r>
              <a:rPr lang="en-US" dirty="0" err="1" smtClean="0"/>
              <a:t>temperatura</a:t>
            </a:r>
            <a:r>
              <a:rPr lang="en-US" dirty="0" smtClean="0"/>
              <a:t> da </a:t>
            </a:r>
            <a:r>
              <a:rPr lang="en-US" dirty="0" err="1" smtClean="0"/>
              <a:t>massa</a:t>
            </a:r>
            <a:r>
              <a:rPr lang="en-US" dirty="0" smtClean="0"/>
              <a:t> de 1 kg de  1</a:t>
            </a:r>
            <a:r>
              <a:rPr lang="en-US" baseline="30000" dirty="0" smtClean="0"/>
              <a:t>o</a:t>
            </a:r>
            <a:r>
              <a:rPr lang="en-US" dirty="0" smtClean="0"/>
              <a:t>C.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848100" y="4401979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 3.13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1660116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609600"/>
            <a:ext cx="5467350" cy="3352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90600" y="4419600"/>
            <a:ext cx="7391400" cy="17526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 </a:t>
            </a:r>
            <a:r>
              <a:rPr lang="pt-BR" dirty="0" smtClean="0"/>
              <a:t>condutividade</a:t>
            </a:r>
            <a:r>
              <a:rPr lang="en-US" dirty="0" smtClean="0"/>
              <a:t> </a:t>
            </a:r>
            <a:r>
              <a:rPr lang="pt-BR" dirty="0" smtClean="0"/>
              <a:t>térmica</a:t>
            </a:r>
            <a:r>
              <a:rPr lang="en-US" dirty="0" smtClean="0"/>
              <a:t> </a:t>
            </a:r>
            <a:r>
              <a:rPr lang="el-GR" dirty="0" smtClean="0">
                <a:solidFill>
                  <a:srgbClr val="FFFF00"/>
                </a:solidFill>
              </a:rPr>
              <a:t>λ [W.m</a:t>
            </a:r>
            <a:r>
              <a:rPr lang="el-GR" baseline="30000" dirty="0" smtClean="0">
                <a:solidFill>
                  <a:srgbClr val="FFFF00"/>
                </a:solidFill>
              </a:rPr>
              <a:t>-1</a:t>
            </a:r>
            <a:r>
              <a:rPr lang="el-GR" dirty="0" smtClean="0">
                <a:solidFill>
                  <a:srgbClr val="FFFF00"/>
                </a:solidFill>
              </a:rPr>
              <a:t>.K</a:t>
            </a:r>
            <a:r>
              <a:rPr lang="el-GR" baseline="30000" dirty="0" smtClean="0">
                <a:solidFill>
                  <a:srgbClr val="FFFF00"/>
                </a:solidFill>
              </a:rPr>
              <a:t>-1</a:t>
            </a:r>
            <a:r>
              <a:rPr lang="el-GR" dirty="0" smtClean="0">
                <a:solidFill>
                  <a:srgbClr val="FFFF00"/>
                </a:solidFill>
              </a:rPr>
              <a:t>]</a:t>
            </a:r>
            <a:r>
              <a:rPr lang="en-US" dirty="0" smtClean="0"/>
              <a:t> é a </a:t>
            </a:r>
            <a:r>
              <a:rPr lang="pt-BR" dirty="0" smtClean="0"/>
              <a:t>habilidade</a:t>
            </a:r>
            <a:r>
              <a:rPr lang="en-US" dirty="0" smtClean="0"/>
              <a:t> de um material </a:t>
            </a:r>
            <a:r>
              <a:rPr lang="pt-BR" dirty="0" smtClean="0"/>
              <a:t>conduzir</a:t>
            </a:r>
            <a:r>
              <a:rPr lang="en-US" dirty="0" smtClean="0"/>
              <a:t> </a:t>
            </a:r>
            <a:r>
              <a:rPr lang="pt-BR" dirty="0" smtClean="0"/>
              <a:t>calor definida em função do fluxo de calor, </a:t>
            </a:r>
            <a:r>
              <a:rPr lang="pt-BR" dirty="0" smtClean="0">
                <a:solidFill>
                  <a:srgbClr val="FFFF00"/>
                </a:solidFill>
              </a:rPr>
              <a:t>q </a:t>
            </a:r>
            <a:r>
              <a:rPr lang="pt-BR" dirty="0" smtClean="0">
                <a:solidFill>
                  <a:schemeClr val="tx1"/>
                </a:solidFill>
              </a:rPr>
              <a:t>em</a:t>
            </a:r>
            <a:r>
              <a:rPr lang="pt-BR" dirty="0" smtClean="0">
                <a:solidFill>
                  <a:srgbClr val="FFFF00"/>
                </a:solidFill>
              </a:rPr>
              <a:t> [W.m</a:t>
            </a:r>
            <a:r>
              <a:rPr lang="pt-BR" baseline="30000" dirty="0" smtClean="0">
                <a:solidFill>
                  <a:srgbClr val="FFFF00"/>
                </a:solidFill>
              </a:rPr>
              <a:t>-2</a:t>
            </a:r>
            <a:r>
              <a:rPr lang="pt-BR" dirty="0" smtClean="0">
                <a:solidFill>
                  <a:srgbClr val="FFFF00"/>
                </a:solidFill>
              </a:rPr>
              <a:t>]</a:t>
            </a:r>
            <a:r>
              <a:rPr lang="pt-BR" dirty="0" smtClean="0"/>
              <a:t>, e do gradiente térmico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FF00"/>
                </a:solidFill>
              </a:rPr>
              <a:t>dT</a:t>
            </a:r>
            <a:r>
              <a:rPr lang="en-US" dirty="0" smtClean="0">
                <a:solidFill>
                  <a:srgbClr val="FFFF00"/>
                </a:solidFill>
              </a:rPr>
              <a:t>/dx [</a:t>
            </a:r>
            <a:r>
              <a:rPr lang="en-US" baseline="30000" dirty="0" smtClean="0">
                <a:solidFill>
                  <a:srgbClr val="FFFF00"/>
                </a:solidFill>
              </a:rPr>
              <a:t>o</a:t>
            </a:r>
            <a:r>
              <a:rPr lang="en-US" dirty="0" smtClean="0">
                <a:solidFill>
                  <a:srgbClr val="FFFF00"/>
                </a:solidFill>
              </a:rPr>
              <a:t>C.m</a:t>
            </a:r>
            <a:r>
              <a:rPr lang="en-US" baseline="30000" dirty="0" smtClean="0">
                <a:solidFill>
                  <a:srgbClr val="FFFF00"/>
                </a:solidFill>
              </a:rPr>
              <a:t>-1</a:t>
            </a:r>
            <a:r>
              <a:rPr lang="en-US" dirty="0" smtClean="0">
                <a:solidFill>
                  <a:srgbClr val="FFFF00"/>
                </a:solidFill>
              </a:rPr>
              <a:t>]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799480" y="4050787"/>
            <a:ext cx="1545040" cy="25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Figure 3.14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291585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511" y="542924"/>
            <a:ext cx="5580977" cy="3487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03513" y="4648200"/>
            <a:ext cx="7315200" cy="17526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O </a:t>
            </a:r>
            <a:r>
              <a:rPr lang="pt-BR" dirty="0" smtClean="0">
                <a:solidFill>
                  <a:srgbClr val="FFFF00"/>
                </a:solidFill>
              </a:rPr>
              <a:t>coeficiente</a:t>
            </a:r>
            <a:r>
              <a:rPr lang="en-US" dirty="0" smtClean="0">
                <a:solidFill>
                  <a:srgbClr val="FFFF00"/>
                </a:solidFill>
              </a:rPr>
              <a:t> de </a:t>
            </a:r>
            <a:r>
              <a:rPr lang="pt-BR" dirty="0" smtClean="0">
                <a:solidFill>
                  <a:srgbClr val="FFFF00"/>
                </a:solidFill>
              </a:rPr>
              <a:t>expansão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pt-BR" dirty="0" smtClean="0">
                <a:solidFill>
                  <a:srgbClr val="FFFF00"/>
                </a:solidFill>
              </a:rPr>
              <a:t>térmico</a:t>
            </a:r>
            <a:r>
              <a:rPr lang="en-US" dirty="0" smtClean="0">
                <a:solidFill>
                  <a:srgbClr val="FFFF00"/>
                </a:solidFill>
              </a:rPr>
              <a:t> linear</a:t>
            </a:r>
            <a:r>
              <a:rPr lang="en-US" dirty="0" smtClean="0"/>
              <a:t> </a:t>
            </a:r>
            <a:r>
              <a:rPr lang="el-GR" dirty="0" smtClean="0">
                <a:solidFill>
                  <a:srgbClr val="FFFF00"/>
                </a:solidFill>
              </a:rPr>
              <a:t>α</a:t>
            </a:r>
            <a:r>
              <a:rPr lang="en-US" dirty="0" smtClean="0"/>
              <a:t> </a:t>
            </a:r>
            <a:r>
              <a:rPr lang="pt-BR" dirty="0" smtClean="0"/>
              <a:t>mede</a:t>
            </a:r>
            <a:r>
              <a:rPr lang="en-US" dirty="0" smtClean="0"/>
              <a:t> a </a:t>
            </a:r>
            <a:r>
              <a:rPr lang="pt-BR" dirty="0" smtClean="0">
                <a:solidFill>
                  <a:srgbClr val="FFFF00"/>
                </a:solidFill>
              </a:rPr>
              <a:t>variação</a:t>
            </a:r>
            <a:r>
              <a:rPr lang="en-US" dirty="0" smtClean="0">
                <a:solidFill>
                  <a:srgbClr val="FFFF00"/>
                </a:solidFill>
              </a:rPr>
              <a:t> do </a:t>
            </a:r>
            <a:r>
              <a:rPr lang="pt-BR" dirty="0" smtClean="0">
                <a:solidFill>
                  <a:srgbClr val="FFFF00"/>
                </a:solidFill>
              </a:rPr>
              <a:t>comprimento</a:t>
            </a:r>
            <a:r>
              <a:rPr lang="en-US" dirty="0" smtClean="0"/>
              <a:t> , </a:t>
            </a:r>
            <a:r>
              <a:rPr lang="pt-BR" dirty="0" smtClean="0"/>
              <a:t>por unidade</a:t>
            </a:r>
            <a:r>
              <a:rPr lang="en-US" dirty="0" smtClean="0"/>
              <a:t> de </a:t>
            </a:r>
            <a:r>
              <a:rPr lang="pt-BR" dirty="0" smtClean="0"/>
              <a:t>comprimento, quando a amostra é submetida a uma variação de temperatura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810538" y="4030329"/>
            <a:ext cx="15419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 smtClean="0"/>
              <a:t>Figura</a:t>
            </a:r>
            <a:r>
              <a:rPr lang="en-US" sz="1000" dirty="0" smtClean="0"/>
              <a:t> 3.15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080305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655" y="1288971"/>
            <a:ext cx="4738687" cy="3434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371600"/>
          </a:xfrm>
        </p:spPr>
        <p:txBody>
          <a:bodyPr/>
          <a:lstStyle/>
          <a:p>
            <a:r>
              <a:rPr lang="pt-BR" dirty="0" smtClean="0"/>
              <a:t>Propriedades Elétricas</a:t>
            </a:r>
            <a:endParaRPr lang="pt-BR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5105400"/>
            <a:ext cx="7315200" cy="1506379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Resistividade </a:t>
            </a:r>
            <a:r>
              <a:rPr lang="pt-BR" dirty="0" smtClean="0"/>
              <a:t>elétrica</a:t>
            </a:r>
            <a:r>
              <a:rPr lang="en-US" dirty="0" smtClean="0"/>
              <a:t>, </a:t>
            </a:r>
            <a:r>
              <a:rPr lang="el-GR" i="1" dirty="0" smtClean="0">
                <a:solidFill>
                  <a:srgbClr val="FFFF00"/>
                </a:solidFill>
              </a:rPr>
              <a:t>ρ</a:t>
            </a:r>
            <a:r>
              <a:rPr lang="en-US" i="1" baseline="-25000" dirty="0" smtClean="0">
                <a:solidFill>
                  <a:srgbClr val="FFFF00"/>
                </a:solidFill>
              </a:rPr>
              <a:t>e</a:t>
            </a:r>
            <a:r>
              <a:rPr lang="en-US" dirty="0" smtClean="0"/>
              <a:t>, é </a:t>
            </a:r>
            <a:r>
              <a:rPr lang="pt-BR" dirty="0" smtClean="0"/>
              <a:t>medida</a:t>
            </a:r>
            <a:r>
              <a:rPr lang="en-US" dirty="0" smtClean="0"/>
              <a:t> </a:t>
            </a:r>
            <a:r>
              <a:rPr lang="pt-BR" dirty="0" smtClean="0"/>
              <a:t>como</a:t>
            </a:r>
            <a:r>
              <a:rPr lang="en-US" dirty="0" smtClean="0"/>
              <a:t> </a:t>
            </a:r>
            <a:r>
              <a:rPr lang="pt-BR" dirty="0" smtClean="0"/>
              <a:t>gradiente</a:t>
            </a:r>
            <a:r>
              <a:rPr lang="en-US" dirty="0" smtClean="0"/>
              <a:t> </a:t>
            </a:r>
            <a:r>
              <a:rPr lang="pt-BR" dirty="0" smtClean="0"/>
              <a:t>potencial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FFFF00"/>
                </a:solidFill>
              </a:rPr>
              <a:t>V/L</a:t>
            </a:r>
            <a:r>
              <a:rPr lang="en-US" dirty="0" smtClean="0"/>
              <a:t>, </a:t>
            </a:r>
            <a:r>
              <a:rPr lang="pt-BR" dirty="0" smtClean="0"/>
              <a:t>dividida</a:t>
            </a:r>
            <a:r>
              <a:rPr lang="en-US" dirty="0" smtClean="0"/>
              <a:t> pela </a:t>
            </a:r>
            <a:r>
              <a:rPr lang="pt-BR" dirty="0" smtClean="0"/>
              <a:t>densidade</a:t>
            </a:r>
            <a:r>
              <a:rPr lang="en-US" dirty="0" smtClean="0"/>
              <a:t> de </a:t>
            </a:r>
            <a:r>
              <a:rPr lang="pt-BR" dirty="0" smtClean="0"/>
              <a:t>corrente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FFFF00"/>
                </a:solidFill>
              </a:rPr>
              <a:t>i/A</a:t>
            </a:r>
            <a:r>
              <a:rPr lang="en-US" dirty="0" smtClean="0"/>
              <a:t>; </a:t>
            </a:r>
            <a:r>
              <a:rPr lang="pt-BR" dirty="0" smtClean="0"/>
              <a:t>está relacionada com a resistência</a:t>
            </a:r>
            <a:r>
              <a:rPr lang="en-US" dirty="0" smtClean="0"/>
              <a:t> ,</a:t>
            </a:r>
            <a:r>
              <a:rPr lang="en-US" dirty="0"/>
              <a:t> </a:t>
            </a:r>
            <a:r>
              <a:rPr lang="en-US" i="1" dirty="0" smtClean="0">
                <a:solidFill>
                  <a:srgbClr val="FFFF00"/>
                </a:solidFill>
              </a:rPr>
              <a:t>R</a:t>
            </a:r>
            <a:r>
              <a:rPr lang="en-US" dirty="0" smtClean="0"/>
              <a:t>, pela </a:t>
            </a:r>
            <a:r>
              <a:rPr lang="pt-BR" dirty="0" smtClean="0"/>
              <a:t>equação</a:t>
            </a:r>
            <a:r>
              <a:rPr lang="en-US" dirty="0" smtClean="0"/>
              <a:t> </a:t>
            </a:r>
            <a:r>
              <a:rPr lang="el-GR" i="1" dirty="0" smtClean="0">
                <a:solidFill>
                  <a:srgbClr val="FFFF00"/>
                </a:solidFill>
              </a:rPr>
              <a:t>ρ</a:t>
            </a:r>
            <a:r>
              <a:rPr lang="en-US" i="1" baseline="-25000" dirty="0" smtClean="0">
                <a:solidFill>
                  <a:srgbClr val="FFFF00"/>
                </a:solidFill>
              </a:rPr>
              <a:t>e</a:t>
            </a:r>
            <a:r>
              <a:rPr lang="en-US" i="1" dirty="0" smtClean="0">
                <a:solidFill>
                  <a:srgbClr val="FFFF00"/>
                </a:solidFill>
              </a:rPr>
              <a:t> = AR/L</a:t>
            </a:r>
            <a:endParaRPr lang="en-US" i="1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848099" y="4729163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</a:t>
            </a:r>
            <a:r>
              <a:rPr lang="en-US" sz="1000" dirty="0" smtClean="0"/>
              <a:t> 3.16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80987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4310028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608065" y="3298840"/>
            <a:ext cx="13323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 3.17</a:t>
            </a:r>
            <a:endParaRPr lang="pt-BR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6315092" y="6087827"/>
            <a:ext cx="12018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Figura 3.18</a:t>
            </a:r>
            <a:endParaRPr lang="pt-BR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4746171" y="304800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Constante</a:t>
            </a:r>
            <a:r>
              <a:rPr lang="en-US" sz="3600" dirty="0" smtClean="0"/>
              <a:t> </a:t>
            </a:r>
            <a:r>
              <a:rPr lang="pt-BR" sz="3600" dirty="0" smtClean="0"/>
              <a:t>Dielétrica</a:t>
            </a:r>
            <a:endParaRPr lang="pt-BR" sz="3600" dirty="0"/>
          </a:p>
        </p:txBody>
      </p:sp>
      <p:sp>
        <p:nvSpPr>
          <p:cNvPr id="12" name="TextBox 11"/>
          <p:cNvSpPr txBox="1"/>
          <p:nvPr/>
        </p:nvSpPr>
        <p:spPr>
          <a:xfrm>
            <a:off x="1104384" y="5580965"/>
            <a:ext cx="3467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Perda Dielétrica</a:t>
            </a:r>
            <a:endParaRPr lang="pt-BR" sz="36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971799"/>
            <a:ext cx="4233998" cy="3124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611818"/>
              </p:ext>
            </p:extLst>
          </p:nvPr>
        </p:nvGraphicFramePr>
        <p:xfrm>
          <a:off x="5638800" y="1295400"/>
          <a:ext cx="2057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5" imgW="609600" imgH="203200" progId="Equation.3">
                  <p:embed/>
                </p:oleObj>
              </mc:Choice>
              <mc:Fallback>
                <p:oleObj name="Equation" r:id="rId5" imgW="6096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8800" y="1295400"/>
                        <a:ext cx="2057400" cy="685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81600" y="1981200"/>
            <a:ext cx="2940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dirty="0" smtClean="0">
                <a:solidFill>
                  <a:srgbClr val="FFFF00"/>
                </a:solidFill>
              </a:rPr>
              <a:t>Fator de Perda </a:t>
            </a:r>
            <a:r>
              <a:rPr lang="x-none" sz="2800" i="1" dirty="0" smtClean="0">
                <a:solidFill>
                  <a:srgbClr val="FFFF00"/>
                </a:solidFill>
              </a:rPr>
              <a:t>L</a:t>
            </a:r>
            <a:endParaRPr lang="pt-BR" sz="2800" i="1" dirty="0">
              <a:solidFill>
                <a:srgbClr val="FFFF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901536"/>
              </p:ext>
            </p:extLst>
          </p:nvPr>
        </p:nvGraphicFramePr>
        <p:xfrm>
          <a:off x="838200" y="4191000"/>
          <a:ext cx="267546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7" imgW="1003300" imgH="228600" progId="Equation.3">
                  <p:embed/>
                </p:oleObj>
              </mc:Choice>
              <mc:Fallback>
                <p:oleObj name="Equation" r:id="rId7" imgW="10033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8200" y="4191000"/>
                        <a:ext cx="2675467" cy="609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4800600"/>
            <a:ext cx="3087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dirty="0" smtClean="0">
                <a:solidFill>
                  <a:srgbClr val="FFFF00"/>
                </a:solidFill>
              </a:rPr>
              <a:t>Fator de Potência</a:t>
            </a:r>
            <a:endParaRPr lang="pt-BR" sz="2800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9545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MaterialsSelec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MaterialsSelection</Template>
  <TotalTime>854</TotalTime>
  <Words>2014</Words>
  <Application>Microsoft Macintosh PowerPoint</Application>
  <PresentationFormat>On-screen Show (4:3)</PresentationFormat>
  <Paragraphs>143</Paragraphs>
  <Slides>22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MaterialsSelection</vt:lpstr>
      <vt:lpstr>Equation</vt:lpstr>
      <vt:lpstr>Capítulo 3 Materiais de Engenharia e  suas Propriedades</vt:lpstr>
      <vt:lpstr>Seleção de Materiais</vt:lpstr>
      <vt:lpstr>Famílias de Materiais de Engenharia</vt:lpstr>
      <vt:lpstr>PowerPoint Presentation</vt:lpstr>
      <vt:lpstr>PowerPoint Presentation</vt:lpstr>
      <vt:lpstr>PowerPoint Presentation</vt:lpstr>
      <vt:lpstr>PowerPoint Presentation</vt:lpstr>
      <vt:lpstr>Propriedades dos Materiais e suas Unidades</vt:lpstr>
      <vt:lpstr>Propriedades Mecânicas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Propriedades Térmicas</vt:lpstr>
      <vt:lpstr>PowerPoint Presentation</vt:lpstr>
      <vt:lpstr>PowerPoint Presentation</vt:lpstr>
      <vt:lpstr>Propriedades Elétricas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Hougendobler</dc:creator>
  <cp:lastModifiedBy>Ivaldo Leao Ferreira</cp:lastModifiedBy>
  <cp:revision>67</cp:revision>
  <dcterms:created xsi:type="dcterms:W3CDTF">2010-09-03T02:00:13Z</dcterms:created>
  <dcterms:modified xsi:type="dcterms:W3CDTF">2018-09-04T11:49:29Z</dcterms:modified>
</cp:coreProperties>
</file>