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83" r:id="rId3"/>
    <p:sldId id="257" r:id="rId4"/>
    <p:sldId id="258" r:id="rId5"/>
    <p:sldId id="259" r:id="rId6"/>
    <p:sldId id="260" r:id="rId7"/>
    <p:sldId id="261" r:id="rId8"/>
    <p:sldId id="262" r:id="rId9"/>
    <p:sldId id="275" r:id="rId10"/>
    <p:sldId id="276" r:id="rId11"/>
    <p:sldId id="277" r:id="rId12"/>
    <p:sldId id="279" r:id="rId13"/>
    <p:sldId id="263" r:id="rId14"/>
    <p:sldId id="264" r:id="rId15"/>
    <p:sldId id="266" r:id="rId16"/>
    <p:sldId id="280" r:id="rId17"/>
    <p:sldId id="265" r:id="rId18"/>
    <p:sldId id="281" r:id="rId19"/>
    <p:sldId id="282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-124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interSettings" Target="printerSettings/printerSettings1.bin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3741E-2754-4470-B6A8-885ABCDA37E5}" type="datetimeFigureOut">
              <a:rPr lang="en-US" smtClean="0"/>
              <a:t>18/09/18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F259B-8D59-4545-ADDE-C43F261CB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42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205C-249E-4BA4-969B-88C5113130D0}" type="datetime1">
              <a:rPr lang="en-US" smtClean="0"/>
              <a:t>18/09/18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7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FACF-02A7-452D-BE8C-BDF875DD1E72}" type="datetime1">
              <a:rPr lang="en-US" smtClean="0"/>
              <a:t>18/09/18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77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EDAAE-35D1-4D6C-93E0-69126C834E12}" type="datetime1">
              <a:rPr lang="en-US" smtClean="0"/>
              <a:t>18/09/18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19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FD69E-0560-4373-8588-BBE57F981E27}" type="datetime1">
              <a:rPr lang="en-US" smtClean="0"/>
              <a:t>18/09/18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25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C53E5-8228-46D5-8A12-2238A7F5FD27}" type="datetime1">
              <a:rPr lang="en-US" smtClean="0"/>
              <a:t>18/09/18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76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B881-3853-4AA1-A3CB-B8C6B8271645}" type="datetime1">
              <a:rPr lang="en-US" smtClean="0"/>
              <a:t>18/09/18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4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FF8EA-EBE7-4449-9D67-06FC92DE79DB}" type="datetime1">
              <a:rPr lang="en-US" smtClean="0"/>
              <a:t>18/09/18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4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E192E-C5E1-4591-9BA4-23887C89EA93}" type="datetime1">
              <a:rPr lang="en-US" smtClean="0"/>
              <a:t>18/09/18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95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B212E-9D55-44FE-87E6-CE0CFA44A96D}" type="datetime1">
              <a:rPr lang="en-US" smtClean="0"/>
              <a:t>18/09/18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87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AD81-7E27-4303-A012-E8E0905F2097}" type="datetime1">
              <a:rPr lang="en-US" smtClean="0"/>
              <a:t>18/09/18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67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FB46B-276E-4444-AF7A-46C8C029BB60}" type="datetime1">
              <a:rPr lang="en-US" smtClean="0"/>
              <a:t>18/09/18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80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9040CE-A41E-4BD6-90B1-7A942B52C948}" type="datetime1">
              <a:rPr lang="en-US" smtClean="0"/>
              <a:t>18/09/18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3200"/>
            <a:ext cx="9144000" cy="2740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Materials Selection in Mechanical Design, 4th Edition, © 2010 Michael Ashby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AB3F7-43BF-4C6B-9CF4-E5AA57EDF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315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chemeClr val="accent1">
              <a:lumMod val="40000"/>
              <a:lumOff val="6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282575"/>
            <a:ext cx="5334000" cy="1470025"/>
          </a:xfrm>
        </p:spPr>
        <p:txBody>
          <a:bodyPr>
            <a:normAutofit fontScale="90000"/>
          </a:bodyPr>
          <a:lstStyle/>
          <a:p>
            <a:r>
              <a:rPr lang="en-US" sz="4400" dirty="0" smtClean="0"/>
              <a:t>Chapter 5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pt-BR" dirty="0" smtClean="0">
                <a:solidFill>
                  <a:schemeClr val="tx1"/>
                </a:solidFill>
              </a:rPr>
              <a:t>Sele</a:t>
            </a:r>
            <a:r>
              <a:rPr lang="pt-BR" dirty="0" smtClean="0">
                <a:solidFill>
                  <a:schemeClr val="tx1"/>
                </a:solidFill>
              </a:rPr>
              <a:t>ção de Materiais</a:t>
            </a:r>
            <a:br>
              <a:rPr lang="pt-BR" dirty="0" smtClean="0">
                <a:solidFill>
                  <a:schemeClr val="tx1"/>
                </a:solidFill>
              </a:rPr>
            </a:br>
            <a:r>
              <a:rPr lang="pt-BR" dirty="0" smtClean="0">
                <a:solidFill>
                  <a:schemeClr val="tx1"/>
                </a:solidFill>
              </a:rPr>
              <a:t>  O B</a:t>
            </a:r>
            <a:r>
              <a:rPr lang="pt-BR" dirty="0" smtClean="0">
                <a:solidFill>
                  <a:schemeClr val="tx1"/>
                </a:solidFill>
              </a:rPr>
              <a:t>ásico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2057400"/>
            <a:ext cx="5197179" cy="4315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0"/>
            <a:ext cx="3679788" cy="312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02512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381000"/>
            <a:ext cx="4648200" cy="1470025"/>
          </a:xfrm>
        </p:spPr>
        <p:txBody>
          <a:bodyPr>
            <a:normAutofit fontScale="90000"/>
          </a:bodyPr>
          <a:lstStyle/>
          <a:p>
            <a:r>
              <a:rPr lang="en-US" sz="4400" dirty="0" smtClean="0"/>
              <a:t>Chapter 5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chemeClr val="tx1"/>
                </a:solidFill>
              </a:rPr>
              <a:t>Materials Selection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  The Basics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2057400"/>
            <a:ext cx="5197179" cy="4315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33331"/>
            <a:ext cx="7781285" cy="6612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79989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76200" y="609600"/>
            <a:ext cx="4267200" cy="2819400"/>
          </a:xfrm>
        </p:spPr>
        <p:txBody>
          <a:bodyPr>
            <a:normAutofit/>
          </a:bodyPr>
          <a:lstStyle/>
          <a:p>
            <a:r>
              <a:rPr lang="pt-BR" dirty="0" smtClean="0"/>
              <a:t>Procedimento Básico de Seleção que estabelece uma conexão entre o material e a função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52400"/>
            <a:ext cx="4381500" cy="3468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" name="Grupo 6"/>
          <p:cNvGrpSpPr/>
          <p:nvPr/>
        </p:nvGrpSpPr>
        <p:grpSpPr>
          <a:xfrm>
            <a:off x="4552948" y="152400"/>
            <a:ext cx="4400552" cy="3714355"/>
            <a:chOff x="4552948" y="152400"/>
            <a:chExt cx="4400552" cy="3714355"/>
          </a:xfrm>
        </p:grpSpPr>
        <p:sp>
          <p:nvSpPr>
            <p:cNvPr id="6" name="TextBox 5"/>
            <p:cNvSpPr txBox="1"/>
            <p:nvPr/>
          </p:nvSpPr>
          <p:spPr>
            <a:xfrm>
              <a:off x="6383479" y="3620534"/>
              <a:ext cx="7585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 smtClean="0"/>
                <a:t>Figura 5.1</a:t>
              </a:r>
              <a:endParaRPr lang="en-US" sz="1000" dirty="0"/>
            </a:p>
          </p:txBody>
        </p:sp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2948" y="152400"/>
              <a:ext cx="4400552" cy="34324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9" name="Subtitle 1"/>
          <p:cNvSpPr txBox="1">
            <a:spLocks/>
          </p:cNvSpPr>
          <p:nvPr/>
        </p:nvSpPr>
        <p:spPr>
          <a:xfrm>
            <a:off x="76200" y="4419600"/>
            <a:ext cx="8877300" cy="216249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algn="just"/>
            <a:r>
              <a:rPr lang="pt-BR" dirty="0" smtClean="0"/>
              <a:t>A </a:t>
            </a:r>
            <a:r>
              <a:rPr lang="pt-BR" dirty="0" smtClean="0">
                <a:solidFill>
                  <a:srgbClr val="FFFF00"/>
                </a:solidFill>
              </a:rPr>
              <a:t>tarefa de seleção</a:t>
            </a:r>
            <a:r>
              <a:rPr lang="pt-BR" dirty="0" smtClean="0"/>
              <a:t> em duas linhas é:</a:t>
            </a:r>
          </a:p>
          <a:p>
            <a:pPr marL="361950" indent="-361950" algn="just">
              <a:buAutoNum type="arabicPeriod"/>
            </a:pPr>
            <a:r>
              <a:rPr lang="pt-BR" dirty="0" smtClean="0"/>
              <a:t>Identificar o </a:t>
            </a:r>
            <a:r>
              <a:rPr lang="pt-BR" dirty="0" smtClean="0">
                <a:solidFill>
                  <a:srgbClr val="FFFF00"/>
                </a:solidFill>
              </a:rPr>
              <a:t>perfil de atributos desejados</a:t>
            </a:r>
            <a:r>
              <a:rPr lang="pt-BR" dirty="0" smtClean="0"/>
              <a:t>; e então</a:t>
            </a:r>
          </a:p>
          <a:p>
            <a:pPr marL="361950" indent="-361950" algn="just">
              <a:buAutoNum type="arabicPeriod"/>
            </a:pPr>
            <a:r>
              <a:rPr lang="pt-BR" dirty="0" smtClean="0"/>
              <a:t> Compará-lo com os dos </a:t>
            </a:r>
            <a:r>
              <a:rPr lang="pt-BR" dirty="0" smtClean="0">
                <a:solidFill>
                  <a:srgbClr val="FFFF00"/>
                </a:solidFill>
              </a:rPr>
              <a:t>materiais de engenharia reais</a:t>
            </a:r>
            <a:r>
              <a:rPr lang="pt-BR" dirty="0" smtClean="0"/>
              <a:t> para encontrar a melhor combinação.</a:t>
            </a:r>
          </a:p>
          <a:p>
            <a:pPr marL="514350" indent="-514350"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39934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14400" y="4648200"/>
            <a:ext cx="7315200" cy="17526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dirty="0" smtClean="0"/>
              <a:t>O universo de materiais em </a:t>
            </a:r>
            <a:r>
              <a:rPr lang="pt-BR" dirty="0" smtClean="0">
                <a:solidFill>
                  <a:srgbClr val="FFFF00"/>
                </a:solidFill>
              </a:rPr>
              <a:t>famílias</a:t>
            </a:r>
            <a:r>
              <a:rPr lang="pt-BR" dirty="0" smtClean="0"/>
              <a:t>, </a:t>
            </a:r>
            <a:r>
              <a:rPr lang="pt-BR" dirty="0" smtClean="0">
                <a:solidFill>
                  <a:srgbClr val="FFFF00"/>
                </a:solidFill>
              </a:rPr>
              <a:t>classes</a:t>
            </a:r>
            <a:r>
              <a:rPr lang="pt-BR" dirty="0" smtClean="0"/>
              <a:t>, </a:t>
            </a:r>
            <a:r>
              <a:rPr lang="pt-BR" dirty="0" smtClean="0">
                <a:solidFill>
                  <a:srgbClr val="FFFF00"/>
                </a:solidFill>
              </a:rPr>
              <a:t>subclasses</a:t>
            </a:r>
            <a:r>
              <a:rPr lang="pt-BR" dirty="0" smtClean="0"/>
              <a:t> e </a:t>
            </a:r>
            <a:r>
              <a:rPr lang="pt-BR" dirty="0" smtClean="0">
                <a:solidFill>
                  <a:srgbClr val="FFFF00"/>
                </a:solidFill>
              </a:rPr>
              <a:t>membros</a:t>
            </a:r>
            <a:r>
              <a:rPr lang="pt-BR" dirty="0" smtClean="0"/>
              <a:t>; cada membro é caracterizado por um conjunto de atributos: </a:t>
            </a:r>
            <a:r>
              <a:rPr lang="pt-BR" dirty="0" smtClean="0">
                <a:solidFill>
                  <a:srgbClr val="FFFF00"/>
                </a:solidFill>
              </a:rPr>
              <a:t>Suas propriedades</a:t>
            </a:r>
            <a:endParaRPr lang="pt-BR" dirty="0">
              <a:solidFill>
                <a:srgbClr val="FFFF00"/>
              </a:solidFill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752475" y="533399"/>
            <a:ext cx="7552432" cy="3890901"/>
            <a:chOff x="752475" y="533399"/>
            <a:chExt cx="7552432" cy="3890901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2475" y="533399"/>
              <a:ext cx="7552432" cy="3644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192729" y="4178079"/>
              <a:ext cx="7585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 smtClean="0"/>
                <a:t>Figura 5.2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710966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261" y="1066800"/>
            <a:ext cx="6202268" cy="3729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066800"/>
          </a:xfrm>
        </p:spPr>
        <p:txBody>
          <a:bodyPr>
            <a:normAutofit/>
          </a:bodyPr>
          <a:lstStyle/>
          <a:p>
            <a:r>
              <a:rPr lang="pt-BR" sz="3600" dirty="0" smtClean="0"/>
              <a:t>Estratégias de Seleção</a:t>
            </a:r>
            <a:endParaRPr lang="pt-BR" sz="36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876300" y="5039552"/>
            <a:ext cx="7391400" cy="151364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dirty="0" smtClean="0">
                <a:solidFill>
                  <a:srgbClr val="FFFF00"/>
                </a:solidFill>
              </a:rPr>
              <a:t>Características exigidas</a:t>
            </a:r>
            <a:r>
              <a:rPr lang="pt-BR" dirty="0" smtClean="0"/>
              <a:t> são </a:t>
            </a:r>
            <a:r>
              <a:rPr lang="pt-BR" dirty="0" smtClean="0">
                <a:solidFill>
                  <a:srgbClr val="FFFF00"/>
                </a:solidFill>
              </a:rPr>
              <a:t>restrições</a:t>
            </a:r>
            <a:r>
              <a:rPr lang="pt-BR" dirty="0" smtClean="0"/>
              <a:t>; elas são empregadas para </a:t>
            </a:r>
            <a:r>
              <a:rPr lang="pt-BR" dirty="0" smtClean="0">
                <a:solidFill>
                  <a:srgbClr val="FFFF00"/>
                </a:solidFill>
              </a:rPr>
              <a:t>triar e excluir</a:t>
            </a:r>
            <a:r>
              <a:rPr lang="pt-BR" dirty="0" smtClean="0"/>
              <a:t> carros </a:t>
            </a:r>
            <a:r>
              <a:rPr lang="pt-BR" dirty="0" smtClean="0">
                <a:solidFill>
                  <a:srgbClr val="FFFF00"/>
                </a:solidFill>
              </a:rPr>
              <a:t>não adequados</a:t>
            </a:r>
            <a:r>
              <a:rPr lang="pt-BR" dirty="0" smtClean="0"/>
              <a:t>. Os </a:t>
            </a:r>
            <a:r>
              <a:rPr lang="pt-BR" dirty="0" smtClean="0">
                <a:solidFill>
                  <a:srgbClr val="FFFF00"/>
                </a:solidFill>
              </a:rPr>
              <a:t>sobreviventes</a:t>
            </a:r>
            <a:r>
              <a:rPr lang="pt-BR" dirty="0" smtClean="0"/>
              <a:t> são </a:t>
            </a:r>
            <a:r>
              <a:rPr lang="pt-BR" dirty="0" smtClean="0">
                <a:solidFill>
                  <a:srgbClr val="FFFF00"/>
                </a:solidFill>
              </a:rPr>
              <a:t>classificados por custo de propriedade</a:t>
            </a:r>
            <a:r>
              <a:rPr lang="pt-BR" dirty="0" smtClean="0">
                <a:solidFill>
                  <a:schemeClr val="tx1"/>
                </a:solidFill>
              </a:rPr>
              <a:t>.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3616" y="4796468"/>
            <a:ext cx="7585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Figura 5.3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626384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142999"/>
            <a:ext cx="6461448" cy="4110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5800" y="-76200"/>
            <a:ext cx="7772400" cy="1172289"/>
          </a:xfrm>
        </p:spPr>
        <p:txBody>
          <a:bodyPr/>
          <a:lstStyle/>
          <a:p>
            <a:r>
              <a:rPr lang="pt-BR" dirty="0" smtClean="0"/>
              <a:t>Escolhendo um Material</a:t>
            </a:r>
            <a:endParaRPr lang="pt-BR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76247" y="5486400"/>
            <a:ext cx="8191500" cy="1219201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dirty="0" err="1" smtClean="0">
                <a:solidFill>
                  <a:srgbClr val="FFFF00"/>
                </a:solidFill>
              </a:rPr>
              <a:t>Requisitos</a:t>
            </a:r>
            <a:r>
              <a:rPr lang="en-US" dirty="0" smtClean="0">
                <a:solidFill>
                  <a:srgbClr val="FFFF00"/>
                </a:solidFill>
              </a:rPr>
              <a:t> de </a:t>
            </a:r>
            <a:r>
              <a:rPr lang="en-US" dirty="0" err="1" smtClean="0">
                <a:solidFill>
                  <a:srgbClr val="FFFF00"/>
                </a:solidFill>
              </a:rPr>
              <a:t>projetos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expressos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FF00"/>
                </a:solidFill>
              </a:rPr>
              <a:t>primeiro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err="1" smtClean="0">
                <a:solidFill>
                  <a:srgbClr val="FFFF00"/>
                </a:solidFill>
              </a:rPr>
              <a:t>lugar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err="1" smtClean="0"/>
              <a:t>como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FF00"/>
                </a:solidFill>
              </a:rPr>
              <a:t>restrições</a:t>
            </a:r>
            <a:r>
              <a:rPr lang="en-US" dirty="0" smtClean="0"/>
              <a:t> e </a:t>
            </a:r>
            <a:r>
              <a:rPr lang="en-US" dirty="0" err="1" smtClean="0">
                <a:solidFill>
                  <a:srgbClr val="FFFF00"/>
                </a:solidFill>
              </a:rPr>
              <a:t>objetivos</a:t>
            </a:r>
            <a:r>
              <a:rPr lang="en-US" dirty="0" smtClean="0"/>
              <a:t>. As </a:t>
            </a:r>
            <a:r>
              <a:rPr lang="en-US" dirty="0" err="1" smtClean="0"/>
              <a:t>restrições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utilizadas</a:t>
            </a:r>
            <a:r>
              <a:rPr lang="en-US" dirty="0" smtClean="0"/>
              <a:t> para </a:t>
            </a:r>
            <a:r>
              <a:rPr lang="en-US" dirty="0" err="1" smtClean="0">
                <a:solidFill>
                  <a:srgbClr val="FFFF00"/>
                </a:solidFill>
              </a:rPr>
              <a:t>triagem</a:t>
            </a:r>
            <a:r>
              <a:rPr lang="en-US" dirty="0" smtClean="0"/>
              <a:t>.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FF00"/>
                </a:solidFill>
              </a:rPr>
              <a:t>sobreviventes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classificados</a:t>
            </a:r>
            <a:r>
              <a:rPr lang="en-US" dirty="0" smtClean="0"/>
              <a:t> </a:t>
            </a:r>
            <a:r>
              <a:rPr lang="en-US" dirty="0" err="1" smtClean="0"/>
              <a:t>pelos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FF00"/>
                </a:solidFill>
              </a:rPr>
              <a:t>objetivos</a:t>
            </a:r>
            <a:r>
              <a:rPr lang="en-US" dirty="0" smtClean="0"/>
              <a:t>, expresso </a:t>
            </a:r>
            <a:r>
              <a:rPr lang="en-US" dirty="0" err="1" smtClean="0"/>
              <a:t>como</a:t>
            </a:r>
            <a:r>
              <a:rPr lang="en-US" dirty="0" smtClean="0"/>
              <a:t> um </a:t>
            </a:r>
            <a:r>
              <a:rPr lang="en-US" dirty="0" err="1" smtClean="0">
                <a:solidFill>
                  <a:srgbClr val="FFFF00"/>
                </a:solidFill>
              </a:rPr>
              <a:t>índice</a:t>
            </a:r>
            <a:r>
              <a:rPr lang="en-US" dirty="0" smtClean="0">
                <a:solidFill>
                  <a:srgbClr val="FFFF00"/>
                </a:solidFill>
              </a:rPr>
              <a:t> de material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Edition, © 2010 Michael Ashby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41911" y="5253290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Figura 5.14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280447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76200" y="94408"/>
            <a:ext cx="8915400" cy="1470025"/>
          </a:xfrm>
        </p:spPr>
        <p:txBody>
          <a:bodyPr>
            <a:normAutofit/>
          </a:bodyPr>
          <a:lstStyle/>
          <a:p>
            <a:r>
              <a:rPr lang="en-US" sz="3600" dirty="0" err="1" smtClean="0"/>
              <a:t>Estratégia</a:t>
            </a:r>
            <a:r>
              <a:rPr lang="en-US" sz="3600" dirty="0" smtClean="0"/>
              <a:t> para </a:t>
            </a:r>
            <a:r>
              <a:rPr lang="en-US" sz="3600" dirty="0" err="1" smtClean="0"/>
              <a:t>Seleção</a:t>
            </a:r>
            <a:r>
              <a:rPr lang="en-US" sz="3600" dirty="0" smtClean="0"/>
              <a:t> de </a:t>
            </a:r>
            <a:r>
              <a:rPr lang="en-US" sz="3600" dirty="0" err="1" smtClean="0"/>
              <a:t>Materiais</a:t>
            </a:r>
            <a:endParaRPr lang="en-US" sz="3600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5029200" y="1981200"/>
            <a:ext cx="3581400" cy="1790700"/>
          </a:xfrm>
          <a:solidFill>
            <a:schemeClr val="accent5">
              <a:lumMod val="75000"/>
            </a:schemeClr>
          </a:solidFill>
        </p:spPr>
        <p:txBody>
          <a:bodyPr>
            <a:normAutofit fontScale="70000" lnSpcReduction="20000"/>
          </a:bodyPr>
          <a:lstStyle/>
          <a:p>
            <a:r>
              <a:rPr lang="en-US" dirty="0" err="1" smtClean="0">
                <a:solidFill>
                  <a:srgbClr val="FFFF00"/>
                </a:solidFill>
              </a:rPr>
              <a:t>Quatro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err="1" smtClean="0">
                <a:solidFill>
                  <a:srgbClr val="FFFF00"/>
                </a:solidFill>
              </a:rPr>
              <a:t>passos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dirty="0" err="1" smtClean="0">
                <a:solidFill>
                  <a:srgbClr val="FFFF00"/>
                </a:solidFill>
              </a:rPr>
              <a:t>principais</a:t>
            </a:r>
            <a:r>
              <a:rPr lang="en-US" dirty="0" smtClean="0">
                <a:solidFill>
                  <a:srgbClr val="FFFF00"/>
                </a:solidFill>
              </a:rPr>
              <a:t>:</a:t>
            </a:r>
          </a:p>
          <a:p>
            <a:r>
              <a:rPr lang="pt-BR" dirty="0" smtClean="0"/>
              <a:t>Tradução</a:t>
            </a:r>
            <a:endParaRPr lang="en-US" dirty="0" smtClean="0"/>
          </a:p>
          <a:p>
            <a:r>
              <a:rPr lang="en-US" dirty="0" err="1" smtClean="0"/>
              <a:t>Triagem</a:t>
            </a:r>
            <a:endParaRPr lang="en-US" dirty="0" smtClean="0"/>
          </a:p>
          <a:p>
            <a:r>
              <a:rPr lang="en-US" dirty="0" err="1" smtClean="0"/>
              <a:t>Classificação</a:t>
            </a:r>
            <a:endParaRPr lang="en-US" dirty="0" smtClean="0"/>
          </a:p>
          <a:p>
            <a:r>
              <a:rPr lang="en-US" dirty="0" err="1" smtClean="0"/>
              <a:t>Documentação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447601"/>
            <a:ext cx="3276600" cy="4818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49628" y="6265733"/>
            <a:ext cx="7585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Figura 5.5</a:t>
            </a:r>
            <a:endParaRPr lang="en-US" sz="1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313" y="1447600"/>
            <a:ext cx="3234887" cy="4818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44101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Translating Design Requirements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425558"/>
              </p:ext>
            </p:extLst>
          </p:nvPr>
        </p:nvGraphicFramePr>
        <p:xfrm>
          <a:off x="345681" y="1828800"/>
          <a:ext cx="8449526" cy="32156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87919"/>
                <a:gridCol w="6661607"/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pt-BR" dirty="0" smtClean="0"/>
                        <a:t>Tabela 5.1 – Função</a:t>
                      </a:r>
                      <a:r>
                        <a:rPr lang="pt-BR" baseline="0" dirty="0" smtClean="0"/>
                        <a:t>, Restrições, Objetivos e Variáveis livres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Função	</a:t>
                      </a:r>
                      <a:endParaRPr lang="en-US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O que o componente faz?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Restrições</a:t>
                      </a:r>
                      <a:endParaRPr lang="en-US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Quais são as condições não-negociáveis</a:t>
                      </a:r>
                      <a:r>
                        <a:rPr lang="pt-BR" baseline="0" dirty="0" smtClean="0"/>
                        <a:t>, porém desejáveis que eles devem cumprir?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Objetivo</a:t>
                      </a:r>
                      <a:endParaRPr lang="en-US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O que deve ser maximizado ou</a:t>
                      </a:r>
                      <a:r>
                        <a:rPr lang="pt-BR" baseline="0" dirty="0" smtClean="0"/>
                        <a:t> minimizado?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Variável</a:t>
                      </a:r>
                      <a:r>
                        <a:rPr lang="pt-BR" baseline="0" dirty="0" smtClean="0"/>
                        <a:t> Livre</a:t>
                      </a:r>
                      <a:endParaRPr lang="en-US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Quais são os parâmetros</a:t>
                      </a:r>
                      <a:r>
                        <a:rPr lang="pt-BR" baseline="0" dirty="0" smtClean="0"/>
                        <a:t> do problema que o projetista tem liberdade de mudar?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r>
                        <a:rPr lang="pt-BR" sz="1600" dirty="0" smtClean="0"/>
                        <a:t>Às</a:t>
                      </a:r>
                      <a:r>
                        <a:rPr lang="pt-BR" sz="1600" baseline="0" dirty="0" smtClean="0"/>
                        <a:t> vezes é útil distinguir entre restrições “absolutas” e “relativas”. Rigidez e resistência devem ser requisitos absolutos (restrições absolutas), custo pode ser negociável (restrição relativa)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22456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8" name="Grupo 7"/>
          <p:cNvGrpSpPr/>
          <p:nvPr/>
        </p:nvGrpSpPr>
        <p:grpSpPr>
          <a:xfrm>
            <a:off x="2637115" y="411870"/>
            <a:ext cx="3879527" cy="2589385"/>
            <a:chOff x="2637115" y="411870"/>
            <a:chExt cx="3879527" cy="2589385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7115" y="411870"/>
              <a:ext cx="3879527" cy="2343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4151230" y="2755034"/>
              <a:ext cx="8290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 smtClean="0"/>
                <a:t>Figura 5.14</a:t>
              </a:r>
              <a:endParaRPr lang="en-US" sz="1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9754739"/>
                  </p:ext>
                </p:extLst>
              </p:nvPr>
            </p:nvGraphicFramePr>
            <p:xfrm>
              <a:off x="609600" y="3200400"/>
              <a:ext cx="8229600" cy="3291840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82296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2400" dirty="0" smtClean="0">
                              <a:solidFill>
                                <a:srgbClr val="FFFF00"/>
                              </a:solidFill>
                            </a:rPr>
                            <a:t>Requisitos</a:t>
                          </a:r>
                          <a:r>
                            <a:rPr lang="pt-BR" sz="2400" baseline="0" dirty="0" smtClean="0">
                              <a:solidFill>
                                <a:srgbClr val="FFFF00"/>
                              </a:solidFill>
                            </a:rPr>
                            <a:t> de projeto para o visor do capacete</a:t>
                          </a:r>
                        </a:p>
                        <a:p>
                          <a:r>
                            <a:rPr lang="pt-BR" dirty="0" smtClean="0"/>
                            <a:t>Precisa-se de um material para o visor</a:t>
                          </a:r>
                          <a:r>
                            <a:rPr lang="pt-BR" baseline="0" dirty="0" smtClean="0"/>
                            <a:t> de um capacete de segurança </a:t>
                          </a:r>
                          <a:r>
                            <a:rPr lang="pt-BR" baseline="0" dirty="0" err="1" smtClean="0"/>
                            <a:t>oara</a:t>
                          </a:r>
                          <a:r>
                            <a:rPr lang="pt-BR" baseline="0" dirty="0" smtClean="0"/>
                            <a:t> dar máxima proteção ao rosto.</a:t>
                          </a:r>
                          <a:br>
                            <a:rPr lang="pt-BR" baseline="0" dirty="0" smtClean="0"/>
                          </a:br>
                          <a:r>
                            <a:rPr lang="pt-BR" sz="2400" baseline="0" dirty="0" smtClean="0">
                              <a:solidFill>
                                <a:srgbClr val="FFFF00"/>
                              </a:solidFill>
                            </a:rPr>
                            <a:t>Tradução</a:t>
                          </a:r>
                        </a:p>
                        <a:p>
                          <a:r>
                            <a:rPr lang="pt-BR" sz="1800" baseline="0" dirty="0" smtClean="0">
                              <a:solidFill>
                                <a:schemeClr val="tx1"/>
                              </a:solidFill>
                            </a:rPr>
                            <a:t>Para permitir </a:t>
                          </a:r>
                          <a:r>
                            <a:rPr lang="pt-BR" sz="1800" baseline="0" dirty="0" smtClean="0">
                              <a:solidFill>
                                <a:srgbClr val="FFFF00"/>
                              </a:solidFill>
                            </a:rPr>
                            <a:t>clara visão</a:t>
                          </a:r>
                          <a:r>
                            <a:rPr lang="pt-BR" sz="1800" baseline="0" dirty="0" smtClean="0">
                              <a:solidFill>
                                <a:schemeClr val="tx1"/>
                              </a:solidFill>
                            </a:rPr>
                            <a:t> deve ser oticamente </a:t>
                          </a:r>
                          <a:r>
                            <a:rPr lang="pt-BR" sz="1800" baseline="0" dirty="0" smtClean="0">
                              <a:solidFill>
                                <a:srgbClr val="FFFF00"/>
                              </a:solidFill>
                            </a:rPr>
                            <a:t>transparente</a:t>
                          </a:r>
                          <a:r>
                            <a:rPr lang="pt-BR" sz="1800" baseline="0" dirty="0" smtClean="0">
                              <a:solidFill>
                                <a:schemeClr val="tx1"/>
                              </a:solidFill>
                            </a:rPr>
                            <a:t>. Para proteger o rosto pela frente, pelos lados e por baixo, tem de ser </a:t>
                          </a:r>
                          <a:r>
                            <a:rPr lang="pt-BR" sz="1800" baseline="0" dirty="0" smtClean="0">
                              <a:solidFill>
                                <a:srgbClr val="FFFF00"/>
                              </a:solidFill>
                            </a:rPr>
                            <a:t>duplamente curvado</a:t>
                          </a:r>
                          <a:r>
                            <a:rPr lang="pt-BR" sz="1800" baseline="0" dirty="0" smtClean="0">
                              <a:solidFill>
                                <a:schemeClr val="tx1"/>
                              </a:solidFill>
                            </a:rPr>
                            <a:t>, o que exige que o </a:t>
                          </a:r>
                          <a:r>
                            <a:rPr lang="pt-BR" sz="1800" baseline="0" dirty="0" smtClean="0">
                              <a:solidFill>
                                <a:srgbClr val="FFFF00"/>
                              </a:solidFill>
                            </a:rPr>
                            <a:t>material seja moldável</a:t>
                          </a:r>
                          <a:r>
                            <a:rPr lang="pt-BR" sz="1800" baseline="0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  <a:p>
                          <a:r>
                            <a:rPr lang="pt-BR" sz="1800" baseline="0" dirty="0" smtClean="0">
                              <a:solidFill>
                                <a:schemeClr val="tx1"/>
                              </a:solidFill>
                            </a:rPr>
                            <a:t>A fratura do visor exporia o rosto a dano; portanto, </a:t>
                          </a:r>
                          <a:r>
                            <a:rPr lang="pt-BR" sz="1800" baseline="0" dirty="0" smtClean="0">
                              <a:solidFill>
                                <a:srgbClr val="FFFF00"/>
                              </a:solidFill>
                            </a:rPr>
                            <a:t>maximizar a segurança</a:t>
                          </a:r>
                          <a:r>
                            <a:rPr lang="pt-BR" sz="1800" baseline="0" dirty="0" smtClean="0">
                              <a:solidFill>
                                <a:schemeClr val="tx1"/>
                              </a:solidFill>
                            </a:rPr>
                            <a:t> traduz-se em maximizar a </a:t>
                          </a:r>
                          <a:r>
                            <a:rPr lang="pt-BR" sz="1800" baseline="0" dirty="0" smtClean="0">
                              <a:solidFill>
                                <a:srgbClr val="FFFF00"/>
                              </a:solidFill>
                            </a:rPr>
                            <a:t>resistência à fratura</a:t>
                          </a:r>
                          <a:r>
                            <a:rPr lang="pt-BR" sz="1800" baseline="0" dirty="0" smtClean="0">
                              <a:solidFill>
                                <a:schemeClr val="tx1"/>
                              </a:solidFill>
                            </a:rPr>
                            <a:t>. Propriedade do material que mede a resistência a fratura é a </a:t>
                          </a:r>
                          <a:r>
                            <a:rPr lang="pt-BR" sz="1800" baseline="0" dirty="0" smtClean="0">
                              <a:solidFill>
                                <a:srgbClr val="FFFF00"/>
                              </a:solidFill>
                            </a:rPr>
                            <a:t>tenacidade à fratura</a:t>
                          </a:r>
                          <a:r>
                            <a:rPr lang="pt-BR" sz="1800" baseline="0" dirty="0" smtClean="0">
                              <a:solidFill>
                                <a:schemeClr val="tx1"/>
                              </a:solidFill>
                            </a:rPr>
                            <a:t>, </a:t>
                          </a:r>
                          <a14:m/>
                          <a:r>
                            <a:rPr lang="pt-BR" sz="1800" baseline="0" dirty="0" smtClean="0">
                              <a:solidFill>
                                <a:schemeClr val="tx1"/>
                              </a:solidFill>
                            </a:rPr>
                            <a:t>. Portanto, o objetivo é </a:t>
                          </a:r>
                          <a:r>
                            <a:rPr lang="pt-BR" sz="1800" baseline="0" dirty="0" smtClean="0">
                              <a:solidFill>
                                <a:srgbClr val="FFFF00"/>
                              </a:solidFill>
                            </a:rPr>
                            <a:t>maximizar </a:t>
                          </a:r>
                          <a14:m/>
                          <a:r>
                            <a:rPr lang="pt-BR" sz="1800" baseline="0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9754739"/>
                  </p:ext>
                </p:extLst>
              </p:nvPr>
            </p:nvGraphicFramePr>
            <p:xfrm>
              <a:off x="609600" y="3200400"/>
              <a:ext cx="8229600" cy="3291840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8229600"/>
                  </a:tblGrid>
                  <a:tr h="3291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t="-1296" b="-296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747869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a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1493522"/>
                  </p:ext>
                </p:extLst>
              </p:nvPr>
            </p:nvGraphicFramePr>
            <p:xfrm>
              <a:off x="381000" y="228600"/>
              <a:ext cx="8229600" cy="2804160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3581400"/>
                    <a:gridCol w="4648200"/>
                  </a:tblGrid>
                  <a:tr h="370840">
                    <a:tc gridSpan="2"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rgbClr val="FFFF00"/>
                              </a:solidFill>
                            </a:rPr>
                            <a:t>Triagem e classificação</a:t>
                          </a:r>
                          <a:r>
                            <a:rPr lang="pt-BR" sz="1400" baseline="0" dirty="0" smtClean="0">
                              <a:solidFill>
                                <a:srgbClr val="FFFF00"/>
                              </a:solidFill>
                            </a:rPr>
                            <a:t> do capacete</a:t>
                          </a:r>
                        </a:p>
                        <a:p>
                          <a:r>
                            <a:rPr lang="pt-BR" sz="1200" baseline="0" dirty="0" smtClean="0"/>
                            <a:t>Uma busca por materiais transparentes que pode ser moldados resulta na lista a seguir. Os quatro primeiros são termoplásticos; os dois últimos vidros. Os valores de tenacidade à fratura podem ser encontrados no apêndice A.</a:t>
                          </a:r>
                        </a:p>
                        <a:p>
                          <a:endParaRPr lang="pt-BR" sz="1200" baseline="0" dirty="0" smtClean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400" b="1" baseline="0" dirty="0" smtClean="0">
                              <a:solidFill>
                                <a:srgbClr val="FFFF00"/>
                              </a:solidFill>
                            </a:rPr>
                            <a:t>Material</a:t>
                          </a:r>
                        </a:p>
                        <a:p>
                          <a:endParaRPr lang="pt-BR" sz="1200" baseline="0" dirty="0" smtClean="0"/>
                        </a:p>
                        <a:p>
                          <a:endParaRPr lang="pt-BR" sz="1200" baseline="0" dirty="0" smtClean="0"/>
                        </a:p>
                        <a:p>
                          <a:r>
                            <a:rPr lang="pt-BR" sz="1200" baseline="0" dirty="0" smtClean="0"/>
                            <a:t>Policarbonato (PC)</a:t>
                          </a:r>
                        </a:p>
                        <a:p>
                          <a:r>
                            <a:rPr lang="pt-BR" sz="1200" baseline="0" dirty="0" smtClean="0"/>
                            <a:t>Acetato de celulose (AC)</a:t>
                          </a:r>
                        </a:p>
                        <a:p>
                          <a:r>
                            <a:rPr lang="pt-BR" sz="1200" baseline="0" dirty="0" err="1" smtClean="0"/>
                            <a:t>Polimetilacrilato</a:t>
                          </a:r>
                          <a:r>
                            <a:rPr lang="pt-BR" sz="1200" baseline="0" dirty="0" smtClean="0"/>
                            <a:t> (acrílico, PMMA)</a:t>
                          </a:r>
                        </a:p>
                        <a:p>
                          <a:r>
                            <a:rPr lang="pt-BR" sz="1200" baseline="0" dirty="0" smtClean="0"/>
                            <a:t>Poliestireno (PS)</a:t>
                          </a:r>
                        </a:p>
                        <a:p>
                          <a:r>
                            <a:rPr lang="pt-BR" sz="1200" baseline="0" dirty="0" smtClean="0"/>
                            <a:t>Vidro de cal soda</a:t>
                          </a:r>
                        </a:p>
                        <a:p>
                          <a:r>
                            <a:rPr lang="pt-BR" sz="1200" baseline="0" dirty="0" smtClean="0"/>
                            <a:t>Vidro de </a:t>
                          </a:r>
                          <a:r>
                            <a:rPr lang="pt-BR" sz="1200" baseline="0" dirty="0" err="1" smtClean="0"/>
                            <a:t>borossilicato</a:t>
                          </a:r>
                          <a:endParaRPr lang="pt-BR" sz="1200" baseline="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b="1" baseline="0" dirty="0" smtClean="0">
                              <a:solidFill>
                                <a:srgbClr val="FFFF00"/>
                              </a:solidFill>
                            </a:rPr>
                            <a:t>Tenacidade à Fratura média </a:t>
                          </a:r>
                          <a14:m/>
                          <a:r>
                            <a:rPr lang="pt-BR" sz="1400" b="1" baseline="0" dirty="0" smtClean="0">
                              <a:solidFill>
                                <a:srgbClr val="FFFF00"/>
                              </a:solidFill>
                            </a:rPr>
                            <a:t> </a:t>
                          </a:r>
                        </a:p>
                        <a:p>
                          <a:endParaRPr lang="pt-BR" sz="1200" baseline="0" dirty="0" smtClean="0">
                            <a:solidFill>
                              <a:srgbClr val="FFFF00"/>
                            </a:solidFill>
                          </a:endParaRPr>
                        </a:p>
                        <a:p>
                          <a:pPr algn="ctr"/>
                          <a:r>
                            <a:rPr lang="pt-BR" sz="1200" b="1" baseline="0" dirty="0" smtClean="0">
                              <a:solidFill>
                                <a:srgbClr val="FFFF00"/>
                              </a:solidFill>
                            </a:rPr>
                            <a:t>3,4</a:t>
                          </a:r>
                        </a:p>
                        <a:p>
                          <a:pPr algn="ctr"/>
                          <a:r>
                            <a:rPr lang="pt-BR" sz="1200" b="1" baseline="0" dirty="0" smtClean="0">
                              <a:solidFill>
                                <a:srgbClr val="FFFF00"/>
                              </a:solidFill>
                            </a:rPr>
                            <a:t>1,7</a:t>
                          </a:r>
                        </a:p>
                        <a:p>
                          <a:pPr algn="ctr"/>
                          <a:r>
                            <a:rPr lang="pt-BR" sz="1200" b="1" baseline="0" dirty="0" smtClean="0">
                              <a:solidFill>
                                <a:srgbClr val="FFFF00"/>
                              </a:solidFill>
                            </a:rPr>
                            <a:t>1,2</a:t>
                          </a:r>
                        </a:p>
                        <a:p>
                          <a:pPr algn="ctr"/>
                          <a:r>
                            <a:rPr lang="pt-BR" sz="1200" b="1" baseline="0" dirty="0" smtClean="0">
                              <a:solidFill>
                                <a:srgbClr val="FFFF00"/>
                              </a:solidFill>
                            </a:rPr>
                            <a:t>0,9</a:t>
                          </a:r>
                        </a:p>
                        <a:p>
                          <a:pPr algn="ctr"/>
                          <a:r>
                            <a:rPr lang="pt-BR" sz="1200" b="1" baseline="0" dirty="0" smtClean="0">
                              <a:solidFill>
                                <a:srgbClr val="FFFF00"/>
                              </a:solidFill>
                            </a:rPr>
                            <a:t>0,6</a:t>
                          </a:r>
                        </a:p>
                        <a:p>
                          <a:pPr algn="ctr"/>
                          <a:r>
                            <a:rPr lang="pt-BR" sz="1200" b="1" baseline="0" dirty="0" smtClean="0">
                              <a:solidFill>
                                <a:srgbClr val="FFFF00"/>
                              </a:solidFill>
                            </a:rPr>
                            <a:t>0,6</a:t>
                          </a: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a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1493522"/>
                  </p:ext>
                </p:extLst>
              </p:nvPr>
            </p:nvGraphicFramePr>
            <p:xfrm>
              <a:off x="381000" y="228600"/>
              <a:ext cx="8229600" cy="2804160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3581400"/>
                    <a:gridCol w="4648200"/>
                  </a:tblGrid>
                  <a:tr h="1036320">
                    <a:tc gridSpan="2"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rgbClr val="FFFF00"/>
                              </a:solidFill>
                            </a:rPr>
                            <a:t>Triagem e classificação</a:t>
                          </a:r>
                          <a:r>
                            <a:rPr lang="pt-BR" sz="1400" baseline="0" dirty="0" smtClean="0">
                              <a:solidFill>
                                <a:srgbClr val="FFFF00"/>
                              </a:solidFill>
                            </a:rPr>
                            <a:t> do capacete</a:t>
                          </a:r>
                        </a:p>
                        <a:p>
                          <a:r>
                            <a:rPr lang="pt-BR" sz="1200" baseline="0" dirty="0" smtClean="0"/>
                            <a:t>Uma busca por materiais transparentes que pode ser moldados resulta na lista a seguir. Os quatro primeiros são termoplásticos; os dois últimos vidros. Os valores de tenacidade à fratura podem ser encontrados no apêndice A.</a:t>
                          </a:r>
                        </a:p>
                        <a:p>
                          <a:endParaRPr lang="pt-BR" sz="1200" baseline="0" dirty="0" smtClean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1767840">
                    <a:tc>
                      <a:txBody>
                        <a:bodyPr/>
                        <a:lstStyle/>
                        <a:p>
                          <a:r>
                            <a:rPr lang="pt-BR" sz="1400" b="1" baseline="0" dirty="0" smtClean="0">
                              <a:solidFill>
                                <a:srgbClr val="FFFF00"/>
                              </a:solidFill>
                            </a:rPr>
                            <a:t>Material</a:t>
                          </a:r>
                        </a:p>
                        <a:p>
                          <a:endParaRPr lang="pt-BR" sz="1200" baseline="0" dirty="0" smtClean="0"/>
                        </a:p>
                        <a:p>
                          <a:endParaRPr lang="pt-BR" sz="1200" baseline="0" dirty="0" smtClean="0"/>
                        </a:p>
                        <a:p>
                          <a:r>
                            <a:rPr lang="pt-BR" sz="1200" baseline="0" dirty="0" smtClean="0"/>
                            <a:t>Policarbonato (PC)</a:t>
                          </a:r>
                        </a:p>
                        <a:p>
                          <a:r>
                            <a:rPr lang="pt-BR" sz="1200" baseline="0" dirty="0" smtClean="0"/>
                            <a:t>Acetato de celulose (AC)</a:t>
                          </a:r>
                        </a:p>
                        <a:p>
                          <a:r>
                            <a:rPr lang="pt-BR" sz="1200" baseline="0" dirty="0" err="1" smtClean="0"/>
                            <a:t>Polimetilacrilato</a:t>
                          </a:r>
                          <a:r>
                            <a:rPr lang="pt-BR" sz="1200" baseline="0" dirty="0" smtClean="0"/>
                            <a:t> (acrílico, PMMA)</a:t>
                          </a:r>
                        </a:p>
                        <a:p>
                          <a:r>
                            <a:rPr lang="pt-BR" sz="1200" baseline="0" dirty="0" smtClean="0"/>
                            <a:t>Poliestireno (PS)</a:t>
                          </a:r>
                        </a:p>
                        <a:p>
                          <a:r>
                            <a:rPr lang="pt-BR" sz="1200" baseline="0" dirty="0" smtClean="0"/>
                            <a:t>Vidro de cal soda</a:t>
                          </a:r>
                        </a:p>
                        <a:p>
                          <a:r>
                            <a:rPr lang="pt-BR" sz="1200" baseline="0" dirty="0" smtClean="0"/>
                            <a:t>Vidro de </a:t>
                          </a:r>
                          <a:r>
                            <a:rPr lang="pt-BR" sz="1200" baseline="0" dirty="0" err="1" smtClean="0"/>
                            <a:t>borossilicato</a:t>
                          </a:r>
                          <a:endParaRPr lang="pt-BR" sz="1200" baseline="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7297" t="-58966" b="-206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287811"/>
              </p:ext>
            </p:extLst>
          </p:nvPr>
        </p:nvGraphicFramePr>
        <p:xfrm>
          <a:off x="381000" y="3200400"/>
          <a:ext cx="8229600" cy="3322319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8229600"/>
              </a:tblGrid>
              <a:tr h="1056640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rgbClr val="FFFF00"/>
                          </a:solidFill>
                        </a:rPr>
                        <a:t>Documentação</a:t>
                      </a:r>
                      <a:r>
                        <a:rPr lang="pt-BR" sz="1400" baseline="0" dirty="0" smtClean="0">
                          <a:solidFill>
                            <a:srgbClr val="FFFF00"/>
                          </a:solidFill>
                        </a:rPr>
                        <a:t> para materiais do visor do capacete</a:t>
                      </a:r>
                    </a:p>
                    <a:p>
                      <a:r>
                        <a:rPr lang="pt-BR" sz="1200" baseline="0" dirty="0" smtClean="0"/>
                        <a:t>Neste ponto ajuda saber como os três candidatos mais bem-classificados na lista do último retângulo de exemplos são usados. Uma rápida consulta à web revela o seguinte.</a:t>
                      </a:r>
                    </a:p>
                    <a:p>
                      <a:r>
                        <a:rPr lang="pt-BR" sz="1400" baseline="0" dirty="0" smtClean="0">
                          <a:solidFill>
                            <a:srgbClr val="FFFF00"/>
                          </a:solidFill>
                        </a:rPr>
                        <a:t>Policarbonato</a:t>
                      </a:r>
                    </a:p>
                    <a:p>
                      <a:r>
                        <a:rPr lang="pt-BR" sz="1200" baseline="0" dirty="0" smtClean="0"/>
                        <a:t>Escudos e óculos de segurança; lentes; acessórios leves; capacetes de segurança; chapas laminadas para vitrificados à prova de bala.</a:t>
                      </a:r>
                    </a:p>
                    <a:p>
                      <a:r>
                        <a:rPr lang="pt-BR" sz="1400" baseline="0" dirty="0" smtClean="0">
                          <a:solidFill>
                            <a:srgbClr val="FFFF00"/>
                          </a:solidFill>
                        </a:rPr>
                        <a:t>Acetato de celulose</a:t>
                      </a:r>
                    </a:p>
                    <a:p>
                      <a:r>
                        <a:rPr lang="pt-BR" sz="1200" baseline="0" dirty="0" smtClean="0"/>
                        <a:t>Armação de óculos; lentes; óculos de segurança; cabos de ferramentas; capas para telas de televisão; acabamentos decorativos, volantes de automóveis</a:t>
                      </a:r>
                    </a:p>
                    <a:p>
                      <a:r>
                        <a:rPr lang="pt-BR" sz="1400" baseline="0" dirty="0" smtClean="0">
                          <a:solidFill>
                            <a:srgbClr val="FFFF00"/>
                          </a:solidFill>
                        </a:rPr>
                        <a:t>PMMA, </a:t>
                      </a:r>
                      <a:r>
                        <a:rPr lang="pt-BR" sz="1400" baseline="0" dirty="0" err="1" smtClean="0">
                          <a:solidFill>
                            <a:srgbClr val="FFFF00"/>
                          </a:solidFill>
                        </a:rPr>
                        <a:t>Plexiglas</a:t>
                      </a:r>
                      <a:endParaRPr lang="pt-BR" sz="1400" baseline="0" dirty="0" smtClean="0">
                        <a:solidFill>
                          <a:srgbClr val="FFFF00"/>
                        </a:solidFill>
                      </a:endParaRPr>
                    </a:p>
                    <a:p>
                      <a:r>
                        <a:rPr lang="pt-BR" sz="1200" baseline="0" dirty="0" smtClean="0"/>
                        <a:t>Lentes de todos os tipos; capotas de carlinga e janelas de aeronaves; recipientes; cabos de ferramentas; óculos de segurança; iluminação, lanternas traseiras de automóveis.</a:t>
                      </a:r>
                    </a:p>
                    <a:p>
                      <a:endParaRPr lang="pt-BR" sz="1200" baseline="0" dirty="0" smtClean="0"/>
                    </a:p>
                    <a:p>
                      <a:r>
                        <a:rPr lang="pt-BR" sz="1200" baseline="0" dirty="0" smtClean="0"/>
                        <a:t>Isso é encorajador: Os três materiais tem um histórico de utilização para óculos e escudo de proteção. O que está classificado no posto mais alto da nossa lista – </a:t>
                      </a:r>
                      <a:r>
                        <a:rPr lang="pt-BR" sz="1200" baseline="0" dirty="0" smtClean="0">
                          <a:solidFill>
                            <a:srgbClr val="FFFF00"/>
                          </a:solidFill>
                        </a:rPr>
                        <a:t>policarbonato</a:t>
                      </a:r>
                      <a:r>
                        <a:rPr lang="pt-BR" sz="1200" baseline="0" dirty="0" smtClean="0"/>
                        <a:t> – tem um </a:t>
                      </a:r>
                      <a:r>
                        <a:rPr lang="pt-BR" sz="1200" baseline="0" dirty="0" smtClean="0">
                          <a:solidFill>
                            <a:srgbClr val="FFFF00"/>
                          </a:solidFill>
                        </a:rPr>
                        <a:t>histórico de utilização  para capacetes de proteção</a:t>
                      </a:r>
                      <a:r>
                        <a:rPr lang="pt-BR" sz="1200" baseline="0" dirty="0" smtClean="0"/>
                        <a:t>. Selecionamos esse material, confiantes de que sua </a:t>
                      </a:r>
                      <a:r>
                        <a:rPr lang="pt-BR" sz="1200" baseline="0" dirty="0" smtClean="0">
                          <a:solidFill>
                            <a:srgbClr val="FFFF00"/>
                          </a:solidFill>
                        </a:rPr>
                        <a:t>alta tenacidade à fratura é a melhor escolha</a:t>
                      </a:r>
                      <a:r>
                        <a:rPr lang="pt-BR" sz="1200" baseline="0" dirty="0" smtClean="0"/>
                        <a:t>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93418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533400"/>
            <a:ext cx="7772400" cy="1470025"/>
          </a:xfrm>
        </p:spPr>
        <p:txBody>
          <a:bodyPr/>
          <a:lstStyle/>
          <a:p>
            <a:r>
              <a:rPr lang="pt-BR" dirty="0" smtClean="0"/>
              <a:t>Índices de Material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1981200"/>
            <a:ext cx="6400800" cy="1752600"/>
          </a:xfrm>
        </p:spPr>
        <p:txBody>
          <a:bodyPr>
            <a:normAutofit fontScale="92500" lnSpcReduction="10000"/>
          </a:bodyPr>
          <a:lstStyle/>
          <a:p>
            <a:r>
              <a:rPr lang="pt-BR" dirty="0" err="1" smtClean="0">
                <a:solidFill>
                  <a:srgbClr val="FFFF00"/>
                </a:solidFill>
              </a:rPr>
              <a:t>Resitrções</a:t>
            </a:r>
            <a:r>
              <a:rPr lang="pt-BR" dirty="0" smtClean="0"/>
              <a:t> determinam </a:t>
            </a:r>
            <a:r>
              <a:rPr lang="pt-BR" dirty="0" smtClean="0">
                <a:solidFill>
                  <a:srgbClr val="FFFF00"/>
                </a:solidFill>
              </a:rPr>
              <a:t>limites de propriedades</a:t>
            </a:r>
            <a:r>
              <a:rPr lang="pt-BR" dirty="0" smtClean="0"/>
              <a:t>. </a:t>
            </a:r>
            <a:r>
              <a:rPr lang="pt-BR" dirty="0" smtClean="0">
                <a:solidFill>
                  <a:srgbClr val="FFFF00"/>
                </a:solidFill>
              </a:rPr>
              <a:t>Objetivos</a:t>
            </a:r>
            <a:r>
              <a:rPr lang="pt-BR" dirty="0" smtClean="0"/>
              <a:t> definem </a:t>
            </a:r>
            <a:r>
              <a:rPr lang="pt-BR" dirty="0" smtClean="0">
                <a:solidFill>
                  <a:srgbClr val="FFFF00"/>
                </a:solidFill>
              </a:rPr>
              <a:t>índices de materiais</a:t>
            </a:r>
            <a:r>
              <a:rPr lang="pt-BR" dirty="0" smtClean="0"/>
              <a:t>, para os quais se procuram </a:t>
            </a:r>
            <a:r>
              <a:rPr lang="pt-BR" dirty="0" smtClean="0">
                <a:solidFill>
                  <a:srgbClr val="FFFF00"/>
                </a:solidFill>
              </a:rPr>
              <a:t>valores extremos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345819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800"/>
            <a:ext cx="7803532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7" name="Subtitle 4"/>
          <p:cNvSpPr>
            <a:spLocks noGrp="1"/>
          </p:cNvSpPr>
          <p:nvPr>
            <p:ph type="subTitle" idx="1"/>
          </p:nvPr>
        </p:nvSpPr>
        <p:spPr>
          <a:xfrm>
            <a:off x="533400" y="4572000"/>
            <a:ext cx="7803532" cy="175260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b="1" dirty="0" smtClean="0">
                <a:solidFill>
                  <a:srgbClr val="FFFF00"/>
                </a:solidFill>
              </a:rPr>
              <a:t>FIGURA 5.6</a:t>
            </a:r>
          </a:p>
          <a:p>
            <a:pPr algn="just"/>
            <a:r>
              <a:rPr lang="pt-BR" dirty="0" smtClean="0">
                <a:solidFill>
                  <a:srgbClr val="FFFF00"/>
                </a:solidFill>
              </a:rPr>
              <a:t>Componentes genéricos</a:t>
            </a:r>
            <a:r>
              <a:rPr lang="pt-BR" dirty="0" smtClean="0"/>
              <a:t>: (a) um </a:t>
            </a:r>
            <a:r>
              <a:rPr lang="pt-BR" dirty="0" smtClean="0">
                <a:solidFill>
                  <a:srgbClr val="FFFF00"/>
                </a:solidFill>
              </a:rPr>
              <a:t>tirante</a:t>
            </a:r>
            <a:r>
              <a:rPr lang="pt-BR" dirty="0" smtClean="0"/>
              <a:t>, um componente </a:t>
            </a:r>
            <a:r>
              <a:rPr lang="pt-BR" dirty="0" smtClean="0">
                <a:solidFill>
                  <a:srgbClr val="FFFF00"/>
                </a:solidFill>
              </a:rPr>
              <a:t>sob tração</a:t>
            </a:r>
            <a:r>
              <a:rPr lang="pt-BR" dirty="0" smtClean="0"/>
              <a:t>; (b) um </a:t>
            </a:r>
            <a:r>
              <a:rPr lang="pt-BR" dirty="0" smtClean="0">
                <a:solidFill>
                  <a:srgbClr val="FFFF00"/>
                </a:solidFill>
              </a:rPr>
              <a:t>painel</a:t>
            </a:r>
            <a:r>
              <a:rPr lang="pt-BR" dirty="0" smtClean="0"/>
              <a:t>, carregado </a:t>
            </a:r>
            <a:r>
              <a:rPr lang="pt-BR" dirty="0" smtClean="0">
                <a:solidFill>
                  <a:srgbClr val="FFFF00"/>
                </a:solidFill>
              </a:rPr>
              <a:t>sob flexão</a:t>
            </a:r>
            <a:r>
              <a:rPr lang="pt-BR" dirty="0" smtClean="0"/>
              <a:t>; (c) e (d) </a:t>
            </a:r>
            <a:r>
              <a:rPr lang="pt-BR" dirty="0" smtClean="0">
                <a:solidFill>
                  <a:srgbClr val="FFFF00"/>
                </a:solidFill>
              </a:rPr>
              <a:t>vigas</a:t>
            </a:r>
            <a:r>
              <a:rPr lang="pt-BR" dirty="0" smtClean="0"/>
              <a:t>, carregadas </a:t>
            </a:r>
            <a:r>
              <a:rPr lang="pt-BR" dirty="0" smtClean="0">
                <a:solidFill>
                  <a:srgbClr val="FFFF00"/>
                </a:solidFill>
              </a:rPr>
              <a:t>sob flexão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91601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-23327"/>
            <a:ext cx="7772400" cy="1470025"/>
          </a:xfrm>
        </p:spPr>
        <p:txBody>
          <a:bodyPr/>
          <a:lstStyle/>
          <a:p>
            <a:r>
              <a:rPr lang="pt-BR" dirty="0" smtClean="0"/>
              <a:t>Minimizar massa: </a:t>
            </a:r>
            <a:br>
              <a:rPr lang="pt-BR" dirty="0" smtClean="0"/>
            </a:br>
            <a:r>
              <a:rPr lang="pt-BR" b="0" dirty="0" smtClean="0">
                <a:solidFill>
                  <a:schemeClr val="tx1"/>
                </a:solidFill>
              </a:rPr>
              <a:t>Um tirante leve e forte</a:t>
            </a:r>
            <a:endParaRPr lang="pt-BR" b="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692" y="5448282"/>
            <a:ext cx="1852613" cy="920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371600" y="3706568"/>
            <a:ext cx="6400800" cy="1752600"/>
          </a:xfrm>
        </p:spPr>
        <p:txBody>
          <a:bodyPr>
            <a:normAutofit/>
          </a:bodyPr>
          <a:lstStyle/>
          <a:p>
            <a:r>
              <a:rPr lang="pt-BR" dirty="0" smtClean="0">
                <a:solidFill>
                  <a:srgbClr val="FFFF00"/>
                </a:solidFill>
              </a:rPr>
              <a:t>Função Objetivo</a:t>
            </a:r>
            <a:r>
              <a:rPr lang="pt-BR" dirty="0" smtClean="0"/>
              <a:t>: Equação descreve a quantidade a ser </a:t>
            </a:r>
            <a:r>
              <a:rPr lang="pt-BR" dirty="0" smtClean="0">
                <a:solidFill>
                  <a:srgbClr val="FFFF00"/>
                </a:solidFill>
              </a:rPr>
              <a:t>maximizada</a:t>
            </a:r>
            <a:r>
              <a:rPr lang="pt-BR" dirty="0" smtClean="0"/>
              <a:t> ou </a:t>
            </a:r>
            <a:r>
              <a:rPr lang="pt-BR" dirty="0" smtClean="0">
                <a:solidFill>
                  <a:srgbClr val="FFFF00"/>
                </a:solidFill>
              </a:rPr>
              <a:t>minimizada</a:t>
            </a:r>
            <a:r>
              <a:rPr lang="pt-BR" dirty="0" smtClean="0"/>
              <a:t>.</a:t>
            </a:r>
            <a:endParaRPr lang="pt-BR" dirty="0"/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260397"/>
              </p:ext>
            </p:extLst>
          </p:nvPr>
        </p:nvGraphicFramePr>
        <p:xfrm>
          <a:off x="347235" y="1478280"/>
          <a:ext cx="8449526" cy="214883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87919"/>
                <a:gridCol w="6661607"/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pt-BR" sz="1200" dirty="0" smtClean="0"/>
                        <a:t>Tabela 5.1 – Função</a:t>
                      </a:r>
                      <a:r>
                        <a:rPr lang="pt-BR" sz="1200" baseline="0" dirty="0" smtClean="0"/>
                        <a:t>, Restrições, Objetivos e Variáveis livres</a:t>
                      </a:r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Função	</a:t>
                      </a:r>
                      <a:endParaRPr 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Tirante de União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Restrições</a:t>
                      </a:r>
                      <a:endParaRPr 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Comprimento</a:t>
                      </a:r>
                      <a:r>
                        <a:rPr lang="pt-BR" sz="1400" baseline="0" dirty="0" smtClean="0"/>
                        <a:t> </a:t>
                      </a:r>
                      <a:r>
                        <a:rPr lang="pt-BR" sz="1400" i="1" baseline="0" dirty="0" smtClean="0"/>
                        <a:t>L</a:t>
                      </a:r>
                      <a:r>
                        <a:rPr lang="pt-BR" sz="1400" baseline="0" dirty="0" smtClean="0"/>
                        <a:t> é especificado (restrições geométricas)</a:t>
                      </a:r>
                    </a:p>
                    <a:p>
                      <a:r>
                        <a:rPr lang="pt-BR" sz="1400" baseline="0" dirty="0" smtClean="0"/>
                        <a:t>O tirante deve suportar a carga axial </a:t>
                      </a:r>
                      <a:r>
                        <a:rPr lang="pt-BR" sz="1400" i="1" baseline="0" dirty="0" smtClean="0"/>
                        <a:t>F</a:t>
                      </a:r>
                      <a:r>
                        <a:rPr lang="pt-BR" sz="1400" baseline="0" dirty="0" smtClean="0"/>
                        <a:t>* sem falhar (restrição funcional)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Objetivo</a:t>
                      </a:r>
                      <a:endParaRPr 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Minimizar a massa </a:t>
                      </a:r>
                      <a:r>
                        <a:rPr lang="pt-BR" sz="1400" i="1" dirty="0" smtClean="0"/>
                        <a:t>m</a:t>
                      </a:r>
                      <a:r>
                        <a:rPr lang="pt-BR" sz="1400" dirty="0" smtClean="0"/>
                        <a:t> do tirante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Variável</a:t>
                      </a:r>
                      <a:r>
                        <a:rPr lang="pt-BR" sz="1400" baseline="0" dirty="0" smtClean="0"/>
                        <a:t> Livre</a:t>
                      </a:r>
                      <a:endParaRPr 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Área</a:t>
                      </a:r>
                      <a:r>
                        <a:rPr lang="pt-BR" sz="1400" baseline="0" dirty="0" smtClean="0"/>
                        <a:t> da s</a:t>
                      </a:r>
                      <a:r>
                        <a:rPr lang="pt-BR" sz="1400" dirty="0" smtClean="0"/>
                        <a:t>eção</a:t>
                      </a:r>
                      <a:r>
                        <a:rPr lang="pt-BR" sz="1400" baseline="0" dirty="0" smtClean="0"/>
                        <a:t> transversal </a:t>
                      </a:r>
                      <a:r>
                        <a:rPr lang="pt-BR" sz="1400" i="1" baseline="0" dirty="0" smtClean="0"/>
                        <a:t>A</a:t>
                      </a:r>
                    </a:p>
                    <a:p>
                      <a:r>
                        <a:rPr lang="pt-BR" sz="1400" baseline="0" dirty="0" smtClean="0"/>
                        <a:t>Escolha do material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23042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533400" y="76200"/>
            <a:ext cx="8077200" cy="1371600"/>
          </a:xfrm>
        </p:spPr>
        <p:txBody>
          <a:bodyPr>
            <a:normAutofit fontScale="85000" lnSpcReduction="10000"/>
          </a:bodyPr>
          <a:lstStyle/>
          <a:p>
            <a:r>
              <a:rPr lang="pt-BR" dirty="0" smtClean="0"/>
              <a:t>Pode-se </a:t>
            </a:r>
            <a:r>
              <a:rPr lang="pt-BR" dirty="0" smtClean="0">
                <a:solidFill>
                  <a:srgbClr val="FFFF00"/>
                </a:solidFill>
              </a:rPr>
              <a:t>reduzir a massa</a:t>
            </a:r>
            <a:r>
              <a:rPr lang="pt-BR" dirty="0" smtClean="0"/>
              <a:t> pela </a:t>
            </a:r>
            <a:r>
              <a:rPr lang="pt-BR" dirty="0" smtClean="0">
                <a:solidFill>
                  <a:srgbClr val="FFFF00"/>
                </a:solidFill>
              </a:rPr>
              <a:t>redução da seção transversal</a:t>
            </a:r>
            <a:r>
              <a:rPr lang="pt-BR" dirty="0" smtClean="0"/>
              <a:t>, mas há uma restrição: A área </a:t>
            </a:r>
            <a:r>
              <a:rPr lang="pt-BR" dirty="0" smtClean="0">
                <a:solidFill>
                  <a:srgbClr val="FFFF00"/>
                </a:solidFill>
              </a:rPr>
              <a:t>A</a:t>
            </a:r>
            <a:r>
              <a:rPr lang="pt-BR" dirty="0" smtClean="0"/>
              <a:t> deve ser suficiente  para suportar </a:t>
            </a:r>
            <a:r>
              <a:rPr lang="pt-BR" dirty="0" smtClean="0">
                <a:solidFill>
                  <a:srgbClr val="FFFF00"/>
                </a:solidFill>
              </a:rPr>
              <a:t>F*</a:t>
            </a:r>
            <a:r>
              <a:rPr lang="pt-BR" dirty="0" smtClean="0"/>
              <a:t>, solicitando</a:t>
            </a:r>
            <a:r>
              <a:rPr lang="en-US" dirty="0" smtClean="0"/>
              <a:t>: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4169" y="1447800"/>
            <a:ext cx="1373458" cy="838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Subtitle 4"/>
          <p:cNvSpPr txBox="1">
            <a:spLocks/>
          </p:cNvSpPr>
          <p:nvPr/>
        </p:nvSpPr>
        <p:spPr>
          <a:xfrm>
            <a:off x="685800" y="2521752"/>
            <a:ext cx="7772400" cy="1066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/>
              <a:t>Eliminando </a:t>
            </a:r>
            <a:r>
              <a:rPr lang="pt-BR" dirty="0" smtClean="0">
                <a:solidFill>
                  <a:srgbClr val="FFFF00"/>
                </a:solidFill>
              </a:rPr>
              <a:t>A</a:t>
            </a:r>
            <a:r>
              <a:rPr lang="pt-BR" dirty="0" smtClean="0"/>
              <a:t> entre essas </a:t>
            </a:r>
            <a:r>
              <a:rPr lang="pt-BR" dirty="0" smtClean="0">
                <a:solidFill>
                  <a:srgbClr val="FFFF00"/>
                </a:solidFill>
              </a:rPr>
              <a:t>duas equações</a:t>
            </a:r>
            <a:r>
              <a:rPr lang="pt-BR" dirty="0" smtClean="0"/>
              <a:t>, fornece: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3657600"/>
            <a:ext cx="5391150" cy="1136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25" y="5384631"/>
            <a:ext cx="14859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81000" y="5181600"/>
            <a:ext cx="6019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/>
              <a:t>O índice do material pode ser geralmente expresso de tal forma que o máximo valor é procurado desta forma o índice do material para um tirante leve e resistente é :</a:t>
            </a:r>
          </a:p>
        </p:txBody>
      </p:sp>
    </p:spTree>
    <p:extLst>
      <p:ext uri="{BB962C8B-B14F-4D97-AF65-F5344CB8AC3E}">
        <p14:creationId xmlns:p14="http://schemas.microsoft.com/office/powerpoint/2010/main" val="28725527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Minimização de massa</a:t>
            </a:r>
            <a:br>
              <a:rPr lang="pt-BR" dirty="0" smtClean="0"/>
            </a:br>
            <a:r>
              <a:rPr lang="pt-BR" b="0" dirty="0" smtClean="0">
                <a:solidFill>
                  <a:schemeClr val="tx1"/>
                </a:solidFill>
              </a:rPr>
              <a:t>Um painel leve e resistente</a:t>
            </a:r>
            <a:endParaRPr lang="pt-BR" b="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077" y="3901846"/>
            <a:ext cx="2495550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881" y="4724400"/>
            <a:ext cx="2066925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077" y="5715000"/>
            <a:ext cx="1466850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01540" y="3962400"/>
            <a:ext cx="3918060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smtClean="0"/>
              <a:t>Função objetivo</a:t>
            </a:r>
          </a:p>
          <a:p>
            <a:endParaRPr lang="pt-BR" sz="3200" dirty="0" smtClean="0"/>
          </a:p>
          <a:p>
            <a:r>
              <a:rPr lang="pt-BR" sz="2400" dirty="0" smtClean="0"/>
              <a:t>Restrição de rigidez</a:t>
            </a:r>
          </a:p>
          <a:p>
            <a:endParaRPr lang="pt-BR" sz="4400" dirty="0" smtClean="0"/>
          </a:p>
          <a:p>
            <a:r>
              <a:rPr lang="pt-BR" sz="2400" dirty="0" smtClean="0"/>
              <a:t>Segundo momento de área</a:t>
            </a:r>
            <a:endParaRPr lang="pt-BR" sz="2400" dirty="0"/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032251"/>
              </p:ext>
            </p:extLst>
          </p:nvPr>
        </p:nvGraphicFramePr>
        <p:xfrm>
          <a:off x="365314" y="1676400"/>
          <a:ext cx="8449526" cy="214883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87919"/>
                <a:gridCol w="6661607"/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pt-BR" sz="1200" dirty="0" smtClean="0"/>
                        <a:t>Tabela 5.3 – Requisitos</a:t>
                      </a:r>
                      <a:r>
                        <a:rPr lang="pt-BR" sz="1200" baseline="0" dirty="0" smtClean="0"/>
                        <a:t> de Projeto para um painel leve e resistente</a:t>
                      </a:r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Função	</a:t>
                      </a:r>
                      <a:endParaRPr 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Painel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Restrições</a:t>
                      </a:r>
                      <a:endParaRPr 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Rigidez</a:t>
                      </a:r>
                      <a:r>
                        <a:rPr lang="pt-BR" sz="1400" baseline="0" dirty="0" smtClean="0"/>
                        <a:t> de dobramento S* é especificado (restrições funcional)</a:t>
                      </a:r>
                    </a:p>
                    <a:p>
                      <a:r>
                        <a:rPr lang="pt-BR" sz="1400" baseline="0" dirty="0" smtClean="0"/>
                        <a:t>O comprimento L e a largura b especificada (restrição geométrica)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Objetivo</a:t>
                      </a:r>
                      <a:endParaRPr 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Minimizar a massa </a:t>
                      </a:r>
                      <a:r>
                        <a:rPr lang="pt-BR" sz="1400" i="1" dirty="0" smtClean="0"/>
                        <a:t>m</a:t>
                      </a:r>
                      <a:r>
                        <a:rPr lang="pt-BR" sz="1400" dirty="0" smtClean="0"/>
                        <a:t> do painel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Variável</a:t>
                      </a:r>
                      <a:r>
                        <a:rPr lang="pt-BR" sz="1400" baseline="0" dirty="0" smtClean="0"/>
                        <a:t> Livre</a:t>
                      </a:r>
                      <a:endParaRPr 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Painel</a:t>
                      </a:r>
                      <a:r>
                        <a:rPr lang="pt-BR" sz="1400" baseline="0" dirty="0" smtClean="0"/>
                        <a:t> espessura </a:t>
                      </a:r>
                      <a:r>
                        <a:rPr lang="pt-BR" sz="1400" i="1" baseline="0" dirty="0" smtClean="0"/>
                        <a:t>h</a:t>
                      </a:r>
                    </a:p>
                    <a:p>
                      <a:r>
                        <a:rPr lang="pt-BR" sz="1400" baseline="0" dirty="0" smtClean="0"/>
                        <a:t>Escolha do material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52710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950" y="457200"/>
            <a:ext cx="7775382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28600" y="3352800"/>
            <a:ext cx="6400800" cy="17526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dirty="0" smtClean="0"/>
              <a:t>Índice de Material para um painel leve e rígido</a:t>
            </a:r>
          </a:p>
          <a:p>
            <a:pPr algn="l"/>
            <a:endParaRPr lang="pt-BR" dirty="0" smtClean="0"/>
          </a:p>
          <a:p>
            <a:pPr algn="l"/>
            <a:endParaRPr lang="pt-BR" dirty="0" smtClean="0"/>
          </a:p>
          <a:p>
            <a:pPr algn="l"/>
            <a:r>
              <a:rPr lang="pt-BR" dirty="0" smtClean="0"/>
              <a:t>Índice de material com uma restrição da resistência ao invés da rigidez</a:t>
            </a:r>
            <a:endParaRPr lang="pt-BR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970051"/>
            <a:ext cx="1857375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849" y="4191000"/>
            <a:ext cx="197167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48421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1470025"/>
          </a:xfrm>
        </p:spPr>
        <p:txBody>
          <a:bodyPr>
            <a:normAutofit/>
          </a:bodyPr>
          <a:lstStyle/>
          <a:p>
            <a:r>
              <a:rPr lang="pt-BR" dirty="0" smtClean="0"/>
              <a:t>Minimização</a:t>
            </a:r>
            <a:r>
              <a:rPr lang="en-US" dirty="0" smtClean="0"/>
              <a:t> da </a:t>
            </a:r>
            <a:r>
              <a:rPr lang="pt-BR" dirty="0" smtClean="0"/>
              <a:t>massa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0" dirty="0" smtClean="0">
                <a:solidFill>
                  <a:schemeClr val="tx1"/>
                </a:solidFill>
              </a:rPr>
              <a:t>Uma </a:t>
            </a:r>
            <a:r>
              <a:rPr lang="pt-BR" b="0" dirty="0" smtClean="0">
                <a:solidFill>
                  <a:schemeClr val="tx1"/>
                </a:solidFill>
              </a:rPr>
              <a:t>viga leve e rígida</a:t>
            </a:r>
            <a:endParaRPr lang="pt-BR" b="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102359"/>
            <a:ext cx="24765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906" y="4876800"/>
            <a:ext cx="2276475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791200"/>
            <a:ext cx="1670656" cy="693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627484"/>
              </p:ext>
            </p:extLst>
          </p:nvPr>
        </p:nvGraphicFramePr>
        <p:xfrm>
          <a:off x="347237" y="1447800"/>
          <a:ext cx="8449526" cy="257555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87919"/>
                <a:gridCol w="6661607"/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pt-BR" sz="1200" dirty="0" smtClean="0"/>
                        <a:t>Tabela 5.4 – Requisitos</a:t>
                      </a:r>
                      <a:r>
                        <a:rPr lang="pt-BR" sz="1200" baseline="0" dirty="0" smtClean="0"/>
                        <a:t> de Projeto para uma viga leve e rígida</a:t>
                      </a:r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Função	</a:t>
                      </a:r>
                      <a:endParaRPr 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Viga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Restrições</a:t>
                      </a:r>
                      <a:endParaRPr 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smtClean="0"/>
                        <a:t>Comprimento</a:t>
                      </a:r>
                      <a:r>
                        <a:rPr lang="pt-BR" sz="1400" baseline="0" smtClean="0"/>
                        <a:t> L é especificado </a:t>
                      </a:r>
                      <a:r>
                        <a:rPr lang="pt-BR" sz="1400" baseline="0" dirty="0" smtClean="0"/>
                        <a:t>(</a:t>
                      </a:r>
                      <a:r>
                        <a:rPr lang="pt-BR" sz="1400" baseline="0" smtClean="0"/>
                        <a:t>restrições geométrica)</a:t>
                      </a:r>
                      <a:endParaRPr lang="pt-BR" sz="1400" baseline="0" dirty="0" smtClean="0"/>
                    </a:p>
                    <a:p>
                      <a:r>
                        <a:rPr lang="pt-BR" sz="1400" baseline="0" smtClean="0"/>
                        <a:t>Forma da seção quadrada </a:t>
                      </a:r>
                      <a:r>
                        <a:rPr lang="pt-BR" sz="1400" baseline="0" dirty="0" smtClean="0"/>
                        <a:t>(restrição </a:t>
                      </a:r>
                      <a:r>
                        <a:rPr lang="pt-BR" sz="1400" baseline="0" smtClean="0"/>
                        <a:t>geométrica)</a:t>
                      </a:r>
                    </a:p>
                    <a:p>
                      <a:r>
                        <a:rPr lang="pt-BR" sz="1400" baseline="0" smtClean="0"/>
                        <a:t>Viga deve suportar carga de dobramento F sem defletir tanto, significando que a rigidez ao dobramento S é especificada como S* (restrição funcional)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Objetivo</a:t>
                      </a:r>
                      <a:endParaRPr 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Minimizar a massa </a:t>
                      </a:r>
                      <a:r>
                        <a:rPr lang="pt-BR" sz="1400" i="1" dirty="0" smtClean="0"/>
                        <a:t>m</a:t>
                      </a:r>
                      <a:r>
                        <a:rPr lang="pt-BR" sz="1400" dirty="0" smtClean="0"/>
                        <a:t> da</a:t>
                      </a:r>
                      <a:r>
                        <a:rPr lang="pt-BR" sz="1400" baseline="0" dirty="0" smtClean="0"/>
                        <a:t> viga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Variável</a:t>
                      </a:r>
                      <a:r>
                        <a:rPr lang="pt-BR" sz="1400" baseline="0" dirty="0" smtClean="0"/>
                        <a:t> Livre</a:t>
                      </a:r>
                      <a:endParaRPr lang="en-US" sz="1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Seção transversal</a:t>
                      </a:r>
                      <a:r>
                        <a:rPr lang="pt-BR" sz="1400" baseline="0" dirty="0" smtClean="0"/>
                        <a:t> A</a:t>
                      </a:r>
                      <a:endParaRPr lang="pt-BR" sz="1400" i="1" baseline="0" dirty="0" smtClean="0"/>
                    </a:p>
                    <a:p>
                      <a:r>
                        <a:rPr lang="pt-BR" sz="1400" baseline="0" dirty="0" smtClean="0"/>
                        <a:t>Escolha do material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4"/>
          <p:cNvSpPr txBox="1"/>
          <p:nvPr/>
        </p:nvSpPr>
        <p:spPr>
          <a:xfrm>
            <a:off x="457200" y="4107120"/>
            <a:ext cx="3918060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smtClean="0"/>
              <a:t>Função objetivo</a:t>
            </a:r>
          </a:p>
          <a:p>
            <a:endParaRPr lang="pt-BR" sz="3200" dirty="0" smtClean="0"/>
          </a:p>
          <a:p>
            <a:r>
              <a:rPr lang="pt-BR" sz="2400" dirty="0" smtClean="0"/>
              <a:t>Restrição de rigidez</a:t>
            </a:r>
          </a:p>
          <a:p>
            <a:endParaRPr lang="pt-BR" sz="4400" dirty="0" smtClean="0"/>
          </a:p>
          <a:p>
            <a:r>
              <a:rPr lang="pt-BR" sz="2400" dirty="0" smtClean="0"/>
              <a:t>Segundo momento de área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7821268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609600"/>
            <a:ext cx="53721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069771"/>
            <a:ext cx="1828800" cy="864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207329"/>
            <a:ext cx="1828800" cy="878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ubtitle 5"/>
          <p:cNvSpPr>
            <a:spLocks noGrp="1"/>
          </p:cNvSpPr>
          <p:nvPr>
            <p:ph type="subTitle" idx="1"/>
          </p:nvPr>
        </p:nvSpPr>
        <p:spPr>
          <a:xfrm>
            <a:off x="381000" y="3276600"/>
            <a:ext cx="6400800" cy="1752600"/>
          </a:xfrm>
        </p:spPr>
        <p:txBody>
          <a:bodyPr>
            <a:noAutofit/>
          </a:bodyPr>
          <a:lstStyle/>
          <a:p>
            <a:pPr algn="l"/>
            <a:r>
              <a:rPr lang="pt-BR" sz="2400" dirty="0" smtClean="0"/>
              <a:t>Índice de Material para uma viga leve e rígida</a:t>
            </a:r>
          </a:p>
          <a:p>
            <a:pPr algn="l"/>
            <a:endParaRPr lang="pt-BR" sz="2400" dirty="0" smtClean="0"/>
          </a:p>
          <a:p>
            <a:pPr algn="l"/>
            <a:r>
              <a:rPr lang="pt-BR" sz="2400" dirty="0" smtClean="0"/>
              <a:t>Índice de material com uma restrição da resistência ao invés da rigidez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6855053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Equação de Performance</a:t>
            </a:r>
            <a:endParaRPr lang="pt-BR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3505200"/>
            <a:ext cx="6400800" cy="1752600"/>
          </a:xfrm>
          <a:solidFill>
            <a:schemeClr val="accent5">
              <a:lumMod val="75000"/>
            </a:schemeClr>
          </a:solidFill>
        </p:spPr>
        <p:txBody>
          <a:bodyPr>
            <a:normAutofit fontScale="85000" lnSpcReduction="10000"/>
          </a:bodyPr>
          <a:lstStyle/>
          <a:p>
            <a:pPr algn="just"/>
            <a:r>
              <a:rPr lang="pt-BR" dirty="0" smtClean="0"/>
              <a:t>O desempenho de um elemento estrutural é determinada por três coisas: requisitos funcionais, a geometria e as propriedades do material da qual é feito.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/>
              <p:cNvSpPr txBox="1"/>
              <p:nvPr/>
            </p:nvSpPr>
            <p:spPr>
              <a:xfrm>
                <a:off x="609600" y="1905000"/>
                <a:ext cx="8188889" cy="77149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𝑃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𝑅</m:t>
                                    </m:r>
                                    <m:r>
                                      <a:rPr lang="pt-BR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𝑒𝑞𝑢𝑖𝑠𝑖𝑡𝑜𝑠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𝐹𝑢𝑛𝑐𝑖𝑜𝑛𝑎𝑖𝑠</m:t>
                                    </m:r>
                                    <m:r>
                                      <a:rPr lang="pt-BR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, </m:t>
                                    </m:r>
                                    <m:r>
                                      <a:rPr lang="pt-BR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𝐹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,</m:t>
                          </m:r>
                          <m:d>
                            <m:d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𝑃</m:t>
                                    </m:r>
                                    <m:r>
                                      <a:rPr lang="pt-BR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𝑎𝑟</m:t>
                                    </m:r>
                                    <m:r>
                                      <a:rPr lang="pt-BR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â</m:t>
                                    </m:r>
                                    <m:r>
                                      <a:rPr lang="pt-BR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𝑚𝑒𝑡𝑟𝑜𝑠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𝐺𝑒𝑜𝑚</m:t>
                                    </m:r>
                                    <m:r>
                                      <a:rPr lang="pt-BR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é</m:t>
                                    </m:r>
                                    <m:r>
                                      <a:rPr lang="pt-BR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𝑡𝑟𝑖𝑐𝑜𝑠</m:t>
                                    </m:r>
                                    <m:r>
                                      <a:rPr lang="pt-BR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, </m:t>
                                    </m:r>
                                    <m:r>
                                      <a:rPr lang="pt-BR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𝐺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,</m:t>
                          </m:r>
                          <m:d>
                            <m:d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𝑃</m:t>
                                    </m:r>
                                    <m:r>
                                      <a:rPr lang="pt-BR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𝑟𝑜𝑝𝑟𝑖𝑒𝑑𝑎𝑑𝑒𝑠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𝑑𝑜</m:t>
                                    </m:r>
                                    <m:r>
                                      <a:rPr lang="pt-BR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pt-BR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𝑀𝑎𝑡𝑒𝑟𝑖𝑎𝑙</m:t>
                                    </m:r>
                                    <m:r>
                                      <a:rPr lang="pt-BR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, </m:t>
                                    </m:r>
                                    <m:r>
                                      <a:rPr lang="pt-BR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𝑀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905000"/>
                <a:ext cx="8188889" cy="77149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7584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14400" y="4800600"/>
            <a:ext cx="7315200" cy="1752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 A </a:t>
            </a:r>
            <a:r>
              <a:rPr lang="pt-BR" dirty="0" smtClean="0"/>
              <a:t>especificação</a:t>
            </a:r>
            <a:r>
              <a:rPr lang="en-US" dirty="0" smtClean="0"/>
              <a:t> da </a:t>
            </a:r>
            <a:r>
              <a:rPr lang="pt-BR" dirty="0" smtClean="0">
                <a:solidFill>
                  <a:srgbClr val="FFFF00"/>
                </a:solidFill>
              </a:rPr>
              <a:t>função</a:t>
            </a:r>
            <a:r>
              <a:rPr lang="en-US" dirty="0" smtClean="0"/>
              <a:t>, </a:t>
            </a:r>
            <a:r>
              <a:rPr lang="pt-BR" dirty="0" smtClean="0">
                <a:solidFill>
                  <a:srgbClr val="FFFF00"/>
                </a:solidFill>
              </a:rPr>
              <a:t>objetivo</a:t>
            </a:r>
            <a:r>
              <a:rPr lang="en-US" dirty="0" smtClean="0"/>
              <a:t> e </a:t>
            </a:r>
            <a:r>
              <a:rPr lang="pt-BR" dirty="0" smtClean="0">
                <a:solidFill>
                  <a:srgbClr val="FFFF00"/>
                </a:solidFill>
              </a:rPr>
              <a:t>restrição</a:t>
            </a:r>
            <a:r>
              <a:rPr lang="pt-BR" dirty="0" smtClean="0"/>
              <a:t> conduz </a:t>
            </a:r>
            <a:r>
              <a:rPr lang="en-US" dirty="0" smtClean="0"/>
              <a:t>a um </a:t>
            </a:r>
            <a:r>
              <a:rPr lang="pt-BR" dirty="0" smtClean="0">
                <a:solidFill>
                  <a:srgbClr val="FFFF00"/>
                </a:solidFill>
              </a:rPr>
              <a:t>índice </a:t>
            </a:r>
            <a:r>
              <a:rPr lang="en-US" dirty="0" smtClean="0">
                <a:solidFill>
                  <a:srgbClr val="FFFF00"/>
                </a:solidFill>
              </a:rPr>
              <a:t>de material</a:t>
            </a:r>
            <a:r>
              <a:rPr lang="en-US" dirty="0" smtClean="0"/>
              <a:t>. A </a:t>
            </a:r>
            <a:r>
              <a:rPr lang="pt-BR" dirty="0" smtClean="0"/>
              <a:t>combinação nas caixas </a:t>
            </a:r>
            <a:r>
              <a:rPr lang="en-US" dirty="0" smtClean="0"/>
              <a:t>de </a:t>
            </a:r>
            <a:r>
              <a:rPr lang="pt-BR" dirty="0" smtClean="0"/>
              <a:t>diálogo destacadas conduz ao </a:t>
            </a:r>
            <a:r>
              <a:rPr lang="pt-BR" dirty="0" smtClean="0">
                <a:solidFill>
                  <a:srgbClr val="FFFF00"/>
                </a:solidFill>
              </a:rPr>
              <a:t>índice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en-US" i="1" dirty="0" smtClean="0">
                <a:solidFill>
                  <a:srgbClr val="FFFF00"/>
                </a:solidFill>
              </a:rPr>
              <a:t>E</a:t>
            </a:r>
            <a:r>
              <a:rPr lang="en-US" i="1" baseline="30000" dirty="0" smtClean="0">
                <a:solidFill>
                  <a:srgbClr val="FFFF00"/>
                </a:solidFill>
              </a:rPr>
              <a:t>1/2</a:t>
            </a:r>
            <a:r>
              <a:rPr lang="en-US" i="1" dirty="0" smtClean="0">
                <a:solidFill>
                  <a:srgbClr val="FFFF00"/>
                </a:solidFill>
              </a:rPr>
              <a:t>/</a:t>
            </a:r>
            <a:r>
              <a:rPr lang="el-GR" i="1" dirty="0" smtClean="0">
                <a:solidFill>
                  <a:srgbClr val="FFFF00"/>
                </a:solidFill>
              </a:rPr>
              <a:t>ρ</a:t>
            </a:r>
            <a:r>
              <a:rPr lang="en-US" dirty="0" smtClean="0"/>
              <a:t>.</a:t>
            </a:r>
            <a:endParaRPr lang="en-US" dirty="0"/>
          </a:p>
        </p:txBody>
      </p:sp>
      <p:grpSp>
        <p:nvGrpSpPr>
          <p:cNvPr id="6" name="Grupo 5"/>
          <p:cNvGrpSpPr/>
          <p:nvPr/>
        </p:nvGrpSpPr>
        <p:grpSpPr>
          <a:xfrm>
            <a:off x="1104899" y="457200"/>
            <a:ext cx="6927775" cy="4311583"/>
            <a:chOff x="1104899" y="457200"/>
            <a:chExt cx="6927775" cy="4311583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899" y="457200"/>
              <a:ext cx="6927775" cy="40454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192729" y="4522562"/>
              <a:ext cx="7585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 smtClean="0"/>
                <a:t>Figura 5.7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7988519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700" y="455645"/>
            <a:ext cx="6324600" cy="5576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85308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152400"/>
            <a:ext cx="6400800" cy="14478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Translating and Deriving the Index</a:t>
            </a:r>
            <a:endParaRPr lang="en-US" sz="40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835" y="1676400"/>
            <a:ext cx="735633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65219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104900" y="5486400"/>
            <a:ext cx="6934200" cy="1299449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Um </a:t>
            </a:r>
            <a:r>
              <a:rPr lang="pt-BR" dirty="0" smtClean="0"/>
              <a:t>gráfico esquemático </a:t>
            </a:r>
            <a:r>
              <a:rPr lang="en-US" dirty="0" smtClean="0">
                <a:solidFill>
                  <a:srgbClr val="FFFF00"/>
                </a:solidFill>
              </a:rPr>
              <a:t>E-</a:t>
            </a:r>
            <a:r>
              <a:rPr lang="el-GR" dirty="0" smtClean="0">
                <a:solidFill>
                  <a:srgbClr val="FFFF00"/>
                </a:solidFill>
              </a:rPr>
              <a:t>ρ</a:t>
            </a:r>
            <a:r>
              <a:rPr lang="en-US" dirty="0" smtClean="0"/>
              <a:t> </a:t>
            </a:r>
            <a:r>
              <a:rPr lang="pt-BR" dirty="0" smtClean="0"/>
              <a:t>mostrando o limite </a:t>
            </a:r>
            <a:r>
              <a:rPr lang="en-US" dirty="0" smtClean="0"/>
              <a:t>inferior para </a:t>
            </a:r>
            <a:r>
              <a:rPr lang="en-US" dirty="0" smtClean="0">
                <a:solidFill>
                  <a:srgbClr val="FFFF00"/>
                </a:solidFill>
              </a:rPr>
              <a:t>E</a:t>
            </a:r>
            <a:r>
              <a:rPr lang="en-US" dirty="0" smtClean="0"/>
              <a:t> </a:t>
            </a:r>
            <a:r>
              <a:rPr lang="pt-BR" dirty="0" smtClean="0"/>
              <a:t>e</a:t>
            </a:r>
            <a:r>
              <a:rPr lang="en-US" dirty="0" smtClean="0"/>
              <a:t> um superior para </a:t>
            </a:r>
            <a:r>
              <a:rPr lang="el-GR" dirty="0" smtClean="0">
                <a:solidFill>
                  <a:srgbClr val="FFFF00"/>
                </a:solidFill>
              </a:rPr>
              <a:t>ρ</a:t>
            </a:r>
            <a:r>
              <a:rPr lang="en-US" dirty="0" smtClean="0"/>
              <a:t>.</a:t>
            </a:r>
            <a:endParaRPr lang="en-US" dirty="0"/>
          </a:p>
        </p:txBody>
      </p:sp>
      <p:grpSp>
        <p:nvGrpSpPr>
          <p:cNvPr id="6" name="Grupo 5"/>
          <p:cNvGrpSpPr/>
          <p:nvPr/>
        </p:nvGrpSpPr>
        <p:grpSpPr>
          <a:xfrm>
            <a:off x="1371600" y="330041"/>
            <a:ext cx="6086475" cy="5046821"/>
            <a:chOff x="1371600" y="330041"/>
            <a:chExt cx="6086475" cy="5046821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1600" y="330041"/>
              <a:ext cx="6086475" cy="4800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192729" y="5130641"/>
              <a:ext cx="7585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 smtClean="0"/>
                <a:t>Figura 5.8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02774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-76199"/>
            <a:ext cx="7772400" cy="1371600"/>
          </a:xfrm>
        </p:spPr>
        <p:txBody>
          <a:bodyPr/>
          <a:lstStyle/>
          <a:p>
            <a:r>
              <a:rPr lang="pt-BR" dirty="0" smtClean="0"/>
              <a:t>Classificando: Índices no gráfico</a:t>
            </a:r>
            <a:endParaRPr lang="pt-BR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23899" y="5562600"/>
            <a:ext cx="7696200" cy="1180322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Um </a:t>
            </a:r>
            <a:r>
              <a:rPr lang="pt-BR" dirty="0" smtClean="0">
                <a:solidFill>
                  <a:srgbClr val="FFFF00"/>
                </a:solidFill>
              </a:rPr>
              <a:t>gráfico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pt-BR" dirty="0" smtClean="0">
                <a:solidFill>
                  <a:srgbClr val="FFFF00"/>
                </a:solidFill>
              </a:rPr>
              <a:t>esquemático</a:t>
            </a:r>
            <a:r>
              <a:rPr lang="en-US" dirty="0" smtClean="0"/>
              <a:t> de </a:t>
            </a:r>
            <a:r>
              <a:rPr lang="en-US" dirty="0" smtClean="0">
                <a:solidFill>
                  <a:srgbClr val="FFFF00"/>
                </a:solidFill>
              </a:rPr>
              <a:t>E-</a:t>
            </a:r>
            <a:r>
              <a:rPr lang="el-GR" dirty="0" smtClean="0">
                <a:solidFill>
                  <a:srgbClr val="FFFF00"/>
                </a:solidFill>
              </a:rPr>
              <a:t>ρ</a:t>
            </a:r>
            <a:r>
              <a:rPr lang="en-US" dirty="0" smtClean="0"/>
              <a:t> </a:t>
            </a:r>
            <a:r>
              <a:rPr lang="pt-BR" dirty="0" smtClean="0"/>
              <a:t>mostrando</a:t>
            </a:r>
            <a:r>
              <a:rPr lang="en-US" dirty="0" smtClean="0"/>
              <a:t> as </a:t>
            </a:r>
            <a:r>
              <a:rPr lang="pt-BR" dirty="0" smtClean="0"/>
              <a:t>diretivas</a:t>
            </a:r>
            <a:r>
              <a:rPr lang="en-US" dirty="0" smtClean="0"/>
              <a:t> para </a:t>
            </a:r>
            <a:r>
              <a:rPr lang="pt-BR" dirty="0" smtClean="0"/>
              <a:t>três índices de materiais </a:t>
            </a:r>
            <a:r>
              <a:rPr lang="en-US" dirty="0" smtClean="0"/>
              <a:t>para </a:t>
            </a:r>
            <a:r>
              <a:rPr lang="pt-BR" dirty="0" smtClean="0"/>
              <a:t>projetos </a:t>
            </a:r>
            <a:r>
              <a:rPr lang="pt-BR" dirty="0" smtClean="0">
                <a:solidFill>
                  <a:srgbClr val="FFFF00"/>
                </a:solidFill>
              </a:rPr>
              <a:t>rígido e leve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7" name="Grupo 6"/>
          <p:cNvGrpSpPr/>
          <p:nvPr/>
        </p:nvGrpSpPr>
        <p:grpSpPr>
          <a:xfrm>
            <a:off x="1781174" y="1219200"/>
            <a:ext cx="5581649" cy="4364803"/>
            <a:chOff x="1781174" y="1219200"/>
            <a:chExt cx="5581649" cy="4364803"/>
          </a:xfrm>
        </p:grpSpPr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1174" y="1219200"/>
              <a:ext cx="5581649" cy="4118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192730" y="5337782"/>
              <a:ext cx="7585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 smtClean="0"/>
                <a:t>Figura 5.9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103198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5733745"/>
            <a:ext cx="6400800" cy="8763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Um </a:t>
            </a:r>
            <a:r>
              <a:rPr lang="pt-BR" dirty="0" smtClean="0"/>
              <a:t>gráfico esquemático </a:t>
            </a:r>
            <a:r>
              <a:rPr lang="en-US" dirty="0" smtClean="0"/>
              <a:t>de E-</a:t>
            </a:r>
            <a:r>
              <a:rPr lang="el-GR" dirty="0" smtClean="0"/>
              <a:t>ρ</a:t>
            </a:r>
            <a:r>
              <a:rPr lang="en-US" dirty="0" smtClean="0"/>
              <a:t> </a:t>
            </a:r>
            <a:r>
              <a:rPr lang="pt-BR" dirty="0" smtClean="0"/>
              <a:t>mostrando um conjunto de diretrizes</a:t>
            </a:r>
            <a:r>
              <a:rPr lang="en-US" dirty="0" smtClean="0"/>
              <a:t> para </a:t>
            </a:r>
            <a:r>
              <a:rPr lang="pt-BR" dirty="0" smtClean="0"/>
              <a:t>o índice </a:t>
            </a:r>
            <a:r>
              <a:rPr lang="en-US" dirty="0" smtClean="0"/>
              <a:t>de material </a:t>
            </a:r>
            <a:r>
              <a:rPr lang="en-US" i="1" dirty="0" smtClean="0">
                <a:solidFill>
                  <a:srgbClr val="FFFF00"/>
                </a:solidFill>
              </a:rPr>
              <a:t>M=E</a:t>
            </a:r>
            <a:r>
              <a:rPr lang="en-US" i="1" baseline="30000" dirty="0" smtClean="0">
                <a:solidFill>
                  <a:srgbClr val="FFFF00"/>
                </a:solidFill>
              </a:rPr>
              <a:t>1/3</a:t>
            </a:r>
            <a:r>
              <a:rPr lang="en-US" i="1" dirty="0" smtClean="0">
                <a:solidFill>
                  <a:srgbClr val="FFFF00"/>
                </a:solidFill>
              </a:rPr>
              <a:t>/</a:t>
            </a:r>
            <a:r>
              <a:rPr lang="el-GR" i="1" dirty="0" smtClean="0">
                <a:solidFill>
                  <a:srgbClr val="FFFF00"/>
                </a:solidFill>
              </a:rPr>
              <a:t>ρ</a:t>
            </a:r>
            <a:r>
              <a:rPr lang="en-US" i="1" dirty="0" smtClean="0"/>
              <a:t>.</a:t>
            </a:r>
            <a:endParaRPr lang="en-US" i="1" dirty="0"/>
          </a:p>
        </p:txBody>
      </p:sp>
      <p:grpSp>
        <p:nvGrpSpPr>
          <p:cNvPr id="6" name="Grupo 5"/>
          <p:cNvGrpSpPr/>
          <p:nvPr/>
        </p:nvGrpSpPr>
        <p:grpSpPr>
          <a:xfrm>
            <a:off x="1371600" y="152400"/>
            <a:ext cx="6400800" cy="5581345"/>
            <a:chOff x="1371600" y="152400"/>
            <a:chExt cx="6400800" cy="5581345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1600" y="152400"/>
              <a:ext cx="6400800" cy="5335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166988" y="5487524"/>
              <a:ext cx="8290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 smtClean="0"/>
                <a:t>Figura 5.10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566925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562358" y="5334000"/>
            <a:ext cx="8077200" cy="1269557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Uma </a:t>
            </a:r>
            <a:r>
              <a:rPr lang="pt-BR" dirty="0" smtClean="0"/>
              <a:t>seleção baseada </a:t>
            </a:r>
            <a:r>
              <a:rPr lang="en-US" dirty="0" smtClean="0"/>
              <a:t>no </a:t>
            </a:r>
            <a:r>
              <a:rPr lang="pt-BR" dirty="0" smtClean="0"/>
              <a:t>índice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FF00"/>
                </a:solidFill>
              </a:rPr>
              <a:t>M=E</a:t>
            </a:r>
            <a:r>
              <a:rPr lang="en-US" baseline="30000" dirty="0" smtClean="0">
                <a:solidFill>
                  <a:srgbClr val="FFFF00"/>
                </a:solidFill>
              </a:rPr>
              <a:t>1/3</a:t>
            </a:r>
            <a:r>
              <a:rPr lang="en-US" dirty="0" smtClean="0">
                <a:solidFill>
                  <a:srgbClr val="FFFF00"/>
                </a:solidFill>
              </a:rPr>
              <a:t>/</a:t>
            </a:r>
            <a:r>
              <a:rPr lang="el-GR" dirty="0" smtClean="0">
                <a:solidFill>
                  <a:srgbClr val="FFFF00"/>
                </a:solidFill>
              </a:rPr>
              <a:t>ρ</a:t>
            </a:r>
            <a:r>
              <a:rPr lang="en-US" dirty="0" smtClean="0">
                <a:solidFill>
                  <a:srgbClr val="FFFF00"/>
                </a:solidFill>
              </a:rPr>
              <a:t> &gt; 2(</a:t>
            </a:r>
            <a:r>
              <a:rPr lang="en-US" dirty="0" err="1" smtClean="0">
                <a:solidFill>
                  <a:srgbClr val="FFFF00"/>
                </a:solidFill>
              </a:rPr>
              <a:t>GPa</a:t>
            </a:r>
            <a:r>
              <a:rPr lang="en-US" dirty="0" smtClean="0">
                <a:solidFill>
                  <a:srgbClr val="FFFF00"/>
                </a:solidFill>
              </a:rPr>
              <a:t>)</a:t>
            </a:r>
            <a:r>
              <a:rPr lang="en-US" baseline="30000" dirty="0" smtClean="0">
                <a:solidFill>
                  <a:srgbClr val="FFFF00"/>
                </a:solidFill>
              </a:rPr>
              <a:t>1/3</a:t>
            </a:r>
            <a:r>
              <a:rPr lang="en-US" dirty="0" smtClean="0">
                <a:solidFill>
                  <a:srgbClr val="FFFF00"/>
                </a:solidFill>
              </a:rPr>
              <a:t> (Mg/m</a:t>
            </a:r>
            <a:r>
              <a:rPr lang="en-US" baseline="30000" dirty="0" smtClean="0">
                <a:solidFill>
                  <a:srgbClr val="FFFF00"/>
                </a:solidFill>
              </a:rPr>
              <a:t>3</a:t>
            </a:r>
            <a:r>
              <a:rPr lang="en-US" dirty="0" smtClean="0">
                <a:solidFill>
                  <a:srgbClr val="FFFF00"/>
                </a:solidFill>
              </a:rPr>
              <a:t>)</a:t>
            </a:r>
            <a:r>
              <a:rPr lang="en-US" dirty="0" smtClean="0"/>
              <a:t> junto com a </a:t>
            </a:r>
            <a:r>
              <a:rPr lang="pt-BR" dirty="0" smtClean="0"/>
              <a:t>propriedade limite E &gt; 50 </a:t>
            </a:r>
            <a:r>
              <a:rPr lang="pt-BR" dirty="0" err="1" smtClean="0"/>
              <a:t>GPa</a:t>
            </a:r>
            <a:r>
              <a:rPr lang="pt-BR" dirty="0" smtClean="0"/>
              <a:t>.  Os </a:t>
            </a:r>
            <a:r>
              <a:rPr lang="pt-BR" dirty="0" smtClean="0">
                <a:solidFill>
                  <a:srgbClr val="FFFF00"/>
                </a:solidFill>
              </a:rPr>
              <a:t>materiais contidos na região de pesquisa se tornam candidatos</a:t>
            </a:r>
            <a:r>
              <a:rPr lang="pt-BR" dirty="0" smtClean="0"/>
              <a:t> para o </a:t>
            </a:r>
            <a:r>
              <a:rPr lang="pt-BR" dirty="0" smtClean="0">
                <a:solidFill>
                  <a:srgbClr val="FFFF00"/>
                </a:solidFill>
              </a:rPr>
              <a:t>próximo estágio do processo de seleção</a:t>
            </a:r>
            <a:endParaRPr lang="pt-BR" dirty="0">
              <a:solidFill>
                <a:srgbClr val="FFFF00"/>
              </a:solidFill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1371600" y="147734"/>
            <a:ext cx="6400800" cy="5051934"/>
            <a:chOff x="1371600" y="147734"/>
            <a:chExt cx="6400800" cy="5051934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1600" y="147734"/>
              <a:ext cx="6400800" cy="47966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164607" y="4953447"/>
              <a:ext cx="8290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 smtClean="0"/>
                <a:t>Figura 5.11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657404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0999"/>
            <a:ext cx="7924800" cy="4005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047750" y="4876800"/>
            <a:ext cx="7048500" cy="1676400"/>
          </a:xfrm>
          <a:solidFill>
            <a:schemeClr val="accent5">
              <a:lumMod val="75000"/>
            </a:schemeClr>
          </a:solidFill>
        </p:spPr>
        <p:txBody>
          <a:bodyPr>
            <a:normAutofit fontScale="62500" lnSpcReduction="20000"/>
          </a:bodyPr>
          <a:lstStyle/>
          <a:p>
            <a:r>
              <a:rPr lang="pt-BR" dirty="0" smtClean="0">
                <a:solidFill>
                  <a:srgbClr val="FFFF00"/>
                </a:solidFill>
              </a:rPr>
              <a:t>Seleção auxiliada por computador</a:t>
            </a:r>
            <a:r>
              <a:rPr lang="pt-BR" dirty="0" smtClean="0"/>
              <a:t> utilizando o </a:t>
            </a:r>
            <a:r>
              <a:rPr lang="pt-BR" dirty="0" smtClean="0">
                <a:solidFill>
                  <a:srgbClr val="FFFF00"/>
                </a:solidFill>
              </a:rPr>
              <a:t>software CES</a:t>
            </a:r>
            <a:r>
              <a:rPr lang="pt-BR" dirty="0" smtClean="0"/>
              <a:t>. O esquema mostra </a:t>
            </a:r>
            <a:r>
              <a:rPr lang="pt-BR" dirty="0" smtClean="0">
                <a:solidFill>
                  <a:srgbClr val="FFFF00"/>
                </a:solidFill>
              </a:rPr>
              <a:t>três tipos de janela de seleção</a:t>
            </a:r>
            <a:r>
              <a:rPr lang="pt-BR" dirty="0" smtClean="0"/>
              <a:t>. Elas podem ser utilizadas em qualquer </a:t>
            </a:r>
            <a:r>
              <a:rPr lang="pt-BR" dirty="0" smtClean="0">
                <a:solidFill>
                  <a:srgbClr val="FFFF00"/>
                </a:solidFill>
              </a:rPr>
              <a:t>ordem de combinação</a:t>
            </a:r>
            <a:r>
              <a:rPr lang="pt-BR" dirty="0" smtClean="0"/>
              <a:t>. A </a:t>
            </a:r>
            <a:r>
              <a:rPr lang="pt-BR" dirty="0" smtClean="0">
                <a:solidFill>
                  <a:srgbClr val="FFFF00"/>
                </a:solidFill>
              </a:rPr>
              <a:t>máquina de seleção isola </a:t>
            </a:r>
            <a:r>
              <a:rPr lang="pt-BR" dirty="0" smtClean="0"/>
              <a:t>o </a:t>
            </a:r>
            <a:r>
              <a:rPr lang="pt-BR" dirty="0" smtClean="0">
                <a:solidFill>
                  <a:srgbClr val="FFFF00"/>
                </a:solidFill>
              </a:rPr>
              <a:t>subconjunto de materiais</a:t>
            </a:r>
            <a:r>
              <a:rPr lang="pt-BR" dirty="0" smtClean="0"/>
              <a:t> que passam </a:t>
            </a:r>
            <a:r>
              <a:rPr lang="pt-BR" dirty="0" smtClean="0">
                <a:solidFill>
                  <a:srgbClr val="FFFF00"/>
                </a:solidFill>
              </a:rPr>
              <a:t>todos os estágios da seleção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3" name="TextBox 2"/>
          <p:cNvSpPr txBox="1"/>
          <p:nvPr/>
        </p:nvSpPr>
        <p:spPr>
          <a:xfrm>
            <a:off x="4157463" y="4386489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Figura 5.12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506080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MaterialsSelec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MaterialsSelection</Template>
  <TotalTime>3306</TotalTime>
  <Words>1607</Words>
  <Application>Microsoft Macintosh PowerPoint</Application>
  <PresentationFormat>On-screen Show (4:3)</PresentationFormat>
  <Paragraphs>173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MaterialsSelection</vt:lpstr>
      <vt:lpstr>Chapter 5 Seleção de Materiais   O Básico</vt:lpstr>
      <vt:lpstr>Chapter 5 Materials Selection   The Basics</vt:lpstr>
      <vt:lpstr>PowerPoint Presentation</vt:lpstr>
      <vt:lpstr>PowerPoint Presentation</vt:lpstr>
      <vt:lpstr>Estratégias de Seleção</vt:lpstr>
      <vt:lpstr>Escolhendo um Material</vt:lpstr>
      <vt:lpstr>Estratégia para Seleção de Materiais</vt:lpstr>
      <vt:lpstr>Translating Design Requirements</vt:lpstr>
      <vt:lpstr>PowerPoint Presentation</vt:lpstr>
      <vt:lpstr>PowerPoint Presentation</vt:lpstr>
      <vt:lpstr>Índices de Material</vt:lpstr>
      <vt:lpstr>PowerPoint Presentation</vt:lpstr>
      <vt:lpstr>Minimizar massa:  Um tirante leve e forte</vt:lpstr>
      <vt:lpstr>PowerPoint Presentation</vt:lpstr>
      <vt:lpstr>Minimização de massa Um painel leve e resistente</vt:lpstr>
      <vt:lpstr>PowerPoint Presentation</vt:lpstr>
      <vt:lpstr>Minimização da massa Uma viga leve e rígida</vt:lpstr>
      <vt:lpstr>PowerPoint Presentation</vt:lpstr>
      <vt:lpstr>Equação de Performance</vt:lpstr>
      <vt:lpstr>PowerPoint Presentation</vt:lpstr>
      <vt:lpstr>PowerPoint Presentation</vt:lpstr>
      <vt:lpstr>PowerPoint Presentation</vt:lpstr>
      <vt:lpstr>PowerPoint Presentation</vt:lpstr>
      <vt:lpstr>Classificando: Índices no gráfico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Hougendobler</dc:creator>
  <cp:lastModifiedBy>Ivaldo Leao Ferreira</cp:lastModifiedBy>
  <cp:revision>46</cp:revision>
  <dcterms:created xsi:type="dcterms:W3CDTF">2010-09-03T02:00:13Z</dcterms:created>
  <dcterms:modified xsi:type="dcterms:W3CDTF">2018-09-20T21:36:19Z</dcterms:modified>
</cp:coreProperties>
</file>